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svg" ContentType="image/svg+xml"/>
  <Override PartName="/ppt/media/image20.svg" ContentType="image/svg+xml"/>
  <Override PartName="/ppt/media/image22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3"/>
  </p:notesMasterIdLst>
  <p:sldIdLst>
    <p:sldId id="516" r:id="rId3"/>
    <p:sldId id="532" r:id="rId4"/>
    <p:sldId id="515" r:id="rId5"/>
    <p:sldId id="527" r:id="rId6"/>
    <p:sldId id="542" r:id="rId7"/>
    <p:sldId id="543" r:id="rId8"/>
    <p:sldId id="544" r:id="rId9"/>
    <p:sldId id="524" r:id="rId10"/>
    <p:sldId id="526" r:id="rId11"/>
    <p:sldId id="521" r:id="rId12"/>
    <p:sldId id="536" r:id="rId14"/>
    <p:sldId id="540" r:id="rId15"/>
    <p:sldId id="539" r:id="rId16"/>
    <p:sldId id="541" r:id="rId17"/>
    <p:sldId id="533" r:id="rId18"/>
  </p:sldIdLst>
  <p:sldSz cx="12171045" cy="6838950"/>
  <p:notesSz cx="6858000" cy="9144000"/>
  <p:custDataLst>
    <p:tags r:id="rId22"/>
  </p:custDataLst>
  <p:defaultTextStyle>
    <a:defPPr>
      <a:defRPr lang="sv-S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" userDrawn="1">
          <p15:clr>
            <a:srgbClr val="A4A3A4"/>
          </p15:clr>
        </p15:guide>
        <p15:guide id="2" orient="horz" pos="4296" userDrawn="1">
          <p15:clr>
            <a:srgbClr val="A4A3A4"/>
          </p15:clr>
        </p15:guide>
        <p15:guide id="3" orient="horz" pos="862" userDrawn="1">
          <p15:clr>
            <a:srgbClr val="A4A3A4"/>
          </p15:clr>
        </p15:guide>
        <p15:guide id="4" orient="horz" pos="1016" userDrawn="1">
          <p15:clr>
            <a:srgbClr val="A4A3A4"/>
          </p15:clr>
        </p15:guide>
        <p15:guide id="5" pos="172" userDrawn="1">
          <p15:clr>
            <a:srgbClr val="A4A3A4"/>
          </p15:clr>
        </p15:guide>
        <p15:guide id="6" pos="7497" userDrawn="1">
          <p15:clr>
            <a:srgbClr val="A4A3A4"/>
          </p15:clr>
        </p15:guide>
        <p15:guide id="7" pos="4448" userDrawn="1">
          <p15:clr>
            <a:srgbClr val="A4A3A4"/>
          </p15:clr>
        </p15:guide>
        <p15:guide id="8" pos="321" userDrawn="1">
          <p15:clr>
            <a:srgbClr val="A4A3A4"/>
          </p15:clr>
        </p15:guide>
        <p15:guide id="9" pos="6992" userDrawn="1">
          <p15:clr>
            <a:srgbClr val="A4A3A4"/>
          </p15:clr>
        </p15:guide>
        <p15:guide id="10" pos="3909" userDrawn="1">
          <p15:clr>
            <a:srgbClr val="A4A3A4"/>
          </p15:clr>
        </p15:guide>
        <p15:guide id="11" pos="2844" userDrawn="1">
          <p15:clr>
            <a:srgbClr val="A4A3A4"/>
          </p15:clr>
        </p15:guide>
        <p15:guide id="12" pos="4821" userDrawn="1">
          <p15:clr>
            <a:srgbClr val="A4A3A4"/>
          </p15:clr>
        </p15:guide>
        <p15:guide id="13" pos="3133" userDrawn="1">
          <p15:clr>
            <a:srgbClr val="A4A3A4"/>
          </p15:clr>
        </p15:guide>
        <p15:guide id="14" pos="36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C6114"/>
    <a:srgbClr val="4F80BD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6" autoAdjust="0"/>
    <p:restoredTop sz="92026" autoAdjust="0"/>
  </p:normalViewPr>
  <p:slideViewPr>
    <p:cSldViewPr snapToGrid="0" snapToObjects="1" showGuides="1">
      <p:cViewPr varScale="1">
        <p:scale>
          <a:sx n="95" d="100"/>
          <a:sy n="95" d="100"/>
        </p:scale>
        <p:origin x="960" y="184"/>
      </p:cViewPr>
      <p:guideLst>
        <p:guide orient="horz" pos="161"/>
        <p:guide orient="horz" pos="4296"/>
        <p:guide orient="horz" pos="862"/>
        <p:guide orient="horz" pos="1016"/>
        <p:guide pos="172"/>
        <p:guide pos="7497"/>
        <p:guide pos="4448"/>
        <p:guide pos="321"/>
        <p:guide pos="6992"/>
        <p:guide pos="3909"/>
        <p:guide pos="2844"/>
        <p:guide pos="4821"/>
        <p:guide pos="3133"/>
        <p:guide pos="36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24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68572-F02D-43CE-BFD7-D0486EEC6E6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43000"/>
            <a:ext cx="548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42BEA-1C9E-4F69-A4DF-43828D1541F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/>
          <p:cNvPicPr>
            <a:picLocks noChangeAspect="1"/>
          </p:cNvPicPr>
          <p:nvPr userDrawn="1"/>
        </p:nvPicPr>
        <p:blipFill rotWithShape="1">
          <a:blip r:embed="rId2"/>
          <a:srcRect t="1410" b="15718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5430003" y="1480432"/>
            <a:ext cx="6741360" cy="1298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6842254" y="1518628"/>
            <a:ext cx="4959227" cy="63798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line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253" y="2423260"/>
            <a:ext cx="5137348" cy="3484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6842254" y="2306806"/>
            <a:ext cx="513734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Bildobjekt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714352" y="1627904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objekt 17"/>
          <p:cNvPicPr>
            <a:picLocks noChangeAspect="1"/>
          </p:cNvPicPr>
          <p:nvPr userDrawn="1"/>
        </p:nvPicPr>
        <p:blipFill rotWithShape="1">
          <a:blip r:embed="rId2"/>
          <a:srcRect t="1410" b="15718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5430003" y="1480432"/>
            <a:ext cx="6741360" cy="258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5844404" y="3489855"/>
            <a:ext cx="6135199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5845019" y="3344378"/>
            <a:ext cx="61344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ktangel 2"/>
          <p:cNvSpPr/>
          <p:nvPr userDrawn="1"/>
        </p:nvSpPr>
        <p:spPr>
          <a:xfrm>
            <a:off x="135397" y="1167690"/>
            <a:ext cx="4257034" cy="469527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-1" fmla="*/ 0 w 4488028"/>
              <a:gd name="connsiteY0-2" fmla="*/ 0 h 2937993"/>
              <a:gd name="connsiteX1-3" fmla="*/ 4488028 w 4488028"/>
              <a:gd name="connsiteY1-4" fmla="*/ 0 h 2937993"/>
              <a:gd name="connsiteX2-5" fmla="*/ 0 w 4488028"/>
              <a:gd name="connsiteY2-6" fmla="*/ 2937993 h 2937993"/>
              <a:gd name="connsiteX3-7" fmla="*/ 0 w 4488028"/>
              <a:gd name="connsiteY3-8" fmla="*/ 0 h 29379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659" tIns="50659" rIns="50659" bIns="50659" numCol="1" spcCol="38100" rtlCol="0" anchor="ctr">
            <a:spAutoFit/>
          </a:bodyPr>
          <a:lstStyle/>
          <a:p>
            <a:pPr marL="0" marR="0" lvl="0" indent="0" algn="ctr" defTabSz="58229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sv-SE" sz="239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5844403" y="1765371"/>
            <a:ext cx="6135199" cy="156475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Title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 for </a:t>
            </a:r>
            <a:r>
              <a:rPr lang="sv-SE" dirty="0" err="1"/>
              <a:t>longer</a:t>
            </a:r>
            <a:r>
              <a:rPr lang="sv-SE" dirty="0"/>
              <a:t> </a:t>
            </a:r>
            <a:r>
              <a:rPr lang="sv-SE" dirty="0" err="1"/>
              <a:t>titles</a:t>
            </a:r>
            <a:endParaRPr lang="sv-SE" dirty="0"/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/>
          <p:cNvPicPr>
            <a:picLocks noChangeAspect="1"/>
          </p:cNvPicPr>
          <p:nvPr userDrawn="1"/>
        </p:nvPicPr>
        <p:blipFill rotWithShape="1">
          <a:blip r:embed="rId2"/>
          <a:srcRect l="6880" t="26162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6735068" y="1480432"/>
            <a:ext cx="5436295" cy="1298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7020374" y="1518628"/>
            <a:ext cx="4959227" cy="637985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line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7020373" y="2423260"/>
            <a:ext cx="4959228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7020374" y="2306806"/>
            <a:ext cx="495922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ktangel 2"/>
          <p:cNvSpPr/>
          <p:nvPr userDrawn="1"/>
        </p:nvSpPr>
        <p:spPr>
          <a:xfrm>
            <a:off x="135397" y="1167690"/>
            <a:ext cx="4257034" cy="469527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-1" fmla="*/ 0 w 4488028"/>
              <a:gd name="connsiteY0-2" fmla="*/ 0 h 2937993"/>
              <a:gd name="connsiteX1-3" fmla="*/ 4488028 w 4488028"/>
              <a:gd name="connsiteY1-4" fmla="*/ 0 h 2937993"/>
              <a:gd name="connsiteX2-5" fmla="*/ 0 w 4488028"/>
              <a:gd name="connsiteY2-6" fmla="*/ 2937993 h 2937993"/>
              <a:gd name="connsiteX3-7" fmla="*/ 0 w 4488028"/>
              <a:gd name="connsiteY3-8" fmla="*/ 0 h 29379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659" tIns="50659" rIns="50659" bIns="50659" numCol="1" spcCol="38100" rtlCol="0" anchor="ctr">
            <a:spAutoFit/>
          </a:bodyPr>
          <a:lstStyle/>
          <a:p>
            <a:pPr marL="0" marR="0" lvl="0" indent="0" algn="ctr" defTabSz="58229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sv-SE" sz="239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4" name="Bildobjekt 13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0"/>
          <p:cNvPicPr>
            <a:picLocks noChangeAspect="1"/>
          </p:cNvPicPr>
          <p:nvPr userDrawn="1"/>
        </p:nvPicPr>
        <p:blipFill rotWithShape="1">
          <a:blip r:embed="rId2"/>
          <a:srcRect l="6880" t="26162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14" name="Rektangel 2"/>
          <p:cNvSpPr/>
          <p:nvPr userDrawn="1"/>
        </p:nvSpPr>
        <p:spPr>
          <a:xfrm>
            <a:off x="135397" y="1167690"/>
            <a:ext cx="4257034" cy="469527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-1" fmla="*/ 0 w 4488028"/>
              <a:gd name="connsiteY0-2" fmla="*/ 0 h 2937993"/>
              <a:gd name="connsiteX1-3" fmla="*/ 4488028 w 4488028"/>
              <a:gd name="connsiteY1-4" fmla="*/ 0 h 2937993"/>
              <a:gd name="connsiteX2-5" fmla="*/ 0 w 4488028"/>
              <a:gd name="connsiteY2-6" fmla="*/ 2937993 h 2937993"/>
              <a:gd name="connsiteX3-7" fmla="*/ 0 w 4488028"/>
              <a:gd name="connsiteY3-8" fmla="*/ 0 h 29379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659" tIns="50659" rIns="50659" bIns="50659" numCol="1" spcCol="38100" rtlCol="0" anchor="ctr">
            <a:spAutoFit/>
          </a:bodyPr>
          <a:lstStyle/>
          <a:p>
            <a:pPr marL="0" marR="0" lvl="0" indent="0" algn="ctr" defTabSz="58229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sv-SE" sz="239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" name="Rektangel 2"/>
          <p:cNvSpPr/>
          <p:nvPr userDrawn="1"/>
        </p:nvSpPr>
        <p:spPr>
          <a:xfrm>
            <a:off x="5430003" y="1480432"/>
            <a:ext cx="6741360" cy="258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5844404" y="3489855"/>
            <a:ext cx="6135199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5845019" y="3344378"/>
            <a:ext cx="61344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5844403" y="1765371"/>
            <a:ext cx="6135199" cy="156475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Title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 for </a:t>
            </a:r>
            <a:r>
              <a:rPr lang="sv-SE" dirty="0" err="1"/>
              <a:t>longer</a:t>
            </a:r>
            <a:r>
              <a:rPr lang="sv-SE" dirty="0"/>
              <a:t> </a:t>
            </a:r>
            <a:r>
              <a:rPr lang="sv-SE" dirty="0" err="1"/>
              <a:t>titles</a:t>
            </a:r>
            <a:endParaRPr lang="sv-SE" dirty="0"/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0"/>
          <p:cNvPicPr>
            <a:picLocks noChangeAspect="1"/>
          </p:cNvPicPr>
          <p:nvPr userDrawn="1"/>
        </p:nvPicPr>
        <p:blipFill rotWithShape="1">
          <a:blip r:embed="rId2"/>
          <a:srcRect l="10261" t="19608" b="8271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6735068" y="1480432"/>
            <a:ext cx="5436295" cy="1298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7020374" y="1518628"/>
            <a:ext cx="4959227" cy="637985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line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7020373" y="2423260"/>
            <a:ext cx="4959228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7020374" y="2306806"/>
            <a:ext cx="495922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4" name="Bildobjekt 13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/>
          <p:cNvPicPr>
            <a:picLocks noChangeAspect="1"/>
          </p:cNvPicPr>
          <p:nvPr userDrawn="1"/>
        </p:nvPicPr>
        <p:blipFill rotWithShape="1">
          <a:blip r:embed="rId2"/>
          <a:srcRect l="10261" t="19608" b="8271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5430003" y="1480432"/>
            <a:ext cx="6741360" cy="258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5844404" y="3489855"/>
            <a:ext cx="6135199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5845019" y="3344378"/>
            <a:ext cx="61344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5844403" y="1765371"/>
            <a:ext cx="6135199" cy="156475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Title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 for </a:t>
            </a:r>
            <a:r>
              <a:rPr lang="sv-SE" dirty="0" err="1"/>
              <a:t>longer</a:t>
            </a:r>
            <a:r>
              <a:rPr lang="sv-SE" dirty="0"/>
              <a:t> </a:t>
            </a:r>
            <a:r>
              <a:rPr lang="sv-SE" dirty="0" err="1"/>
              <a:t>titles</a:t>
            </a:r>
            <a:endParaRPr lang="sv-SE" dirty="0"/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 descr="huset-rosa_16-9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" y="-1"/>
            <a:ext cx="12180984" cy="6838951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Bildobjekt 14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 descr="huset-rosa_16-9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Bildobjekt 14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510746" y="256556"/>
            <a:ext cx="11162270" cy="674320"/>
          </a:xfrm>
        </p:spPr>
        <p:txBody>
          <a:bodyPr/>
          <a:lstStyle/>
          <a:p>
            <a:r>
              <a:rPr lang="en-GB" noProof="0" dirty="0"/>
              <a:t>Header</a:t>
            </a:r>
            <a:endParaRPr lang="en-GB" noProof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510746" y="1070919"/>
            <a:ext cx="11162270" cy="5008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t" anchorCtr="0" compatLnSpc="1"/>
          <a:lstStyle>
            <a:lvl1pPr>
              <a:defRPr/>
            </a:lvl1pPr>
          </a:lstStyle>
          <a:p>
            <a:pPr lvl="0"/>
            <a:r>
              <a:rPr lang="en-GB" noProof="0" dirty="0"/>
              <a:t>Add text</a:t>
            </a:r>
            <a:endParaRPr lang="en-GB" noProof="0" dirty="0"/>
          </a:p>
          <a:p>
            <a:pPr lvl="1"/>
            <a:r>
              <a:rPr lang="en-GB" noProof="0" dirty="0"/>
              <a:t>Level two</a:t>
            </a:r>
            <a:endParaRPr lang="en-GB" noProof="0" dirty="0"/>
          </a:p>
          <a:p>
            <a:pPr lvl="2"/>
            <a:r>
              <a:rPr lang="en-GB" noProof="0" dirty="0"/>
              <a:t>Level three</a:t>
            </a:r>
            <a:endParaRPr lang="en-GB" noProof="0" dirty="0"/>
          </a:p>
          <a:p>
            <a:pPr lvl="3"/>
            <a:r>
              <a:rPr lang="en-GB" noProof="0" dirty="0"/>
              <a:t>Level four</a:t>
            </a:r>
            <a:endParaRPr lang="en-GB" noProof="0" dirty="0"/>
          </a:p>
          <a:p>
            <a:pPr lvl="0"/>
            <a:endParaRPr lang="en-GB" noProof="0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10746" y="6357296"/>
            <a:ext cx="2743200" cy="365125"/>
          </a:xfrm>
          <a:prstGeom prst="rect">
            <a:avLst/>
          </a:prstGeom>
        </p:spPr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Header</a:t>
            </a:r>
            <a:endParaRPr lang="en-GB" noProof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518984" y="1079157"/>
            <a:ext cx="11158868" cy="49921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t" anchorCtr="0" compatLnSpc="1"/>
          <a:lstStyle/>
          <a:p>
            <a:pPr lvl="0"/>
            <a:r>
              <a:rPr lang="en-GB" noProof="0" dirty="0"/>
              <a:t>Add text</a:t>
            </a:r>
            <a:endParaRPr lang="en-GB" noProof="0" dirty="0"/>
          </a:p>
          <a:p>
            <a:pPr lvl="1"/>
            <a:r>
              <a:rPr lang="en-GB" noProof="0" dirty="0"/>
              <a:t>Level two</a:t>
            </a:r>
            <a:endParaRPr lang="en-GB" noProof="0" dirty="0"/>
          </a:p>
          <a:p>
            <a:pPr lvl="2"/>
            <a:r>
              <a:rPr lang="en-GB" noProof="0" dirty="0"/>
              <a:t>Level three</a:t>
            </a:r>
            <a:endParaRPr lang="en-GB" noProof="0" dirty="0"/>
          </a:p>
          <a:p>
            <a:pPr lvl="3"/>
            <a:r>
              <a:rPr lang="en-GB" noProof="0" dirty="0"/>
              <a:t>Level four</a:t>
            </a:r>
            <a:endParaRPr lang="en-GB" noProof="0" dirty="0"/>
          </a:p>
          <a:p>
            <a:pPr lvl="0"/>
            <a:endParaRPr lang="en-GB" noProof="0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18984" y="6375463"/>
            <a:ext cx="2743200" cy="365125"/>
          </a:xfrm>
          <a:prstGeom prst="rect">
            <a:avLst/>
          </a:prstGeom>
        </p:spPr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 userDrawn="1"/>
        </p:nvSpPr>
        <p:spPr>
          <a:xfrm>
            <a:off x="197709" y="381001"/>
            <a:ext cx="11771440" cy="6357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5" name="Bildobjekt 4" descr="LundUniversity_C2line RGB 150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89450" y="1112256"/>
            <a:ext cx="3207776" cy="42852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  <a:endParaRPr lang="en-GB" noProof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>
          <a:xfrm>
            <a:off x="889126" y="1848243"/>
            <a:ext cx="10259772" cy="3562332"/>
          </a:xfrm>
        </p:spPr>
        <p:txBody>
          <a:bodyPr/>
          <a:lstStyle>
            <a:lvl1pPr>
              <a:spcAft>
                <a:spcPts val="0"/>
              </a:spcAft>
              <a:defRPr sz="2195"/>
            </a:lvl1pPr>
            <a:lvl2pPr>
              <a:spcAft>
                <a:spcPts val="0"/>
              </a:spcAft>
              <a:buClr>
                <a:schemeClr val="tx2"/>
              </a:buClr>
              <a:defRPr sz="2195"/>
            </a:lvl2pPr>
            <a:lvl3pPr>
              <a:spcAft>
                <a:spcPts val="0"/>
              </a:spcAft>
              <a:buClr>
                <a:schemeClr val="tx2"/>
              </a:buClr>
              <a:defRPr/>
            </a:lvl3pPr>
            <a:lvl4pPr>
              <a:spcAft>
                <a:spcPts val="0"/>
              </a:spcAft>
              <a:buClr>
                <a:schemeClr val="tx2"/>
              </a:buClr>
              <a:defRPr/>
            </a:lvl4pPr>
          </a:lstStyle>
          <a:p>
            <a:pPr lvl="0"/>
            <a:r>
              <a:rPr lang="en-GB" noProof="0"/>
              <a:t>Add text</a:t>
            </a:r>
            <a:endParaRPr lang="en-GB" noProof="0"/>
          </a:p>
          <a:p>
            <a:pPr lvl="1"/>
            <a:r>
              <a:rPr lang="en-GB" noProof="0"/>
              <a:t>Level two</a:t>
            </a:r>
            <a:endParaRPr lang="en-GB" noProof="0"/>
          </a:p>
          <a:p>
            <a:pPr lvl="2"/>
            <a:r>
              <a:rPr lang="en-GB" noProof="0"/>
              <a:t>Level three</a:t>
            </a:r>
            <a:endParaRPr lang="en-GB" noProof="0"/>
          </a:p>
          <a:p>
            <a:pPr lvl="3"/>
            <a:r>
              <a:rPr lang="en-GB" noProof="0"/>
              <a:t>Level four</a:t>
            </a:r>
            <a:endParaRPr lang="en-GB" noProof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1007743" y="1499035"/>
            <a:ext cx="101496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ctangle 2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459626"/>
            <a:ext cx="710534" cy="303143"/>
          </a:xfrm>
          <a:prstGeom prst="rect">
            <a:avLst/>
          </a:prstGeom>
        </p:spPr>
        <p:txBody>
          <a:bodyPr vert="horz" wrap="square" lIns="90516" tIns="45258" rIns="90516" bIns="45258" numCol="1" anchor="t" anchorCtr="0" compatLnSpc="1"/>
          <a:lstStyle>
            <a:lvl1pPr>
              <a:defRPr sz="1595" b="1">
                <a:ea typeface="MS PGothic" panose="020B0600070205080204" pitchFamily="34" charset="-128"/>
              </a:defRPr>
            </a:lvl1pPr>
          </a:lstStyle>
          <a:p>
            <a:fld id="{B3606B9E-5A98-41E4-AEFB-F9B2EA2CEE49}" type="slidenum">
              <a:rPr lang="ko-KR" altLang="en-US" smtClean="0"/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8552" y="531918"/>
            <a:ext cx="10953940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8552" y="1519767"/>
            <a:ext cx="10953940" cy="1469108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1846" y="1887044"/>
            <a:ext cx="874794" cy="734554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79220" y="1950367"/>
            <a:ext cx="9178996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8552" y="3140851"/>
            <a:ext cx="10953940" cy="1469108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1846" y="3508128"/>
            <a:ext cx="874794" cy="734554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79220" y="3571452"/>
            <a:ext cx="9178996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8552" y="4761936"/>
            <a:ext cx="10953940" cy="1469108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1846" y="5129213"/>
            <a:ext cx="874794" cy="734554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79220" y="5192536"/>
            <a:ext cx="9178996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8.png"/><Relationship Id="rId23" Type="http://schemas.openxmlformats.org/officeDocument/2006/relationships/image" Target="../media/image13.pn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6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000" y="-72000"/>
            <a:ext cx="12310364" cy="6983998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8984" y="256555"/>
            <a:ext cx="11158868" cy="6660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b" anchorCtr="0" compatLnSpc="1"/>
          <a:lstStyle/>
          <a:p>
            <a:pPr lvl="0"/>
            <a:r>
              <a:rPr lang="en-GB" noProof="0" dirty="0"/>
              <a:t>Header</a:t>
            </a:r>
            <a:endParaRPr lang="en-GB" noProof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8984" y="1071108"/>
            <a:ext cx="11158868" cy="4952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t" anchorCtr="0" compatLnSpc="1"/>
          <a:lstStyle/>
          <a:p>
            <a:pPr lvl="0"/>
            <a:r>
              <a:rPr lang="en-GB" noProof="0" dirty="0"/>
              <a:t>Add text</a:t>
            </a:r>
            <a:endParaRPr lang="en-GB" noProof="0" dirty="0"/>
          </a:p>
          <a:p>
            <a:pPr lvl="1"/>
            <a:r>
              <a:rPr lang="en-GB" noProof="0" dirty="0"/>
              <a:t>Level two</a:t>
            </a:r>
            <a:endParaRPr lang="en-GB" noProof="0" dirty="0"/>
          </a:p>
          <a:p>
            <a:pPr lvl="2"/>
            <a:r>
              <a:rPr lang="en-GB" noProof="0" dirty="0"/>
              <a:t>Level three</a:t>
            </a:r>
            <a:endParaRPr lang="en-GB" noProof="0" dirty="0"/>
          </a:p>
          <a:p>
            <a:pPr lvl="3"/>
            <a:r>
              <a:rPr lang="en-GB" noProof="0" dirty="0"/>
              <a:t>Level four</a:t>
            </a:r>
            <a:endParaRPr lang="en-GB" noProof="0" dirty="0"/>
          </a:p>
        </p:txBody>
      </p:sp>
      <p:cxnSp>
        <p:nvCxnSpPr>
          <p:cNvPr id="8" name="Rak 7"/>
          <p:cNvCxnSpPr/>
          <p:nvPr/>
        </p:nvCxnSpPr>
        <p:spPr bwMode="auto">
          <a:xfrm>
            <a:off x="518984" y="996873"/>
            <a:ext cx="1115886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C611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Bildobjekt 10" descr="LundUniversity_C2line RGB 15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264900" y="6089544"/>
            <a:ext cx="527996" cy="705345"/>
          </a:xfrm>
          <a:prstGeom prst="rect">
            <a:avLst/>
          </a:prstGeom>
        </p:spPr>
      </p:pic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18984" y="6375463"/>
            <a:ext cx="2743200" cy="365125"/>
          </a:xfrm>
          <a:prstGeom prst="rect">
            <a:avLst/>
          </a:prstGeom>
        </p:spPr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/>
          <a:ea typeface="+mj-ea"/>
          <a:cs typeface="+mj-cs"/>
        </a:defRPr>
      </a:lvl1pPr>
    </p:titleStyle>
    <p:bodyStyle>
      <a:lvl1pPr marL="230505" indent="-230505" algn="l" defTabSz="457200" rtl="0" eaLnBrk="1" latinLnBrk="0" hangingPunct="1">
        <a:spcBef>
          <a:spcPct val="20000"/>
        </a:spcBef>
        <a:buClr>
          <a:schemeClr val="tx2"/>
        </a:buClr>
        <a:buFont typeface="Arial" panose="020B0604020202020204"/>
        <a:buChar char="•"/>
        <a:defRPr sz="2200" kern="1200" baseline="0">
          <a:solidFill>
            <a:schemeClr val="tx2"/>
          </a:solidFill>
          <a:latin typeface="Arial" panose="020B0604020202020204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9C6114"/>
        </a:buClr>
        <a:buFont typeface="Arial" panose="020B0604020202020204"/>
        <a:buChar char="–"/>
        <a:defRPr sz="2200" kern="1200">
          <a:solidFill>
            <a:schemeClr val="tx2"/>
          </a:solidFill>
          <a:latin typeface="Arial" panose="020B0604020202020204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9C6114"/>
        </a:buClr>
        <a:buFont typeface="Lucida Grande"/>
        <a:buChar char="»"/>
        <a:defRPr sz="2000" kern="1200">
          <a:solidFill>
            <a:schemeClr val="tx2"/>
          </a:solidFill>
          <a:latin typeface="Arial" panose="020B0604020202020204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9C6114"/>
        </a:buClr>
        <a:buFont typeface="Arial" panose="020B0604020202020204"/>
        <a:buChar char="–"/>
        <a:defRPr sz="2000" kern="1200">
          <a:solidFill>
            <a:schemeClr val="tx2"/>
          </a:solidFill>
          <a:latin typeface="Arial" panose="020B0604020202020204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3.png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1.xml"/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tags" Target="../tags/tag20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image" Target="../media/image37.svg"/><Relationship Id="rId1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/>
              <a:t>Efficient Mamba-Based Accelerator Architecture for Massive-MIMO Indoor Localization Using the LuViRA Dataset </a:t>
            </a:r>
            <a:endParaRPr lang="en-US" altLang="zh-CN" sz="2800" dirty="0"/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CHENXI ZHANG       Shengjie Chen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56985"/>
            <a:ext cx="2743200" cy="365125"/>
          </a:xfrm>
        </p:spPr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8552" y="401743"/>
            <a:ext cx="10953940" cy="607907"/>
          </a:xfrm>
        </p:spPr>
        <p:txBody>
          <a:bodyPr>
            <a:noAutofit/>
          </a:bodyPr>
          <a:p>
            <a:r>
              <a:rPr lang="en-US" altLang="zh-CN" b="1"/>
              <a:t>Contents</a:t>
            </a:r>
            <a:endParaRPr lang="en-US" altLang="zh-CN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755650" y="1439545"/>
            <a:ext cx="10805160" cy="4930140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</a:pPr>
            <a:r>
              <a:rPr lang="en-US" altLang="zh-CN" sz="2400" b="1"/>
              <a:t>1. Architechture</a:t>
            </a:r>
            <a:endParaRPr lang="en-US" altLang="zh-CN" sz="2400" b="1"/>
          </a:p>
          <a:p>
            <a:pPr lvl="1"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Board-level dataflow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 and fine-grained parallelism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</a:pPr>
            <a:r>
              <a:rPr lang="en-US" altLang="zh-CN" sz="2400" b="1"/>
              <a:t>2. Linear Layers</a:t>
            </a:r>
            <a:endParaRPr lang="en-US" altLang="zh-CN" sz="2400" b="1"/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Reuse of in-proj, dt-proj and out-proj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 banking and memory access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</a:pPr>
            <a:r>
              <a:rPr lang="en-US" altLang="zh-CN" sz="2400" b="1"/>
              <a:t>3. Non-linear Layers</a:t>
            </a:r>
            <a:endParaRPr lang="en-US" altLang="zh-CN" sz="2400" b="1"/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RMSNorm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Sigmoid</a:t>
            </a:r>
            <a:endParaRPr lang="en-US" altLang="zh-CN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</a:pPr>
            <a:r>
              <a:rPr lang="en-US" altLang="zh-CN" sz="2400" b="1"/>
              <a:t>3. Quantisation</a:t>
            </a:r>
            <a:endParaRPr lang="en-US" altLang="zh-CN" sz="2400" b="1"/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implementation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buSzTx/>
              <a:buFont typeface="Wingdings" panose="05000000000000000000" charset="0"/>
            </a:pPr>
            <a:r>
              <a:rPr lang="en-US" altLang="zh-CN" sz="2400" b="1">
                <a:sym typeface="+mn-ea"/>
              </a:rPr>
              <a:t>4. Results</a:t>
            </a:r>
            <a:endParaRPr lang="en-US" altLang="zh-CN" sz="2400" b="1"/>
          </a:p>
          <a:p>
            <a:pPr lvl="0" algn="l">
              <a:buSzTx/>
              <a:buFont typeface="Wingdings" panose="05000000000000000000" charset="0"/>
            </a:pPr>
            <a:endParaRPr lang="en-US" altLang="zh-CN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0" y="2223135"/>
            <a:ext cx="4963160" cy="21291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SSM Control: AXI-Stream + FIFO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28370" y="1091565"/>
            <a:ext cx="1168400" cy="866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/>
            <a:endParaRPr lang="en-US" altLang="zh-CN"/>
          </a:p>
          <a:p>
            <a:pPr algn="ctr"/>
            <a:r>
              <a:rPr lang="en-US" altLang="zh-CN"/>
              <a:t>Master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3764915" y="1091565"/>
            <a:ext cx="1168400" cy="8661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/>
            <a:endParaRPr lang="en-US" altLang="zh-CN"/>
          </a:p>
          <a:p>
            <a:pPr algn="ctr"/>
            <a:r>
              <a:rPr lang="en-US" altLang="zh-CN"/>
              <a:t>Slave</a:t>
            </a:r>
            <a:endParaRPr lang="en-US" altLang="zh-CN"/>
          </a:p>
        </p:txBody>
      </p:sp>
      <p:cxnSp>
        <p:nvCxnSpPr>
          <p:cNvPr id="9" name="直接箭头连接符 8"/>
          <p:cNvCxnSpPr>
            <a:stCxn id="6" idx="3"/>
            <a:endCxn id="7" idx="1"/>
          </p:cNvCxnSpPr>
          <p:nvPr/>
        </p:nvCxnSpPr>
        <p:spPr>
          <a:xfrm flipV="1">
            <a:off x="2096770" y="1524635"/>
            <a:ext cx="166814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2096770" y="1270635"/>
            <a:ext cx="166814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459990" y="972185"/>
            <a:ext cx="941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</a:rPr>
              <a:t>TVALID</a:t>
            </a:r>
            <a:endParaRPr lang="en-US" altLang="zh-CN" sz="160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59990" y="1271270"/>
            <a:ext cx="941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</a:rPr>
              <a:t>TDATA</a:t>
            </a:r>
            <a:endParaRPr lang="en-US" altLang="zh-CN" sz="160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59990" y="1525270"/>
            <a:ext cx="941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</a:rPr>
              <a:t>TREADY</a:t>
            </a:r>
            <a:endParaRPr lang="en-US" altLang="zh-CN" sz="160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2096770" y="1778635"/>
            <a:ext cx="166814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690360" y="1525270"/>
            <a:ext cx="370205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// AXI-Stream interface signals</a:t>
            </a:r>
            <a:endParaRPr lang="en-US" altLang="zh-CN" sz="1600"/>
          </a:p>
          <a:p>
            <a:r>
              <a:rPr lang="en-US" altLang="zh-CN" sz="1600"/>
              <a:t>input  logic           s_axis_TVALID,</a:t>
            </a:r>
            <a:endParaRPr lang="en-US" altLang="zh-CN" sz="1600"/>
          </a:p>
          <a:p>
            <a:r>
              <a:rPr lang="en-US" altLang="zh-CN" sz="1600"/>
              <a:t>output logic           s_axis_TREADY,</a:t>
            </a:r>
            <a:endParaRPr lang="en-US" altLang="zh-CN" sz="1600"/>
          </a:p>
          <a:p>
            <a:r>
              <a:rPr lang="en-US" altLang="zh-CN" sz="1600"/>
              <a:t>input  logic [DATA_W-1:0] s_axis_TDATA,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output logic           m_axis_TVALID,</a:t>
            </a:r>
            <a:endParaRPr lang="en-US" altLang="zh-CN" sz="1600"/>
          </a:p>
          <a:p>
            <a:r>
              <a:rPr lang="en-US" altLang="zh-CN" sz="1600"/>
              <a:t>input  logic           m_axis_TREADY,</a:t>
            </a:r>
            <a:endParaRPr lang="en-US" altLang="zh-CN" sz="1600"/>
          </a:p>
          <a:p>
            <a:r>
              <a:rPr lang="en-US" altLang="zh-CN" sz="1600"/>
              <a:t>output logic [DATA_W-1:0] m_axis_TDATA</a:t>
            </a:r>
            <a:endParaRPr lang="en-US" altLang="zh-CN" sz="1600"/>
          </a:p>
        </p:txBody>
      </p:sp>
      <p:sp>
        <p:nvSpPr>
          <p:cNvPr id="18" name="矩形 17"/>
          <p:cNvSpPr/>
          <p:nvPr/>
        </p:nvSpPr>
        <p:spPr>
          <a:xfrm>
            <a:off x="928370" y="4585970"/>
            <a:ext cx="1168400" cy="866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/>
            <a:r>
              <a:rPr lang="en-US" altLang="zh-CN"/>
              <a:t>MAC</a:t>
            </a:r>
            <a:endParaRPr lang="en-US" altLang="zh-CN"/>
          </a:p>
          <a:p>
            <a:pPr algn="ctr"/>
            <a:r>
              <a:rPr lang="en-US" altLang="zh-CN"/>
              <a:t>(dt_proj)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3764915" y="4585970"/>
            <a:ext cx="1168400" cy="8661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/>
            <a:endParaRPr lang="en-US" altLang="zh-CN"/>
          </a:p>
          <a:p>
            <a:pPr algn="ctr"/>
            <a:r>
              <a:rPr lang="en-US" altLang="zh-CN"/>
              <a:t>FIFO</a:t>
            </a:r>
            <a:endParaRPr lang="en-US" altLang="zh-CN"/>
          </a:p>
        </p:txBody>
      </p:sp>
      <p:cxnSp>
        <p:nvCxnSpPr>
          <p:cNvPr id="20" name="直接箭头连接符 19"/>
          <p:cNvCxnSpPr>
            <a:stCxn id="18" idx="3"/>
            <a:endCxn id="19" idx="1"/>
          </p:cNvCxnSpPr>
          <p:nvPr/>
        </p:nvCxnSpPr>
        <p:spPr>
          <a:xfrm flipV="1">
            <a:off x="2096770" y="5019040"/>
            <a:ext cx="166814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2096770" y="4765040"/>
            <a:ext cx="166814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459990" y="4765675"/>
            <a:ext cx="12985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</a:rPr>
              <a:t>TDATA(</a:t>
            </a:r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  <a:sym typeface="+mn-ea"/>
              </a:rPr>
              <a:t>Δ_raw</a:t>
            </a:r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</a:rPr>
              <a:t>)</a:t>
            </a:r>
            <a:endParaRPr lang="en-US" altLang="zh-CN" sz="160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459990" y="5019040"/>
            <a:ext cx="941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</a:rPr>
              <a:t>TREADY</a:t>
            </a:r>
            <a:endParaRPr lang="en-US" altLang="zh-CN" sz="160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2096770" y="5273040"/>
            <a:ext cx="166814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2459990" y="4479290"/>
            <a:ext cx="941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</a:rPr>
              <a:t>TVALID</a:t>
            </a:r>
            <a:endParaRPr lang="en-US" altLang="zh-CN" sz="160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601460" y="4585970"/>
            <a:ext cx="1168400" cy="866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algn="ctr"/>
            <a:endParaRPr lang="en-US" altLang="zh-CN"/>
          </a:p>
          <a:p>
            <a:pPr algn="ctr"/>
            <a:r>
              <a:rPr lang="en-US" altLang="zh-CN"/>
              <a:t>Sigmoid</a:t>
            </a:r>
            <a:endParaRPr lang="en-US" altLang="zh-CN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4933315" y="5019675"/>
            <a:ext cx="166814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4933315" y="4765675"/>
            <a:ext cx="166814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296535" y="4766310"/>
            <a:ext cx="12985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</a:rPr>
              <a:t>TDATA(</a:t>
            </a:r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  <a:sym typeface="+mn-ea"/>
              </a:rPr>
              <a:t>Δ_raw</a:t>
            </a:r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</a:rPr>
              <a:t>)</a:t>
            </a:r>
            <a:endParaRPr lang="en-US" altLang="zh-CN" sz="160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296535" y="5019675"/>
            <a:ext cx="941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</a:rPr>
              <a:t>TREADY</a:t>
            </a:r>
            <a:endParaRPr lang="en-US" altLang="zh-CN" sz="160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4933315" y="5273675"/>
            <a:ext cx="166814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296535" y="4479925"/>
            <a:ext cx="941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2">
                    <a:lumMod val="95000"/>
                    <a:lumOff val="5000"/>
                  </a:schemeClr>
                </a:solidFill>
              </a:rPr>
              <a:t>TVALID</a:t>
            </a:r>
            <a:endParaRPr lang="en-US" altLang="zh-CN" sz="160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69315" y="5781040"/>
            <a:ext cx="86436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Each FIFO acts as an AXI-Stream bridge ensuring smooth data flow across modules.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Provides </a:t>
            </a:r>
            <a:r>
              <a:rPr lang="en-US" altLang="zh-CN" b="1">
                <a:solidFill>
                  <a:srgbClr val="C00000"/>
                </a:solidFill>
              </a:rPr>
              <a:t>intermediate buffering, rate matching, and timing decoupling,</a:t>
            </a:r>
            <a:r>
              <a:rPr lang="en-US" altLang="zh-CN"/>
              <a:t> ensuring stable pipeline flow.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Trade Off : Reconfigurable vs. Fine-grained pipeline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05" y="1206500"/>
            <a:ext cx="5839460" cy="20612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0540" y="3267710"/>
            <a:ext cx="2562860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mode    Calculation</a:t>
            </a:r>
            <a:endParaRPr lang="en-US" altLang="zh-CN" sz="1600" b="1"/>
          </a:p>
          <a:p>
            <a:r>
              <a:rPr lang="en-US" altLang="zh-CN" sz="1400"/>
              <a:t>00             MAC (A*B+acc_in)</a:t>
            </a:r>
            <a:endParaRPr lang="en-US" altLang="zh-CN" sz="1400"/>
          </a:p>
          <a:p>
            <a:r>
              <a:rPr lang="en-US" altLang="zh-CN" sz="1400"/>
              <a:t>01             MUL (A*B)</a:t>
            </a:r>
            <a:endParaRPr lang="en-US" altLang="zh-CN" sz="1400"/>
          </a:p>
          <a:p>
            <a:r>
              <a:rPr lang="en-US" altLang="zh-CN" sz="1400"/>
              <a:t>10             ADD  (A+B)</a:t>
            </a:r>
            <a:endParaRPr lang="en-US" altLang="zh-CN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75" y="1034415"/>
            <a:ext cx="5389880" cy="31819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260465" y="4216400"/>
            <a:ext cx="30378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Case A: wait for all MAC tiles, then run Sigmoid/EW</a:t>
            </a:r>
            <a:endParaRPr lang="en-US" altLang="zh-CN">
              <a:sym typeface="+mn-ea"/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T_A = 29N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en-US" altLang="zh-CN">
                <a:sym typeface="+mn-ea"/>
              </a:rPr>
              <a:t>Case B: stream each tile to Sigmoid/EW as soon as MAC finishes</a:t>
            </a:r>
            <a:endParaRPr lang="en-US" altLang="zh-CN"/>
          </a:p>
          <a:p>
            <a:r>
              <a:rPr lang="en-US" altLang="zh-CN" b="1">
                <a:solidFill>
                  <a:srgbClr val="FF0000"/>
                </a:solidFill>
              </a:rPr>
              <a:t>T_B = 22N + 7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535795" y="4216400"/>
            <a:ext cx="246697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00000"/>
                </a:solidFill>
                <a:sym typeface="+mn-ea"/>
              </a:rPr>
              <a:t>Latency saving</a:t>
            </a:r>
            <a:endParaRPr lang="en-US" altLang="zh-CN" b="1">
              <a:solidFill>
                <a:srgbClr val="C00000"/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For N = 64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T_A = 1856 cycles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T_B = 1415 cycles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Saving = 441 cycles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b="1">
                <a:solidFill>
                  <a:srgbClr val="C00000"/>
                </a:solidFill>
                <a:sym typeface="+mn-ea"/>
              </a:rPr>
              <a:t>Saving ratio ≈ 23.8%</a:t>
            </a:r>
            <a:endParaRPr lang="zh-CN" altLang="en-US" b="1">
              <a:solidFill>
                <a:srgbClr val="C00000"/>
              </a:solidFill>
            </a:endParaRPr>
          </a:p>
          <a:p>
            <a:r>
              <a:rPr lang="en-US" altLang="zh-CN" b="1">
                <a:solidFill>
                  <a:srgbClr val="C00000"/>
                </a:solidFill>
              </a:rPr>
              <a:t>Add 12 DSPs</a:t>
            </a:r>
            <a:endParaRPr lang="en-US" altLang="zh-CN" b="1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1005" y="6289675"/>
            <a:ext cx="9772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R. Wei et al., "LightMamba: Efficient Mamba Acceleration on FPGA with Quantization and Hardware Co-design," 2025 Design, Automation &amp; Test in Europe Conference (DATE), Lyon, France, 2025, pp. 1-7, doi: 10.23919/DATE64628.2025.10993079.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0540" y="4578350"/>
            <a:ext cx="54019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 i="1">
                <a:solidFill>
                  <a:srgbClr val="C00000"/>
                </a:solidFill>
              </a:rPr>
              <a:t>use 64 DSPs</a:t>
            </a:r>
            <a:endParaRPr lang="en-US" altLang="zh-CN" b="1" i="1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 i="1">
                <a:solidFill>
                  <a:srgbClr val="C00000"/>
                </a:solidFill>
              </a:rPr>
              <a:t>wait for all MACs (64 tiles) to finish and then goes to next layer. </a:t>
            </a:r>
            <a:endParaRPr lang="en-US" altLang="zh-CN" b="1" i="1">
              <a:solidFill>
                <a:srgbClr val="C00000"/>
              </a:solidFill>
            </a:endParaRPr>
          </a:p>
          <a:p>
            <a:endParaRPr lang="en-US" altLang="zh-CN" b="1" i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Nonlinear layer - RMSNorm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67690" y="1184275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RMSNorm: y_i = x_i /  </a:t>
            </a:r>
            <a:r>
              <a:rPr lang="en-US" altLang="zh-CN" b="1">
                <a:solidFill>
                  <a:srgbClr val="C00000"/>
                </a:solidFill>
              </a:rPr>
              <a:t>RMS(x)</a:t>
            </a:r>
            <a:r>
              <a:rPr lang="en-US" altLang="zh-CN"/>
              <a:t> * gamma_i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759200" y="192659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weight</a:t>
            </a:r>
            <a:endParaRPr lang="en-US" altLang="zh-CN" b="1"/>
          </a:p>
        </p:txBody>
      </p:sp>
      <p:sp>
        <p:nvSpPr>
          <p:cNvPr id="7" name="上箭头 6"/>
          <p:cNvSpPr/>
          <p:nvPr/>
        </p:nvSpPr>
        <p:spPr>
          <a:xfrm>
            <a:off x="3028950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497455" y="1184275"/>
            <a:ext cx="170180" cy="36830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9" name="上箭头 8"/>
          <p:cNvSpPr/>
          <p:nvPr/>
        </p:nvSpPr>
        <p:spPr>
          <a:xfrm>
            <a:off x="3991610" y="161099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69235" y="1931670"/>
            <a:ext cx="989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Iterative</a:t>
            </a:r>
            <a:endParaRPr lang="en-US" altLang="zh-CN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4" name="上箭头 3"/>
          <p:cNvSpPr/>
          <p:nvPr/>
        </p:nvSpPr>
        <p:spPr>
          <a:xfrm>
            <a:off x="2497455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57935" y="1931670"/>
            <a:ext cx="1511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Trial-quotient</a:t>
            </a:r>
            <a:endParaRPr lang="en-US" altLang="zh-CN" b="1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510540" y="2872105"/>
            <a:ext cx="55759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Division</a:t>
            </a:r>
            <a:r>
              <a:rPr lang="zh-CN" altLang="en-US"/>
              <a:t>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Goal: replace division by RMS with one </a:t>
            </a:r>
            <a:r>
              <a:rPr lang="en-US" altLang="zh-CN" b="1">
                <a:solidFill>
                  <a:srgbClr val="C00000"/>
                </a:solidFill>
              </a:rPr>
              <a:t>reciprocal value</a:t>
            </a:r>
            <a:r>
              <a:rPr lang="en-US" altLang="zh-CN"/>
              <a:t>,  recip_q30 = round(</a:t>
            </a:r>
            <a:r>
              <a:rPr lang="en-US" altLang="zh-CN" b="1">
                <a:solidFill>
                  <a:srgbClr val="C00000"/>
                </a:solidFill>
              </a:rPr>
              <a:t>2^30</a:t>
            </a:r>
            <a:r>
              <a:rPr lang="en-US" altLang="zh-CN"/>
              <a:t> / rms_q88)</a:t>
            </a:r>
            <a:endParaRPr lang="en-US" altLang="zh-CN"/>
          </a:p>
          <a:p>
            <a:pPr lvl="1" indent="0">
              <a:buFont typeface="Arial" panose="020B0604020202020204" pitchFamily="34" charset="0"/>
              <a:buNone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2^30 is the scaling factor for the fixed-point reciprocal. recip_q30 stores 1 / rms_q88 with 3</a:t>
            </a:r>
            <a:r>
              <a:rPr lang="en-US" altLang="zh-CN" b="1">
                <a:solidFill>
                  <a:srgbClr val="C00000"/>
                </a:solidFill>
              </a:rPr>
              <a:t>0 fractional bits.</a:t>
            </a:r>
            <a:endParaRPr lang="en-US" altLang="zh-CN" b="1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More fractional bits give </a:t>
            </a:r>
            <a:r>
              <a:rPr lang="en-US" altLang="zh-CN" b="1">
                <a:solidFill>
                  <a:srgbClr val="C00000"/>
                </a:solidFill>
              </a:rPr>
              <a:t>higher reciprocal precision</a:t>
            </a:r>
            <a:r>
              <a:rPr lang="en-US" altLang="zh-CN"/>
              <a:t>, reducing RMSNorm output error.</a:t>
            </a:r>
            <a:endParaRPr lang="en-US" altLang="zh-CN"/>
          </a:p>
        </p:txBody>
      </p:sp>
      <p:pic>
        <p:nvPicPr>
          <p:cNvPr id="14" name="图片 13" descr="trial_quotient_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3230" y="1024255"/>
            <a:ext cx="4306570" cy="56819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Nonlinear layer - RMSNorm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67690" y="1184275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RMSNorm: y_i = x_i /  </a:t>
            </a:r>
            <a:r>
              <a:rPr lang="en-US" altLang="zh-CN" b="1">
                <a:solidFill>
                  <a:srgbClr val="C00000"/>
                </a:solidFill>
              </a:rPr>
              <a:t>RMS(x)</a:t>
            </a:r>
            <a:r>
              <a:rPr lang="en-US" altLang="zh-CN"/>
              <a:t> * gamma_i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759200" y="192659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weight</a:t>
            </a:r>
            <a:endParaRPr lang="en-US" altLang="zh-CN" b="1"/>
          </a:p>
        </p:txBody>
      </p:sp>
      <p:sp>
        <p:nvSpPr>
          <p:cNvPr id="7" name="上箭头 6"/>
          <p:cNvSpPr/>
          <p:nvPr/>
        </p:nvSpPr>
        <p:spPr>
          <a:xfrm>
            <a:off x="3028950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497455" y="1184275"/>
            <a:ext cx="170180" cy="36830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9" name="上箭头 8"/>
          <p:cNvSpPr/>
          <p:nvPr/>
        </p:nvSpPr>
        <p:spPr>
          <a:xfrm>
            <a:off x="3991610" y="161099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69235" y="1931670"/>
            <a:ext cx="989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Iterative</a:t>
            </a:r>
            <a:endParaRPr lang="en-US" altLang="zh-CN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4" name="上箭头 3"/>
          <p:cNvSpPr/>
          <p:nvPr/>
        </p:nvSpPr>
        <p:spPr>
          <a:xfrm>
            <a:off x="2497455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57935" y="1931670"/>
            <a:ext cx="1511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Trial-quotient</a:t>
            </a:r>
            <a:endParaRPr lang="en-US" altLang="zh-CN" b="1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510540" y="2668905"/>
            <a:ext cx="5575935" cy="3907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RMS Approximation</a:t>
            </a:r>
            <a:r>
              <a:rPr lang="zh-CN" altLang="en-US"/>
              <a:t>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 Goal: compute RMS without floating-point sqrt: </a:t>
            </a:r>
            <a:r>
              <a:rPr lang="en-US" altLang="zh-CN" b="1">
                <a:solidFill>
                  <a:srgbClr val="C00000"/>
                </a:solidFill>
              </a:rPr>
              <a:t>rms_q88 = isqrt(mean_sq_q16 + eps)</a:t>
            </a:r>
            <a:endParaRPr lang="en-US" altLang="zh-CN" b="1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b="1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root: current </a:t>
            </a:r>
            <a:r>
              <a:rPr lang="en-US" altLang="zh-CN" b="1">
                <a:solidFill>
                  <a:srgbClr val="C00000"/>
                </a:solidFill>
              </a:rPr>
              <a:t>partial square-root result</a:t>
            </a:r>
            <a:r>
              <a:rPr lang="en-US" altLang="zh-CN"/>
              <a:t>; one new bit is decided each cycle.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remainder: the </a:t>
            </a:r>
            <a:r>
              <a:rPr lang="en-US" altLang="zh-CN" b="1">
                <a:solidFill>
                  <a:srgbClr val="C00000"/>
                </a:solidFill>
              </a:rPr>
              <a:t>remaining part of the input</a:t>
            </a:r>
            <a:r>
              <a:rPr lang="en-US" altLang="zh-CN"/>
              <a:t> that has not been explained by the current root.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trial value:  a test value used to check </a:t>
            </a:r>
            <a:r>
              <a:rPr lang="en-US" altLang="zh-CN" b="1">
                <a:solidFill>
                  <a:srgbClr val="C00000"/>
                </a:solidFill>
              </a:rPr>
              <a:t>whether the next root bit can be set to 1.</a:t>
            </a:r>
            <a:endParaRPr lang="en-US" altLang="zh-CN" b="1">
              <a:solidFill>
                <a:srgbClr val="C00000"/>
              </a:solidFill>
            </a:endParaRPr>
          </a:p>
          <a:p>
            <a:pPr lvl="2" indent="0">
              <a:buFont typeface="Arial" panose="020B0604020202020204" pitchFamily="34" charset="0"/>
              <a:buNone/>
            </a:pPr>
            <a:r>
              <a:rPr lang="en-US" altLang="zh-CN" sz="1600" b="1" i="1">
                <a:solidFill>
                  <a:schemeClr val="tx2"/>
                </a:solidFill>
              </a:rPr>
              <a:t>root_shift = {isqrt_root, 1'b0};</a:t>
            </a:r>
            <a:endParaRPr lang="en-US" altLang="zh-CN" sz="1600" b="1" i="1">
              <a:solidFill>
                <a:schemeClr val="tx2"/>
              </a:solidFill>
            </a:endParaRPr>
          </a:p>
          <a:p>
            <a:pPr lvl="2" indent="0">
              <a:buFont typeface="Arial" panose="020B0604020202020204" pitchFamily="34" charset="0"/>
              <a:buNone/>
            </a:pPr>
            <a:r>
              <a:rPr lang="en-US" altLang="zh-CN" sz="1600" b="1" i="1">
                <a:solidFill>
                  <a:schemeClr val="tx2"/>
                </a:solidFill>
              </a:rPr>
              <a:t>trial      = {32'd0, root_shift, 1'b1};</a:t>
            </a:r>
            <a:endParaRPr lang="en-US" altLang="zh-CN" sz="1600" b="1" i="1">
              <a:solidFill>
                <a:schemeClr val="tx2"/>
              </a:solidFill>
            </a:endParaRPr>
          </a:p>
        </p:txBody>
      </p:sp>
      <p:pic>
        <p:nvPicPr>
          <p:cNvPr id="10" name="图片 9" descr="rms_approximation_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4535" y="1071880"/>
            <a:ext cx="3488690" cy="56553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Nonlinear layer - RMSNorm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67690" y="1184275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RMSNorm: y_i = x_i /  </a:t>
            </a:r>
            <a:r>
              <a:rPr lang="en-US" altLang="zh-CN" b="1">
                <a:solidFill>
                  <a:srgbClr val="C00000"/>
                </a:solidFill>
              </a:rPr>
              <a:t>RMS(x)</a:t>
            </a:r>
            <a:r>
              <a:rPr lang="en-US" altLang="zh-CN"/>
              <a:t> * gamma_i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759200" y="192659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weight</a:t>
            </a:r>
            <a:endParaRPr lang="en-US" altLang="zh-CN" b="1"/>
          </a:p>
        </p:txBody>
      </p:sp>
      <p:sp>
        <p:nvSpPr>
          <p:cNvPr id="7" name="上箭头 6"/>
          <p:cNvSpPr/>
          <p:nvPr/>
        </p:nvSpPr>
        <p:spPr>
          <a:xfrm>
            <a:off x="3028950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497455" y="1184275"/>
            <a:ext cx="170180" cy="36830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9" name="上箭头 8"/>
          <p:cNvSpPr/>
          <p:nvPr/>
        </p:nvSpPr>
        <p:spPr>
          <a:xfrm>
            <a:off x="3991610" y="161099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69235" y="1931670"/>
            <a:ext cx="989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Iterative</a:t>
            </a:r>
            <a:endParaRPr lang="en-US" altLang="zh-CN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4" name="上箭头 3"/>
          <p:cNvSpPr/>
          <p:nvPr/>
        </p:nvSpPr>
        <p:spPr>
          <a:xfrm>
            <a:off x="2497455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57935" y="1931670"/>
            <a:ext cx="1511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Trial-quotient</a:t>
            </a:r>
            <a:endParaRPr lang="en-US" altLang="zh-CN" b="1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642620" y="2668905"/>
            <a:ext cx="5575935" cy="3907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RMS Approximation</a:t>
            </a:r>
            <a:r>
              <a:rPr lang="zh-CN" altLang="en-US"/>
              <a:t>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 Goal: compute RMS without floating-point sqrt: </a:t>
            </a:r>
            <a:r>
              <a:rPr lang="en-US" altLang="zh-CN" b="1">
                <a:solidFill>
                  <a:srgbClr val="C00000"/>
                </a:solidFill>
              </a:rPr>
              <a:t>rms_q88 = isqrt(mean_sq_q16 + eps)</a:t>
            </a:r>
            <a:endParaRPr lang="en-US" altLang="zh-CN" b="1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b="1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root: current </a:t>
            </a:r>
            <a:r>
              <a:rPr lang="en-US" altLang="zh-CN" b="1">
                <a:solidFill>
                  <a:srgbClr val="C00000"/>
                </a:solidFill>
              </a:rPr>
              <a:t>partial square-root result</a:t>
            </a:r>
            <a:r>
              <a:rPr lang="en-US" altLang="zh-CN"/>
              <a:t>; one new bit is decided each cycle.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remainder: the </a:t>
            </a:r>
            <a:r>
              <a:rPr lang="en-US" altLang="zh-CN" b="1">
                <a:solidFill>
                  <a:srgbClr val="C00000"/>
                </a:solidFill>
              </a:rPr>
              <a:t>remaining part of the input</a:t>
            </a:r>
            <a:r>
              <a:rPr lang="en-US" altLang="zh-CN"/>
              <a:t> that has not been explained by the current root.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trial value:  a test value used to check </a:t>
            </a:r>
            <a:r>
              <a:rPr lang="en-US" altLang="zh-CN" b="1">
                <a:solidFill>
                  <a:srgbClr val="C00000"/>
                </a:solidFill>
              </a:rPr>
              <a:t>whether the next root bit can be set to 1.</a:t>
            </a:r>
            <a:endParaRPr lang="en-US" altLang="zh-CN" b="1">
              <a:solidFill>
                <a:srgbClr val="C00000"/>
              </a:solidFill>
            </a:endParaRPr>
          </a:p>
          <a:p>
            <a:pPr lvl="2" indent="0">
              <a:buFont typeface="Arial" panose="020B0604020202020204" pitchFamily="34" charset="0"/>
              <a:buNone/>
            </a:pPr>
            <a:r>
              <a:rPr lang="en-US" altLang="zh-CN" sz="1600" b="1" i="1">
                <a:solidFill>
                  <a:schemeClr val="tx2"/>
                </a:solidFill>
              </a:rPr>
              <a:t>root_shift = {isqrt_root, 1'b0};</a:t>
            </a:r>
            <a:endParaRPr lang="en-US" altLang="zh-CN" sz="1600" b="1" i="1">
              <a:solidFill>
                <a:schemeClr val="tx2"/>
              </a:solidFill>
            </a:endParaRPr>
          </a:p>
          <a:p>
            <a:pPr lvl="2" indent="0">
              <a:buFont typeface="Arial" panose="020B0604020202020204" pitchFamily="34" charset="0"/>
              <a:buNone/>
            </a:pPr>
            <a:r>
              <a:rPr lang="en-US" altLang="zh-CN" sz="1600" b="1" i="1">
                <a:solidFill>
                  <a:schemeClr val="tx2"/>
                </a:solidFill>
              </a:rPr>
              <a:t>trial      = {32'd0, root_shift, 1'b1};</a:t>
            </a:r>
            <a:endParaRPr lang="en-US" altLang="zh-CN" sz="1600" b="1" i="1">
              <a:solidFill>
                <a:schemeClr val="tx2"/>
              </a:solidFill>
            </a:endParaRPr>
          </a:p>
        </p:txBody>
      </p:sp>
      <p:pic>
        <p:nvPicPr>
          <p:cNvPr id="10" name="图片 9" descr="rms_approximation_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4695" y="1071880"/>
            <a:ext cx="3488690" cy="5655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Nonlinear layer - Sigmoid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4919345"/>
            <a:ext cx="1676400" cy="657225"/>
          </a:xfrm>
          <a:prstGeom prst="rect">
            <a:avLst/>
          </a:prstGeom>
        </p:spPr>
      </p:pic>
      <p:sp>
        <p:nvSpPr>
          <p:cNvPr id="16" name="右箭头 15"/>
          <p:cNvSpPr/>
          <p:nvPr/>
        </p:nvSpPr>
        <p:spPr>
          <a:xfrm>
            <a:off x="2258060" y="5123815"/>
            <a:ext cx="314960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711450" y="5044440"/>
            <a:ext cx="1913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clamp x to [-4, +4)</a:t>
            </a:r>
            <a:endParaRPr lang="en-US" altLang="zh-CN"/>
          </a:p>
        </p:txBody>
      </p:sp>
      <p:sp>
        <p:nvSpPr>
          <p:cNvPr id="18" name="右箭头 17"/>
          <p:cNvSpPr/>
          <p:nvPr/>
        </p:nvSpPr>
        <p:spPr>
          <a:xfrm>
            <a:off x="543560" y="5655945"/>
            <a:ext cx="314960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80" y="5576570"/>
            <a:ext cx="2495550" cy="361950"/>
          </a:xfrm>
          <a:prstGeom prst="rect">
            <a:avLst/>
          </a:prstGeom>
        </p:spPr>
      </p:pic>
      <p:sp>
        <p:nvSpPr>
          <p:cNvPr id="20" name="右箭头 19"/>
          <p:cNvSpPr/>
          <p:nvPr/>
        </p:nvSpPr>
        <p:spPr>
          <a:xfrm>
            <a:off x="3679190" y="5655945"/>
            <a:ext cx="314960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154805" y="5576570"/>
            <a:ext cx="3253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LUT: 2048 sigmoid outputs</a:t>
            </a:r>
            <a:endParaRPr lang="en-US" altLang="zh-CN" b="1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" y="1200150"/>
            <a:ext cx="6667500" cy="32004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r="41234"/>
          <a:stretch>
            <a:fillRect/>
          </a:stretch>
        </p:blipFill>
        <p:spPr>
          <a:xfrm>
            <a:off x="7485380" y="1085850"/>
            <a:ext cx="3961130" cy="500634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4472305" y="3284855"/>
            <a:ext cx="795020" cy="238760"/>
          </a:xfrm>
          <a:prstGeom prst="round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Nonlinear layer - Sigmoid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90" y="1318895"/>
            <a:ext cx="6732905" cy="3848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295" y="1376045"/>
            <a:ext cx="4572000" cy="4457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64590" y="5367020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00000"/>
                </a:solidFill>
              </a:rPr>
              <a:t>error &lt; 0.02%</a:t>
            </a:r>
            <a:endParaRPr lang="en-US" altLang="zh-CN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en-US" altLang="zh-CN"/>
              <a:t>Quantisation: Workflow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73050" y="5330190"/>
            <a:ext cx="4587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/>
              <a:t>Metrics - MAE (Mean Absolute Error)</a:t>
            </a:r>
            <a:r>
              <a:rPr lang="zh-CN" altLang="en-US" b="1"/>
              <a:t>：</a:t>
            </a:r>
            <a:endParaRPr lang="en-US" altLang="zh-CN" b="1"/>
          </a:p>
          <a:p>
            <a:pPr lvl="1"/>
            <a:r>
              <a:rPr lang="en-US" altLang="zh-CN"/>
              <a:t>cpp vs float         </a:t>
            </a:r>
            <a:r>
              <a:rPr lang="en-US" altLang="zh-CN" b="1">
                <a:solidFill>
                  <a:srgbClr val="C00000"/>
                </a:solidFill>
              </a:rPr>
              <a:t>quantisation loss </a:t>
            </a:r>
            <a:r>
              <a:rPr lang="en-US" altLang="zh-CN"/>
              <a:t>            </a:t>
            </a:r>
            <a:endParaRPr lang="en-US" altLang="zh-CN"/>
          </a:p>
          <a:p>
            <a:pPr lvl="1"/>
            <a:r>
              <a:rPr lang="en-US" altLang="zh-CN"/>
              <a:t>hw_like vs cpp    </a:t>
            </a:r>
            <a:r>
              <a:rPr lang="en-US" altLang="zh-CN" b="1">
                <a:solidFill>
                  <a:srgbClr val="C00000"/>
                </a:solidFill>
              </a:rPr>
              <a:t>hardware mapping error</a:t>
            </a:r>
            <a:endParaRPr lang="en-US" altLang="zh-CN" b="1">
              <a:solidFill>
                <a:srgbClr val="C00000"/>
              </a:solidFill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5106035" y="1847215"/>
          <a:ext cx="6903720" cy="2056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905"/>
                <a:gridCol w="655320"/>
                <a:gridCol w="3219450"/>
                <a:gridCol w="1376045"/>
              </a:tblGrid>
              <a:tr h="3638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altLang="zh-CN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altLang="zh-CN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overrides</a:t>
                      </a:r>
                      <a:endParaRPr lang="en-US" altLang="zh-CN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mean_err (m)</a:t>
                      </a:r>
                      <a:endParaRPr lang="zh-CN" altLang="en-US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219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fake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fake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C00000"/>
                          </a:solidFill>
                        </a:rPr>
                        <a:t>0.13695</a:t>
                      </a:r>
                      <a:endParaRPr lang="en-US" altLang="zh-CN" sz="1600" b="1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all_int16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ssm_state=int16, gate=int16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C00000"/>
                          </a:solidFill>
                        </a:rPr>
                        <a:t>0.13520</a:t>
                      </a:r>
                      <a:endParaRPr lang="en-US" altLang="zh-CN" sz="1600" b="1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416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mixed_candidate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dt_proj=int8, ssm_state=int8, gate=int8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C00000"/>
                          </a:solidFill>
                        </a:rPr>
                        <a:t>0.13519</a:t>
                      </a:r>
                      <a:endParaRPr lang="en-US" altLang="zh-CN" sz="1600" b="1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62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inproj_i8_on_i16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in_proj=int8, ssm_state=int16, gate=int16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0.76520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40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outproj_i8_on_i16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out_proj=int8, ssm_state=int16, gate=int16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0.24352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016500" y="1189990"/>
            <a:ext cx="4057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Layer-wise Precision Sweep</a:t>
            </a:r>
            <a:endParaRPr lang="en-US" altLang="zh-CN" sz="2000" b="1"/>
          </a:p>
        </p:txBody>
      </p:sp>
      <p:sp>
        <p:nvSpPr>
          <p:cNvPr id="9" name="文本框 8"/>
          <p:cNvSpPr txBox="1"/>
          <p:nvPr/>
        </p:nvSpPr>
        <p:spPr>
          <a:xfrm>
            <a:off x="5106035" y="4229100"/>
            <a:ext cx="6781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int16 quantisation is safe.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dt_proj, ssm_state, and gate</a:t>
            </a:r>
            <a:r>
              <a:rPr lang="en-US" altLang="zh-CN"/>
              <a:t> can be reduced to </a:t>
            </a:r>
            <a:r>
              <a:rPr lang="en-US" altLang="zh-CN" b="1">
                <a:solidFill>
                  <a:srgbClr val="C00000"/>
                </a:solidFill>
              </a:rPr>
              <a:t>int8</a:t>
            </a:r>
            <a:r>
              <a:rPr lang="en-US" altLang="zh-CN"/>
              <a:t> with negligible accuracy loss.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in_proj and out_proj are precision-sensitive </a:t>
            </a:r>
            <a:r>
              <a:rPr lang="en-US" altLang="zh-CN"/>
              <a:t>and should remain at higher precision.</a:t>
            </a:r>
            <a:endParaRPr lang="en-US" altLang="zh-CN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4972685" y="1083945"/>
            <a:ext cx="20955" cy="542163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图片 16" descr="float_cpp_rtl_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72740" y="1588770"/>
            <a:ext cx="2000885" cy="3341370"/>
          </a:xfrm>
          <a:prstGeom prst="rect">
            <a:avLst/>
          </a:prstGeom>
        </p:spPr>
      </p:pic>
      <p:pic>
        <p:nvPicPr>
          <p:cNvPr id="19" name="图片 18" descr="quantization_flow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895" y="1337310"/>
            <a:ext cx="2299970" cy="3723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en-US" altLang="zh-CN"/>
              <a:t>Quantisation: Workflow 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10540" y="1064260"/>
            <a:ext cx="4845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Analyse per-layer quantisation error</a:t>
            </a:r>
            <a:endParaRPr lang="en-US" altLang="zh-CN" sz="2000" b="1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13450" y="1169670"/>
          <a:ext cx="4970145" cy="4343400"/>
        </p:xfrm>
        <a:graphic>
          <a:graphicData uri="http://schemas.openxmlformats.org/drawingml/2006/table">
            <a:tbl>
              <a:tblPr/>
              <a:tblGrid>
                <a:gridCol w="1329690"/>
                <a:gridCol w="1614170"/>
                <a:gridCol w="2026285"/>
              </a:tblGrid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Stage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Fixed scale MAE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Dynamic Scale MAE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norm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0.004498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0.004498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inproj_u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0.010917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0.010917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inproj_z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0.011069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0.011069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silu_u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0.006183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0.006183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silu_gate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0.005931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0.005931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dtproj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0.010139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0.010139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dt_sigmoid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0.002118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0.002118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selective_scan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0.127090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0.085484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ewm_gating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0.033001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0.029827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outproj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0.032225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0.031243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block_output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0.032426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0.031332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35" y="1596390"/>
            <a:ext cx="4210685" cy="47510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899785" y="5553710"/>
            <a:ext cx="5481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Fixed scale:</a:t>
            </a:r>
            <a:r>
              <a:rPr lang="en-US" altLang="zh-CN"/>
              <a:t> for Q8.8, every value uses the </a:t>
            </a:r>
            <a:r>
              <a:rPr lang="en-US" altLang="zh-CN" b="1">
                <a:solidFill>
                  <a:srgbClr val="C00000"/>
                </a:solidFill>
              </a:rPr>
              <a:t>same scale</a:t>
            </a:r>
            <a:r>
              <a:rPr lang="en-US" altLang="zh-CN"/>
              <a:t> 1/256, so real value = int16 / 256.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Dynamic scale:</a:t>
            </a:r>
            <a:r>
              <a:rPr lang="en-US" altLang="zh-CN"/>
              <a:t> scale is computed from the </a:t>
            </a:r>
            <a:r>
              <a:rPr lang="en-US" altLang="zh-CN" b="1">
                <a:solidFill>
                  <a:srgbClr val="C00000"/>
                </a:solidFill>
              </a:rPr>
              <a:t>channel range</a:t>
            </a:r>
            <a:r>
              <a:rPr lang="en-US" altLang="zh-CN"/>
              <a:t>, so real value = int16 × scale.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Quantisation: Workflow</a:t>
            </a:r>
            <a:endParaRPr lang="en-US" altLang="en-US"/>
          </a:p>
        </p:txBody>
      </p:sp>
      <p:sp>
        <p:nvSpPr>
          <p:cNvPr id="39" name="文本框 38"/>
          <p:cNvSpPr txBox="1"/>
          <p:nvPr>
            <p:custDataLst>
              <p:tags r:id="rId2"/>
            </p:custDataLst>
          </p:nvPr>
        </p:nvSpPr>
        <p:spPr>
          <a:xfrm>
            <a:off x="613410" y="1138555"/>
            <a:ext cx="5168900" cy="47625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b="1">
                <a:sym typeface="+mn-ea"/>
              </a:rPr>
              <a:t>Per-layer quantisation strategy</a:t>
            </a:r>
            <a:endParaRPr lang="en-US" altLang="zh-CN" sz="2000" b="1">
              <a:sym typeface="+mn-ea"/>
            </a:endParaRPr>
          </a:p>
        </p:txBody>
      </p:sp>
      <p:graphicFrame>
        <p:nvGraphicFramePr>
          <p:cNvPr id="6" name="表格 3"/>
          <p:cNvGraphicFramePr/>
          <p:nvPr>
            <p:custDataLst>
              <p:tags r:id="rId3"/>
            </p:custDataLst>
          </p:nvPr>
        </p:nvGraphicFramePr>
        <p:xfrm>
          <a:off x="510256" y="1921082"/>
          <a:ext cx="6223635" cy="352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770"/>
                <a:gridCol w="1942465"/>
                <a:gridCol w="2692400"/>
              </a:tblGrid>
              <a:tr h="49847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spc="120"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Scale</a:t>
                      </a:r>
                      <a:endParaRPr lang="en-US" altLang="zh-CN" sz="1800" b="1" spc="120"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spc="120"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Q Format</a:t>
                      </a:r>
                      <a:endParaRPr lang="en-US" altLang="zh-CN" sz="1800" b="1" spc="120"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spc="120"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Layer</a:t>
                      </a:r>
                      <a:endParaRPr lang="en-US" altLang="zh-CN" sz="1800" b="1" spc="120"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</a:tr>
              <a:tr h="71056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1/256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signed int16 Q8.8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RMSNorm output, in_proj, dt_proj, out_proj, gate_y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</a:tr>
              <a:tr h="5397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1/65536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unsigned Q0.16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sigmoid LUT output, SiLU sigmoid path, dt lambda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</a:tr>
              <a:tr h="77851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1/32768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signed Q1.15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selective scan lambda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</a:tr>
              <a:tr h="53975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Dynamic scale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scaled signed int16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selective scan state SRAM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 anchorCtr="0"/>
                </a:tc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062470" y="1614805"/>
            <a:ext cx="48825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</a:rPr>
              <a:t>Rounding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i="1">
                <a:solidFill>
                  <a:srgbClr val="C00000"/>
                </a:solidFill>
              </a:rPr>
              <a:t>Main rule: round-to-nearest-even.</a:t>
            </a:r>
            <a:endParaRPr lang="en-US" altLang="zh-CN" b="1" i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Used after MAC, Q-format conversion, state update, and scale multiplication.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Reduces long-term bias</a:t>
            </a:r>
            <a:r>
              <a:rPr lang="en-US" altLang="zh-CN">
                <a:solidFill>
                  <a:schemeClr val="tx1"/>
                </a:solidFill>
              </a:rPr>
              <a:t> compared with truncation.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 b="1">
                <a:solidFill>
                  <a:schemeClr val="tx1"/>
                </a:solidFill>
              </a:rPr>
              <a:t>Saturation / Clamp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Final Q8.8 values are </a:t>
            </a:r>
            <a:r>
              <a:rPr lang="en-US" altLang="zh-CN" b="1">
                <a:solidFill>
                  <a:srgbClr val="C00000"/>
                </a:solidFill>
              </a:rPr>
              <a:t>clamped to signed int16:</a:t>
            </a:r>
            <a:endParaRPr lang="en-US" altLang="zh-CN" b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[-32768, 32767]  -&gt;  about [-128, 127.996]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Prevents overflow and wrong sign</a:t>
            </a:r>
            <a:r>
              <a:rPr lang="en-US" altLang="zh-CN">
                <a:solidFill>
                  <a:schemeClr val="tx1"/>
                </a:solidFill>
              </a:rPr>
              <a:t> after multiplication, accumulation, or residual add.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0540" y="1583690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b="1">
                <a:solidFill>
                  <a:schemeClr val="tx1"/>
                </a:solidFill>
              </a:rPr>
              <a:t>Scale and Q-Format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3355" y="5504815"/>
            <a:ext cx="75171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2"/>
                </a:solidFill>
              </a:rPr>
              <a:t>in selective scan we need to calculate 1-lamda</a:t>
            </a:r>
            <a:endParaRPr lang="en-US" altLang="zh-CN">
              <a:solidFill>
                <a:schemeClr val="tx2"/>
              </a:solidFill>
            </a:endParaRPr>
          </a:p>
          <a:p>
            <a:r>
              <a:rPr lang="en-US" altLang="zh-CN">
                <a:solidFill>
                  <a:schemeClr val="tx2"/>
                </a:solidFill>
              </a:rPr>
              <a:t>s_new = lambda * s_prev +</a:t>
            </a:r>
            <a:r>
              <a:rPr lang="en-US" altLang="zh-CN">
                <a:solidFill>
                  <a:srgbClr val="C00000"/>
                </a:solidFill>
              </a:rPr>
              <a:t> </a:t>
            </a:r>
            <a:r>
              <a:rPr lang="en-US" altLang="zh-CN" b="1">
                <a:solidFill>
                  <a:srgbClr val="C00000"/>
                </a:solidFill>
              </a:rPr>
              <a:t>(1 - lambda)</a:t>
            </a:r>
            <a:r>
              <a:rPr lang="en-US" altLang="zh-CN">
                <a:solidFill>
                  <a:schemeClr val="tx2"/>
                </a:solidFill>
              </a:rPr>
              <a:t> * u</a:t>
            </a:r>
            <a:endParaRPr lang="en-US" altLang="zh-CN">
              <a:solidFill>
                <a:schemeClr val="tx2"/>
              </a:solidFill>
            </a:endParaRPr>
          </a:p>
          <a:p>
            <a:r>
              <a:rPr lang="en-US" altLang="zh-CN">
                <a:solidFill>
                  <a:schemeClr val="tx2"/>
                </a:solidFill>
              </a:rPr>
              <a:t>Q1.15:   s_new = ((lam_q15 * s_prev) + ((32768 - lam_q15) * u_scaled)) &gt;&gt; 15</a:t>
            </a:r>
            <a:endParaRPr lang="en-US" altLang="zh-CN">
              <a:solidFill>
                <a:schemeClr val="tx2"/>
              </a:solidFill>
            </a:endParaRPr>
          </a:p>
          <a:p>
            <a:endParaRPr lang="en-US" altLang="zh-CN">
              <a:solidFill>
                <a:schemeClr val="tx2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6788150" y="4989830"/>
            <a:ext cx="5382895" cy="47625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b="1">
                <a:sym typeface="+mn-ea"/>
              </a:rPr>
              <a:t>Final quantisation evaluation (34,505 samples)</a:t>
            </a:r>
            <a:endParaRPr lang="en-US" altLang="zh-CN" sz="2000" b="1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89775" y="5455285"/>
            <a:ext cx="50660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hw vs float	mae = 0.02081</a:t>
            </a:r>
            <a:endParaRPr lang="en-US" altLang="zh-CN" b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Mean error = 0.14103m  (float=0.13695m)</a:t>
            </a:r>
            <a:endParaRPr lang="en-US" altLang="zh-CN" b="1">
              <a:solidFill>
                <a:srgbClr val="C00000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Quantisation: Hardware implemetation</a:t>
            </a:r>
            <a:endParaRPr lang="en-US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0540" y="1108710"/>
            <a:ext cx="7907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A</a:t>
            </a:r>
            <a:r>
              <a:rPr lang="en-US" altLang="zh-CN" sz="2000" b="1">
                <a:solidFill>
                  <a:srgbClr val="C00000"/>
                </a:solidFill>
              </a:rPr>
              <a:t> Configurable</a:t>
            </a:r>
            <a:r>
              <a:rPr lang="en-US" altLang="zh-CN" sz="2000" b="1"/>
              <a:t> Quantisation Module - </a:t>
            </a:r>
            <a:r>
              <a:rPr lang="en-US" altLang="zh-CN" sz="2000" b="1" i="1">
                <a:solidFill>
                  <a:schemeClr val="tx2"/>
                </a:solidFill>
              </a:rPr>
              <a:t>requant_round_sat_engine</a:t>
            </a:r>
            <a:endParaRPr lang="en-US" altLang="zh-CN" sz="2000" b="1" i="1">
              <a:solidFill>
                <a:schemeClr val="tx2"/>
              </a:solidFill>
            </a:endParaRPr>
          </a:p>
        </p:txBody>
      </p:sp>
      <p:pic>
        <p:nvPicPr>
          <p:cNvPr id="12" name="图片 11" descr="fixed_point_vector_la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364"/>
          <a:stretch>
            <a:fillRect/>
          </a:stretch>
        </p:blipFill>
        <p:spPr>
          <a:xfrm>
            <a:off x="586105" y="1507490"/>
            <a:ext cx="10686415" cy="34715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10540" y="5158105"/>
            <a:ext cx="87953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• USE_SCALE selects fixed identity scale or external per-lane scale.</a:t>
            </a:r>
            <a:endParaRPr lang="en-US" altLang="zh-CN"/>
          </a:p>
          <a:p>
            <a:r>
              <a:rPr lang="en-US" altLang="zh-CN"/>
              <a:t>• ROUND_MODE selects truncation or round-to-nearest-even.</a:t>
            </a:r>
            <a:endParaRPr lang="en-US" altLang="zh-CN"/>
          </a:p>
          <a:p>
            <a:r>
              <a:rPr lang="en-US" altLang="zh-CN"/>
              <a:t>• SAT_MODE selects wrap cast or clamp to the target output range.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ing_pong_scale_alignment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9482"/>
          <a:stretch>
            <a:fillRect/>
          </a:stretch>
        </p:blipFill>
        <p:spPr>
          <a:xfrm>
            <a:off x="1866900" y="1377950"/>
            <a:ext cx="7976235" cy="41313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/>
              <a:t>Quantisation: Hardware implemetation</a:t>
            </a:r>
            <a:endParaRPr lang="en-US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426" y="6357296"/>
            <a:ext cx="2743200" cy="365125"/>
          </a:xfrm>
        </p:spPr>
        <p:txBody>
          <a:bodyPr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0540" y="1108710"/>
            <a:ext cx="4034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Dynamic scale for selective scan</a:t>
            </a:r>
            <a:endParaRPr lang="en-US" altLang="zh-CN" sz="2000" b="1" i="1">
              <a:solidFill>
                <a:schemeClr val="tx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8050" y="5640070"/>
            <a:ext cx="98939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While </a:t>
            </a:r>
            <a:r>
              <a:rPr lang="en-US" altLang="zh-CN" b="1">
                <a:solidFill>
                  <a:srgbClr val="C00000"/>
                </a:solidFill>
              </a:rPr>
              <a:t>one bank</a:t>
            </a:r>
            <a:r>
              <a:rPr lang="en-US" altLang="zh-CN"/>
              <a:t> feeds ew_update_vec4, </a:t>
            </a:r>
            <a:r>
              <a:rPr lang="en-US" altLang="zh-CN" b="1">
                <a:solidFill>
                  <a:srgbClr val="C00000"/>
                </a:solidFill>
              </a:rPr>
              <a:t>the other bank</a:t>
            </a:r>
            <a:r>
              <a:rPr lang="en-US" altLang="zh-CN"/>
              <a:t> can prepare the next toke, keeps </a:t>
            </a:r>
            <a:r>
              <a:rPr lang="en-US" altLang="zh-CN" b="1">
                <a:solidFill>
                  <a:srgbClr val="C00000"/>
                </a:solidFill>
              </a:rPr>
              <a:t>data and scale values aligned</a:t>
            </a:r>
            <a:r>
              <a:rPr lang="en-US" altLang="zh-CN"/>
              <a:t> before the state update.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Scale generator</a:t>
            </a:r>
            <a:r>
              <a:rPr lang="en-US" altLang="zh-CN"/>
              <a:t> computes per-lane u_to_state and state_to_q88 scales from u_act.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572" y="227965"/>
            <a:ext cx="11124692" cy="63830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190" dirty="0">
                <a:solidFill>
                  <a:srgbClr val="8A5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</a:t>
            </a:r>
            <a:endParaRPr lang="en-US" sz="4190" dirty="0"/>
          </a:p>
        </p:txBody>
      </p:sp>
      <p:sp>
        <p:nvSpPr>
          <p:cNvPr id="4" name="Shape 2"/>
          <p:cNvSpPr/>
          <p:nvPr/>
        </p:nvSpPr>
        <p:spPr>
          <a:xfrm>
            <a:off x="553572" y="1139825"/>
            <a:ext cx="5699125" cy="141338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7707" y="1249248"/>
            <a:ext cx="5370855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595" dirty="0"/>
          </a:p>
        </p:txBody>
      </p:sp>
      <p:sp>
        <p:nvSpPr>
          <p:cNvPr id="6" name="Shape 4"/>
          <p:cNvSpPr/>
          <p:nvPr/>
        </p:nvSpPr>
        <p:spPr>
          <a:xfrm>
            <a:off x="4866670" y="1759890"/>
            <a:ext cx="1048639" cy="300914"/>
          </a:xfrm>
          <a:prstGeom prst="rect">
            <a:avLst/>
          </a:prstGeom>
          <a:solidFill>
            <a:srgbClr val="FDECEA"/>
          </a:solidFill>
          <a:ln w="12700">
            <a:solidFill>
              <a:srgbClr val="F5C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6670" y="1796364"/>
            <a:ext cx="1048639" cy="2279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95" b="1" dirty="0">
                <a:solidFill>
                  <a:srgbClr val="B0002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400 MHz</a:t>
            </a:r>
            <a:endParaRPr lang="en-US" sz="1395" dirty="0"/>
          </a:p>
        </p:txBody>
      </p:sp>
      <p:sp>
        <p:nvSpPr>
          <p:cNvPr id="8" name="Text 6"/>
          <p:cNvSpPr/>
          <p:nvPr/>
        </p:nvSpPr>
        <p:spPr>
          <a:xfrm>
            <a:off x="717707" y="1622806"/>
            <a:ext cx="5370855" cy="79331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Timing closed @ 400 MHz</a:t>
            </a:r>
            <a:endParaRPr lang="en-US" sz="1795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Low utilization</a:t>
            </a:r>
            <a:endParaRPr lang="en-US" sz="1795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I/O dominates dynamic power (54% of Dynamic)</a:t>
            </a:r>
            <a:endParaRPr lang="en-US" sz="1795" dirty="0"/>
          </a:p>
        </p:txBody>
      </p:sp>
      <p:sp>
        <p:nvSpPr>
          <p:cNvPr id="9" name="Shape 7"/>
          <p:cNvSpPr/>
          <p:nvPr/>
        </p:nvSpPr>
        <p:spPr>
          <a:xfrm>
            <a:off x="6571848" y="1139825"/>
            <a:ext cx="5045321" cy="141338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35983" y="1249248"/>
            <a:ext cx="4717052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Power (On-chip)</a:t>
            </a:r>
            <a:endParaRPr lang="en-US" sz="1595" dirty="0"/>
          </a:p>
        </p:txBody>
      </p:sp>
      <p:sp>
        <p:nvSpPr>
          <p:cNvPr id="11" name="Shape 9"/>
          <p:cNvSpPr/>
          <p:nvPr/>
        </p:nvSpPr>
        <p:spPr>
          <a:xfrm>
            <a:off x="6735983" y="1559281"/>
            <a:ext cx="1462927" cy="7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45406" y="1623111"/>
            <a:ext cx="1244081" cy="1823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Power</a:t>
            </a:r>
            <a:endParaRPr lang="en-US" sz="1195" dirty="0"/>
          </a:p>
        </p:txBody>
      </p:sp>
      <p:sp>
        <p:nvSpPr>
          <p:cNvPr id="13" name="Text 11"/>
          <p:cNvSpPr/>
          <p:nvPr/>
        </p:nvSpPr>
        <p:spPr>
          <a:xfrm>
            <a:off x="6845406" y="1823720"/>
            <a:ext cx="1244081" cy="2917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1.442 W</a:t>
            </a:r>
            <a:endParaRPr lang="en-US" sz="1995" dirty="0"/>
          </a:p>
        </p:txBody>
      </p:sp>
      <p:sp>
        <p:nvSpPr>
          <p:cNvPr id="14" name="Text 12"/>
          <p:cNvSpPr/>
          <p:nvPr/>
        </p:nvSpPr>
        <p:spPr>
          <a:xfrm>
            <a:off x="6845406" y="2124634"/>
            <a:ext cx="1244081" cy="1458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On-chip</a:t>
            </a:r>
            <a:endParaRPr lang="en-US" sz="1195" dirty="0"/>
          </a:p>
        </p:txBody>
      </p:sp>
      <p:sp>
        <p:nvSpPr>
          <p:cNvPr id="15" name="Shape 13"/>
          <p:cNvSpPr/>
          <p:nvPr/>
        </p:nvSpPr>
        <p:spPr>
          <a:xfrm>
            <a:off x="8363044" y="1559281"/>
            <a:ext cx="1462927" cy="7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2468" y="1623111"/>
            <a:ext cx="1244081" cy="1823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Dynamic</a:t>
            </a:r>
            <a:endParaRPr lang="en-US" sz="1195" dirty="0"/>
          </a:p>
        </p:txBody>
      </p:sp>
      <p:sp>
        <p:nvSpPr>
          <p:cNvPr id="17" name="Text 15"/>
          <p:cNvSpPr/>
          <p:nvPr/>
        </p:nvSpPr>
        <p:spPr>
          <a:xfrm>
            <a:off x="8472468" y="1823720"/>
            <a:ext cx="1244081" cy="2917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0.817 W</a:t>
            </a:r>
            <a:endParaRPr lang="en-US" sz="1995" dirty="0"/>
          </a:p>
        </p:txBody>
      </p:sp>
      <p:sp>
        <p:nvSpPr>
          <p:cNvPr id="18" name="Text 16"/>
          <p:cNvSpPr/>
          <p:nvPr/>
        </p:nvSpPr>
        <p:spPr>
          <a:xfrm>
            <a:off x="8472468" y="2124634"/>
            <a:ext cx="1244081" cy="1458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1195" dirty="0"/>
          </a:p>
        </p:txBody>
      </p:sp>
      <p:sp>
        <p:nvSpPr>
          <p:cNvPr id="19" name="Shape 17"/>
          <p:cNvSpPr/>
          <p:nvPr/>
        </p:nvSpPr>
        <p:spPr>
          <a:xfrm>
            <a:off x="9990107" y="1559281"/>
            <a:ext cx="1462927" cy="7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99530" y="1623111"/>
            <a:ext cx="1244081" cy="1823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Static</a:t>
            </a:r>
            <a:endParaRPr lang="en-US" sz="1195" dirty="0"/>
          </a:p>
        </p:txBody>
      </p:sp>
      <p:sp>
        <p:nvSpPr>
          <p:cNvPr id="21" name="Text 19"/>
          <p:cNvSpPr/>
          <p:nvPr/>
        </p:nvSpPr>
        <p:spPr>
          <a:xfrm>
            <a:off x="10099530" y="1823720"/>
            <a:ext cx="1244081" cy="2917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0.625 W</a:t>
            </a:r>
            <a:endParaRPr lang="en-US" sz="1995" dirty="0"/>
          </a:p>
        </p:txBody>
      </p:sp>
      <p:sp>
        <p:nvSpPr>
          <p:cNvPr id="22" name="Text 20"/>
          <p:cNvSpPr/>
          <p:nvPr/>
        </p:nvSpPr>
        <p:spPr>
          <a:xfrm>
            <a:off x="10099530" y="2124634"/>
            <a:ext cx="1244081" cy="1458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43%</a:t>
            </a:r>
            <a:endParaRPr lang="en-US" sz="1195" dirty="0"/>
          </a:p>
        </p:txBody>
      </p:sp>
      <p:sp>
        <p:nvSpPr>
          <p:cNvPr id="23" name="Text 21"/>
          <p:cNvSpPr/>
          <p:nvPr/>
        </p:nvSpPr>
        <p:spPr>
          <a:xfrm>
            <a:off x="6735983" y="2361717"/>
            <a:ext cx="4717052" cy="1641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Key driver: I/O = 0.443 W (54% of Dynamic)</a:t>
            </a:r>
            <a:endParaRPr lang="en-US" sz="1195" dirty="0"/>
          </a:p>
        </p:txBody>
      </p:sp>
      <p:sp>
        <p:nvSpPr>
          <p:cNvPr id="24" name="Shape 22"/>
          <p:cNvSpPr/>
          <p:nvPr/>
        </p:nvSpPr>
        <p:spPr>
          <a:xfrm>
            <a:off x="553720" y="2684780"/>
            <a:ext cx="5699125" cy="3228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7707" y="2794127"/>
            <a:ext cx="5370855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Resource utilization (Post-synth @ 400 MHz)</a:t>
            </a:r>
            <a:endParaRPr lang="en-US" sz="1595" dirty="0"/>
          </a:p>
        </p:txBody>
      </p:sp>
      <p:sp>
        <p:nvSpPr>
          <p:cNvPr id="26" name="Shape 24"/>
          <p:cNvSpPr/>
          <p:nvPr/>
        </p:nvSpPr>
        <p:spPr>
          <a:xfrm>
            <a:off x="717707" y="3259176"/>
            <a:ext cx="5370855" cy="407297"/>
          </a:xfrm>
          <a:prstGeom prst="rect">
            <a:avLst/>
          </a:prstGeom>
          <a:solidFill>
            <a:srgbClr val="F7F1E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655" y="3332124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Resource</a:t>
            </a:r>
            <a:endParaRPr lang="en-US" sz="1295" dirty="0"/>
          </a:p>
        </p:txBody>
      </p:sp>
      <p:sp>
        <p:nvSpPr>
          <p:cNvPr id="28" name="Text 26"/>
          <p:cNvSpPr/>
          <p:nvPr/>
        </p:nvSpPr>
        <p:spPr>
          <a:xfrm>
            <a:off x="3020067" y="3332124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Used</a:t>
            </a:r>
            <a:endParaRPr lang="en-US" sz="1295" dirty="0"/>
          </a:p>
        </p:txBody>
      </p:sp>
      <p:sp>
        <p:nvSpPr>
          <p:cNvPr id="29" name="Text 27"/>
          <p:cNvSpPr/>
          <p:nvPr/>
        </p:nvSpPr>
        <p:spPr>
          <a:xfrm>
            <a:off x="4033436" y="3332124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Available</a:t>
            </a:r>
            <a:endParaRPr lang="en-US" sz="1295" dirty="0"/>
          </a:p>
        </p:txBody>
      </p:sp>
      <p:sp>
        <p:nvSpPr>
          <p:cNvPr id="30" name="Text 28"/>
          <p:cNvSpPr/>
          <p:nvPr/>
        </p:nvSpPr>
        <p:spPr>
          <a:xfrm>
            <a:off x="5249478" y="3332124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Util.</a:t>
            </a:r>
            <a:endParaRPr lang="en-US" sz="1295" dirty="0"/>
          </a:p>
        </p:txBody>
      </p:sp>
      <p:sp>
        <p:nvSpPr>
          <p:cNvPr id="31" name="Shape 29"/>
          <p:cNvSpPr/>
          <p:nvPr/>
        </p:nvSpPr>
        <p:spPr>
          <a:xfrm>
            <a:off x="717707" y="3666473"/>
            <a:ext cx="5370855" cy="407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655" y="3739422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LUT</a:t>
            </a:r>
            <a:endParaRPr lang="en-US" sz="1295" dirty="0"/>
          </a:p>
        </p:txBody>
      </p:sp>
      <p:sp>
        <p:nvSpPr>
          <p:cNvPr id="33" name="Text 31"/>
          <p:cNvSpPr/>
          <p:nvPr/>
        </p:nvSpPr>
        <p:spPr>
          <a:xfrm>
            <a:off x="3020067" y="3739422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6244</a:t>
            </a:r>
            <a:endParaRPr lang="en-US" sz="1295" dirty="0"/>
          </a:p>
        </p:txBody>
      </p:sp>
      <p:sp>
        <p:nvSpPr>
          <p:cNvPr id="34" name="Text 32"/>
          <p:cNvSpPr/>
          <p:nvPr/>
        </p:nvSpPr>
        <p:spPr>
          <a:xfrm>
            <a:off x="4033436" y="3739422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274080</a:t>
            </a:r>
            <a:endParaRPr lang="en-US" sz="1295" dirty="0"/>
          </a:p>
        </p:txBody>
      </p:sp>
      <p:sp>
        <p:nvSpPr>
          <p:cNvPr id="35" name="Text 33"/>
          <p:cNvSpPr/>
          <p:nvPr/>
        </p:nvSpPr>
        <p:spPr>
          <a:xfrm>
            <a:off x="5249478" y="3739422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2.28%</a:t>
            </a:r>
            <a:endParaRPr lang="en-US" sz="1295" dirty="0"/>
          </a:p>
        </p:txBody>
      </p:sp>
      <p:sp>
        <p:nvSpPr>
          <p:cNvPr id="36" name="Shape 34"/>
          <p:cNvSpPr/>
          <p:nvPr/>
        </p:nvSpPr>
        <p:spPr>
          <a:xfrm>
            <a:off x="717707" y="4073771"/>
            <a:ext cx="5370855" cy="407297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655" y="4146719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FF</a:t>
            </a:r>
            <a:endParaRPr lang="en-US" sz="1295" dirty="0"/>
          </a:p>
        </p:txBody>
      </p:sp>
      <p:sp>
        <p:nvSpPr>
          <p:cNvPr id="38" name="Text 36"/>
          <p:cNvSpPr/>
          <p:nvPr/>
        </p:nvSpPr>
        <p:spPr>
          <a:xfrm>
            <a:off x="3020067" y="4146719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4928</a:t>
            </a:r>
            <a:endParaRPr lang="en-US" sz="1295" dirty="0"/>
          </a:p>
        </p:txBody>
      </p:sp>
      <p:sp>
        <p:nvSpPr>
          <p:cNvPr id="39" name="Text 37"/>
          <p:cNvSpPr/>
          <p:nvPr/>
        </p:nvSpPr>
        <p:spPr>
          <a:xfrm>
            <a:off x="4033436" y="4146719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548160</a:t>
            </a:r>
            <a:endParaRPr lang="en-US" sz="1295" dirty="0"/>
          </a:p>
        </p:txBody>
      </p:sp>
      <p:sp>
        <p:nvSpPr>
          <p:cNvPr id="40" name="Text 38"/>
          <p:cNvSpPr/>
          <p:nvPr/>
        </p:nvSpPr>
        <p:spPr>
          <a:xfrm>
            <a:off x="5249478" y="4146719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0.90%</a:t>
            </a:r>
            <a:endParaRPr lang="en-US" sz="1295" dirty="0"/>
          </a:p>
        </p:txBody>
      </p:sp>
      <p:sp>
        <p:nvSpPr>
          <p:cNvPr id="41" name="Shape 39"/>
          <p:cNvSpPr/>
          <p:nvPr/>
        </p:nvSpPr>
        <p:spPr>
          <a:xfrm>
            <a:off x="717707" y="4481068"/>
            <a:ext cx="5370855" cy="407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655" y="4554017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BRAM (Tiles)</a:t>
            </a:r>
            <a:endParaRPr lang="en-US" sz="1295" dirty="0"/>
          </a:p>
        </p:txBody>
      </p:sp>
      <p:sp>
        <p:nvSpPr>
          <p:cNvPr id="43" name="Text 41"/>
          <p:cNvSpPr/>
          <p:nvPr/>
        </p:nvSpPr>
        <p:spPr>
          <a:xfrm>
            <a:off x="3020067" y="4554017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1295" dirty="0"/>
          </a:p>
        </p:txBody>
      </p:sp>
      <p:sp>
        <p:nvSpPr>
          <p:cNvPr id="44" name="Text 42"/>
          <p:cNvSpPr/>
          <p:nvPr/>
        </p:nvSpPr>
        <p:spPr>
          <a:xfrm>
            <a:off x="4033436" y="4554017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912</a:t>
            </a:r>
            <a:endParaRPr lang="en-US" sz="1295" dirty="0"/>
          </a:p>
        </p:txBody>
      </p:sp>
      <p:sp>
        <p:nvSpPr>
          <p:cNvPr id="45" name="Text 43"/>
          <p:cNvSpPr/>
          <p:nvPr/>
        </p:nvSpPr>
        <p:spPr>
          <a:xfrm>
            <a:off x="5249478" y="4554017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5.70%</a:t>
            </a:r>
            <a:endParaRPr lang="en-US" sz="1295" dirty="0"/>
          </a:p>
        </p:txBody>
      </p:sp>
      <p:sp>
        <p:nvSpPr>
          <p:cNvPr id="46" name="Shape 44"/>
          <p:cNvSpPr/>
          <p:nvPr/>
        </p:nvSpPr>
        <p:spPr>
          <a:xfrm>
            <a:off x="717707" y="4888365"/>
            <a:ext cx="5370855" cy="407297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0655" y="4961314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DSP</a:t>
            </a:r>
            <a:endParaRPr lang="en-US" sz="1295" dirty="0"/>
          </a:p>
        </p:txBody>
      </p:sp>
      <p:sp>
        <p:nvSpPr>
          <p:cNvPr id="48" name="Text 46"/>
          <p:cNvSpPr/>
          <p:nvPr/>
        </p:nvSpPr>
        <p:spPr>
          <a:xfrm>
            <a:off x="3020067" y="4961314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1295" dirty="0"/>
          </a:p>
        </p:txBody>
      </p:sp>
      <p:sp>
        <p:nvSpPr>
          <p:cNvPr id="49" name="Text 47"/>
          <p:cNvSpPr/>
          <p:nvPr/>
        </p:nvSpPr>
        <p:spPr>
          <a:xfrm>
            <a:off x="4033436" y="4961314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2520</a:t>
            </a:r>
            <a:endParaRPr lang="en-US" sz="1295" dirty="0"/>
          </a:p>
        </p:txBody>
      </p:sp>
      <p:sp>
        <p:nvSpPr>
          <p:cNvPr id="50" name="Text 48"/>
          <p:cNvSpPr/>
          <p:nvPr/>
        </p:nvSpPr>
        <p:spPr>
          <a:xfrm>
            <a:off x="5249478" y="4961314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3.02%</a:t>
            </a:r>
            <a:endParaRPr lang="en-US" sz="1295" dirty="0"/>
          </a:p>
        </p:txBody>
      </p:sp>
      <p:sp>
        <p:nvSpPr>
          <p:cNvPr id="51" name="Shape 49"/>
          <p:cNvSpPr/>
          <p:nvPr/>
        </p:nvSpPr>
        <p:spPr>
          <a:xfrm>
            <a:off x="717707" y="5295663"/>
            <a:ext cx="5370855" cy="407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0655" y="5368612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FF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I/O (Bonded IOB)</a:t>
            </a:r>
            <a:endParaRPr lang="en-US" sz="1295" b="1" dirty="0">
              <a:solidFill>
                <a:srgbClr val="FF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020067" y="5368612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FF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136</a:t>
            </a:r>
            <a:endParaRPr lang="en-US" sz="1295" b="1" dirty="0">
              <a:solidFill>
                <a:srgbClr val="FF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033436" y="5368612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FF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328</a:t>
            </a:r>
            <a:endParaRPr lang="en-US" sz="1295" b="1" dirty="0">
              <a:solidFill>
                <a:srgbClr val="FF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249478" y="5368612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FF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41.46%</a:t>
            </a:r>
            <a:endParaRPr lang="en-US" sz="1295" b="1" dirty="0">
              <a:solidFill>
                <a:srgbClr val="FF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571848" y="2684704"/>
            <a:ext cx="5045321" cy="3237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735983" y="2794127"/>
            <a:ext cx="4717052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Dynamic breakdown</a:t>
            </a:r>
            <a:endParaRPr lang="en-US" sz="1595" dirty="0"/>
          </a:p>
        </p:txBody>
      </p:sp>
      <p:sp>
        <p:nvSpPr>
          <p:cNvPr id="58" name="Shape 56"/>
          <p:cNvSpPr/>
          <p:nvPr/>
        </p:nvSpPr>
        <p:spPr>
          <a:xfrm>
            <a:off x="6735983" y="3259176"/>
            <a:ext cx="4717052" cy="349113"/>
          </a:xfrm>
          <a:prstGeom prst="rect">
            <a:avLst/>
          </a:prstGeom>
          <a:solidFill>
            <a:srgbClr val="F7F1E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08931" y="3332124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Category</a:t>
            </a:r>
            <a:endParaRPr lang="en-US" sz="1295" dirty="0"/>
          </a:p>
        </p:txBody>
      </p:sp>
      <p:sp>
        <p:nvSpPr>
          <p:cNvPr id="60" name="Text 58"/>
          <p:cNvSpPr/>
          <p:nvPr/>
        </p:nvSpPr>
        <p:spPr>
          <a:xfrm>
            <a:off x="8643341" y="3332124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Power</a:t>
            </a:r>
            <a:endParaRPr lang="en-US" sz="1295" dirty="0"/>
          </a:p>
        </p:txBody>
      </p:sp>
      <p:sp>
        <p:nvSpPr>
          <p:cNvPr id="61" name="Text 59"/>
          <p:cNvSpPr/>
          <p:nvPr/>
        </p:nvSpPr>
        <p:spPr>
          <a:xfrm>
            <a:off x="9953633" y="3332124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Share of Dynamic</a:t>
            </a:r>
            <a:endParaRPr lang="en-US" sz="1295" dirty="0"/>
          </a:p>
        </p:txBody>
      </p:sp>
      <p:sp>
        <p:nvSpPr>
          <p:cNvPr id="62" name="Shape 60"/>
          <p:cNvSpPr/>
          <p:nvPr/>
        </p:nvSpPr>
        <p:spPr>
          <a:xfrm>
            <a:off x="6735983" y="3608288"/>
            <a:ext cx="4717052" cy="349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08931" y="3681237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FF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I/O</a:t>
            </a:r>
            <a:endParaRPr lang="en-US" sz="1295" b="1" dirty="0">
              <a:solidFill>
                <a:srgbClr val="FF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643341" y="3681237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FF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0.443 W</a:t>
            </a:r>
            <a:endParaRPr lang="en-US" sz="1295" b="1" dirty="0">
              <a:solidFill>
                <a:srgbClr val="FF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9953633" y="3681237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FF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54%</a:t>
            </a:r>
            <a:endParaRPr lang="en-US" sz="1295" b="1" dirty="0">
              <a:solidFill>
                <a:srgbClr val="FF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6735983" y="3957400"/>
            <a:ext cx="4717052" cy="349113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08931" y="4030348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BRAM</a:t>
            </a:r>
            <a:endParaRPr lang="en-US" sz="1295" dirty="0"/>
          </a:p>
        </p:txBody>
      </p:sp>
      <p:sp>
        <p:nvSpPr>
          <p:cNvPr id="68" name="Text 66"/>
          <p:cNvSpPr/>
          <p:nvPr/>
        </p:nvSpPr>
        <p:spPr>
          <a:xfrm>
            <a:off x="8643341" y="4030348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0.089 W</a:t>
            </a:r>
            <a:endParaRPr lang="en-US" sz="1295" dirty="0"/>
          </a:p>
        </p:txBody>
      </p:sp>
      <p:sp>
        <p:nvSpPr>
          <p:cNvPr id="69" name="Text 67"/>
          <p:cNvSpPr/>
          <p:nvPr/>
        </p:nvSpPr>
        <p:spPr>
          <a:xfrm>
            <a:off x="9953633" y="4030348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1295" dirty="0"/>
          </a:p>
        </p:txBody>
      </p:sp>
      <p:sp>
        <p:nvSpPr>
          <p:cNvPr id="70" name="Shape 68"/>
          <p:cNvSpPr/>
          <p:nvPr/>
        </p:nvSpPr>
        <p:spPr>
          <a:xfrm>
            <a:off x="6735983" y="4306512"/>
            <a:ext cx="4717052" cy="349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08931" y="4379461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Signals</a:t>
            </a:r>
            <a:endParaRPr lang="en-US" sz="1295" dirty="0"/>
          </a:p>
        </p:txBody>
      </p:sp>
      <p:sp>
        <p:nvSpPr>
          <p:cNvPr id="72" name="Text 70"/>
          <p:cNvSpPr/>
          <p:nvPr/>
        </p:nvSpPr>
        <p:spPr>
          <a:xfrm>
            <a:off x="8643341" y="4379461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0.081 W</a:t>
            </a:r>
            <a:endParaRPr lang="en-US" sz="1295" dirty="0"/>
          </a:p>
        </p:txBody>
      </p:sp>
      <p:sp>
        <p:nvSpPr>
          <p:cNvPr id="73" name="Text 71"/>
          <p:cNvSpPr/>
          <p:nvPr/>
        </p:nvSpPr>
        <p:spPr>
          <a:xfrm>
            <a:off x="9953633" y="4379461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10%</a:t>
            </a:r>
            <a:endParaRPr lang="en-US" sz="1295" dirty="0"/>
          </a:p>
        </p:txBody>
      </p:sp>
      <p:sp>
        <p:nvSpPr>
          <p:cNvPr id="74" name="Shape 72"/>
          <p:cNvSpPr/>
          <p:nvPr/>
        </p:nvSpPr>
        <p:spPr>
          <a:xfrm>
            <a:off x="6735983" y="4655624"/>
            <a:ext cx="4717052" cy="349113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08931" y="4728573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Clocks</a:t>
            </a:r>
            <a:endParaRPr lang="en-US" sz="1295" dirty="0"/>
          </a:p>
        </p:txBody>
      </p:sp>
      <p:sp>
        <p:nvSpPr>
          <p:cNvPr id="76" name="Text 74"/>
          <p:cNvSpPr/>
          <p:nvPr/>
        </p:nvSpPr>
        <p:spPr>
          <a:xfrm>
            <a:off x="8643341" y="4728573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0.078 W</a:t>
            </a:r>
            <a:endParaRPr lang="en-US" sz="1295" dirty="0"/>
          </a:p>
        </p:txBody>
      </p:sp>
      <p:sp>
        <p:nvSpPr>
          <p:cNvPr id="77" name="Text 75"/>
          <p:cNvSpPr/>
          <p:nvPr/>
        </p:nvSpPr>
        <p:spPr>
          <a:xfrm>
            <a:off x="9953633" y="4728573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10%</a:t>
            </a:r>
            <a:endParaRPr lang="en-US" sz="1295" dirty="0"/>
          </a:p>
        </p:txBody>
      </p:sp>
      <p:sp>
        <p:nvSpPr>
          <p:cNvPr id="78" name="Shape 76"/>
          <p:cNvSpPr/>
          <p:nvPr/>
        </p:nvSpPr>
        <p:spPr>
          <a:xfrm>
            <a:off x="6735983" y="5004736"/>
            <a:ext cx="4717052" cy="349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08931" y="5077685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Logic</a:t>
            </a:r>
            <a:endParaRPr lang="en-US" sz="1295" dirty="0"/>
          </a:p>
        </p:txBody>
      </p:sp>
      <p:sp>
        <p:nvSpPr>
          <p:cNvPr id="80" name="Text 78"/>
          <p:cNvSpPr/>
          <p:nvPr/>
        </p:nvSpPr>
        <p:spPr>
          <a:xfrm>
            <a:off x="8643341" y="5077685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0.073 W</a:t>
            </a:r>
            <a:endParaRPr lang="en-US" sz="1295" dirty="0"/>
          </a:p>
        </p:txBody>
      </p:sp>
      <p:sp>
        <p:nvSpPr>
          <p:cNvPr id="81" name="Text 79"/>
          <p:cNvSpPr/>
          <p:nvPr/>
        </p:nvSpPr>
        <p:spPr>
          <a:xfrm>
            <a:off x="9953633" y="5077685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9%</a:t>
            </a:r>
            <a:endParaRPr lang="en-US" sz="1295" dirty="0"/>
          </a:p>
        </p:txBody>
      </p:sp>
      <p:sp>
        <p:nvSpPr>
          <p:cNvPr id="82" name="Shape 80"/>
          <p:cNvSpPr/>
          <p:nvPr/>
        </p:nvSpPr>
        <p:spPr>
          <a:xfrm>
            <a:off x="6735983" y="5353848"/>
            <a:ext cx="4717052" cy="349113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08931" y="5426797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DSP</a:t>
            </a:r>
            <a:endParaRPr lang="en-US" sz="1295" dirty="0"/>
          </a:p>
        </p:txBody>
      </p:sp>
      <p:sp>
        <p:nvSpPr>
          <p:cNvPr id="84" name="Text 82"/>
          <p:cNvSpPr/>
          <p:nvPr/>
        </p:nvSpPr>
        <p:spPr>
          <a:xfrm>
            <a:off x="8643341" y="5426797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0.053 W</a:t>
            </a:r>
            <a:endParaRPr lang="en-US" sz="1295" dirty="0"/>
          </a:p>
        </p:txBody>
      </p:sp>
      <p:sp>
        <p:nvSpPr>
          <p:cNvPr id="85" name="Text 83"/>
          <p:cNvSpPr/>
          <p:nvPr/>
        </p:nvSpPr>
        <p:spPr>
          <a:xfrm>
            <a:off x="9953633" y="5426797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1295" dirty="0"/>
          </a:p>
        </p:txBody>
      </p:sp>
      <p:sp>
        <p:nvSpPr>
          <p:cNvPr id="87" name="圆角矩形 86"/>
          <p:cNvSpPr/>
          <p:nvPr/>
        </p:nvSpPr>
        <p:spPr>
          <a:xfrm>
            <a:off x="5394325" y="3666490"/>
            <a:ext cx="621665" cy="161417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379470" y="1139825"/>
            <a:ext cx="29838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 b="1" i="1" dirty="0">
                <a:solidFill>
                  <a:schemeClr val="bg1">
                    <a:lumMod val="5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FastMamba (Xilinx Virtex-7): 250MHz</a:t>
            </a:r>
            <a:endParaRPr lang="en-US" sz="1400" b="1" i="1" dirty="0">
              <a:solidFill>
                <a:schemeClr val="bg1">
                  <a:lumMod val="50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sz="1400" b="1" i="1" dirty="0">
                <a:solidFill>
                  <a:schemeClr val="bg1">
                    <a:lumMod val="50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HCSAs(28nm post-layout): 400MHz</a:t>
            </a:r>
            <a:endParaRPr lang="en-US" sz="1400" b="1" i="1" dirty="0">
              <a:solidFill>
                <a:schemeClr val="bg1">
                  <a:lumMod val="50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50825" y="5921375"/>
            <a:ext cx="11092815" cy="917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[1] A. Wang, H. Shao, S. Ma, and Z. Wang, “Fastmamba: A high-speed and efficient mamba accelerator on fpga with accurate quantization,” arXiv preprint arXiv:2505.18975, 2025.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[2] X. Jin, H. Zheng, M. Nie, J. Wang, and C.-J. R. Shi, “Hcsas: Hybrid computing systolic arrays for accelerating mamba models with unified state space buffers and energy-efficient dataflow,” in Proceedings of the Great Lakes Symposium on VLSI 2025, 2025, pp. 457–462.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bldLvl="0" animBg="1"/>
      <p:bldP spid="87" grpId="1" animBg="1"/>
      <p:bldP spid="65" grpId="0"/>
      <p:bldP spid="64" grpId="0"/>
      <p:bldP spid="63" grpId="0"/>
      <p:bldP spid="23" grpId="0"/>
      <p:bldP spid="52" grpId="0"/>
      <p:bldP spid="53" grpId="0"/>
      <p:bldP spid="54" grpId="0"/>
      <p:bldP spid="55" grpId="0"/>
      <p:bldP spid="65" grpId="1"/>
      <p:bldP spid="64" grpId="1"/>
      <p:bldP spid="63" grpId="1"/>
      <p:bldP spid="23" grpId="1"/>
      <p:bldP spid="52" grpId="1"/>
      <p:bldP spid="53" grpId="1"/>
      <p:bldP spid="54" grpId="1"/>
      <p:bldP spid="55" grpId="1"/>
      <p:bldP spid="3" grpId="0"/>
      <p:bldP spid="86" grpId="0"/>
      <p:bldP spid="3" grpId="1"/>
      <p:bldP spid="86" grpId="1"/>
    </p:bldLst>
  </p:timing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4473b828724a65fb090fa1836cb64d31dad0ac"/>
  <p:tag name="KSO_WM_NEWLAYOUT_ID" val="slide_a81418525f254632"/>
</p:tagLst>
</file>

<file path=ppt/tags/tag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4473b828724a65fb090fa1836cb64d31dad0ac"/>
  <p:tag name="KSO_WM_NEWLAYOUT_ID" val="slide_a81418525f254632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a81418525f254632"/>
</p:tagLst>
</file>

<file path=ppt/tags/tag14.xml><?xml version="1.0" encoding="utf-8"?>
<p:tagLst xmlns:p="http://schemas.openxmlformats.org/presentationml/2006/main">
  <p:tag name="TABLE_ENDDRAG_ORIGIN_RECT" val="367*328"/>
  <p:tag name="TABLE_ENDDRAG_RECT" val="485*113*367*328"/>
</p:tagLst>
</file>

<file path=ppt/tags/tag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33_1*a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5033_1*f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SUBTYPE" val="a"/>
  <p:tag name="KSO_WM_UNIT_NOCLEAR" val="0"/>
  <p:tag name="KSO_WM_UNIT_TYPE" val="f"/>
  <p:tag name="KSO_WM_UNIT_INDEX" val="1"/>
  <p:tag name="KSO_WM_UNIT_TEXT_TYPE" val="1"/>
  <p:tag name="KSO_WM_UNIT_TEXT_LAYER_COUNT" val="1"/>
  <p:tag name="KSO_WM_UNIT_VALUE" val="50"/>
  <p:tag name="KSO_WM_UNIT_PRESET_TEXT" val="单击此处输入正文，文字是您思想的提炼，为了最终演示发布的良好效果，请言简的阐述观点。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TABLE_ENDDRAG_ORIGIN_RECT" val="604*288"/>
  <p:tag name="TABLE_ENDDRAG_RECT" val="81*165*604*288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5033_1*f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SUBTYPE" val="a"/>
  <p:tag name="KSO_WM_UNIT_NOCLEAR" val="0"/>
  <p:tag name="KSO_WM_UNIT_TYPE" val="f"/>
  <p:tag name="KSO_WM_UNIT_INDEX" val="1"/>
  <p:tag name="KSO_WM_UNIT_TEXT_TYPE" val="1"/>
  <p:tag name="KSO_WM_UNIT_TEXT_LAYER_COUNT" val="1"/>
  <p:tag name="KSO_WM_UNIT_VALUE" val="50"/>
  <p:tag name="KSO_WM_UNIT_PRESET_TEXT" val="单击此处输入正文，文字是您思想的提炼，为了最终演示发布的良好效果，请言简的阐述观点。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SLIDE_ID" val="custom20235033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033"/>
  <p:tag name="KSO_WM_SLIDE_TYPE" val="text"/>
  <p:tag name="KSO_WM_SLIDE_SUBTYPE" val="picTxt"/>
  <p:tag name="KSO_WM_SLIDE_SIZE" val="408.225*360.15"/>
  <p:tag name="KSO_WM_SLIDE_POSITION" val="504.075*131.75"/>
  <p:tag name="KSO_WM_SLIDE_LAYOUT" val="a_f_β_l"/>
  <p:tag name="KSO_WM_SLIDE_LAYOUT_CNT" val="1_1_1_1"/>
  <p:tag name="KSO_WM_SPECIAL_SOURCE" val="bdnull"/>
  <p:tag name="KSO_WM_DIAGRAM_GROUP_CODE" val="l1-1"/>
  <p:tag name="KSO_WM_SLIDE_DIAGTYPE" val="l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33_1*a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SLIDE_ID" val="custom20235033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033"/>
  <p:tag name="KSO_WM_SLIDE_TYPE" val="text"/>
  <p:tag name="KSO_WM_SLIDE_SUBTYPE" val="picTxt"/>
  <p:tag name="KSO_WM_SLIDE_SIZE" val="408.225*360.15"/>
  <p:tag name="KSO_WM_SLIDE_POSITION" val="504.075*131.75"/>
  <p:tag name="KSO_WM_SLIDE_LAYOUT" val="a_f_β_l"/>
  <p:tag name="KSO_WM_SLIDE_LAYOUT_CNT" val="1_1_1_1"/>
  <p:tag name="KSO_WM_SPECIAL_SOURCE" val="bdnull"/>
  <p:tag name="KSO_WM_DIAGRAM_GROUP_CODE" val="l1-1"/>
  <p:tag name="KSO_WM_SLIDE_DIAGTYPE" val="l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33_1*a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SLIDE_ID" val="custom20235033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033"/>
  <p:tag name="KSO_WM_SLIDE_TYPE" val="text"/>
  <p:tag name="KSO_WM_SLIDE_SUBTYPE" val="picTxt"/>
  <p:tag name="KSO_WM_SLIDE_SIZE" val="408.225*360.15"/>
  <p:tag name="KSO_WM_SLIDE_POSITION" val="504.075*131.75"/>
  <p:tag name="KSO_WM_SLIDE_LAYOUT" val="a_f_β_l"/>
  <p:tag name="KSO_WM_SLIDE_LAYOUT_CNT" val="1_1_1_1"/>
  <p:tag name="KSO_WM_SPECIAL_SOURCE" val="bdnull"/>
  <p:tag name="KSO_WM_DIAGRAM_GROUP_CODE" val="l1-1"/>
  <p:tag name="KSO_WM_SLIDE_DIAGTYPE" val="l"/>
</p:tagLst>
</file>

<file path=ppt/tags/tag24.xml><?xml version="1.0" encoding="utf-8"?>
<p:tagLst xmlns:p="http://schemas.openxmlformats.org/presentationml/2006/main">
  <p:tag name="resource_record_key" val="{&quot;29&quot;:[50053024]}"/>
</p:tagLst>
</file>

<file path=ppt/theme/theme1.xml><?xml version="1.0" encoding="utf-8"?>
<a:theme xmlns:a="http://schemas.openxmlformats.org/drawingml/2006/main" name="LU_PPT-mall_ENG_16-9">
  <a:themeElements>
    <a:clrScheme name="Anpassad 3">
      <a:dk1>
        <a:srgbClr val="9C6114"/>
      </a:dk1>
      <a:lt1>
        <a:sysClr val="window" lastClr="FFFFFF"/>
      </a:lt1>
      <a:dk2>
        <a:srgbClr val="000000"/>
      </a:dk2>
      <a:lt2>
        <a:srgbClr val="00008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181002_Internal report</Template>
  <TotalTime>0</TotalTime>
  <Words>7012</Words>
  <Application>WPS 演示</Application>
  <PresentationFormat>Custom</PresentationFormat>
  <Paragraphs>515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7" baseType="lpstr">
      <vt:lpstr>Arial</vt:lpstr>
      <vt:lpstr>宋体</vt:lpstr>
      <vt:lpstr>Wingdings</vt:lpstr>
      <vt:lpstr>Times New Roman</vt:lpstr>
      <vt:lpstr>Arial</vt:lpstr>
      <vt:lpstr>Lucida Grande</vt:lpstr>
      <vt:lpstr>Times New Roman</vt:lpstr>
      <vt:lpstr>Helvetica Light</vt:lpstr>
      <vt:lpstr>MS PGothic</vt:lpstr>
      <vt:lpstr>Wingdings</vt:lpstr>
      <vt:lpstr>Calibri</vt:lpstr>
      <vt:lpstr>Times New Roman</vt:lpstr>
      <vt:lpstr>微软雅黑</vt:lpstr>
      <vt:lpstr>Georgia</vt:lpstr>
      <vt:lpstr>Georgia</vt:lpstr>
      <vt:lpstr>Georgia</vt:lpstr>
      <vt:lpstr>Calibri</vt:lpstr>
      <vt:lpstr>Calibri</vt:lpstr>
      <vt:lpstr>Arial Unicode MS</vt:lpstr>
      <vt:lpstr>等线</vt:lpstr>
      <vt:lpstr>Malgun Gothic</vt:lpstr>
      <vt:lpstr>LU_PPT-mall_ENG_16-9</vt:lpstr>
      <vt:lpstr>Efficient Mamba-Based Accelerator Architecture for Massive-MIMO Indoor Localization Using the LuViRA Dataset </vt:lpstr>
      <vt:lpstr>Contents</vt:lpstr>
      <vt:lpstr>SSM Control: AXI-Stream + FIFO</vt:lpstr>
      <vt:lpstr>Trade Off 3: Reconfigurable vs. Fine-grained pipeline</vt:lpstr>
      <vt:lpstr>Nonlinear layer - RMSNorm</vt:lpstr>
      <vt:lpstr>Nonlinear layer - RMSNorm</vt:lpstr>
      <vt:lpstr>Nonlinear layer - RMSNorm</vt:lpstr>
      <vt:lpstr>Nonlinear layer - Sigmoid</vt:lpstr>
      <vt:lpstr>Nonlinear layer - Sigmoid</vt:lpstr>
      <vt:lpstr>Quantisation: Workflow </vt:lpstr>
      <vt:lpstr>Quantisation: Workflow </vt:lpstr>
      <vt:lpstr>Quantisation: Workflow</vt:lpstr>
      <vt:lpstr>Quantisation: Hardware implemetation</vt:lpstr>
      <vt:lpstr>Quantisation: Hardware implemetation</vt:lpstr>
      <vt:lpstr>PowerPoint 演示文稿</vt:lpstr>
    </vt:vector>
  </TitlesOfParts>
  <Company>Lunds universitet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Baktash Behmanesh</dc:creator>
  <cp:lastModifiedBy>CSJ</cp:lastModifiedBy>
  <cp:revision>856</cp:revision>
  <dcterms:created xsi:type="dcterms:W3CDTF">2018-10-01T08:48:00Z</dcterms:created>
  <dcterms:modified xsi:type="dcterms:W3CDTF">2026-04-29T10:21:38Z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B6F92FCDC9584775B69D219F0CFDFDBC_13</vt:lpwstr>
  </property>
  <property fmtid="{D5CDD505-2E9C-101B-9397-08002B2CF9AE}" pid="3" name="KSOProductBuildVer">
    <vt:lpwstr>2052-12.1.0.25865</vt:lpwstr>
  </property>
</Properties>
</file>