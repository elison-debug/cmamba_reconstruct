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7.svg" ContentType="image/svg+xml"/>
  <Override PartName="/ppt/media/image39.svg" ContentType="image/svg+xml"/>
  <Override PartName="/ppt/media/image42.svg" ContentType="image/svg+xml"/>
  <Override PartName="/ppt/media/image4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6"/>
  </p:notesMasterIdLst>
  <p:sldIdLst>
    <p:sldId id="516" r:id="rId3"/>
    <p:sldId id="532" r:id="rId4"/>
    <p:sldId id="545" r:id="rId5"/>
    <p:sldId id="546" r:id="rId7"/>
    <p:sldId id="547" r:id="rId8"/>
    <p:sldId id="548" r:id="rId9"/>
    <p:sldId id="527" r:id="rId10"/>
    <p:sldId id="550" r:id="rId11"/>
    <p:sldId id="542" r:id="rId12"/>
    <p:sldId id="543" r:id="rId13"/>
    <p:sldId id="544" r:id="rId14"/>
    <p:sldId id="524" r:id="rId15"/>
    <p:sldId id="526" r:id="rId16"/>
    <p:sldId id="521" r:id="rId17"/>
    <p:sldId id="536" r:id="rId18"/>
    <p:sldId id="540" r:id="rId19"/>
    <p:sldId id="539" r:id="rId20"/>
    <p:sldId id="541" r:id="rId21"/>
    <p:sldId id="533" r:id="rId22"/>
    <p:sldId id="549" r:id="rId23"/>
  </p:sldIdLst>
  <p:sldSz cx="12171045" cy="6838950"/>
  <p:notesSz cx="6858000" cy="9144000"/>
  <p:custDataLst>
    <p:tags r:id="rId27"/>
  </p:custDataLst>
  <p:defaultTextStyle>
    <a:defPPr>
      <a:defRPr lang="sv-S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3" userDrawn="1">
          <p15:clr>
            <a:srgbClr val="A4A3A4"/>
          </p15:clr>
        </p15:guide>
        <p15:guide id="2" orient="horz" pos="4296" userDrawn="1">
          <p15:clr>
            <a:srgbClr val="A4A3A4"/>
          </p15:clr>
        </p15:guide>
        <p15:guide id="3" orient="horz" pos="911" userDrawn="1">
          <p15:clr>
            <a:srgbClr val="A4A3A4"/>
          </p15:clr>
        </p15:guide>
        <p15:guide id="4" orient="horz" pos="1022" userDrawn="1">
          <p15:clr>
            <a:srgbClr val="A4A3A4"/>
          </p15:clr>
        </p15:guide>
        <p15:guide id="5" pos="172" userDrawn="1">
          <p15:clr>
            <a:srgbClr val="A4A3A4"/>
          </p15:clr>
        </p15:guide>
        <p15:guide id="6" pos="7497" userDrawn="1">
          <p15:clr>
            <a:srgbClr val="A4A3A4"/>
          </p15:clr>
        </p15:guide>
        <p15:guide id="7" pos="4448" userDrawn="1">
          <p15:clr>
            <a:srgbClr val="A4A3A4"/>
          </p15:clr>
        </p15:guide>
        <p15:guide id="8" pos="349" userDrawn="1">
          <p15:clr>
            <a:srgbClr val="A4A3A4"/>
          </p15:clr>
        </p15:guide>
        <p15:guide id="9" pos="6992" userDrawn="1">
          <p15:clr>
            <a:srgbClr val="A4A3A4"/>
          </p15:clr>
        </p15:guide>
        <p15:guide id="10" pos="3939" userDrawn="1">
          <p15:clr>
            <a:srgbClr val="A4A3A4"/>
          </p15:clr>
        </p15:guide>
        <p15:guide id="11" pos="2878" userDrawn="1">
          <p15:clr>
            <a:srgbClr val="A4A3A4"/>
          </p15:clr>
        </p15:guide>
        <p15:guide id="12" pos="4821" userDrawn="1">
          <p15:clr>
            <a:srgbClr val="A4A3A4"/>
          </p15:clr>
        </p15:guide>
        <p15:guide id="13" pos="3133" userDrawn="1">
          <p15:clr>
            <a:srgbClr val="A4A3A4"/>
          </p15:clr>
        </p15:guide>
        <p15:guide id="14" pos="37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9C6114"/>
    <a:srgbClr val="4F80BD"/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46" autoAdjust="0"/>
    <p:restoredTop sz="92026" autoAdjust="0"/>
  </p:normalViewPr>
  <p:slideViewPr>
    <p:cSldViewPr snapToGrid="0" snapToObjects="1" showGuides="1">
      <p:cViewPr varScale="1">
        <p:scale>
          <a:sx n="125" d="100"/>
          <a:sy n="125" d="100"/>
        </p:scale>
        <p:origin x="638" y="113"/>
      </p:cViewPr>
      <p:guideLst>
        <p:guide orient="horz" pos="143"/>
        <p:guide orient="horz" pos="4296"/>
        <p:guide orient="horz" pos="911"/>
        <p:guide orient="horz" pos="1022"/>
        <p:guide pos="172"/>
        <p:guide pos="7497"/>
        <p:guide pos="4448"/>
        <p:guide pos="349"/>
        <p:guide pos="6992"/>
        <p:guide pos="3939"/>
        <p:guide pos="2878"/>
        <p:guide pos="4821"/>
        <p:guide pos="3133"/>
        <p:guide pos="37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24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68572-F02D-43CE-BFD7-D0486EEC6E6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4213" y="1143000"/>
            <a:ext cx="5489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42BEA-1C9E-4F69-A4DF-43828D1541F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B42BEA-1C9E-4F69-A4DF-43828D1541F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14"/>
          <p:cNvPicPr>
            <a:picLocks noChangeAspect="1"/>
          </p:cNvPicPr>
          <p:nvPr userDrawn="1"/>
        </p:nvPicPr>
        <p:blipFill rotWithShape="1">
          <a:blip r:embed="rId2"/>
          <a:srcRect t="1410" b="15718"/>
          <a:stretch>
            <a:fillRect/>
          </a:stretch>
        </p:blipFill>
        <p:spPr>
          <a:xfrm>
            <a:off x="191763" y="188388"/>
            <a:ext cx="11787838" cy="6462175"/>
          </a:xfrm>
          <a:prstGeom prst="rect">
            <a:avLst/>
          </a:prstGeom>
        </p:spPr>
      </p:pic>
      <p:sp>
        <p:nvSpPr>
          <p:cNvPr id="3" name="Rektangel 2"/>
          <p:cNvSpPr/>
          <p:nvPr userDrawn="1"/>
        </p:nvSpPr>
        <p:spPr>
          <a:xfrm>
            <a:off x="5430003" y="1480432"/>
            <a:ext cx="6741360" cy="1298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795"/>
          </a:p>
        </p:txBody>
      </p:sp>
      <p:sp>
        <p:nvSpPr>
          <p:cNvPr id="6" name="Platshållare för text 5"/>
          <p:cNvSpPr>
            <a:spLocks noGrp="1"/>
          </p:cNvSpPr>
          <p:nvPr>
            <p:ph type="body" sz="quarter" idx="10" hasCustomPrompt="1"/>
          </p:nvPr>
        </p:nvSpPr>
        <p:spPr>
          <a:xfrm>
            <a:off x="6842254" y="1518628"/>
            <a:ext cx="4959227" cy="63798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785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v-SE" dirty="0" err="1"/>
              <a:t>Single</a:t>
            </a:r>
            <a:r>
              <a:rPr lang="sv-SE" dirty="0"/>
              <a:t> </a:t>
            </a:r>
            <a:r>
              <a:rPr lang="sv-SE" dirty="0" err="1"/>
              <a:t>line</a:t>
            </a:r>
            <a:r>
              <a:rPr lang="sv-SE" dirty="0"/>
              <a:t>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12" name="Platshållare för text 11"/>
          <p:cNvSpPr>
            <a:spLocks noGrp="1"/>
          </p:cNvSpPr>
          <p:nvPr>
            <p:ph type="body" sz="quarter" idx="11" hasCustomPrompt="1"/>
          </p:nvPr>
        </p:nvSpPr>
        <p:spPr>
          <a:xfrm>
            <a:off x="6842253" y="2423260"/>
            <a:ext cx="5137348" cy="3484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395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 err="1"/>
              <a:t>Subtitle</a:t>
            </a:r>
            <a:r>
              <a:rPr lang="sv-SE" dirty="0"/>
              <a:t>, </a:t>
            </a:r>
            <a:r>
              <a:rPr lang="sv-SE" dirty="0" err="1"/>
              <a:t>name</a:t>
            </a:r>
            <a:r>
              <a:rPr lang="sv-SE" dirty="0"/>
              <a:t>, institution, </a:t>
            </a:r>
            <a:r>
              <a:rPr lang="sv-SE" dirty="0" err="1"/>
              <a:t>year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7" name="Rak 6"/>
          <p:cNvCxnSpPr/>
          <p:nvPr userDrawn="1"/>
        </p:nvCxnSpPr>
        <p:spPr>
          <a:xfrm>
            <a:off x="6842254" y="2306806"/>
            <a:ext cx="513734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Bildobjekt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8608" y="4216012"/>
            <a:ext cx="2812756" cy="2622939"/>
          </a:xfrm>
          <a:prstGeom prst="rect">
            <a:avLst/>
          </a:prstGeom>
        </p:spPr>
      </p:pic>
      <p:pic>
        <p:nvPicPr>
          <p:cNvPr id="9" name="Bildobjekt 8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714352" y="1627904"/>
            <a:ext cx="742658" cy="99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on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ildobjekt 17"/>
          <p:cNvPicPr>
            <a:picLocks noChangeAspect="1"/>
          </p:cNvPicPr>
          <p:nvPr userDrawn="1"/>
        </p:nvPicPr>
        <p:blipFill rotWithShape="1">
          <a:blip r:embed="rId2"/>
          <a:srcRect t="1410" b="15718"/>
          <a:stretch>
            <a:fillRect/>
          </a:stretch>
        </p:blipFill>
        <p:spPr>
          <a:xfrm>
            <a:off x="191763" y="188388"/>
            <a:ext cx="11787838" cy="6462175"/>
          </a:xfrm>
          <a:prstGeom prst="rect">
            <a:avLst/>
          </a:prstGeom>
        </p:spPr>
      </p:pic>
      <p:sp>
        <p:nvSpPr>
          <p:cNvPr id="3" name="Rektangel 2"/>
          <p:cNvSpPr/>
          <p:nvPr userDrawn="1"/>
        </p:nvSpPr>
        <p:spPr>
          <a:xfrm>
            <a:off x="5430003" y="1480432"/>
            <a:ext cx="6741360" cy="2585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795"/>
          </a:p>
        </p:txBody>
      </p:sp>
      <p:sp>
        <p:nvSpPr>
          <p:cNvPr id="12" name="Platshållare för text 11"/>
          <p:cNvSpPr>
            <a:spLocks noGrp="1"/>
          </p:cNvSpPr>
          <p:nvPr>
            <p:ph type="body" sz="quarter" idx="11" hasCustomPrompt="1"/>
          </p:nvPr>
        </p:nvSpPr>
        <p:spPr>
          <a:xfrm>
            <a:off x="5844404" y="3489855"/>
            <a:ext cx="6135199" cy="348447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395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 err="1"/>
              <a:t>Subtitle</a:t>
            </a:r>
            <a:r>
              <a:rPr lang="sv-SE" dirty="0"/>
              <a:t>, </a:t>
            </a:r>
            <a:r>
              <a:rPr lang="sv-SE" dirty="0" err="1"/>
              <a:t>name</a:t>
            </a:r>
            <a:r>
              <a:rPr lang="sv-SE" dirty="0"/>
              <a:t>, institution, </a:t>
            </a:r>
            <a:r>
              <a:rPr lang="sv-SE" dirty="0" err="1"/>
              <a:t>year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7" name="Rak 6"/>
          <p:cNvCxnSpPr/>
          <p:nvPr userDrawn="1"/>
        </p:nvCxnSpPr>
        <p:spPr>
          <a:xfrm>
            <a:off x="5845019" y="3344378"/>
            <a:ext cx="613446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ktangel 2"/>
          <p:cNvSpPr/>
          <p:nvPr userDrawn="1"/>
        </p:nvSpPr>
        <p:spPr>
          <a:xfrm>
            <a:off x="135397" y="1167690"/>
            <a:ext cx="4257034" cy="469527"/>
          </a:xfrm>
          <a:custGeom>
            <a:avLst/>
            <a:gdLst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4488028 w 4488028"/>
              <a:gd name="connsiteY2" fmla="*/ 2937993 h 2937993"/>
              <a:gd name="connsiteX3" fmla="*/ 0 w 4488028"/>
              <a:gd name="connsiteY3" fmla="*/ 2937993 h 2937993"/>
              <a:gd name="connsiteX4" fmla="*/ 0 w 4488028"/>
              <a:gd name="connsiteY4" fmla="*/ 0 h 2937993"/>
              <a:gd name="connsiteX0-1" fmla="*/ 0 w 4488028"/>
              <a:gd name="connsiteY0-2" fmla="*/ 0 h 2937993"/>
              <a:gd name="connsiteX1-3" fmla="*/ 4488028 w 4488028"/>
              <a:gd name="connsiteY1-4" fmla="*/ 0 h 2937993"/>
              <a:gd name="connsiteX2-5" fmla="*/ 0 w 4488028"/>
              <a:gd name="connsiteY2-6" fmla="*/ 2937993 h 2937993"/>
              <a:gd name="connsiteX3-7" fmla="*/ 0 w 4488028"/>
              <a:gd name="connsiteY3-8" fmla="*/ 0 h 29379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488028" h="2937993">
                <a:moveTo>
                  <a:pt x="0" y="0"/>
                </a:moveTo>
                <a:lnTo>
                  <a:pt x="4488028" y="0"/>
                </a:lnTo>
                <a:lnTo>
                  <a:pt x="0" y="293799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1000">
                <a:srgbClr val="FFFFFF">
                  <a:alpha val="76000"/>
                </a:srgbClr>
              </a:gs>
              <a:gs pos="50000">
                <a:srgbClr val="FFFFFF">
                  <a:alpha val="0"/>
                </a:srgbClr>
              </a:gs>
            </a:gsLst>
            <a:lin ang="3480000" scaled="0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659" tIns="50659" rIns="50659" bIns="50659" numCol="1" spcCol="38100" rtlCol="0" anchor="ctr">
            <a:spAutoFit/>
          </a:bodyPr>
          <a:lstStyle/>
          <a:p>
            <a:pPr marL="0" marR="0" lvl="0" indent="0" algn="ctr" defTabSz="582295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sv-SE" sz="2395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16" name="Platshållare för text 5"/>
          <p:cNvSpPr>
            <a:spLocks noGrp="1"/>
          </p:cNvSpPr>
          <p:nvPr>
            <p:ph type="body" sz="quarter" idx="10" hasCustomPrompt="1"/>
          </p:nvPr>
        </p:nvSpPr>
        <p:spPr>
          <a:xfrm>
            <a:off x="5844403" y="1765371"/>
            <a:ext cx="6135199" cy="156475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785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v-SE" dirty="0" err="1"/>
              <a:t>Title</a:t>
            </a:r>
            <a:r>
              <a:rPr lang="sv-SE" dirty="0"/>
              <a:t> </a:t>
            </a:r>
            <a:r>
              <a:rPr lang="sv-SE" dirty="0" err="1"/>
              <a:t>slide</a:t>
            </a:r>
            <a:r>
              <a:rPr lang="sv-SE" dirty="0"/>
              <a:t> for </a:t>
            </a:r>
            <a:r>
              <a:rPr lang="sv-SE" dirty="0" err="1"/>
              <a:t>longer</a:t>
            </a:r>
            <a:r>
              <a:rPr lang="sv-SE" dirty="0"/>
              <a:t> </a:t>
            </a:r>
            <a:r>
              <a:rPr lang="sv-SE" dirty="0" err="1"/>
              <a:t>titles</a:t>
            </a:r>
            <a:endParaRPr lang="sv-SE" dirty="0"/>
          </a:p>
        </p:txBody>
      </p:sp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8608" y="4216012"/>
            <a:ext cx="2812756" cy="2622939"/>
          </a:xfrm>
          <a:prstGeom prst="rect">
            <a:avLst/>
          </a:prstGeom>
        </p:spPr>
      </p:pic>
      <p:pic>
        <p:nvPicPr>
          <p:cNvPr id="13" name="Bildobjekt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76111" y="352158"/>
            <a:ext cx="742658" cy="99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14"/>
          <p:cNvPicPr>
            <a:picLocks noChangeAspect="1"/>
          </p:cNvPicPr>
          <p:nvPr userDrawn="1"/>
        </p:nvPicPr>
        <p:blipFill rotWithShape="1">
          <a:blip r:embed="rId2"/>
          <a:srcRect l="6880" t="26162"/>
          <a:stretch>
            <a:fillRect/>
          </a:stretch>
        </p:blipFill>
        <p:spPr>
          <a:xfrm>
            <a:off x="191763" y="188388"/>
            <a:ext cx="11787838" cy="6462175"/>
          </a:xfrm>
          <a:prstGeom prst="rect">
            <a:avLst/>
          </a:prstGeom>
        </p:spPr>
      </p:pic>
      <p:sp>
        <p:nvSpPr>
          <p:cNvPr id="3" name="Rektangel 2"/>
          <p:cNvSpPr/>
          <p:nvPr userDrawn="1"/>
        </p:nvSpPr>
        <p:spPr>
          <a:xfrm>
            <a:off x="6735068" y="1480432"/>
            <a:ext cx="5436295" cy="1298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795"/>
          </a:p>
        </p:txBody>
      </p:sp>
      <p:sp>
        <p:nvSpPr>
          <p:cNvPr id="6" name="Platshållare för text 5"/>
          <p:cNvSpPr>
            <a:spLocks noGrp="1"/>
          </p:cNvSpPr>
          <p:nvPr>
            <p:ph type="body" sz="quarter" idx="10" hasCustomPrompt="1"/>
          </p:nvPr>
        </p:nvSpPr>
        <p:spPr>
          <a:xfrm>
            <a:off x="7020374" y="1518628"/>
            <a:ext cx="4959227" cy="637985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4785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v-SE" dirty="0" err="1"/>
              <a:t>Single</a:t>
            </a:r>
            <a:r>
              <a:rPr lang="sv-SE" dirty="0"/>
              <a:t> </a:t>
            </a:r>
            <a:r>
              <a:rPr lang="sv-SE" dirty="0" err="1"/>
              <a:t>line</a:t>
            </a:r>
            <a:r>
              <a:rPr lang="sv-SE" dirty="0"/>
              <a:t>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12" name="Platshållare för text 11"/>
          <p:cNvSpPr>
            <a:spLocks noGrp="1"/>
          </p:cNvSpPr>
          <p:nvPr>
            <p:ph type="body" sz="quarter" idx="11" hasCustomPrompt="1"/>
          </p:nvPr>
        </p:nvSpPr>
        <p:spPr>
          <a:xfrm>
            <a:off x="7020373" y="2423260"/>
            <a:ext cx="4959228" cy="348447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395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 err="1"/>
              <a:t>Subtitle</a:t>
            </a:r>
            <a:r>
              <a:rPr lang="sv-SE" dirty="0"/>
              <a:t>, </a:t>
            </a:r>
            <a:r>
              <a:rPr lang="sv-SE" dirty="0" err="1"/>
              <a:t>name</a:t>
            </a:r>
            <a:r>
              <a:rPr lang="sv-SE" dirty="0"/>
              <a:t>, institution, </a:t>
            </a:r>
            <a:r>
              <a:rPr lang="sv-SE" dirty="0" err="1"/>
              <a:t>year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7" name="Rak 6"/>
          <p:cNvCxnSpPr/>
          <p:nvPr userDrawn="1"/>
        </p:nvCxnSpPr>
        <p:spPr>
          <a:xfrm>
            <a:off x="7020374" y="2306806"/>
            <a:ext cx="495922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ktangel 2"/>
          <p:cNvSpPr/>
          <p:nvPr userDrawn="1"/>
        </p:nvSpPr>
        <p:spPr>
          <a:xfrm>
            <a:off x="135397" y="1167690"/>
            <a:ext cx="4257034" cy="469527"/>
          </a:xfrm>
          <a:custGeom>
            <a:avLst/>
            <a:gdLst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4488028 w 4488028"/>
              <a:gd name="connsiteY2" fmla="*/ 2937993 h 2937993"/>
              <a:gd name="connsiteX3" fmla="*/ 0 w 4488028"/>
              <a:gd name="connsiteY3" fmla="*/ 2937993 h 2937993"/>
              <a:gd name="connsiteX4" fmla="*/ 0 w 4488028"/>
              <a:gd name="connsiteY4" fmla="*/ 0 h 2937993"/>
              <a:gd name="connsiteX0-1" fmla="*/ 0 w 4488028"/>
              <a:gd name="connsiteY0-2" fmla="*/ 0 h 2937993"/>
              <a:gd name="connsiteX1-3" fmla="*/ 4488028 w 4488028"/>
              <a:gd name="connsiteY1-4" fmla="*/ 0 h 2937993"/>
              <a:gd name="connsiteX2-5" fmla="*/ 0 w 4488028"/>
              <a:gd name="connsiteY2-6" fmla="*/ 2937993 h 2937993"/>
              <a:gd name="connsiteX3-7" fmla="*/ 0 w 4488028"/>
              <a:gd name="connsiteY3-8" fmla="*/ 0 h 29379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488028" h="2937993">
                <a:moveTo>
                  <a:pt x="0" y="0"/>
                </a:moveTo>
                <a:lnTo>
                  <a:pt x="4488028" y="0"/>
                </a:lnTo>
                <a:lnTo>
                  <a:pt x="0" y="293799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1000">
                <a:srgbClr val="FFFFFF">
                  <a:alpha val="76000"/>
                </a:srgbClr>
              </a:gs>
              <a:gs pos="50000">
                <a:srgbClr val="FFFFFF">
                  <a:alpha val="0"/>
                </a:srgbClr>
              </a:gs>
            </a:gsLst>
            <a:lin ang="3480000" scaled="0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659" tIns="50659" rIns="50659" bIns="50659" numCol="1" spcCol="38100" rtlCol="0" anchor="ctr">
            <a:spAutoFit/>
          </a:bodyPr>
          <a:lstStyle/>
          <a:p>
            <a:pPr marL="0" marR="0" lvl="0" indent="0" algn="ctr" defTabSz="582295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sv-SE" sz="2395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13" name="Bildobjekt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8608" y="4216012"/>
            <a:ext cx="2812756" cy="2622939"/>
          </a:xfrm>
          <a:prstGeom prst="rect">
            <a:avLst/>
          </a:prstGeom>
        </p:spPr>
      </p:pic>
      <p:pic>
        <p:nvPicPr>
          <p:cNvPr id="14" name="Bildobjekt 13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76111" y="352158"/>
            <a:ext cx="742658" cy="99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 lon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objekt 10"/>
          <p:cNvPicPr>
            <a:picLocks noChangeAspect="1"/>
          </p:cNvPicPr>
          <p:nvPr userDrawn="1"/>
        </p:nvPicPr>
        <p:blipFill rotWithShape="1">
          <a:blip r:embed="rId2"/>
          <a:srcRect l="6880" t="26162"/>
          <a:stretch>
            <a:fillRect/>
          </a:stretch>
        </p:blipFill>
        <p:spPr>
          <a:xfrm>
            <a:off x="191763" y="188388"/>
            <a:ext cx="11787838" cy="6462175"/>
          </a:xfrm>
          <a:prstGeom prst="rect">
            <a:avLst/>
          </a:prstGeom>
        </p:spPr>
      </p:pic>
      <p:sp>
        <p:nvSpPr>
          <p:cNvPr id="14" name="Rektangel 2"/>
          <p:cNvSpPr/>
          <p:nvPr userDrawn="1"/>
        </p:nvSpPr>
        <p:spPr>
          <a:xfrm>
            <a:off x="135397" y="1167690"/>
            <a:ext cx="4257034" cy="469527"/>
          </a:xfrm>
          <a:custGeom>
            <a:avLst/>
            <a:gdLst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4488028 w 4488028"/>
              <a:gd name="connsiteY2" fmla="*/ 2937993 h 2937993"/>
              <a:gd name="connsiteX3" fmla="*/ 0 w 4488028"/>
              <a:gd name="connsiteY3" fmla="*/ 2937993 h 2937993"/>
              <a:gd name="connsiteX4" fmla="*/ 0 w 4488028"/>
              <a:gd name="connsiteY4" fmla="*/ 0 h 2937993"/>
              <a:gd name="connsiteX0-1" fmla="*/ 0 w 4488028"/>
              <a:gd name="connsiteY0-2" fmla="*/ 0 h 2937993"/>
              <a:gd name="connsiteX1-3" fmla="*/ 4488028 w 4488028"/>
              <a:gd name="connsiteY1-4" fmla="*/ 0 h 2937993"/>
              <a:gd name="connsiteX2-5" fmla="*/ 0 w 4488028"/>
              <a:gd name="connsiteY2-6" fmla="*/ 2937993 h 2937993"/>
              <a:gd name="connsiteX3-7" fmla="*/ 0 w 4488028"/>
              <a:gd name="connsiteY3-8" fmla="*/ 0 h 293799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488028" h="2937993">
                <a:moveTo>
                  <a:pt x="0" y="0"/>
                </a:moveTo>
                <a:lnTo>
                  <a:pt x="4488028" y="0"/>
                </a:lnTo>
                <a:lnTo>
                  <a:pt x="0" y="293799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1000">
                <a:srgbClr val="FFFFFF">
                  <a:alpha val="76000"/>
                </a:srgbClr>
              </a:gs>
              <a:gs pos="50000">
                <a:srgbClr val="FFFFFF">
                  <a:alpha val="0"/>
                </a:srgbClr>
              </a:gs>
            </a:gsLst>
            <a:lin ang="3480000" scaled="0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659" tIns="50659" rIns="50659" bIns="50659" numCol="1" spcCol="38100" rtlCol="0" anchor="ctr">
            <a:spAutoFit/>
          </a:bodyPr>
          <a:lstStyle/>
          <a:p>
            <a:pPr marL="0" marR="0" lvl="0" indent="0" algn="ctr" defTabSz="582295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sv-SE" sz="2395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sp>
        <p:nvSpPr>
          <p:cNvPr id="3" name="Rektangel 2"/>
          <p:cNvSpPr/>
          <p:nvPr userDrawn="1"/>
        </p:nvSpPr>
        <p:spPr>
          <a:xfrm>
            <a:off x="5430003" y="1480432"/>
            <a:ext cx="6741360" cy="2585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795"/>
          </a:p>
        </p:txBody>
      </p:sp>
      <p:sp>
        <p:nvSpPr>
          <p:cNvPr id="12" name="Platshållare för text 11"/>
          <p:cNvSpPr>
            <a:spLocks noGrp="1"/>
          </p:cNvSpPr>
          <p:nvPr>
            <p:ph type="body" sz="quarter" idx="11" hasCustomPrompt="1"/>
          </p:nvPr>
        </p:nvSpPr>
        <p:spPr>
          <a:xfrm>
            <a:off x="5844404" y="3489855"/>
            <a:ext cx="6135199" cy="348447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395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 err="1"/>
              <a:t>Subtitle</a:t>
            </a:r>
            <a:r>
              <a:rPr lang="sv-SE" dirty="0"/>
              <a:t>, </a:t>
            </a:r>
            <a:r>
              <a:rPr lang="sv-SE" dirty="0" err="1"/>
              <a:t>name</a:t>
            </a:r>
            <a:r>
              <a:rPr lang="sv-SE" dirty="0"/>
              <a:t>, institution, </a:t>
            </a:r>
            <a:r>
              <a:rPr lang="sv-SE" dirty="0" err="1"/>
              <a:t>year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7" name="Rak 6"/>
          <p:cNvCxnSpPr/>
          <p:nvPr userDrawn="1"/>
        </p:nvCxnSpPr>
        <p:spPr>
          <a:xfrm>
            <a:off x="5845019" y="3344378"/>
            <a:ext cx="613446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latshållare för text 5"/>
          <p:cNvSpPr>
            <a:spLocks noGrp="1"/>
          </p:cNvSpPr>
          <p:nvPr>
            <p:ph type="body" sz="quarter" idx="10" hasCustomPrompt="1"/>
          </p:nvPr>
        </p:nvSpPr>
        <p:spPr>
          <a:xfrm>
            <a:off x="5844403" y="1765371"/>
            <a:ext cx="6135199" cy="156475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785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v-SE" dirty="0" err="1"/>
              <a:t>Title</a:t>
            </a:r>
            <a:r>
              <a:rPr lang="sv-SE" dirty="0"/>
              <a:t> </a:t>
            </a:r>
            <a:r>
              <a:rPr lang="sv-SE" dirty="0" err="1"/>
              <a:t>slide</a:t>
            </a:r>
            <a:r>
              <a:rPr lang="sv-SE" dirty="0"/>
              <a:t> for </a:t>
            </a:r>
            <a:r>
              <a:rPr lang="sv-SE" dirty="0" err="1"/>
              <a:t>longer</a:t>
            </a:r>
            <a:r>
              <a:rPr lang="sv-SE" dirty="0"/>
              <a:t> </a:t>
            </a:r>
            <a:r>
              <a:rPr lang="sv-SE" dirty="0" err="1"/>
              <a:t>titles</a:t>
            </a:r>
            <a:endParaRPr lang="sv-SE" dirty="0"/>
          </a:p>
        </p:txBody>
      </p:sp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8608" y="4216012"/>
            <a:ext cx="2812756" cy="2622939"/>
          </a:xfrm>
          <a:prstGeom prst="rect">
            <a:avLst/>
          </a:prstGeom>
        </p:spPr>
      </p:pic>
      <p:pic>
        <p:nvPicPr>
          <p:cNvPr id="13" name="Bildobjekt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76111" y="352158"/>
            <a:ext cx="742658" cy="99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objekt 10"/>
          <p:cNvPicPr>
            <a:picLocks noChangeAspect="1"/>
          </p:cNvPicPr>
          <p:nvPr userDrawn="1"/>
        </p:nvPicPr>
        <p:blipFill rotWithShape="1">
          <a:blip r:embed="rId2"/>
          <a:srcRect l="10261" t="19608" b="8271"/>
          <a:stretch>
            <a:fillRect/>
          </a:stretch>
        </p:blipFill>
        <p:spPr>
          <a:xfrm>
            <a:off x="191763" y="188388"/>
            <a:ext cx="11787838" cy="6462175"/>
          </a:xfrm>
          <a:prstGeom prst="rect">
            <a:avLst/>
          </a:prstGeom>
        </p:spPr>
      </p:pic>
      <p:sp>
        <p:nvSpPr>
          <p:cNvPr id="3" name="Rektangel 2"/>
          <p:cNvSpPr/>
          <p:nvPr userDrawn="1"/>
        </p:nvSpPr>
        <p:spPr>
          <a:xfrm>
            <a:off x="6735068" y="1480432"/>
            <a:ext cx="5436295" cy="12988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795"/>
          </a:p>
        </p:txBody>
      </p:sp>
      <p:sp>
        <p:nvSpPr>
          <p:cNvPr id="6" name="Platshållare för text 5"/>
          <p:cNvSpPr>
            <a:spLocks noGrp="1"/>
          </p:cNvSpPr>
          <p:nvPr>
            <p:ph type="body" sz="quarter" idx="10" hasCustomPrompt="1"/>
          </p:nvPr>
        </p:nvSpPr>
        <p:spPr>
          <a:xfrm>
            <a:off x="7020374" y="1518628"/>
            <a:ext cx="4959227" cy="637985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4785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v-SE" dirty="0" err="1"/>
              <a:t>Single</a:t>
            </a:r>
            <a:r>
              <a:rPr lang="sv-SE" dirty="0"/>
              <a:t> </a:t>
            </a:r>
            <a:r>
              <a:rPr lang="sv-SE" dirty="0" err="1"/>
              <a:t>line</a:t>
            </a:r>
            <a:r>
              <a:rPr lang="sv-SE" dirty="0"/>
              <a:t> </a:t>
            </a:r>
            <a:r>
              <a:rPr lang="sv-SE" dirty="0" err="1"/>
              <a:t>title</a:t>
            </a:r>
            <a:endParaRPr lang="sv-SE" dirty="0"/>
          </a:p>
        </p:txBody>
      </p:sp>
      <p:sp>
        <p:nvSpPr>
          <p:cNvPr id="12" name="Platshållare för text 11"/>
          <p:cNvSpPr>
            <a:spLocks noGrp="1"/>
          </p:cNvSpPr>
          <p:nvPr>
            <p:ph type="body" sz="quarter" idx="11" hasCustomPrompt="1"/>
          </p:nvPr>
        </p:nvSpPr>
        <p:spPr>
          <a:xfrm>
            <a:off x="7020373" y="2423260"/>
            <a:ext cx="4959228" cy="348447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395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 err="1"/>
              <a:t>Subtitle</a:t>
            </a:r>
            <a:r>
              <a:rPr lang="sv-SE" dirty="0"/>
              <a:t>, </a:t>
            </a:r>
            <a:r>
              <a:rPr lang="sv-SE" dirty="0" err="1"/>
              <a:t>name</a:t>
            </a:r>
            <a:r>
              <a:rPr lang="sv-SE" dirty="0"/>
              <a:t>, institution, </a:t>
            </a:r>
            <a:r>
              <a:rPr lang="sv-SE" dirty="0" err="1"/>
              <a:t>year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7" name="Rak 6"/>
          <p:cNvCxnSpPr/>
          <p:nvPr userDrawn="1"/>
        </p:nvCxnSpPr>
        <p:spPr>
          <a:xfrm>
            <a:off x="7020374" y="2306806"/>
            <a:ext cx="495922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Bildobjekt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8608" y="4216012"/>
            <a:ext cx="2812756" cy="2622939"/>
          </a:xfrm>
          <a:prstGeom prst="rect">
            <a:avLst/>
          </a:prstGeom>
        </p:spPr>
      </p:pic>
      <p:pic>
        <p:nvPicPr>
          <p:cNvPr id="14" name="Bildobjekt 13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76111" y="352158"/>
            <a:ext cx="742658" cy="99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 long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objekt 7"/>
          <p:cNvPicPr>
            <a:picLocks noChangeAspect="1"/>
          </p:cNvPicPr>
          <p:nvPr userDrawn="1"/>
        </p:nvPicPr>
        <p:blipFill rotWithShape="1">
          <a:blip r:embed="rId2"/>
          <a:srcRect l="10261" t="19608" b="8271"/>
          <a:stretch>
            <a:fillRect/>
          </a:stretch>
        </p:blipFill>
        <p:spPr>
          <a:xfrm>
            <a:off x="191763" y="188388"/>
            <a:ext cx="11787838" cy="6462175"/>
          </a:xfrm>
          <a:prstGeom prst="rect">
            <a:avLst/>
          </a:prstGeom>
        </p:spPr>
      </p:pic>
      <p:sp>
        <p:nvSpPr>
          <p:cNvPr id="3" name="Rektangel 2"/>
          <p:cNvSpPr/>
          <p:nvPr userDrawn="1"/>
        </p:nvSpPr>
        <p:spPr>
          <a:xfrm>
            <a:off x="5430003" y="1480432"/>
            <a:ext cx="6741360" cy="2585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795"/>
          </a:p>
        </p:txBody>
      </p:sp>
      <p:sp>
        <p:nvSpPr>
          <p:cNvPr id="12" name="Platshållare för text 11"/>
          <p:cNvSpPr>
            <a:spLocks noGrp="1"/>
          </p:cNvSpPr>
          <p:nvPr>
            <p:ph type="body" sz="quarter" idx="11" hasCustomPrompt="1"/>
          </p:nvPr>
        </p:nvSpPr>
        <p:spPr>
          <a:xfrm>
            <a:off x="5844404" y="3489855"/>
            <a:ext cx="6135199" cy="348447"/>
          </a:xfrm>
        </p:spPr>
        <p:txBody>
          <a:bodyPr>
            <a:noAutofit/>
          </a:bodyPr>
          <a:lstStyle>
            <a:lvl1pPr marL="0" marR="0" indent="0" algn="l" defTabSz="91186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defRPr sz="1395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 err="1"/>
              <a:t>Subtitle</a:t>
            </a:r>
            <a:r>
              <a:rPr lang="sv-SE" dirty="0"/>
              <a:t>, </a:t>
            </a:r>
            <a:r>
              <a:rPr lang="sv-SE" dirty="0" err="1"/>
              <a:t>name</a:t>
            </a:r>
            <a:r>
              <a:rPr lang="sv-SE" dirty="0"/>
              <a:t>, institution, </a:t>
            </a:r>
            <a:r>
              <a:rPr lang="sv-SE" dirty="0" err="1"/>
              <a:t>year</a:t>
            </a:r>
            <a:r>
              <a:rPr lang="sv-SE" dirty="0"/>
              <a:t> </a:t>
            </a:r>
            <a:r>
              <a:rPr lang="sv-SE" dirty="0" err="1"/>
              <a:t>etc</a:t>
            </a:r>
            <a:endParaRPr lang="sv-SE" dirty="0"/>
          </a:p>
        </p:txBody>
      </p:sp>
      <p:cxnSp>
        <p:nvCxnSpPr>
          <p:cNvPr id="7" name="Rak 6"/>
          <p:cNvCxnSpPr/>
          <p:nvPr userDrawn="1"/>
        </p:nvCxnSpPr>
        <p:spPr>
          <a:xfrm>
            <a:off x="5845019" y="3344378"/>
            <a:ext cx="613446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latshållare för text 5"/>
          <p:cNvSpPr>
            <a:spLocks noGrp="1"/>
          </p:cNvSpPr>
          <p:nvPr>
            <p:ph type="body" sz="quarter" idx="10" hasCustomPrompt="1"/>
          </p:nvPr>
        </p:nvSpPr>
        <p:spPr>
          <a:xfrm>
            <a:off x="5844403" y="1765371"/>
            <a:ext cx="6135199" cy="156475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785" b="0" i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sv-SE" dirty="0" err="1"/>
              <a:t>Title</a:t>
            </a:r>
            <a:r>
              <a:rPr lang="sv-SE" dirty="0"/>
              <a:t> </a:t>
            </a:r>
            <a:r>
              <a:rPr lang="sv-SE" dirty="0" err="1"/>
              <a:t>slide</a:t>
            </a:r>
            <a:r>
              <a:rPr lang="sv-SE" dirty="0"/>
              <a:t> for </a:t>
            </a:r>
            <a:r>
              <a:rPr lang="sv-SE" dirty="0" err="1"/>
              <a:t>longer</a:t>
            </a:r>
            <a:r>
              <a:rPr lang="sv-SE" dirty="0"/>
              <a:t> </a:t>
            </a:r>
            <a:r>
              <a:rPr lang="sv-SE" dirty="0" err="1"/>
              <a:t>titles</a:t>
            </a:r>
            <a:endParaRPr lang="sv-SE" dirty="0"/>
          </a:p>
        </p:txBody>
      </p:sp>
      <p:pic>
        <p:nvPicPr>
          <p:cNvPr id="10" name="Bildobjekt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8608" y="4216012"/>
            <a:ext cx="2812756" cy="2622939"/>
          </a:xfrm>
          <a:prstGeom prst="rect">
            <a:avLst/>
          </a:prstGeom>
        </p:spPr>
      </p:pic>
      <p:pic>
        <p:nvPicPr>
          <p:cNvPr id="13" name="Bildobjekt 12"/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476111" y="352158"/>
            <a:ext cx="742658" cy="9904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line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 descr="huset-rosa_16-9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8" y="-1"/>
            <a:ext cx="12180984" cy="6838951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296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583677"/>
            <a:ext cx="7490902" cy="714380"/>
          </a:xfrm>
        </p:spPr>
        <p:txBody>
          <a:bodyPr lIns="0" tIns="97200" rIns="0" bIns="82800"/>
          <a:lstStyle>
            <a:lvl1pPr>
              <a:defRPr sz="4000" baseline="0"/>
            </a:lvl1pPr>
          </a:lstStyle>
          <a:p>
            <a:r>
              <a:rPr lang="en-GB" noProof="0" dirty="0"/>
              <a:t>Single-line title</a:t>
            </a:r>
            <a:endParaRPr lang="en-GB" noProof="0" dirty="0"/>
          </a:p>
        </p:txBody>
      </p:sp>
      <p:sp>
        <p:nvSpPr>
          <p:cNvPr id="10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4002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2820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Bildobjekt 14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lines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 descr="huset-rosa_16-9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886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621776"/>
            <a:ext cx="7490902" cy="1231811"/>
          </a:xfrm>
        </p:spPr>
        <p:txBody>
          <a:bodyPr lIns="0" tIns="97200" rIns="0" bIns="82800"/>
          <a:lstStyle>
            <a:lvl1pPr>
              <a:lnSpc>
                <a:spcPts val="4400"/>
              </a:lnSpc>
              <a:defRPr sz="4000" baseline="0"/>
            </a:lvl1pPr>
          </a:lstStyle>
          <a:p>
            <a:r>
              <a:rPr lang="en-GB" noProof="0" dirty="0"/>
              <a:t>Two-line title</a:t>
            </a:r>
            <a:br>
              <a:rPr lang="en-GB" noProof="0" dirty="0"/>
            </a:br>
            <a:r>
              <a:rPr lang="en-GB" noProof="0" dirty="0"/>
              <a:t>– if one line isn’t enough</a:t>
            </a:r>
            <a:endParaRPr lang="en-GB" noProof="0" dirty="0"/>
          </a:p>
        </p:txBody>
      </p:sp>
      <p:sp>
        <p:nvSpPr>
          <p:cNvPr id="10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9717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8535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lin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296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2820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  <p:sp>
        <p:nvSpPr>
          <p:cNvPr id="12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583677"/>
            <a:ext cx="7490902" cy="714380"/>
          </a:xfrm>
        </p:spPr>
        <p:txBody>
          <a:bodyPr lIns="0" tIns="97200" rIns="0" bIns="82800"/>
          <a:lstStyle>
            <a:lvl1pPr>
              <a:defRPr sz="4000" baseline="0"/>
            </a:lvl1pPr>
          </a:lstStyle>
          <a:p>
            <a:r>
              <a:rPr lang="en-GB" noProof="0" dirty="0"/>
              <a:t>Single-line title</a:t>
            </a:r>
            <a:endParaRPr lang="en-GB" noProof="0" dirty="0"/>
          </a:p>
        </p:txBody>
      </p:sp>
      <p:sp>
        <p:nvSpPr>
          <p:cNvPr id="15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4002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lines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886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8535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  <p:sp>
        <p:nvSpPr>
          <p:cNvPr id="12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621776"/>
            <a:ext cx="7490902" cy="1231811"/>
          </a:xfrm>
        </p:spPr>
        <p:txBody>
          <a:bodyPr lIns="0" tIns="97200" rIns="0" bIns="82800"/>
          <a:lstStyle>
            <a:lvl1pPr>
              <a:lnSpc>
                <a:spcPts val="4400"/>
              </a:lnSpc>
              <a:defRPr sz="4000" baseline="0"/>
            </a:lvl1pPr>
          </a:lstStyle>
          <a:p>
            <a:r>
              <a:rPr lang="en-GB" noProof="0" dirty="0"/>
              <a:t>Two-line title</a:t>
            </a:r>
            <a:br>
              <a:rPr lang="en-GB" noProof="0" dirty="0"/>
            </a:br>
            <a:r>
              <a:rPr lang="en-GB" noProof="0" dirty="0"/>
              <a:t>– if one line isn’t enough</a:t>
            </a:r>
            <a:endParaRPr lang="en-GB" noProof="0" dirty="0"/>
          </a:p>
        </p:txBody>
      </p:sp>
      <p:sp>
        <p:nvSpPr>
          <p:cNvPr id="15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971799"/>
            <a:ext cx="7490902" cy="212213"/>
          </a:xfrm>
        </p:spPr>
        <p:txBody>
          <a:bodyPr lIns="0" tIns="0" rIns="0" bIns="0" anchor="t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lin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296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583677"/>
            <a:ext cx="7490902" cy="714380"/>
          </a:xfrm>
        </p:spPr>
        <p:txBody>
          <a:bodyPr lIns="0" tIns="97200" rIns="0" bIns="82800"/>
          <a:lstStyle>
            <a:lvl1pPr>
              <a:defRPr sz="4000" baseline="0"/>
            </a:lvl1pPr>
          </a:lstStyle>
          <a:p>
            <a:r>
              <a:rPr lang="en-GB" noProof="0" dirty="0"/>
              <a:t>Single-line title</a:t>
            </a:r>
            <a:endParaRPr lang="en-GB" noProof="0" dirty="0"/>
          </a:p>
        </p:txBody>
      </p:sp>
      <p:sp>
        <p:nvSpPr>
          <p:cNvPr id="10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4002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2820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Bildobjekt 14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lines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886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621776"/>
            <a:ext cx="7490902" cy="1231811"/>
          </a:xfrm>
        </p:spPr>
        <p:txBody>
          <a:bodyPr lIns="0" tIns="97200" rIns="0" bIns="82800"/>
          <a:lstStyle>
            <a:lvl1pPr>
              <a:lnSpc>
                <a:spcPts val="4400"/>
              </a:lnSpc>
              <a:defRPr sz="4000" baseline="0"/>
            </a:lvl1pPr>
          </a:lstStyle>
          <a:p>
            <a:r>
              <a:rPr lang="en-GB" noProof="0" dirty="0"/>
              <a:t>Two-line title</a:t>
            </a:r>
            <a:br>
              <a:rPr lang="en-GB" noProof="0" dirty="0"/>
            </a:br>
            <a:r>
              <a:rPr lang="en-GB" noProof="0" dirty="0"/>
              <a:t>– if one line isn’t enough</a:t>
            </a:r>
            <a:endParaRPr lang="en-GB" noProof="0" dirty="0"/>
          </a:p>
        </p:txBody>
      </p:sp>
      <p:sp>
        <p:nvSpPr>
          <p:cNvPr id="10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9717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8535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line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296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2820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  <p:sp>
        <p:nvSpPr>
          <p:cNvPr id="12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583677"/>
            <a:ext cx="7490902" cy="714380"/>
          </a:xfrm>
        </p:spPr>
        <p:txBody>
          <a:bodyPr lIns="0" tIns="97200" rIns="0" bIns="82800"/>
          <a:lstStyle>
            <a:lvl1pPr>
              <a:defRPr sz="4000" baseline="0"/>
            </a:lvl1pPr>
          </a:lstStyle>
          <a:p>
            <a:r>
              <a:rPr lang="en-GB" noProof="0" dirty="0"/>
              <a:t>Single-line title</a:t>
            </a:r>
            <a:endParaRPr lang="en-GB" noProof="0" dirty="0"/>
          </a:p>
        </p:txBody>
      </p:sp>
      <p:sp>
        <p:nvSpPr>
          <p:cNvPr id="15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4002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lines bei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886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8535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  <p:sp>
        <p:nvSpPr>
          <p:cNvPr id="12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621776"/>
            <a:ext cx="7490902" cy="1231811"/>
          </a:xfrm>
        </p:spPr>
        <p:txBody>
          <a:bodyPr lIns="0" tIns="97200" rIns="0" bIns="82800"/>
          <a:lstStyle>
            <a:lvl1pPr>
              <a:lnSpc>
                <a:spcPts val="4400"/>
              </a:lnSpc>
              <a:defRPr sz="4000" baseline="0"/>
            </a:lvl1pPr>
          </a:lstStyle>
          <a:p>
            <a:r>
              <a:rPr lang="en-GB" noProof="0" dirty="0"/>
              <a:t>Two-line title</a:t>
            </a:r>
            <a:br>
              <a:rPr lang="en-GB" noProof="0" dirty="0"/>
            </a:br>
            <a:r>
              <a:rPr lang="en-GB" noProof="0" dirty="0"/>
              <a:t>– if one line isn’t enough</a:t>
            </a:r>
            <a:endParaRPr lang="en-GB" noProof="0" dirty="0"/>
          </a:p>
        </p:txBody>
      </p:sp>
      <p:sp>
        <p:nvSpPr>
          <p:cNvPr id="15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971799"/>
            <a:ext cx="7490902" cy="212213"/>
          </a:xfrm>
        </p:spPr>
        <p:txBody>
          <a:bodyPr lIns="0" tIns="0" rIns="0" bIns="0" anchor="t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 line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296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2820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  <p:sp>
        <p:nvSpPr>
          <p:cNvPr id="12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583677"/>
            <a:ext cx="7490902" cy="714380"/>
          </a:xfrm>
        </p:spPr>
        <p:txBody>
          <a:bodyPr lIns="0" tIns="97200" rIns="0" bIns="82800"/>
          <a:lstStyle>
            <a:lvl1pPr>
              <a:defRPr sz="4000" baseline="0"/>
            </a:lvl1pPr>
          </a:lstStyle>
          <a:p>
            <a:r>
              <a:rPr lang="en-GB" noProof="0" dirty="0"/>
              <a:t>Single-line title</a:t>
            </a:r>
            <a:endParaRPr lang="en-GB" noProof="0" dirty="0"/>
          </a:p>
        </p:txBody>
      </p:sp>
      <p:sp>
        <p:nvSpPr>
          <p:cNvPr id="15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400299"/>
            <a:ext cx="7490902" cy="212213"/>
          </a:xfrm>
        </p:spPr>
        <p:txBody>
          <a:bodyPr lIns="0" tIns="0" rIns="0" bIns="0" anchor="t" anchorCtr="0"/>
          <a:lstStyle>
            <a:lvl1pPr marL="0" indent="0" algn="l"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lines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Bildobjekt 2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80000"/>
            <a:ext cx="11807952" cy="6480048"/>
          </a:xfrm>
          <a:prstGeom prst="rect">
            <a:avLst/>
          </a:prstGeom>
        </p:spPr>
      </p:pic>
      <p:sp>
        <p:nvSpPr>
          <p:cNvPr id="6" name="Rektangel 5"/>
          <p:cNvSpPr/>
          <p:nvPr userDrawn="1"/>
        </p:nvSpPr>
        <p:spPr bwMode="auto">
          <a:xfrm>
            <a:off x="4109337" y="1467998"/>
            <a:ext cx="8062026" cy="1886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048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sv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4380178" y="2853588"/>
            <a:ext cx="760544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3" name="Bildobjekt 12" descr="Lunds sigill RGB 150.png"/>
          <p:cNvPicPr>
            <a:picLocks noChangeAspect="1"/>
          </p:cNvPicPr>
          <p:nvPr userDrawn="1"/>
        </p:nvPicPr>
        <p:blipFill>
          <a:blip r:embed="rId3"/>
          <a:srcRect r="17691" b="21541"/>
          <a:stretch>
            <a:fillRect/>
          </a:stretch>
        </p:blipFill>
        <p:spPr>
          <a:xfrm>
            <a:off x="9253855" y="4042124"/>
            <a:ext cx="2917508" cy="2796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Bildobjekt 13" descr="LundUniversity_C2line RGB 150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6800" y="359907"/>
            <a:ext cx="708740" cy="946800"/>
          </a:xfrm>
          <a:prstGeom prst="rect">
            <a:avLst/>
          </a:prstGeom>
        </p:spPr>
      </p:pic>
      <p:sp>
        <p:nvSpPr>
          <p:cNvPr id="12" name="Rubrik 1"/>
          <p:cNvSpPr>
            <a:spLocks noGrp="1"/>
          </p:cNvSpPr>
          <p:nvPr>
            <p:ph type="ctrTitle" hasCustomPrompt="1"/>
          </p:nvPr>
        </p:nvSpPr>
        <p:spPr>
          <a:xfrm>
            <a:off x="4383598" y="1621776"/>
            <a:ext cx="7490902" cy="1231811"/>
          </a:xfrm>
        </p:spPr>
        <p:txBody>
          <a:bodyPr lIns="0" tIns="97200" rIns="0" bIns="82800"/>
          <a:lstStyle>
            <a:lvl1pPr>
              <a:lnSpc>
                <a:spcPts val="4400"/>
              </a:lnSpc>
              <a:defRPr sz="4000" baseline="0"/>
            </a:lvl1pPr>
          </a:lstStyle>
          <a:p>
            <a:r>
              <a:rPr lang="en-GB" noProof="0" dirty="0"/>
              <a:t>Two-line title</a:t>
            </a:r>
            <a:br>
              <a:rPr lang="en-GB" noProof="0" dirty="0"/>
            </a:br>
            <a:r>
              <a:rPr lang="en-GB" noProof="0" dirty="0"/>
              <a:t>– if one line isn’t enough</a:t>
            </a:r>
            <a:endParaRPr lang="en-GB" noProof="0" dirty="0"/>
          </a:p>
        </p:txBody>
      </p:sp>
      <p:sp>
        <p:nvSpPr>
          <p:cNvPr id="15" name="Underrubrik 2"/>
          <p:cNvSpPr>
            <a:spLocks noGrp="1"/>
          </p:cNvSpPr>
          <p:nvPr>
            <p:ph type="subTitle" idx="1" hasCustomPrompt="1"/>
          </p:nvPr>
        </p:nvSpPr>
        <p:spPr>
          <a:xfrm>
            <a:off x="4383598" y="2971799"/>
            <a:ext cx="7490902" cy="212213"/>
          </a:xfrm>
        </p:spPr>
        <p:txBody>
          <a:bodyPr lIns="0" tIns="0" rIns="0" bIns="0" anchor="t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buFont typeface="Arial" panose="020B0604020202020204"/>
              <a:buNone/>
              <a:defRPr sz="1200" b="1" kern="1200" cap="all" spc="1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noProof="0" dirty="0"/>
              <a:t>Subtitle or name</a:t>
            </a:r>
            <a:endParaRPr lang="en-GB" noProof="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>
          <a:xfrm>
            <a:off x="510746" y="256556"/>
            <a:ext cx="11162270" cy="674320"/>
          </a:xfrm>
        </p:spPr>
        <p:txBody>
          <a:bodyPr/>
          <a:lstStyle/>
          <a:p>
            <a:r>
              <a:rPr lang="en-GB" noProof="0" dirty="0"/>
              <a:t>Header</a:t>
            </a:r>
            <a:endParaRPr lang="en-GB" noProof="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510746" y="1070919"/>
            <a:ext cx="11162270" cy="50086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516" tIns="45258" rIns="90516" bIns="45258" numCol="1" anchor="t" anchorCtr="0" compatLnSpc="1"/>
          <a:lstStyle>
            <a:lvl1pPr>
              <a:defRPr/>
            </a:lvl1pPr>
          </a:lstStyle>
          <a:p>
            <a:pPr lvl="0"/>
            <a:r>
              <a:rPr lang="en-GB" noProof="0" dirty="0"/>
              <a:t>Add text</a:t>
            </a:r>
            <a:endParaRPr lang="en-GB" noProof="0" dirty="0"/>
          </a:p>
          <a:p>
            <a:pPr lvl="1"/>
            <a:r>
              <a:rPr lang="en-GB" noProof="0" dirty="0"/>
              <a:t>Level two</a:t>
            </a:r>
            <a:endParaRPr lang="en-GB" noProof="0" dirty="0"/>
          </a:p>
          <a:p>
            <a:pPr lvl="2"/>
            <a:r>
              <a:rPr lang="en-GB" noProof="0" dirty="0"/>
              <a:t>Level three</a:t>
            </a:r>
            <a:endParaRPr lang="en-GB" noProof="0" dirty="0"/>
          </a:p>
          <a:p>
            <a:pPr lvl="3"/>
            <a:r>
              <a:rPr lang="en-GB" noProof="0" dirty="0"/>
              <a:t>Level four</a:t>
            </a:r>
            <a:endParaRPr lang="en-GB" noProof="0" dirty="0"/>
          </a:p>
          <a:p>
            <a:pPr lvl="0"/>
            <a:endParaRPr lang="en-GB" noProof="0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510746" y="6357296"/>
            <a:ext cx="2743200" cy="365125"/>
          </a:xfrm>
          <a:prstGeom prst="rect">
            <a:avLst/>
          </a:prstGeom>
        </p:spPr>
        <p:txBody>
          <a:bodyPr/>
          <a:lstStyle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Header</a:t>
            </a:r>
            <a:endParaRPr lang="en-GB" noProof="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idx="1" hasCustomPrompt="1"/>
          </p:nvPr>
        </p:nvSpPr>
        <p:spPr bwMode="auto">
          <a:xfrm>
            <a:off x="518984" y="1079157"/>
            <a:ext cx="11158868" cy="499212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516" tIns="45258" rIns="90516" bIns="45258" numCol="1" anchor="t" anchorCtr="0" compatLnSpc="1"/>
          <a:lstStyle/>
          <a:p>
            <a:pPr lvl="0"/>
            <a:r>
              <a:rPr lang="en-GB" noProof="0" dirty="0"/>
              <a:t>Add text</a:t>
            </a:r>
            <a:endParaRPr lang="en-GB" noProof="0" dirty="0"/>
          </a:p>
          <a:p>
            <a:pPr lvl="1"/>
            <a:r>
              <a:rPr lang="en-GB" noProof="0" dirty="0"/>
              <a:t>Level two</a:t>
            </a:r>
            <a:endParaRPr lang="en-GB" noProof="0" dirty="0"/>
          </a:p>
          <a:p>
            <a:pPr lvl="2"/>
            <a:r>
              <a:rPr lang="en-GB" noProof="0" dirty="0"/>
              <a:t>Level three</a:t>
            </a:r>
            <a:endParaRPr lang="en-GB" noProof="0" dirty="0"/>
          </a:p>
          <a:p>
            <a:pPr lvl="3"/>
            <a:r>
              <a:rPr lang="en-GB" noProof="0" dirty="0"/>
              <a:t>Level four</a:t>
            </a:r>
            <a:endParaRPr lang="en-GB" noProof="0" dirty="0"/>
          </a:p>
          <a:p>
            <a:pPr lvl="0"/>
            <a:endParaRPr lang="en-GB" noProof="0" dirty="0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518984" y="6375463"/>
            <a:ext cx="2743200" cy="365125"/>
          </a:xfrm>
          <a:prstGeom prst="rect">
            <a:avLst/>
          </a:prstGeom>
        </p:spPr>
        <p:txBody>
          <a:bodyPr/>
          <a:lstStyle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/>
          <p:cNvSpPr/>
          <p:nvPr userDrawn="1"/>
        </p:nvSpPr>
        <p:spPr>
          <a:xfrm>
            <a:off x="197709" y="381001"/>
            <a:ext cx="11771440" cy="63575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5" name="Bildobjekt 4" descr="LundUniversity_C2line RGB 150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89450" y="1112256"/>
            <a:ext cx="3207776" cy="42852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/>
              <a:t>Title</a:t>
            </a:r>
            <a:endParaRPr lang="en-GB" noProof="0"/>
          </a:p>
        </p:txBody>
      </p:sp>
      <p:sp>
        <p:nvSpPr>
          <p:cNvPr id="3" name="Platshållare för innehåll 2"/>
          <p:cNvSpPr>
            <a:spLocks noGrp="1"/>
          </p:cNvSpPr>
          <p:nvPr>
            <p:ph idx="1" hasCustomPrompt="1"/>
          </p:nvPr>
        </p:nvSpPr>
        <p:spPr>
          <a:xfrm>
            <a:off x="889126" y="1848243"/>
            <a:ext cx="10259772" cy="3562332"/>
          </a:xfrm>
        </p:spPr>
        <p:txBody>
          <a:bodyPr/>
          <a:lstStyle>
            <a:lvl1pPr>
              <a:spcAft>
                <a:spcPts val="0"/>
              </a:spcAft>
              <a:defRPr sz="2195"/>
            </a:lvl1pPr>
            <a:lvl2pPr>
              <a:spcAft>
                <a:spcPts val="0"/>
              </a:spcAft>
              <a:buClr>
                <a:schemeClr val="tx2"/>
              </a:buClr>
              <a:defRPr sz="2195"/>
            </a:lvl2pPr>
            <a:lvl3pPr>
              <a:spcAft>
                <a:spcPts val="0"/>
              </a:spcAft>
              <a:buClr>
                <a:schemeClr val="tx2"/>
              </a:buClr>
              <a:defRPr/>
            </a:lvl3pPr>
            <a:lvl4pPr>
              <a:spcAft>
                <a:spcPts val="0"/>
              </a:spcAft>
              <a:buClr>
                <a:schemeClr val="tx2"/>
              </a:buClr>
              <a:defRPr/>
            </a:lvl4pPr>
          </a:lstStyle>
          <a:p>
            <a:pPr lvl="0"/>
            <a:r>
              <a:rPr lang="en-GB" noProof="0"/>
              <a:t>Add text</a:t>
            </a:r>
            <a:endParaRPr lang="en-GB" noProof="0"/>
          </a:p>
          <a:p>
            <a:pPr lvl="1"/>
            <a:r>
              <a:rPr lang="en-GB" noProof="0"/>
              <a:t>Level two</a:t>
            </a:r>
            <a:endParaRPr lang="en-GB" noProof="0"/>
          </a:p>
          <a:p>
            <a:pPr lvl="2"/>
            <a:r>
              <a:rPr lang="en-GB" noProof="0"/>
              <a:t>Level three</a:t>
            </a:r>
            <a:endParaRPr lang="en-GB" noProof="0"/>
          </a:p>
          <a:p>
            <a:pPr lvl="3"/>
            <a:r>
              <a:rPr lang="en-GB" noProof="0"/>
              <a:t>Level four</a:t>
            </a:r>
            <a:endParaRPr lang="en-GB" noProof="0"/>
          </a:p>
        </p:txBody>
      </p:sp>
      <p:cxnSp>
        <p:nvCxnSpPr>
          <p:cNvPr id="11" name="Rak 10"/>
          <p:cNvCxnSpPr/>
          <p:nvPr userDrawn="1"/>
        </p:nvCxnSpPr>
        <p:spPr bwMode="auto">
          <a:xfrm>
            <a:off x="1007743" y="1499035"/>
            <a:ext cx="1014964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Rectangle 2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0" y="6459626"/>
            <a:ext cx="710534" cy="303143"/>
          </a:xfrm>
          <a:prstGeom prst="rect">
            <a:avLst/>
          </a:prstGeom>
        </p:spPr>
        <p:txBody>
          <a:bodyPr vert="horz" wrap="square" lIns="90516" tIns="45258" rIns="90516" bIns="45258" numCol="1" anchor="t" anchorCtr="0" compatLnSpc="1"/>
          <a:lstStyle>
            <a:lvl1pPr>
              <a:defRPr sz="1595" b="1">
                <a:ea typeface="MS PGothic" panose="020B0600070205080204" pitchFamily="34" charset="-128"/>
              </a:defRPr>
            </a:lvl1pPr>
          </a:lstStyle>
          <a:p>
            <a:fld id="{B3606B9E-5A98-41E4-AEFB-F9B2EA2CEE49}" type="slidenum">
              <a:rPr lang="ko-KR" altLang="en-US" smtClean="0"/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行文本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8552" y="531918"/>
            <a:ext cx="10953940" cy="607907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8552" y="1519767"/>
            <a:ext cx="10953940" cy="1469108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931846" y="1887044"/>
            <a:ext cx="874794" cy="734554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2079220" y="1950367"/>
            <a:ext cx="9178996" cy="607907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8552" y="3140851"/>
            <a:ext cx="10953940" cy="1469108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931846" y="3508128"/>
            <a:ext cx="874794" cy="734554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2079220" y="3571452"/>
            <a:ext cx="9178996" cy="607907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608552" y="4761936"/>
            <a:ext cx="10953940" cy="1469108"/>
          </a:xfrm>
          <a:custGeom>
            <a:avLst/>
            <a:gdLst>
              <a:gd name="connisteX0" fmla="*/ 0 w 10972800"/>
              <a:gd name="connsiteY0" fmla="*/ 203200 h 1473200"/>
              <a:gd name="connisteX1" fmla="*/ 203200 w 10972800"/>
              <a:gd name="connsiteY1" fmla="*/ 0 h 1473200"/>
              <a:gd name="connisteX2" fmla="*/ 10769600 w 10972800"/>
              <a:gd name="connsiteY2" fmla="*/ 0 h 1473200"/>
              <a:gd name="connisteX3" fmla="*/ 10972800 w 10972800"/>
              <a:gd name="connsiteY3" fmla="*/ 203200 h 1473200"/>
              <a:gd name="connisteX4" fmla="*/ 10972800 w 10972800"/>
              <a:gd name="connsiteY4" fmla="*/ 1270000 h 1473200"/>
              <a:gd name="connisteX5" fmla="*/ 10769600 w 10972800"/>
              <a:gd name="connsiteY5" fmla="*/ 1473200 h 1473200"/>
              <a:gd name="connisteX6" fmla="*/ 203200 w 10972800"/>
              <a:gd name="connsiteY6" fmla="*/ 1473200 h 1473200"/>
              <a:gd name="connisteX7" fmla="*/ 0 w 10972800"/>
              <a:gd name="connsiteY7" fmla="*/ 1270000 h 1473200"/>
              <a:gd name="connisteX8" fmla="*/ 0 w 10972800"/>
              <a:gd name="connsiteY8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10972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270000"/>
                </a:lnTo>
                <a:cubicBezTo>
                  <a:pt x="10972800" y="1382224"/>
                  <a:pt x="10881824" y="1473200"/>
                  <a:pt x="10769600" y="1473200"/>
                </a:cubicBez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931846" y="5129213"/>
            <a:ext cx="874794" cy="734554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58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2079220" y="5192536"/>
            <a:ext cx="9178996" cy="607907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image" Target="../media/image8.png"/><Relationship Id="rId23" Type="http://schemas.openxmlformats.org/officeDocument/2006/relationships/image" Target="../media/image13.png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objekt 6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000" y="-72000"/>
            <a:ext cx="12310364" cy="6983998"/>
          </a:xfrm>
          <a:prstGeom prst="rect">
            <a:avLst/>
          </a:prstGeom>
        </p:spPr>
      </p:pic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18984" y="256555"/>
            <a:ext cx="11158868" cy="66608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516" tIns="45258" rIns="90516" bIns="45258" numCol="1" anchor="b" anchorCtr="0" compatLnSpc="1"/>
          <a:lstStyle/>
          <a:p>
            <a:pPr lvl="0"/>
            <a:r>
              <a:rPr lang="en-GB" noProof="0" dirty="0"/>
              <a:t>Header</a:t>
            </a:r>
            <a:endParaRPr lang="en-GB" noProof="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18984" y="1071108"/>
            <a:ext cx="11158868" cy="4952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516" tIns="45258" rIns="90516" bIns="45258" numCol="1" anchor="t" anchorCtr="0" compatLnSpc="1"/>
          <a:lstStyle/>
          <a:p>
            <a:pPr lvl="0"/>
            <a:r>
              <a:rPr lang="en-GB" noProof="0" dirty="0"/>
              <a:t>Add text</a:t>
            </a:r>
            <a:endParaRPr lang="en-GB" noProof="0" dirty="0"/>
          </a:p>
          <a:p>
            <a:pPr lvl="1"/>
            <a:r>
              <a:rPr lang="en-GB" noProof="0" dirty="0"/>
              <a:t>Level two</a:t>
            </a:r>
            <a:endParaRPr lang="en-GB" noProof="0" dirty="0"/>
          </a:p>
          <a:p>
            <a:pPr lvl="2"/>
            <a:r>
              <a:rPr lang="en-GB" noProof="0" dirty="0"/>
              <a:t>Level three</a:t>
            </a:r>
            <a:endParaRPr lang="en-GB" noProof="0" dirty="0"/>
          </a:p>
          <a:p>
            <a:pPr lvl="3"/>
            <a:r>
              <a:rPr lang="en-GB" noProof="0" dirty="0"/>
              <a:t>Level four</a:t>
            </a:r>
            <a:endParaRPr lang="en-GB" noProof="0" dirty="0"/>
          </a:p>
        </p:txBody>
      </p:sp>
      <p:cxnSp>
        <p:nvCxnSpPr>
          <p:cNvPr id="8" name="Rak 7"/>
          <p:cNvCxnSpPr/>
          <p:nvPr/>
        </p:nvCxnSpPr>
        <p:spPr bwMode="auto">
          <a:xfrm>
            <a:off x="518984" y="996873"/>
            <a:ext cx="1115886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9C6114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1" name="Bildobjekt 10" descr="LundUniversity_C2line RGB 150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264900" y="6089544"/>
            <a:ext cx="527996" cy="705345"/>
          </a:xfrm>
          <a:prstGeom prst="rect">
            <a:avLst/>
          </a:prstGeom>
        </p:spPr>
      </p:pic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18984" y="6375463"/>
            <a:ext cx="2743200" cy="365125"/>
          </a:xfrm>
          <a:prstGeom prst="rect">
            <a:avLst/>
          </a:prstGeom>
        </p:spPr>
        <p:txBody>
          <a:bodyPr/>
          <a:lstStyle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Times New Roman" panose="02020603050405020304"/>
          <a:ea typeface="+mj-ea"/>
          <a:cs typeface="+mj-cs"/>
        </a:defRPr>
      </a:lvl1pPr>
    </p:titleStyle>
    <p:bodyStyle>
      <a:lvl1pPr marL="230505" indent="-230505" algn="l" defTabSz="457200" rtl="0" eaLnBrk="1" latinLnBrk="0" hangingPunct="1">
        <a:spcBef>
          <a:spcPct val="20000"/>
        </a:spcBef>
        <a:buClr>
          <a:schemeClr val="tx2"/>
        </a:buClr>
        <a:buFont typeface="Arial" panose="020B0604020202020204"/>
        <a:buChar char="•"/>
        <a:defRPr sz="2200" kern="1200" baseline="0">
          <a:solidFill>
            <a:schemeClr val="tx2"/>
          </a:solidFill>
          <a:latin typeface="Arial" panose="020B0604020202020204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9C6114"/>
        </a:buClr>
        <a:buFont typeface="Arial" panose="020B0604020202020204"/>
        <a:buChar char="–"/>
        <a:defRPr sz="2200" kern="1200">
          <a:solidFill>
            <a:schemeClr val="tx2"/>
          </a:solidFill>
          <a:latin typeface="Arial" panose="020B0604020202020204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9C6114"/>
        </a:buClr>
        <a:buFont typeface="Lucida Grande"/>
        <a:buChar char="»"/>
        <a:defRPr sz="2000" kern="1200">
          <a:solidFill>
            <a:schemeClr val="tx2"/>
          </a:solidFill>
          <a:latin typeface="Arial" panose="020B0604020202020204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9C6114"/>
        </a:buClr>
        <a:buFont typeface="Arial" panose="020B0604020202020204"/>
        <a:buChar char="–"/>
        <a:defRPr sz="2000" kern="1200">
          <a:solidFill>
            <a:schemeClr val="tx2"/>
          </a:solidFill>
          <a:latin typeface="Arial" panose="020B0604020202020204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7.svg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1.svg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5.svg"/><Relationship Id="rId1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7.svg"/><Relationship Id="rId1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9.svg"/><Relationship Id="rId1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39.svg"/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40.png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21.xml"/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tags" Target="../tags/tag20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image" Target="../media/image44.svg"/><Relationship Id="rId1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zh-CN" sz="2800" dirty="0"/>
              <a:t>Efficient Mamba-Based Accelerator Architecture for Massive-MIMO Indoor Localization Using the LuViRA Dataset </a:t>
            </a:r>
            <a:endParaRPr lang="en-US" altLang="zh-CN" sz="2800" dirty="0"/>
          </a:p>
        </p:txBody>
      </p:sp>
      <p:sp>
        <p:nvSpPr>
          <p:cNvPr id="15" name="副标题 1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CHENXI ZHANG       Shengjie Chen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356985"/>
            <a:ext cx="2743200" cy="365125"/>
          </a:xfrm>
        </p:spPr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8552" y="401743"/>
            <a:ext cx="10953940" cy="607907"/>
          </a:xfrm>
        </p:spPr>
        <p:txBody>
          <a:bodyPr>
            <a:noAutofit/>
          </a:bodyPr>
          <a:lstStyle/>
          <a:p>
            <a:r>
              <a:rPr lang="en-US" altLang="zh-CN" b="1"/>
              <a:t>Contents</a:t>
            </a:r>
            <a:endParaRPr lang="en-US" altLang="zh-CN" b="1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755650" y="1439545"/>
            <a:ext cx="10805160" cy="493014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charset="0"/>
            </a:pPr>
            <a:r>
              <a:rPr lang="en-US" altLang="zh-CN" sz="2400" b="1"/>
              <a:t>1. Architechture</a:t>
            </a:r>
            <a:endParaRPr lang="en-US" altLang="zh-CN" sz="2400" b="1"/>
          </a:p>
          <a:p>
            <a:pPr lvl="1">
              <a:buFont typeface="Wingdings" panose="05000000000000000000" charset="0"/>
              <a:buChar char="Ø"/>
            </a:pPr>
            <a:r>
              <a:rPr lang="en-US" altLang="zh-CN"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Board-level deployment</a:t>
            </a: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Wingdings" panose="05000000000000000000" charset="0"/>
              <a:buChar char="Ø"/>
            </a:pPr>
            <a:r>
              <a:rPr lang="en-US" altLang="zh-CN"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 and fine-grained parallelism</a:t>
            </a: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charset="0"/>
            </a:pPr>
            <a:r>
              <a:rPr lang="en-US" altLang="zh-CN" sz="2400" b="1"/>
              <a:t>2. Linear Layers</a:t>
            </a:r>
            <a:endParaRPr lang="en-US" altLang="zh-CN" sz="2400" b="1"/>
          </a:p>
          <a:p>
            <a:pPr lvl="1" algn="l">
              <a:buSzTx/>
              <a:buFont typeface="Wingdings" panose="05000000000000000000" charset="0"/>
              <a:buChar char="Ø"/>
            </a:pPr>
            <a:r>
              <a:rPr lang="en-US" altLang="zh-CN"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Reuse of in-proj, dt-proj and out-proj</a:t>
            </a: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>
              <a:buSzTx/>
              <a:buFont typeface="Wingdings" panose="05000000000000000000" charset="0"/>
              <a:buChar char="Ø"/>
            </a:pPr>
            <a:r>
              <a:rPr lang="en-US" altLang="zh-CN"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Weight banking and memory access</a:t>
            </a: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charset="0"/>
            </a:pPr>
            <a:r>
              <a:rPr lang="en-US" altLang="zh-CN" sz="2400" b="1"/>
              <a:t>3. Non-linear Layers</a:t>
            </a:r>
            <a:endParaRPr lang="en-US" altLang="zh-CN" sz="2400" b="1"/>
          </a:p>
          <a:p>
            <a:pPr lvl="1" algn="l">
              <a:buSzTx/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RMSNorm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1" algn="l">
              <a:buSzTx/>
              <a:buFont typeface="Wingdings" panose="05000000000000000000" charset="0"/>
              <a:buChar char="Ø"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Sigmoid</a:t>
            </a:r>
            <a:endParaRPr lang="en-US" altLang="zh-CN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charset="0"/>
            </a:pPr>
            <a:r>
              <a:rPr lang="en-US" altLang="zh-CN" sz="2400" b="1"/>
              <a:t>3. Quantisation</a:t>
            </a:r>
            <a:endParaRPr lang="en-US" altLang="zh-CN" sz="2400" b="1"/>
          </a:p>
          <a:p>
            <a:pPr lvl="1" algn="l">
              <a:buSzTx/>
              <a:buFont typeface="Wingdings" panose="05000000000000000000" charset="0"/>
              <a:buChar char="Ø"/>
            </a:pPr>
            <a:r>
              <a:rPr lang="en-US" altLang="zh-CN"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>
              <a:buSzTx/>
              <a:buFont typeface="Wingdings" panose="05000000000000000000" charset="0"/>
              <a:buChar char="Ø"/>
            </a:pPr>
            <a:r>
              <a:rPr lang="en-US" altLang="zh-CN"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 implementation</a:t>
            </a:r>
            <a:endParaRPr lang="en-US" altLang="zh-CN" sz="2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l">
              <a:buSzTx/>
              <a:buFont typeface="Wingdings" panose="05000000000000000000" charset="0"/>
            </a:pPr>
            <a:r>
              <a:rPr lang="en-US" altLang="zh-CN" sz="2400" b="1">
                <a:sym typeface="+mn-ea"/>
              </a:rPr>
              <a:t>4. Results</a:t>
            </a:r>
            <a:endParaRPr lang="en-US" altLang="zh-CN" sz="2400" b="1"/>
          </a:p>
          <a:p>
            <a:pPr lvl="0" algn="l">
              <a:buSzTx/>
              <a:buFont typeface="Wingdings" panose="05000000000000000000" charset="0"/>
            </a:pPr>
            <a:endParaRPr lang="en-US" altLang="zh-CN" sz="16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形 1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399" y="1691877"/>
            <a:ext cx="11322366" cy="39116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Architecture - Board-level deployment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形 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273" y="1566623"/>
            <a:ext cx="10125738" cy="45797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Architecture - Pipeline and fine-grained parallelism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27355" y="1082040"/>
            <a:ext cx="5843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/>
              <a:t>Shell Input Flow and 4-Block Control Pipeline</a:t>
            </a:r>
            <a:endParaRPr lang="en-US" altLang="zh-CN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0796" y="1491629"/>
            <a:ext cx="8909769" cy="461872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Architecture - Pipeline and fine-grained parallelism</a:t>
            </a:r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43230" y="1071880"/>
            <a:ext cx="5149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/>
              <a:t>Linear Layer Reuse Dataflow (in / dt / out)</a:t>
            </a:r>
            <a:endParaRPr lang="en-US" altLang="zh-CN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152" y="1798286"/>
            <a:ext cx="10644359" cy="430058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Architecture - Pipeline and fine-grained parallelism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10540" y="1123315"/>
            <a:ext cx="6179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/>
              <a:t>Memory Access Mapping from RTL (In / DT / Out Proj)</a:t>
            </a:r>
            <a:endParaRPr lang="en-US" altLang="zh-CN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Trade Off : Reconfigurable vs. Fine-grained pipeline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005" y="1206500"/>
            <a:ext cx="5839460" cy="20612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10540" y="3267710"/>
            <a:ext cx="2562860" cy="983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mode    Calculation</a:t>
            </a:r>
            <a:endParaRPr lang="en-US" altLang="zh-CN" sz="1600" b="1"/>
          </a:p>
          <a:p>
            <a:r>
              <a:rPr lang="en-US" altLang="zh-CN" sz="1400"/>
              <a:t>00             MAC (A*B+acc_in)</a:t>
            </a:r>
            <a:endParaRPr lang="en-US" altLang="zh-CN" sz="1400"/>
          </a:p>
          <a:p>
            <a:r>
              <a:rPr lang="en-US" altLang="zh-CN" sz="1400"/>
              <a:t>01             MUL (A*B)</a:t>
            </a:r>
            <a:endParaRPr lang="en-US" altLang="zh-CN" sz="1400"/>
          </a:p>
          <a:p>
            <a:r>
              <a:rPr lang="en-US" altLang="zh-CN" sz="1400"/>
              <a:t>10             ADD  (A+B)</a:t>
            </a:r>
            <a:endParaRPr lang="en-US" altLang="zh-CN" sz="1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575" y="1034415"/>
            <a:ext cx="5389880" cy="31819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260465" y="4216400"/>
            <a:ext cx="303784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ym typeface="+mn-ea"/>
              </a:rPr>
              <a:t>Case A: wait for all MAC tiles, then run Sigmoid/EW</a:t>
            </a:r>
            <a:endParaRPr lang="en-US" altLang="zh-CN">
              <a:sym typeface="+mn-ea"/>
            </a:endParaRPr>
          </a:p>
          <a:p>
            <a:r>
              <a:rPr lang="en-US" altLang="zh-CN" b="1">
                <a:solidFill>
                  <a:srgbClr val="FF0000"/>
                </a:solidFill>
              </a:rPr>
              <a:t>T_A = 29N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en-US" altLang="zh-CN">
                <a:sym typeface="+mn-ea"/>
              </a:rPr>
              <a:t>Case B: stream each tile to Sigmoid/EW as soon as MAC finishes</a:t>
            </a:r>
            <a:endParaRPr lang="en-US" altLang="zh-CN"/>
          </a:p>
          <a:p>
            <a:r>
              <a:rPr lang="en-US" altLang="zh-CN" b="1">
                <a:solidFill>
                  <a:srgbClr val="FF0000"/>
                </a:solidFill>
              </a:rPr>
              <a:t>T_B = 22N + 7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535795" y="4216400"/>
            <a:ext cx="2466975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  <a:sym typeface="+mn-ea"/>
              </a:rPr>
              <a:t>Latency saving</a:t>
            </a:r>
            <a:endParaRPr lang="en-US" altLang="zh-CN" b="1">
              <a:solidFill>
                <a:srgbClr val="C00000"/>
              </a:solidFill>
            </a:endParaRPr>
          </a:p>
          <a:p>
            <a:r>
              <a:rPr lang="en-US" altLang="zh-CN" b="1">
                <a:solidFill>
                  <a:schemeClr val="bg2">
                    <a:lumMod val="50000"/>
                  </a:schemeClr>
                </a:solidFill>
                <a:sym typeface="+mn-ea"/>
              </a:rPr>
              <a:t>For N = 64</a:t>
            </a:r>
            <a:endParaRPr lang="en-US" altLang="zh-CN" b="1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b="1">
                <a:solidFill>
                  <a:schemeClr val="bg2">
                    <a:lumMod val="50000"/>
                  </a:schemeClr>
                </a:solidFill>
                <a:sym typeface="+mn-ea"/>
              </a:rPr>
              <a:t>T_A = 1856 cycles</a:t>
            </a:r>
            <a:endParaRPr lang="en-US" altLang="zh-CN" b="1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b="1">
                <a:solidFill>
                  <a:schemeClr val="bg2">
                    <a:lumMod val="50000"/>
                  </a:schemeClr>
                </a:solidFill>
                <a:sym typeface="+mn-ea"/>
              </a:rPr>
              <a:t>T_B = 1415 cycles</a:t>
            </a:r>
            <a:endParaRPr lang="en-US" altLang="zh-CN" b="1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b="1">
                <a:solidFill>
                  <a:schemeClr val="bg2">
                    <a:lumMod val="50000"/>
                  </a:schemeClr>
                </a:solidFill>
                <a:sym typeface="+mn-ea"/>
              </a:rPr>
              <a:t>Saving = 441 cycles</a:t>
            </a:r>
            <a:endParaRPr lang="en-US" altLang="zh-CN" b="1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 b="1">
                <a:solidFill>
                  <a:srgbClr val="C00000"/>
                </a:solidFill>
                <a:sym typeface="+mn-ea"/>
              </a:rPr>
              <a:t>Saving ratio ≈ 23.8%</a:t>
            </a:r>
            <a:endParaRPr lang="zh-CN" altLang="en-US" b="1">
              <a:solidFill>
                <a:srgbClr val="C00000"/>
              </a:solidFill>
            </a:endParaRPr>
          </a:p>
          <a:p>
            <a:r>
              <a:rPr lang="en-US" altLang="zh-CN" b="1">
                <a:solidFill>
                  <a:srgbClr val="C00000"/>
                </a:solidFill>
              </a:rPr>
              <a:t>Add 12 DSPs</a:t>
            </a:r>
            <a:endParaRPr lang="en-US" altLang="zh-CN" b="1">
              <a:solidFill>
                <a:srgbClr val="C0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21005" y="6289675"/>
            <a:ext cx="9772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i="1">
                <a:solidFill>
                  <a:schemeClr val="bg1">
                    <a:lumMod val="50000"/>
                  </a:schemeClr>
                </a:solidFill>
              </a:rPr>
              <a:t>R. Wei et al., "LightMamba: Efficient Mamba Acceleration on FPGA with Quantization and Hardware Co-design," 2025 Design, Automation &amp; Test in Europe Conference (DATE), Lyon, France, 2025, pp. 1-7, doi: 10.23919/DATE64628.2025.10993079.</a:t>
            </a:r>
            <a:endParaRPr lang="en-US" altLang="zh-CN" sz="1400" i="1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0540" y="4578350"/>
            <a:ext cx="540194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 i="1">
                <a:solidFill>
                  <a:srgbClr val="C00000"/>
                </a:solidFill>
              </a:rPr>
              <a:t>use 64 DSPs</a:t>
            </a:r>
            <a:endParaRPr lang="en-US" altLang="zh-CN" b="1" i="1"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 i="1">
                <a:solidFill>
                  <a:srgbClr val="C00000"/>
                </a:solidFill>
              </a:rPr>
              <a:t>wait for all MACs (64 tiles) to finish and then goes to next layer. </a:t>
            </a:r>
            <a:endParaRPr lang="en-US" altLang="zh-CN" b="1" i="1">
              <a:solidFill>
                <a:srgbClr val="C00000"/>
              </a:solidFill>
            </a:endParaRPr>
          </a:p>
          <a:p>
            <a:endParaRPr lang="en-US" altLang="zh-CN" b="1" i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Architecture - Pipeline and fine-grained parallelism</a:t>
            </a:r>
            <a:endParaRPr 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10540" y="1123315"/>
            <a:ext cx="7577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/>
              <a:t>Memory Access Comparison </a:t>
            </a:r>
            <a:r>
              <a:rPr lang="zh-CN" altLang="en-US" b="1"/>
              <a:t>：</a:t>
            </a:r>
            <a:r>
              <a:rPr lang="en-US" altLang="zh-CN" b="1"/>
              <a:t>Interleaving vs Pre-distrubuted</a:t>
            </a:r>
            <a:endParaRPr lang="en-US" altLang="zh-CN" b="1"/>
          </a:p>
        </p:txBody>
      </p:sp>
      <p:sp>
        <p:nvSpPr>
          <p:cNvPr id="5" name="文本框 4"/>
          <p:cNvSpPr txBox="1"/>
          <p:nvPr/>
        </p:nvSpPr>
        <p:spPr>
          <a:xfrm>
            <a:off x="780415" y="1868170"/>
            <a:ext cx="4057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Synthesis results: ulti, power...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Nonlinear layer - RMSNorm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67690" y="1184275"/>
            <a:ext cx="4057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RMSNorm: y_i = x_i /  </a:t>
            </a:r>
            <a:r>
              <a:rPr lang="en-US" altLang="zh-CN" b="1">
                <a:solidFill>
                  <a:srgbClr val="C00000"/>
                </a:solidFill>
              </a:rPr>
              <a:t>RMS(x)</a:t>
            </a:r>
            <a:r>
              <a:rPr lang="en-US" altLang="zh-CN"/>
              <a:t> * gamma_i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759200" y="1926590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weight</a:t>
            </a:r>
            <a:endParaRPr lang="en-US" altLang="zh-CN" b="1"/>
          </a:p>
        </p:txBody>
      </p:sp>
      <p:sp>
        <p:nvSpPr>
          <p:cNvPr id="7" name="上箭头 6"/>
          <p:cNvSpPr/>
          <p:nvPr/>
        </p:nvSpPr>
        <p:spPr>
          <a:xfrm>
            <a:off x="3028950" y="161353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497455" y="1184275"/>
            <a:ext cx="170180" cy="368300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上箭头 8"/>
          <p:cNvSpPr/>
          <p:nvPr/>
        </p:nvSpPr>
        <p:spPr>
          <a:xfrm>
            <a:off x="3991610" y="161099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769235" y="1931670"/>
            <a:ext cx="9899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Iterative</a:t>
            </a:r>
            <a:endParaRPr lang="en-US" altLang="zh-CN"/>
          </a:p>
          <a:p>
            <a:r>
              <a:rPr lang="en-US" altLang="zh-CN" b="1"/>
              <a:t>method</a:t>
            </a:r>
            <a:endParaRPr lang="en-US" altLang="zh-CN" b="1"/>
          </a:p>
        </p:txBody>
      </p:sp>
      <p:sp>
        <p:nvSpPr>
          <p:cNvPr id="4" name="上箭头 3"/>
          <p:cNvSpPr/>
          <p:nvPr/>
        </p:nvSpPr>
        <p:spPr>
          <a:xfrm>
            <a:off x="2497455" y="161353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57935" y="1931670"/>
            <a:ext cx="1511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Trial-quotient</a:t>
            </a:r>
            <a:endParaRPr lang="en-US" altLang="zh-CN" b="1"/>
          </a:p>
          <a:p>
            <a:r>
              <a:rPr lang="en-US" altLang="zh-CN" b="1"/>
              <a:t>method</a:t>
            </a:r>
            <a:endParaRPr lang="en-US" altLang="zh-CN" b="1"/>
          </a:p>
        </p:txBody>
      </p:sp>
      <p:sp>
        <p:nvSpPr>
          <p:cNvPr id="12" name="文本框 11"/>
          <p:cNvSpPr txBox="1"/>
          <p:nvPr/>
        </p:nvSpPr>
        <p:spPr>
          <a:xfrm>
            <a:off x="510540" y="2872105"/>
            <a:ext cx="557593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Division</a:t>
            </a:r>
            <a:r>
              <a:rPr lang="zh-CN" altLang="en-US"/>
              <a:t>：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Goal: replace division with one </a:t>
            </a:r>
            <a:r>
              <a:rPr lang="en-US" altLang="zh-CN" b="1">
                <a:solidFill>
                  <a:srgbClr val="C00000"/>
                </a:solidFill>
              </a:rPr>
              <a:t>reciprocal value</a:t>
            </a:r>
            <a:r>
              <a:rPr lang="en-US" altLang="zh-CN"/>
              <a:t>,  recip_q30 = round(</a:t>
            </a:r>
            <a:r>
              <a:rPr lang="en-US" altLang="zh-CN" b="1">
                <a:solidFill>
                  <a:srgbClr val="C00000"/>
                </a:solidFill>
              </a:rPr>
              <a:t>2^30</a:t>
            </a:r>
            <a:r>
              <a:rPr lang="en-US" altLang="zh-CN"/>
              <a:t> / rms_q88)</a:t>
            </a:r>
            <a:endParaRPr lang="en-US" altLang="zh-CN"/>
          </a:p>
          <a:p>
            <a:pPr lvl="1" indent="0">
              <a:buFont typeface="Arial" panose="020B0604020202020204" pitchFamily="34" charset="0"/>
              <a:buNone/>
            </a:pP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2^30 is the scaling factor for the fixed-point reciprocal. recip_q30 stores 1 / rms_q88 with </a:t>
            </a:r>
            <a:r>
              <a:rPr lang="en-US" altLang="zh-CN" b="1">
                <a:solidFill>
                  <a:srgbClr val="C00000"/>
                </a:solidFill>
              </a:rPr>
              <a:t>30 fractional bits.</a:t>
            </a:r>
            <a:endParaRPr lang="en-US" altLang="zh-CN" b="1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More fractional bits give </a:t>
            </a:r>
            <a:r>
              <a:rPr lang="en-US" altLang="zh-CN" b="1">
                <a:solidFill>
                  <a:srgbClr val="C00000"/>
                </a:solidFill>
              </a:rPr>
              <a:t>higher reciprocal precision</a:t>
            </a:r>
            <a:r>
              <a:rPr lang="en-US" altLang="zh-CN"/>
              <a:t>, reducing RMSNorm output error.</a:t>
            </a:r>
            <a:endParaRPr lang="en-US" altLang="zh-CN"/>
          </a:p>
        </p:txBody>
      </p:sp>
      <p:pic>
        <p:nvPicPr>
          <p:cNvPr id="14" name="图片 13" descr="trial_quotient_flow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93230" y="1024255"/>
            <a:ext cx="4306570" cy="56819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Nonlinear layer - RMSNorm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67690" y="1184275"/>
            <a:ext cx="4057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RMSNorm: y_i = x_i /  </a:t>
            </a:r>
            <a:r>
              <a:rPr lang="en-US" altLang="zh-CN" b="1">
                <a:solidFill>
                  <a:srgbClr val="C00000"/>
                </a:solidFill>
              </a:rPr>
              <a:t>RMS(x)</a:t>
            </a:r>
            <a:r>
              <a:rPr lang="en-US" altLang="zh-CN"/>
              <a:t> * gamma_i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759200" y="1926590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weight</a:t>
            </a:r>
            <a:endParaRPr lang="en-US" altLang="zh-CN" b="1"/>
          </a:p>
        </p:txBody>
      </p:sp>
      <p:sp>
        <p:nvSpPr>
          <p:cNvPr id="7" name="上箭头 6"/>
          <p:cNvSpPr/>
          <p:nvPr/>
        </p:nvSpPr>
        <p:spPr>
          <a:xfrm>
            <a:off x="3028950" y="161353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2497455" y="1184275"/>
            <a:ext cx="170180" cy="368300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9" name="上箭头 8"/>
          <p:cNvSpPr/>
          <p:nvPr/>
        </p:nvSpPr>
        <p:spPr>
          <a:xfrm>
            <a:off x="3991610" y="161099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769235" y="1931670"/>
            <a:ext cx="9899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Iterative</a:t>
            </a:r>
            <a:endParaRPr lang="en-US" altLang="zh-CN"/>
          </a:p>
          <a:p>
            <a:r>
              <a:rPr lang="en-US" altLang="zh-CN" b="1"/>
              <a:t>method</a:t>
            </a:r>
            <a:endParaRPr lang="en-US" altLang="zh-CN" b="1"/>
          </a:p>
        </p:txBody>
      </p:sp>
      <p:sp>
        <p:nvSpPr>
          <p:cNvPr id="4" name="上箭头 3"/>
          <p:cNvSpPr/>
          <p:nvPr/>
        </p:nvSpPr>
        <p:spPr>
          <a:xfrm>
            <a:off x="2497455" y="1613535"/>
            <a:ext cx="76200" cy="2571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257935" y="1931670"/>
            <a:ext cx="15113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Trial-quotient</a:t>
            </a:r>
            <a:endParaRPr lang="en-US" altLang="zh-CN" b="1"/>
          </a:p>
          <a:p>
            <a:r>
              <a:rPr lang="en-US" altLang="zh-CN" b="1"/>
              <a:t>method</a:t>
            </a:r>
            <a:endParaRPr lang="en-US" altLang="zh-CN" b="1"/>
          </a:p>
        </p:txBody>
      </p:sp>
      <p:sp>
        <p:nvSpPr>
          <p:cNvPr id="12" name="文本框 11"/>
          <p:cNvSpPr txBox="1"/>
          <p:nvPr/>
        </p:nvSpPr>
        <p:spPr>
          <a:xfrm>
            <a:off x="510540" y="2668905"/>
            <a:ext cx="5575935" cy="3907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RMS Approximation</a:t>
            </a:r>
            <a:r>
              <a:rPr lang="zh-CN" altLang="en-US"/>
              <a:t>：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 Goal: compute RMS without floating-point sqrt: </a:t>
            </a:r>
            <a:r>
              <a:rPr lang="en-US" altLang="zh-CN" b="1">
                <a:solidFill>
                  <a:srgbClr val="C00000"/>
                </a:solidFill>
              </a:rPr>
              <a:t>rms_q88 = isqrt(mean_sq_q16 + eps)</a:t>
            </a:r>
            <a:endParaRPr lang="en-US" altLang="zh-CN" b="1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b="1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root: current </a:t>
            </a:r>
            <a:r>
              <a:rPr lang="en-US" altLang="zh-CN" b="1">
                <a:solidFill>
                  <a:srgbClr val="C00000"/>
                </a:solidFill>
              </a:rPr>
              <a:t>partial square-root result</a:t>
            </a:r>
            <a:r>
              <a:rPr lang="en-US" altLang="zh-CN"/>
              <a:t>; one new bit is decided each cycle.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remainder: the </a:t>
            </a:r>
            <a:r>
              <a:rPr lang="en-US" altLang="zh-CN" b="1">
                <a:solidFill>
                  <a:srgbClr val="C00000"/>
                </a:solidFill>
              </a:rPr>
              <a:t>remaining part of the input</a:t>
            </a:r>
            <a:r>
              <a:rPr lang="en-US" altLang="zh-CN"/>
              <a:t> that has not been explained by the current root.</a:t>
            </a: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/>
              <a:t>trial value:  a test value used to check </a:t>
            </a:r>
            <a:r>
              <a:rPr lang="en-US" altLang="zh-CN" b="1">
                <a:solidFill>
                  <a:srgbClr val="C00000"/>
                </a:solidFill>
              </a:rPr>
              <a:t>whether the next root bit can be set to 1.</a:t>
            </a:r>
            <a:endParaRPr lang="en-US" altLang="zh-CN" b="1">
              <a:solidFill>
                <a:srgbClr val="C00000"/>
              </a:solidFill>
            </a:endParaRPr>
          </a:p>
          <a:p>
            <a:pPr lvl="2" indent="0">
              <a:buFont typeface="Arial" panose="020B0604020202020204" pitchFamily="34" charset="0"/>
              <a:buNone/>
            </a:pPr>
            <a:r>
              <a:rPr lang="en-US" altLang="zh-CN" sz="1600" b="1" i="1">
                <a:solidFill>
                  <a:schemeClr val="tx2"/>
                </a:solidFill>
              </a:rPr>
              <a:t>root_shift = {isqrt_root, 1'b0};</a:t>
            </a:r>
            <a:endParaRPr lang="en-US" altLang="zh-CN" sz="1600" b="1" i="1">
              <a:solidFill>
                <a:schemeClr val="tx2"/>
              </a:solidFill>
            </a:endParaRPr>
          </a:p>
          <a:p>
            <a:pPr lvl="2" indent="0">
              <a:buFont typeface="Arial" panose="020B0604020202020204" pitchFamily="34" charset="0"/>
              <a:buNone/>
            </a:pPr>
            <a:r>
              <a:rPr lang="en-US" altLang="zh-CN" sz="1600" b="1" i="1">
                <a:solidFill>
                  <a:schemeClr val="tx2"/>
                </a:solidFill>
              </a:rPr>
              <a:t>trial      = {32'd0, root_shift, 1'b1};</a:t>
            </a:r>
            <a:endParaRPr lang="en-US" altLang="zh-CN" sz="1600" b="1" i="1">
              <a:solidFill>
                <a:schemeClr val="tx2"/>
              </a:solidFill>
            </a:endParaRPr>
          </a:p>
        </p:txBody>
      </p:sp>
      <p:pic>
        <p:nvPicPr>
          <p:cNvPr id="10" name="图片 9" descr="rms_approximation_flow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74535" y="1071880"/>
            <a:ext cx="3488690" cy="56553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Nonlinear layer - RMSNorm</a:t>
            </a:r>
            <a:endParaRPr lang="zh-CN" altLang="en-US"/>
          </a:p>
        </p:txBody>
      </p:sp>
      <p:pic>
        <p:nvPicPr>
          <p:cNvPr id="13" name="图片 12" descr="rmsnorm_float_vs_hw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540" y="1337310"/>
            <a:ext cx="7978140" cy="449643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8430260" y="2774315"/>
            <a:ext cx="34220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max_abs_error_real = 0.015625</a:t>
            </a:r>
            <a:endParaRPr lang="en-US" altLang="zh-CN" b="1"/>
          </a:p>
          <a:p>
            <a:r>
              <a:rPr lang="en-US" altLang="zh-CN" b="1"/>
              <a:t>mean_abs_error_real = 0.004211</a:t>
            </a:r>
            <a:endParaRPr lang="en-US" altLang="zh-CN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Nonlinear layer - Sigmoid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65" y="4919345"/>
            <a:ext cx="1676400" cy="657225"/>
          </a:xfrm>
          <a:prstGeom prst="rect">
            <a:avLst/>
          </a:prstGeom>
        </p:spPr>
      </p:pic>
      <p:sp>
        <p:nvSpPr>
          <p:cNvPr id="16" name="右箭头 15"/>
          <p:cNvSpPr/>
          <p:nvPr/>
        </p:nvSpPr>
        <p:spPr>
          <a:xfrm>
            <a:off x="2258060" y="5123815"/>
            <a:ext cx="314960" cy="20955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711450" y="5044440"/>
            <a:ext cx="1913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clamp x to [-4, +4)</a:t>
            </a:r>
            <a:endParaRPr lang="en-US" altLang="zh-CN"/>
          </a:p>
        </p:txBody>
      </p:sp>
      <p:sp>
        <p:nvSpPr>
          <p:cNvPr id="18" name="右箭头 17"/>
          <p:cNvSpPr/>
          <p:nvPr/>
        </p:nvSpPr>
        <p:spPr>
          <a:xfrm>
            <a:off x="543560" y="5655945"/>
            <a:ext cx="314960" cy="20955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80" y="5576570"/>
            <a:ext cx="2495550" cy="361950"/>
          </a:xfrm>
          <a:prstGeom prst="rect">
            <a:avLst/>
          </a:prstGeom>
        </p:spPr>
      </p:pic>
      <p:sp>
        <p:nvSpPr>
          <p:cNvPr id="20" name="右箭头 19"/>
          <p:cNvSpPr/>
          <p:nvPr/>
        </p:nvSpPr>
        <p:spPr>
          <a:xfrm>
            <a:off x="3679190" y="5655945"/>
            <a:ext cx="314960" cy="209550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4154805" y="5576570"/>
            <a:ext cx="3253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LUT: 2048 sigmoid outputs</a:t>
            </a:r>
            <a:endParaRPr lang="en-US" altLang="zh-CN" b="1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" y="1200150"/>
            <a:ext cx="6667500" cy="320040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rcRect r="41234"/>
          <a:stretch>
            <a:fillRect/>
          </a:stretch>
        </p:blipFill>
        <p:spPr>
          <a:xfrm>
            <a:off x="7485380" y="1085850"/>
            <a:ext cx="3961130" cy="500634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4472305" y="3284855"/>
            <a:ext cx="795020" cy="238760"/>
          </a:xfrm>
          <a:prstGeom prst="round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Nonlinear layer - Sigmoid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90" y="1318895"/>
            <a:ext cx="6732905" cy="38481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295" y="1376045"/>
            <a:ext cx="4572000" cy="44577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64590" y="5367020"/>
            <a:ext cx="4057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</a:rPr>
              <a:t>error &lt; 0.02%</a:t>
            </a:r>
            <a:endParaRPr lang="en-US" altLang="zh-CN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Quantisation: Workflow 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73050" y="5330190"/>
            <a:ext cx="458724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/>
              <a:t>Metrics - MAE (Mean Absolute Error)</a:t>
            </a:r>
            <a:r>
              <a:rPr lang="zh-CN" altLang="en-US" b="1"/>
              <a:t>：</a:t>
            </a:r>
            <a:endParaRPr lang="en-US" altLang="zh-CN" b="1"/>
          </a:p>
          <a:p>
            <a:pPr lvl="1"/>
            <a:r>
              <a:rPr lang="en-US" altLang="zh-CN"/>
              <a:t>cpp vs float         </a:t>
            </a:r>
            <a:r>
              <a:rPr lang="en-US" altLang="zh-CN" b="1">
                <a:solidFill>
                  <a:srgbClr val="C00000"/>
                </a:solidFill>
              </a:rPr>
              <a:t>quantisation loss </a:t>
            </a:r>
            <a:r>
              <a:rPr lang="en-US" altLang="zh-CN"/>
              <a:t>            </a:t>
            </a:r>
            <a:endParaRPr lang="en-US" altLang="zh-CN"/>
          </a:p>
          <a:p>
            <a:pPr lvl="1"/>
            <a:r>
              <a:rPr lang="en-US" altLang="zh-CN"/>
              <a:t>hw_like vs cpp    </a:t>
            </a:r>
            <a:r>
              <a:rPr lang="en-US" altLang="zh-CN" b="1">
                <a:solidFill>
                  <a:srgbClr val="C00000"/>
                </a:solidFill>
              </a:rPr>
              <a:t>hardware mapping error</a:t>
            </a:r>
            <a:endParaRPr lang="en-US" altLang="zh-CN" b="1">
              <a:solidFill>
                <a:srgbClr val="C00000"/>
              </a:solidFill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5106035" y="1847215"/>
          <a:ext cx="6903720" cy="2188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905"/>
                <a:gridCol w="655320"/>
                <a:gridCol w="3219450"/>
                <a:gridCol w="1376045"/>
              </a:tblGrid>
              <a:tr h="363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rgbClr val="FFFFFF"/>
                          </a:solidFill>
                        </a:rPr>
                        <a:t>label</a:t>
                      </a:r>
                      <a:endParaRPr lang="en-US" altLang="zh-CN" sz="1800" b="1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altLang="zh-CN" sz="1800" b="1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rgbClr val="FFFFFF"/>
                          </a:solidFill>
                        </a:rPr>
                        <a:t>overrides</a:t>
                      </a:r>
                      <a:endParaRPr lang="en-US" altLang="zh-CN" sz="1800" b="1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1">
                          <a:solidFill>
                            <a:srgbClr val="FFFFFF"/>
                          </a:solidFill>
                        </a:rPr>
                        <a:t>mean_err (m)</a:t>
                      </a:r>
                      <a:endParaRPr lang="zh-CN" altLang="en-US" sz="1800" b="1">
                        <a:solidFill>
                          <a:srgbClr val="FFFFFF"/>
                        </a:solidFill>
                      </a:endParaRPr>
                    </a:p>
                  </a:txBody>
                  <a:tcPr marL="45720" marR="45720" marT="22860" marB="22860"/>
                </a:tc>
              </a:tr>
              <a:tr h="3219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fake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fake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rgbClr val="C00000"/>
                          </a:solidFill>
                        </a:rPr>
                        <a:t>0.13695</a:t>
                      </a:r>
                      <a:endParaRPr lang="en-US" altLang="zh-CN" sz="1600" b="1">
                        <a:solidFill>
                          <a:srgbClr val="C00000"/>
                        </a:solidFill>
                      </a:endParaRPr>
                    </a:p>
                  </a:txBody>
                  <a:tcPr marL="45720" marR="45720" marT="22860" marB="22860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257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all_int16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int16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</a:rPr>
                        <a:t>ssm_state=int16, gate=int16</a:t>
                      </a:r>
                      <a:endParaRPr lang="en-US" altLang="zh-CN" sz="14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rgbClr val="C00000"/>
                          </a:solidFill>
                        </a:rPr>
                        <a:t>0.13520</a:t>
                      </a:r>
                      <a:endParaRPr lang="en-US" altLang="zh-CN" sz="1600" b="1">
                        <a:solidFill>
                          <a:srgbClr val="C00000"/>
                        </a:solidFill>
                      </a:endParaRPr>
                    </a:p>
                  </a:txBody>
                  <a:tcPr marL="45720" marR="45720" marT="22860" marB="22860"/>
                </a:tc>
              </a:tr>
              <a:tr h="3416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mixed_candidate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int16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</a:rPr>
                        <a:t>dt_proj=int8, ssm_state=int8, gate=int8</a:t>
                      </a:r>
                      <a:endParaRPr lang="en-US" altLang="zh-CN" sz="14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rgbClr val="C00000"/>
                          </a:solidFill>
                        </a:rPr>
                        <a:t>0.13519</a:t>
                      </a:r>
                      <a:endParaRPr lang="en-US" altLang="zh-CN" sz="1600" b="1">
                        <a:solidFill>
                          <a:srgbClr val="C00000"/>
                        </a:solidFill>
                      </a:endParaRPr>
                    </a:p>
                  </a:txBody>
                  <a:tcPr marL="45720" marR="45720" marT="22860" marB="22860"/>
                </a:tc>
              </a:tr>
              <a:tr h="3625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inproj_i8_on_i16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int16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</a:rPr>
                        <a:t>in_proj=int8, ssm_state=int16, gate=int16</a:t>
                      </a:r>
                      <a:endParaRPr lang="en-US" altLang="zh-CN" sz="14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0.76520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</a:tr>
              <a:tr h="34099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outproj_i8_on_i16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int16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solidFill>
                            <a:srgbClr val="000000"/>
                          </a:solidFill>
                        </a:rPr>
                        <a:t>out_proj=int8, ssm_state=int16, gate=int16</a:t>
                      </a:r>
                      <a:endParaRPr lang="en-US" altLang="zh-CN" sz="14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</a:rPr>
                        <a:t>0.24352</a:t>
                      </a:r>
                      <a:endParaRPr lang="en-US" altLang="zh-CN" sz="1600">
                        <a:solidFill>
                          <a:srgbClr val="000000"/>
                        </a:solidFill>
                      </a:endParaRPr>
                    </a:p>
                  </a:txBody>
                  <a:tcPr marL="45720" marR="45720" marT="22860" marB="22860"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016500" y="1189990"/>
            <a:ext cx="40570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/>
              <a:t>Layer-wise Precision Sweep</a:t>
            </a:r>
            <a:endParaRPr lang="en-US" altLang="zh-CN" sz="2000" b="1"/>
          </a:p>
        </p:txBody>
      </p:sp>
      <p:sp>
        <p:nvSpPr>
          <p:cNvPr id="9" name="文本框 8"/>
          <p:cNvSpPr txBox="1"/>
          <p:nvPr/>
        </p:nvSpPr>
        <p:spPr>
          <a:xfrm>
            <a:off x="5106035" y="4229100"/>
            <a:ext cx="67818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int16 quantisation is safe.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C00000"/>
                </a:solidFill>
              </a:rPr>
              <a:t>dt_proj, ssm_state, and gate</a:t>
            </a:r>
            <a:r>
              <a:rPr lang="en-US" altLang="zh-CN"/>
              <a:t> can be reduced to </a:t>
            </a:r>
            <a:r>
              <a:rPr lang="en-US" altLang="zh-CN" b="1">
                <a:solidFill>
                  <a:srgbClr val="C00000"/>
                </a:solidFill>
              </a:rPr>
              <a:t>int8</a:t>
            </a:r>
            <a:r>
              <a:rPr lang="en-US" altLang="zh-CN"/>
              <a:t> with negligible accuracy loss.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C00000"/>
                </a:solidFill>
              </a:rPr>
              <a:t>in_proj and out_proj are precision-sensitive </a:t>
            </a:r>
            <a:r>
              <a:rPr lang="en-US" altLang="zh-CN"/>
              <a:t>and should remain at higher precision.</a:t>
            </a:r>
            <a:endParaRPr lang="en-US" altLang="zh-CN"/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4972685" y="1083945"/>
            <a:ext cx="20955" cy="542163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7" name="图片 16" descr="float_cpp_rtl_flow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72740" y="1588770"/>
            <a:ext cx="2000885" cy="3341370"/>
          </a:xfrm>
          <a:prstGeom prst="rect">
            <a:avLst/>
          </a:prstGeom>
        </p:spPr>
      </p:pic>
      <p:pic>
        <p:nvPicPr>
          <p:cNvPr id="19" name="图片 18" descr="quantization_flow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895" y="1337310"/>
            <a:ext cx="2299970" cy="3723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Quantisation: Workflow 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510540" y="1064260"/>
            <a:ext cx="48456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/>
              <a:t>Analyse per-layer quantisation error</a:t>
            </a:r>
            <a:endParaRPr lang="en-US" altLang="zh-CN" sz="2000" b="1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013450" y="1169670"/>
          <a:ext cx="4970145" cy="4346448"/>
        </p:xfrm>
        <a:graphic>
          <a:graphicData uri="http://schemas.openxmlformats.org/drawingml/2006/table">
            <a:tbl>
              <a:tblPr/>
              <a:tblGrid>
                <a:gridCol w="1329690"/>
                <a:gridCol w="1614170"/>
                <a:gridCol w="2026285"/>
              </a:tblGrid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Stage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0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Fixed scale MAE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0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Dynamic Scale MAE</a:t>
                      </a:r>
                      <a:endParaRPr lang="en-US" sz="1600" b="1" dirty="0">
                        <a:solidFill>
                          <a:srgbClr val="FFFFFF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0BD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norm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0.004498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0.004498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inproj_u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0.010917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0.010917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inproj_z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0.011069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0.011069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silu_u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0.006183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0.006183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silu_gate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0.005931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0.005931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dtproj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0.010139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0.010139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dt_sigmoid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0.002118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0.002118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selective_scan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0.127090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0.085484</a:t>
                      </a:r>
                      <a:endParaRPr lang="en-US" sz="1400" b="1" dirty="0">
                        <a:solidFill>
                          <a:srgbClr val="C00000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ewm_gating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0.033001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0.029827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outproj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0.032225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0.031243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</a:tr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block_output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0.032426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anose="020F0502020204030204" charset="0"/>
                          <a:ea typeface="Times New Roman" panose="02020603050405020304" pitchFamily="34" charset="-122"/>
                          <a:cs typeface="Calibri" panose="020F0502020204030204" charset="0"/>
                        </a:rPr>
                        <a:t>0.031332</a:t>
                      </a:r>
                      <a:endParaRPr lang="en-US" sz="1400" dirty="0">
                        <a:solidFill>
                          <a:srgbClr val="1F2933"/>
                        </a:solidFill>
                        <a:latin typeface="Calibri" panose="020F0502020204030204" charset="0"/>
                        <a:ea typeface="Times New Roman" panose="02020603050405020304" pitchFamily="34" charset="-122"/>
                        <a:cs typeface="Calibri" panose="020F0502020204030204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7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35" y="1596390"/>
            <a:ext cx="4210685" cy="47510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899785" y="5553710"/>
            <a:ext cx="54813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/>
              <a:t>Fixed scale:</a:t>
            </a:r>
            <a:r>
              <a:rPr lang="en-US" altLang="zh-CN"/>
              <a:t> for Q8.8, every value uses the </a:t>
            </a:r>
            <a:r>
              <a:rPr lang="en-US" altLang="zh-CN" b="1">
                <a:solidFill>
                  <a:srgbClr val="C00000"/>
                </a:solidFill>
              </a:rPr>
              <a:t>same scale</a:t>
            </a:r>
            <a:r>
              <a:rPr lang="en-US" altLang="zh-CN"/>
              <a:t> 1/256, so real value = int16 / 256.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/>
              <a:t>Dynamic scale:</a:t>
            </a:r>
            <a:r>
              <a:rPr lang="en-US" altLang="zh-CN"/>
              <a:t> scale is computed from the </a:t>
            </a:r>
            <a:r>
              <a:rPr lang="en-US" altLang="zh-CN" b="1">
                <a:solidFill>
                  <a:srgbClr val="C00000"/>
                </a:solidFill>
              </a:rPr>
              <a:t>channel range</a:t>
            </a:r>
            <a:r>
              <a:rPr lang="en-US" altLang="zh-CN"/>
              <a:t>, so real value = int16 × scale.</a:t>
            </a:r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/>
              <a:t>Quantisation: Workflow</a:t>
            </a:r>
            <a:endParaRPr lang="en-US" altLang="en-US"/>
          </a:p>
        </p:txBody>
      </p:sp>
      <p:sp>
        <p:nvSpPr>
          <p:cNvPr id="39" name="文本框 38"/>
          <p:cNvSpPr txBox="1"/>
          <p:nvPr>
            <p:custDataLst>
              <p:tags r:id="rId2"/>
            </p:custDataLst>
          </p:nvPr>
        </p:nvSpPr>
        <p:spPr>
          <a:xfrm>
            <a:off x="613410" y="1138555"/>
            <a:ext cx="5168900" cy="47625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000" b="1">
                <a:sym typeface="+mn-ea"/>
              </a:rPr>
              <a:t>Per-layer quantisation strategy</a:t>
            </a:r>
            <a:endParaRPr lang="en-US" altLang="zh-CN" sz="2000" b="1">
              <a:sym typeface="+mn-ea"/>
            </a:endParaRPr>
          </a:p>
        </p:txBody>
      </p:sp>
      <p:graphicFrame>
        <p:nvGraphicFramePr>
          <p:cNvPr id="6" name="表格 3"/>
          <p:cNvGraphicFramePr/>
          <p:nvPr>
            <p:custDataLst>
              <p:tags r:id="rId3"/>
            </p:custDataLst>
          </p:nvPr>
        </p:nvGraphicFramePr>
        <p:xfrm>
          <a:off x="510256" y="1921082"/>
          <a:ext cx="6223635" cy="3342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8770"/>
                <a:gridCol w="1942465"/>
                <a:gridCol w="2692400"/>
              </a:tblGrid>
              <a:tr h="49847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1" spc="120"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Scale</a:t>
                      </a:r>
                      <a:endParaRPr lang="en-US" altLang="zh-CN" sz="1800" b="1" spc="120"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1" spc="120"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Q Format</a:t>
                      </a:r>
                      <a:endParaRPr lang="en-US" altLang="zh-CN" sz="1800" b="1" spc="120"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800" b="1" spc="120"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Layer</a:t>
                      </a:r>
                      <a:endParaRPr lang="en-US" altLang="zh-CN" sz="1800" b="1" spc="120"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/>
                </a:tc>
              </a:tr>
              <a:tr h="710565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1/256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signed int16 Q8.8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RMSNorm output, in_proj, dt_proj, out_proj, gate_y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/>
                </a:tc>
              </a:tr>
              <a:tr h="539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1/65536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unsigned Q0.16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sigmoid LUT output, SiLU sigmoid path, dt lambda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/>
                </a:tc>
              </a:tr>
              <a:tr h="7785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1/32768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signed Q1.15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selective scan lambda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/>
                </a:tc>
              </a:tr>
              <a:tr h="53975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Dynamic scale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scaled signed int16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/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1600" b="0" spc="60">
                          <a:solidFill>
                            <a:schemeClr val="tx2"/>
                          </a:solidFill>
                          <a:latin typeface="Calibri" panose="020F0502020204030204" charset="0"/>
                          <a:ea typeface="微软雅黑" panose="020B0503020204020204" charset="-122"/>
                          <a:cs typeface="Calibri" panose="020F0502020204030204" charset="0"/>
                        </a:rPr>
                        <a:t>selective scan state SRAM</a:t>
                      </a:r>
                      <a:endParaRPr lang="en-US" altLang="zh-CN" sz="1600" b="0" spc="60">
                        <a:solidFill>
                          <a:schemeClr val="tx2"/>
                        </a:solidFill>
                        <a:latin typeface="Calibri" panose="020F0502020204030204" charset="0"/>
                        <a:ea typeface="微软雅黑" panose="020B0503020204020204" charset="-122"/>
                        <a:cs typeface="Calibri" panose="020F0502020204030204" charset="0"/>
                      </a:endParaRPr>
                    </a:p>
                  </a:txBody>
                  <a:tcPr marL="25400" marR="25400" marT="25400" marB="25400" anchor="ctr"/>
                </a:tc>
              </a:tr>
            </a:tbl>
          </a:graphicData>
        </a:graphic>
      </p:graphicFrame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062470" y="1614805"/>
            <a:ext cx="488251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tx1"/>
                </a:solidFill>
              </a:rPr>
              <a:t>Rounding</a:t>
            </a:r>
            <a:endParaRPr lang="en-US" altLang="zh-CN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i="1">
                <a:solidFill>
                  <a:srgbClr val="C00000"/>
                </a:solidFill>
              </a:rPr>
              <a:t>Main rule: round-to-nearest-even.</a:t>
            </a:r>
            <a:endParaRPr lang="en-US" altLang="zh-CN" b="1" i="1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Used after MAC, Q-format conversion, state update, and scale multiplication.</a:t>
            </a:r>
            <a:endParaRPr lang="en-US" altLang="zh-CN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C00000"/>
                </a:solidFill>
              </a:rPr>
              <a:t>Reduces long-term bias</a:t>
            </a:r>
            <a:r>
              <a:rPr lang="en-US" altLang="zh-CN">
                <a:solidFill>
                  <a:schemeClr val="tx1"/>
                </a:solidFill>
              </a:rPr>
              <a:t> compared with truncation.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 b="1">
                <a:solidFill>
                  <a:schemeClr val="tx1"/>
                </a:solidFill>
              </a:rPr>
              <a:t>Saturation / Clamp</a:t>
            </a:r>
            <a:endParaRPr lang="en-US" altLang="zh-CN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Final Q8.8 values are </a:t>
            </a:r>
            <a:r>
              <a:rPr lang="en-US" altLang="zh-CN" b="1">
                <a:solidFill>
                  <a:srgbClr val="C00000"/>
                </a:solidFill>
              </a:rPr>
              <a:t>clamped to signed int16:</a:t>
            </a:r>
            <a:endParaRPr lang="en-US" altLang="zh-CN" b="1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[-32768, 32767]  -&gt;  about [-128, 127.996]</a:t>
            </a:r>
            <a:endParaRPr lang="en-US" altLang="zh-CN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C00000"/>
                </a:solidFill>
              </a:rPr>
              <a:t>Prevents overflow and wrong sign</a:t>
            </a:r>
            <a:r>
              <a:rPr lang="en-US" altLang="zh-CN">
                <a:solidFill>
                  <a:schemeClr val="tx1"/>
                </a:solidFill>
              </a:rPr>
              <a:t> after multiplication, accumulation, or residual add.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0540" y="1583690"/>
            <a:ext cx="4057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zh-CN" b="1">
                <a:solidFill>
                  <a:schemeClr val="tx1"/>
                </a:solidFill>
              </a:rPr>
              <a:t>Scale and Q-Format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3355" y="5504815"/>
            <a:ext cx="751713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tx2"/>
                </a:solidFill>
              </a:rPr>
              <a:t>in selective scan we need to calculate 1-lamda</a:t>
            </a:r>
            <a:endParaRPr lang="en-US" altLang="zh-CN">
              <a:solidFill>
                <a:schemeClr val="tx2"/>
              </a:solidFill>
            </a:endParaRPr>
          </a:p>
          <a:p>
            <a:r>
              <a:rPr lang="en-US" altLang="zh-CN">
                <a:solidFill>
                  <a:schemeClr val="tx2"/>
                </a:solidFill>
              </a:rPr>
              <a:t>s_new = lambda * s_prev +</a:t>
            </a:r>
            <a:r>
              <a:rPr lang="en-US" altLang="zh-CN">
                <a:solidFill>
                  <a:srgbClr val="C00000"/>
                </a:solidFill>
              </a:rPr>
              <a:t> </a:t>
            </a:r>
            <a:r>
              <a:rPr lang="en-US" altLang="zh-CN" b="1">
                <a:solidFill>
                  <a:srgbClr val="C00000"/>
                </a:solidFill>
              </a:rPr>
              <a:t>(1 - lambda)</a:t>
            </a:r>
            <a:r>
              <a:rPr lang="en-US" altLang="zh-CN">
                <a:solidFill>
                  <a:schemeClr val="tx2"/>
                </a:solidFill>
              </a:rPr>
              <a:t> * u</a:t>
            </a:r>
            <a:endParaRPr lang="en-US" altLang="zh-CN">
              <a:solidFill>
                <a:schemeClr val="tx2"/>
              </a:solidFill>
            </a:endParaRPr>
          </a:p>
          <a:p>
            <a:r>
              <a:rPr lang="en-US" altLang="zh-CN">
                <a:solidFill>
                  <a:schemeClr val="tx2"/>
                </a:solidFill>
              </a:rPr>
              <a:t>Q1.15:   s_new = ((lam_q15 * s_prev) + ((32768 - lam_q15) * u_scaled)) &gt;&gt; 15</a:t>
            </a:r>
            <a:endParaRPr lang="en-US" altLang="zh-CN">
              <a:solidFill>
                <a:schemeClr val="tx2"/>
              </a:solidFill>
            </a:endParaRPr>
          </a:p>
          <a:p>
            <a:endParaRPr lang="en-US" altLang="zh-CN">
              <a:solidFill>
                <a:schemeClr val="tx2"/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6788150" y="4989830"/>
            <a:ext cx="5382895" cy="47625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000" b="1">
                <a:sym typeface="+mn-ea"/>
              </a:rPr>
              <a:t>Final quantisation evaluation (34,505 samples)</a:t>
            </a:r>
            <a:endParaRPr lang="en-US" altLang="zh-CN" sz="2000" b="1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89775" y="5455285"/>
            <a:ext cx="50660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C00000"/>
                </a:solidFill>
              </a:rPr>
              <a:t>hw vs float	mae = 0.02081</a:t>
            </a:r>
            <a:endParaRPr lang="en-US" altLang="zh-CN" b="1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rgbClr val="C00000"/>
                </a:solidFill>
              </a:rPr>
              <a:t>Mean error = 0.14103m  (float=0.13695m)</a:t>
            </a:r>
            <a:endParaRPr lang="en-US" altLang="zh-CN" b="1">
              <a:solidFill>
                <a:srgbClr val="C00000"/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en-US"/>
              <a:t>Quantisation: Hardware implemetation</a:t>
            </a:r>
            <a:endParaRPr lang="en-US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10540" y="1108710"/>
            <a:ext cx="79070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/>
              <a:t>A</a:t>
            </a:r>
            <a:r>
              <a:rPr lang="en-US" altLang="zh-CN" sz="2000" b="1">
                <a:solidFill>
                  <a:srgbClr val="C00000"/>
                </a:solidFill>
              </a:rPr>
              <a:t> Configurable</a:t>
            </a:r>
            <a:r>
              <a:rPr lang="en-US" altLang="zh-CN" sz="2000" b="1"/>
              <a:t> Quantisation Module - </a:t>
            </a:r>
            <a:r>
              <a:rPr lang="en-US" altLang="zh-CN" sz="2000" b="1" i="1">
                <a:solidFill>
                  <a:schemeClr val="tx2"/>
                </a:solidFill>
              </a:rPr>
              <a:t>requant_round_sat_engine</a:t>
            </a:r>
            <a:endParaRPr lang="en-US" altLang="zh-CN" sz="2000" b="1" i="1">
              <a:solidFill>
                <a:schemeClr val="tx2"/>
              </a:solidFill>
            </a:endParaRPr>
          </a:p>
        </p:txBody>
      </p:sp>
      <p:pic>
        <p:nvPicPr>
          <p:cNvPr id="12" name="图片 11" descr="fixed_point_vector_lan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364"/>
          <a:stretch>
            <a:fillRect/>
          </a:stretch>
        </p:blipFill>
        <p:spPr>
          <a:xfrm>
            <a:off x="586105" y="1507490"/>
            <a:ext cx="10686415" cy="347154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10540" y="5158105"/>
            <a:ext cx="87953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• USE_SCALE selects fixed identity scale or external per-lane scale.</a:t>
            </a:r>
            <a:endParaRPr lang="en-US" altLang="zh-CN"/>
          </a:p>
          <a:p>
            <a:r>
              <a:rPr lang="en-US" altLang="zh-CN"/>
              <a:t>• ROUND_MODE selects truncation or round-to-nearest-even.</a:t>
            </a:r>
            <a:endParaRPr lang="en-US" altLang="zh-CN"/>
          </a:p>
          <a:p>
            <a:r>
              <a:rPr lang="en-US" altLang="zh-CN"/>
              <a:t>• SAT_MODE selects wrap cast or clamp to the target output range.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ping_pong_scale_alignment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9482"/>
          <a:stretch>
            <a:fillRect/>
          </a:stretch>
        </p:blipFill>
        <p:spPr>
          <a:xfrm>
            <a:off x="1866900" y="1377950"/>
            <a:ext cx="7976235" cy="413131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US" altLang="en-US"/>
              <a:t>Quantisation: Hardware implemetation</a:t>
            </a:r>
            <a:endParaRPr lang="en-US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9426" y="6357296"/>
            <a:ext cx="2743200" cy="365125"/>
          </a:xfrm>
        </p:spPr>
        <p:txBody>
          <a:bodyPr/>
          <a:lstStyle/>
          <a:p>
            <a:fld id="{9D1B9D8C-A161-4084-924B-59152344AFCF}" type="slidenum">
              <a:rPr lang="ko-KR" altLang="en-US" smtClean="0"/>
            </a:fld>
            <a:endParaRPr lang="ko-KR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10540" y="1108710"/>
            <a:ext cx="4034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en-US" altLang="zh-CN" sz="2000" b="1"/>
              <a:t>Dynamic scale for selective scan</a:t>
            </a:r>
            <a:endParaRPr lang="en-US" altLang="zh-CN" sz="2000" b="1" i="1">
              <a:solidFill>
                <a:schemeClr val="tx2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08050" y="5640070"/>
            <a:ext cx="98939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While </a:t>
            </a:r>
            <a:r>
              <a:rPr lang="en-US" altLang="zh-CN" b="1">
                <a:solidFill>
                  <a:srgbClr val="C00000"/>
                </a:solidFill>
              </a:rPr>
              <a:t>one bank</a:t>
            </a:r>
            <a:r>
              <a:rPr lang="en-US" altLang="zh-CN"/>
              <a:t> feeds ew_update_vec4, </a:t>
            </a:r>
            <a:r>
              <a:rPr lang="en-US" altLang="zh-CN" b="1">
                <a:solidFill>
                  <a:srgbClr val="C00000"/>
                </a:solidFill>
              </a:rPr>
              <a:t>the other bank</a:t>
            </a:r>
            <a:r>
              <a:rPr lang="en-US" altLang="zh-CN"/>
              <a:t> can prepare the next toke, keeps </a:t>
            </a:r>
            <a:r>
              <a:rPr lang="en-US" altLang="zh-CN" b="1">
                <a:solidFill>
                  <a:srgbClr val="C00000"/>
                </a:solidFill>
              </a:rPr>
              <a:t>data and scale values aligned</a:t>
            </a:r>
            <a:r>
              <a:rPr lang="en-US" altLang="zh-CN"/>
              <a:t> before the state update.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/>
              <a:t>Scale generator</a:t>
            </a:r>
            <a:r>
              <a:rPr lang="en-US" altLang="zh-CN"/>
              <a:t> computes per-lane u_to_state and state_to_q88 scales from u_act.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</p:txBody>
      </p:sp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4"/>
          <p:cNvSpPr/>
          <p:nvPr/>
        </p:nvSpPr>
        <p:spPr>
          <a:xfrm>
            <a:off x="6571848" y="2684704"/>
            <a:ext cx="5045321" cy="323710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735983" y="3608288"/>
            <a:ext cx="4717052" cy="34911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Text 0"/>
          <p:cNvSpPr/>
          <p:nvPr/>
        </p:nvSpPr>
        <p:spPr>
          <a:xfrm>
            <a:off x="553572" y="227965"/>
            <a:ext cx="11124692" cy="63830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190" dirty="0">
                <a:solidFill>
                  <a:srgbClr val="8A5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Results</a:t>
            </a:r>
            <a:endParaRPr lang="en-US" sz="4190" dirty="0"/>
          </a:p>
        </p:txBody>
      </p:sp>
      <p:sp>
        <p:nvSpPr>
          <p:cNvPr id="4" name="Shape 2"/>
          <p:cNvSpPr/>
          <p:nvPr/>
        </p:nvSpPr>
        <p:spPr>
          <a:xfrm>
            <a:off x="553572" y="1139825"/>
            <a:ext cx="5699125" cy="141338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7707" y="1249248"/>
            <a:ext cx="5370855" cy="27355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95" b="1" dirty="0">
                <a:solidFill>
                  <a:srgbClr val="B35C1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1595" dirty="0"/>
          </a:p>
        </p:txBody>
      </p:sp>
      <p:sp>
        <p:nvSpPr>
          <p:cNvPr id="6" name="Shape 4"/>
          <p:cNvSpPr/>
          <p:nvPr/>
        </p:nvSpPr>
        <p:spPr>
          <a:xfrm>
            <a:off x="3833495" y="1759585"/>
            <a:ext cx="2254885" cy="300990"/>
          </a:xfrm>
          <a:prstGeom prst="rect">
            <a:avLst/>
          </a:prstGeom>
          <a:solidFill>
            <a:srgbClr val="FDECEA"/>
          </a:solidFill>
          <a:ln w="12700">
            <a:solidFill>
              <a:srgbClr val="F5C2C7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Text 5"/>
          <p:cNvSpPr/>
          <p:nvPr/>
        </p:nvSpPr>
        <p:spPr>
          <a:xfrm>
            <a:off x="3728720" y="1795145"/>
            <a:ext cx="2463800" cy="2279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95" b="1" dirty="0">
                <a:solidFill>
                  <a:srgbClr val="B0002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Freq. using 100 MHz on Board</a:t>
            </a:r>
            <a:endParaRPr lang="en-US" sz="1395" dirty="0"/>
          </a:p>
        </p:txBody>
      </p:sp>
      <p:sp>
        <p:nvSpPr>
          <p:cNvPr id="8" name="Text 6"/>
          <p:cNvSpPr/>
          <p:nvPr/>
        </p:nvSpPr>
        <p:spPr>
          <a:xfrm>
            <a:off x="717707" y="1622806"/>
            <a:ext cx="5370855" cy="79331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7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Timing closed @ 100 MHz</a:t>
            </a:r>
            <a:endParaRPr lang="en-US" sz="1795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7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Low utilization</a:t>
            </a:r>
            <a:endParaRPr lang="en-US" sz="1795" dirty="0"/>
          </a:p>
        </p:txBody>
      </p:sp>
      <p:sp>
        <p:nvSpPr>
          <p:cNvPr id="9" name="Shape 7"/>
          <p:cNvSpPr/>
          <p:nvPr/>
        </p:nvSpPr>
        <p:spPr>
          <a:xfrm>
            <a:off x="6571848" y="1139825"/>
            <a:ext cx="5045321" cy="141338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35983" y="1249248"/>
            <a:ext cx="4717052" cy="27355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95" b="1" dirty="0">
                <a:solidFill>
                  <a:srgbClr val="B35C1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Power (On-chip)</a:t>
            </a:r>
            <a:endParaRPr lang="en-US" sz="1595" dirty="0"/>
          </a:p>
        </p:txBody>
      </p:sp>
      <p:sp>
        <p:nvSpPr>
          <p:cNvPr id="11" name="Shape 9"/>
          <p:cNvSpPr/>
          <p:nvPr/>
        </p:nvSpPr>
        <p:spPr>
          <a:xfrm>
            <a:off x="6735983" y="1559281"/>
            <a:ext cx="1462927" cy="74772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45406" y="1623111"/>
            <a:ext cx="1244081" cy="1823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dirty="0">
                <a:solidFill>
                  <a:srgbClr val="6B6B6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 Power</a:t>
            </a:r>
            <a:endParaRPr lang="en-US" sz="1195" dirty="0"/>
          </a:p>
        </p:txBody>
      </p:sp>
      <p:sp>
        <p:nvSpPr>
          <p:cNvPr id="13" name="Text 11"/>
          <p:cNvSpPr/>
          <p:nvPr/>
        </p:nvSpPr>
        <p:spPr>
          <a:xfrm>
            <a:off x="6845406" y="1823720"/>
            <a:ext cx="1244081" cy="2917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4.292 W</a:t>
            </a:r>
            <a:endParaRPr lang="en-US" sz="1995" dirty="0"/>
          </a:p>
        </p:txBody>
      </p:sp>
      <p:sp>
        <p:nvSpPr>
          <p:cNvPr id="14" name="Text 12"/>
          <p:cNvSpPr/>
          <p:nvPr/>
        </p:nvSpPr>
        <p:spPr>
          <a:xfrm>
            <a:off x="6845406" y="2124634"/>
            <a:ext cx="1244081" cy="1458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dirty="0">
                <a:solidFill>
                  <a:srgbClr val="6B6B6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On-chip</a:t>
            </a:r>
            <a:endParaRPr lang="en-US" sz="1195" dirty="0"/>
          </a:p>
        </p:txBody>
      </p:sp>
      <p:sp>
        <p:nvSpPr>
          <p:cNvPr id="15" name="Shape 13"/>
          <p:cNvSpPr/>
          <p:nvPr/>
        </p:nvSpPr>
        <p:spPr>
          <a:xfrm>
            <a:off x="8363044" y="1559281"/>
            <a:ext cx="1462927" cy="74772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2468" y="1623111"/>
            <a:ext cx="1244081" cy="1823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dirty="0">
                <a:solidFill>
                  <a:srgbClr val="6B6B6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Dynamic</a:t>
            </a:r>
            <a:endParaRPr lang="en-US" sz="1195" dirty="0"/>
          </a:p>
        </p:txBody>
      </p:sp>
      <p:sp>
        <p:nvSpPr>
          <p:cNvPr id="17" name="Text 15"/>
          <p:cNvSpPr/>
          <p:nvPr/>
        </p:nvSpPr>
        <p:spPr>
          <a:xfrm>
            <a:off x="8472468" y="1823720"/>
            <a:ext cx="1244081" cy="2917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3.562 W</a:t>
            </a:r>
            <a:endParaRPr lang="en-US" sz="1995" dirty="0"/>
          </a:p>
        </p:txBody>
      </p:sp>
      <p:sp>
        <p:nvSpPr>
          <p:cNvPr id="18" name="Text 16"/>
          <p:cNvSpPr/>
          <p:nvPr/>
        </p:nvSpPr>
        <p:spPr>
          <a:xfrm>
            <a:off x="8472468" y="2124634"/>
            <a:ext cx="1244081" cy="1458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dirty="0">
                <a:solidFill>
                  <a:srgbClr val="6B6B6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83%</a:t>
            </a:r>
            <a:endParaRPr lang="en-US" sz="1195" dirty="0"/>
          </a:p>
        </p:txBody>
      </p:sp>
      <p:sp>
        <p:nvSpPr>
          <p:cNvPr id="19" name="Shape 17"/>
          <p:cNvSpPr/>
          <p:nvPr/>
        </p:nvSpPr>
        <p:spPr>
          <a:xfrm>
            <a:off x="9990107" y="1559281"/>
            <a:ext cx="1462927" cy="74772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99530" y="1623111"/>
            <a:ext cx="1244081" cy="1823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dirty="0">
                <a:solidFill>
                  <a:srgbClr val="6B6B6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Static</a:t>
            </a:r>
            <a:endParaRPr lang="en-US" sz="1195" dirty="0"/>
          </a:p>
        </p:txBody>
      </p:sp>
      <p:sp>
        <p:nvSpPr>
          <p:cNvPr id="21" name="Text 19"/>
          <p:cNvSpPr/>
          <p:nvPr/>
        </p:nvSpPr>
        <p:spPr>
          <a:xfrm>
            <a:off x="10099530" y="1823720"/>
            <a:ext cx="1244081" cy="2917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0.729 W</a:t>
            </a:r>
            <a:endParaRPr lang="en-US" sz="1995" dirty="0"/>
          </a:p>
        </p:txBody>
      </p:sp>
      <p:sp>
        <p:nvSpPr>
          <p:cNvPr id="22" name="Text 20"/>
          <p:cNvSpPr/>
          <p:nvPr/>
        </p:nvSpPr>
        <p:spPr>
          <a:xfrm>
            <a:off x="10099530" y="2124634"/>
            <a:ext cx="1244081" cy="1458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dirty="0">
                <a:solidFill>
                  <a:srgbClr val="6B6B6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17%</a:t>
            </a:r>
            <a:endParaRPr lang="en-US" sz="1195" dirty="0"/>
          </a:p>
        </p:txBody>
      </p:sp>
      <p:sp>
        <p:nvSpPr>
          <p:cNvPr id="23" name="Text 21"/>
          <p:cNvSpPr/>
          <p:nvPr/>
        </p:nvSpPr>
        <p:spPr>
          <a:xfrm>
            <a:off x="6735983" y="2361717"/>
            <a:ext cx="4717052" cy="16413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95" b="1" dirty="0">
                <a:solidFill>
                  <a:srgbClr val="B35C1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Key driver: </a:t>
            </a:r>
            <a:r>
              <a:rPr lang="en-US" altLang="zh-CN" sz="1195" b="1" dirty="0">
                <a:solidFill>
                  <a:srgbClr val="B35C1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PS</a:t>
            </a:r>
            <a:r>
              <a:rPr lang="en-US" sz="1195" b="1" dirty="0">
                <a:solidFill>
                  <a:srgbClr val="B35C1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= 2.622 W (74% of Dynamic)</a:t>
            </a:r>
            <a:endParaRPr lang="en-US" sz="1195" dirty="0"/>
          </a:p>
        </p:txBody>
      </p:sp>
      <p:sp>
        <p:nvSpPr>
          <p:cNvPr id="24" name="Shape 22"/>
          <p:cNvSpPr/>
          <p:nvPr/>
        </p:nvSpPr>
        <p:spPr>
          <a:xfrm>
            <a:off x="553720" y="2684780"/>
            <a:ext cx="5699125" cy="32283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7707" y="2794127"/>
            <a:ext cx="5370855" cy="27355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95" b="1" dirty="0">
                <a:solidFill>
                  <a:srgbClr val="B35C1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Resource utilization (Post-synth @ 100 MHz)</a:t>
            </a:r>
            <a:endParaRPr lang="en-US" sz="1595" dirty="0"/>
          </a:p>
        </p:txBody>
      </p:sp>
      <p:sp>
        <p:nvSpPr>
          <p:cNvPr id="26" name="Shape 24"/>
          <p:cNvSpPr/>
          <p:nvPr/>
        </p:nvSpPr>
        <p:spPr>
          <a:xfrm>
            <a:off x="717707" y="3259176"/>
            <a:ext cx="5370855" cy="407297"/>
          </a:xfrm>
          <a:prstGeom prst="rect">
            <a:avLst/>
          </a:prstGeom>
          <a:solidFill>
            <a:srgbClr val="F7F1E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655" y="3332124"/>
            <a:ext cx="2083514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Resource</a:t>
            </a:r>
            <a:endParaRPr lang="en-US" sz="1295" dirty="0"/>
          </a:p>
        </p:txBody>
      </p:sp>
      <p:sp>
        <p:nvSpPr>
          <p:cNvPr id="28" name="Text 26"/>
          <p:cNvSpPr/>
          <p:nvPr/>
        </p:nvSpPr>
        <p:spPr>
          <a:xfrm>
            <a:off x="3020067" y="3332124"/>
            <a:ext cx="867472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Used</a:t>
            </a:r>
            <a:endParaRPr lang="en-US" sz="1295" dirty="0"/>
          </a:p>
        </p:txBody>
      </p:sp>
      <p:sp>
        <p:nvSpPr>
          <p:cNvPr id="29" name="Text 27"/>
          <p:cNvSpPr/>
          <p:nvPr/>
        </p:nvSpPr>
        <p:spPr>
          <a:xfrm>
            <a:off x="4033436" y="3332124"/>
            <a:ext cx="107014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Available</a:t>
            </a:r>
            <a:endParaRPr lang="en-US" sz="1295" dirty="0"/>
          </a:p>
        </p:txBody>
      </p:sp>
      <p:sp>
        <p:nvSpPr>
          <p:cNvPr id="30" name="Text 28"/>
          <p:cNvSpPr/>
          <p:nvPr/>
        </p:nvSpPr>
        <p:spPr>
          <a:xfrm>
            <a:off x="5249478" y="3332124"/>
            <a:ext cx="76613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Util.</a:t>
            </a:r>
            <a:endParaRPr lang="en-US" sz="1295" dirty="0"/>
          </a:p>
        </p:txBody>
      </p:sp>
      <p:sp>
        <p:nvSpPr>
          <p:cNvPr id="31" name="Shape 29"/>
          <p:cNvSpPr/>
          <p:nvPr/>
        </p:nvSpPr>
        <p:spPr>
          <a:xfrm>
            <a:off x="717707" y="3666473"/>
            <a:ext cx="5370855" cy="407297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655" y="3739422"/>
            <a:ext cx="2083514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LUT</a:t>
            </a:r>
            <a:endParaRPr lang="en-US" sz="1295" dirty="0"/>
          </a:p>
        </p:txBody>
      </p:sp>
      <p:sp>
        <p:nvSpPr>
          <p:cNvPr id="33" name="Text 31"/>
          <p:cNvSpPr/>
          <p:nvPr/>
        </p:nvSpPr>
        <p:spPr>
          <a:xfrm>
            <a:off x="3020067" y="3739422"/>
            <a:ext cx="867472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60868</a:t>
            </a:r>
            <a:endParaRPr lang="en-US" sz="1295" dirty="0"/>
          </a:p>
        </p:txBody>
      </p:sp>
      <p:sp>
        <p:nvSpPr>
          <p:cNvPr id="34" name="Text 32"/>
          <p:cNvSpPr/>
          <p:nvPr/>
        </p:nvSpPr>
        <p:spPr>
          <a:xfrm>
            <a:off x="4033436" y="3739422"/>
            <a:ext cx="107014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274080</a:t>
            </a:r>
            <a:endParaRPr lang="en-US" sz="1295" dirty="0"/>
          </a:p>
        </p:txBody>
      </p:sp>
      <p:sp>
        <p:nvSpPr>
          <p:cNvPr id="35" name="Text 33"/>
          <p:cNvSpPr/>
          <p:nvPr/>
        </p:nvSpPr>
        <p:spPr>
          <a:xfrm>
            <a:off x="5249478" y="3739422"/>
            <a:ext cx="76613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22.21%</a:t>
            </a:r>
            <a:endParaRPr lang="en-US" sz="1295" dirty="0"/>
          </a:p>
        </p:txBody>
      </p:sp>
      <p:sp>
        <p:nvSpPr>
          <p:cNvPr id="36" name="Shape 34"/>
          <p:cNvSpPr/>
          <p:nvPr/>
        </p:nvSpPr>
        <p:spPr>
          <a:xfrm>
            <a:off x="717707" y="4073771"/>
            <a:ext cx="5370855" cy="407297"/>
          </a:xfrm>
          <a:prstGeom prst="rect">
            <a:avLst/>
          </a:prstGeom>
          <a:solidFill>
            <a:srgbClr val="FBFB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655" y="4146719"/>
            <a:ext cx="2083514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FF</a:t>
            </a:r>
            <a:endParaRPr lang="en-US" sz="1295" dirty="0"/>
          </a:p>
        </p:txBody>
      </p:sp>
      <p:sp>
        <p:nvSpPr>
          <p:cNvPr id="38" name="Text 36"/>
          <p:cNvSpPr/>
          <p:nvPr/>
        </p:nvSpPr>
        <p:spPr>
          <a:xfrm>
            <a:off x="3020067" y="4146719"/>
            <a:ext cx="867472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77345</a:t>
            </a:r>
            <a:endParaRPr lang="en-US" sz="1295" dirty="0"/>
          </a:p>
        </p:txBody>
      </p:sp>
      <p:sp>
        <p:nvSpPr>
          <p:cNvPr id="39" name="Text 37"/>
          <p:cNvSpPr/>
          <p:nvPr/>
        </p:nvSpPr>
        <p:spPr>
          <a:xfrm>
            <a:off x="4033436" y="4146719"/>
            <a:ext cx="107014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548160</a:t>
            </a:r>
            <a:endParaRPr lang="en-US" sz="1295" dirty="0"/>
          </a:p>
        </p:txBody>
      </p:sp>
      <p:sp>
        <p:nvSpPr>
          <p:cNvPr id="40" name="Text 38"/>
          <p:cNvSpPr/>
          <p:nvPr/>
        </p:nvSpPr>
        <p:spPr>
          <a:xfrm>
            <a:off x="5249478" y="4146719"/>
            <a:ext cx="76613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14.11%</a:t>
            </a:r>
            <a:endParaRPr lang="en-US" sz="1295" dirty="0"/>
          </a:p>
        </p:txBody>
      </p:sp>
      <p:sp>
        <p:nvSpPr>
          <p:cNvPr id="41" name="Shape 39"/>
          <p:cNvSpPr/>
          <p:nvPr/>
        </p:nvSpPr>
        <p:spPr>
          <a:xfrm>
            <a:off x="717707" y="4481068"/>
            <a:ext cx="5370855" cy="407297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0655" y="4554017"/>
            <a:ext cx="2083514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BRAM (Tiles)</a:t>
            </a:r>
            <a:endParaRPr lang="en-US" sz="1295" dirty="0"/>
          </a:p>
        </p:txBody>
      </p:sp>
      <p:sp>
        <p:nvSpPr>
          <p:cNvPr id="43" name="Text 41"/>
          <p:cNvSpPr/>
          <p:nvPr/>
        </p:nvSpPr>
        <p:spPr>
          <a:xfrm>
            <a:off x="3020067" y="4554017"/>
            <a:ext cx="867472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279</a:t>
            </a:r>
            <a:endParaRPr lang="en-US" sz="1295" dirty="0"/>
          </a:p>
        </p:txBody>
      </p:sp>
      <p:sp>
        <p:nvSpPr>
          <p:cNvPr id="44" name="Text 42"/>
          <p:cNvSpPr/>
          <p:nvPr/>
        </p:nvSpPr>
        <p:spPr>
          <a:xfrm>
            <a:off x="4033436" y="4554017"/>
            <a:ext cx="107014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912</a:t>
            </a:r>
            <a:endParaRPr lang="en-US" sz="1295" dirty="0"/>
          </a:p>
        </p:txBody>
      </p:sp>
      <p:sp>
        <p:nvSpPr>
          <p:cNvPr id="45" name="Text 43"/>
          <p:cNvSpPr/>
          <p:nvPr/>
        </p:nvSpPr>
        <p:spPr>
          <a:xfrm>
            <a:off x="5249478" y="4554017"/>
            <a:ext cx="76613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30.59%</a:t>
            </a:r>
            <a:endParaRPr lang="en-US" sz="1295" dirty="0"/>
          </a:p>
        </p:txBody>
      </p:sp>
      <p:sp>
        <p:nvSpPr>
          <p:cNvPr id="46" name="Shape 44"/>
          <p:cNvSpPr/>
          <p:nvPr/>
        </p:nvSpPr>
        <p:spPr>
          <a:xfrm>
            <a:off x="717707" y="4888365"/>
            <a:ext cx="5370855" cy="407297"/>
          </a:xfrm>
          <a:prstGeom prst="rect">
            <a:avLst/>
          </a:prstGeom>
          <a:solidFill>
            <a:srgbClr val="FBFBFB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0655" y="4961314"/>
            <a:ext cx="2083514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DSP</a:t>
            </a:r>
            <a:endParaRPr lang="en-US" sz="1295" dirty="0"/>
          </a:p>
        </p:txBody>
      </p:sp>
      <p:sp>
        <p:nvSpPr>
          <p:cNvPr id="48" name="Text 46"/>
          <p:cNvSpPr/>
          <p:nvPr/>
        </p:nvSpPr>
        <p:spPr>
          <a:xfrm>
            <a:off x="3020067" y="4961314"/>
            <a:ext cx="867472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496</a:t>
            </a:r>
            <a:endParaRPr lang="en-US" sz="1295" dirty="0">
              <a:solidFill>
                <a:srgbClr val="2B2B2B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033436" y="4961314"/>
            <a:ext cx="107014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2520</a:t>
            </a:r>
            <a:endParaRPr lang="en-US" sz="1295" dirty="0"/>
          </a:p>
        </p:txBody>
      </p:sp>
      <p:sp>
        <p:nvSpPr>
          <p:cNvPr id="50" name="Text 48"/>
          <p:cNvSpPr/>
          <p:nvPr/>
        </p:nvSpPr>
        <p:spPr>
          <a:xfrm>
            <a:off x="5249478" y="4961314"/>
            <a:ext cx="76613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C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19.68%</a:t>
            </a:r>
            <a:endParaRPr lang="en-US" sz="1295" b="1" dirty="0">
              <a:solidFill>
                <a:srgbClr val="C0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17707" y="5295663"/>
            <a:ext cx="5370855" cy="407297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0655" y="5368612"/>
            <a:ext cx="2083514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chemeClr val="tx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I/O (Bonded IOB)</a:t>
            </a:r>
            <a:endParaRPr lang="en-US" sz="1295" dirty="0">
              <a:solidFill>
                <a:schemeClr val="tx2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020067" y="5368612"/>
            <a:ext cx="867472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chemeClr val="tx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295" dirty="0">
              <a:solidFill>
                <a:schemeClr val="tx2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4033436" y="5368612"/>
            <a:ext cx="107014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chemeClr val="tx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328</a:t>
            </a:r>
            <a:endParaRPr lang="en-US" sz="1295" dirty="0">
              <a:solidFill>
                <a:schemeClr val="tx2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249478" y="5368612"/>
            <a:ext cx="766135" cy="261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chemeClr val="tx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0%</a:t>
            </a:r>
            <a:endParaRPr lang="en-US" sz="1295" dirty="0">
              <a:solidFill>
                <a:schemeClr val="tx2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735983" y="2794127"/>
            <a:ext cx="4717052" cy="27355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95" b="1" dirty="0">
                <a:solidFill>
                  <a:srgbClr val="B35C1E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Latency(per block)</a:t>
            </a:r>
            <a:endParaRPr lang="en-US" sz="1595" dirty="0"/>
          </a:p>
        </p:txBody>
      </p:sp>
      <p:sp>
        <p:nvSpPr>
          <p:cNvPr id="58" name="Shape 56"/>
          <p:cNvSpPr/>
          <p:nvPr/>
        </p:nvSpPr>
        <p:spPr>
          <a:xfrm>
            <a:off x="6735983" y="3259176"/>
            <a:ext cx="4717052" cy="349113"/>
          </a:xfrm>
          <a:prstGeom prst="rect">
            <a:avLst/>
          </a:prstGeom>
          <a:solidFill>
            <a:srgbClr val="F7F1E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43341" y="3332124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Clcck Cycles</a:t>
            </a:r>
            <a:endParaRPr lang="en-US" sz="1295" dirty="0"/>
          </a:p>
        </p:txBody>
      </p:sp>
      <p:sp>
        <p:nvSpPr>
          <p:cNvPr id="61" name="Text 59"/>
          <p:cNvSpPr/>
          <p:nvPr/>
        </p:nvSpPr>
        <p:spPr>
          <a:xfrm>
            <a:off x="9953633" y="3332124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Share</a:t>
            </a:r>
            <a:endParaRPr lang="en-US" sz="1295" dirty="0"/>
          </a:p>
        </p:txBody>
      </p:sp>
      <p:sp>
        <p:nvSpPr>
          <p:cNvPr id="63" name="Text 61"/>
          <p:cNvSpPr/>
          <p:nvPr/>
        </p:nvSpPr>
        <p:spPr>
          <a:xfrm>
            <a:off x="6808931" y="3681237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chemeClr val="tx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RMSNorm</a:t>
            </a:r>
            <a:endParaRPr lang="en-US" sz="1295" dirty="0">
              <a:solidFill>
                <a:schemeClr val="tx2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8643341" y="3681237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chemeClr val="tx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134cc</a:t>
            </a:r>
            <a:endParaRPr lang="en-US" sz="1295" dirty="0">
              <a:solidFill>
                <a:schemeClr val="tx2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9953633" y="3681237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chemeClr val="tx2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2.5%</a:t>
            </a:r>
            <a:endParaRPr lang="en-US" sz="1295" dirty="0">
              <a:solidFill>
                <a:schemeClr val="tx2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3" name="Shape 60"/>
          <p:cNvSpPr/>
          <p:nvPr/>
        </p:nvSpPr>
        <p:spPr>
          <a:xfrm>
            <a:off x="6735981" y="4301201"/>
            <a:ext cx="4717052" cy="34911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4" name="Shape 64"/>
          <p:cNvSpPr/>
          <p:nvPr/>
        </p:nvSpPr>
        <p:spPr>
          <a:xfrm>
            <a:off x="6735979" y="4645001"/>
            <a:ext cx="4717052" cy="349113"/>
          </a:xfrm>
          <a:prstGeom prst="rect">
            <a:avLst/>
          </a:prstGeom>
          <a:solidFill>
            <a:srgbClr val="FBFBFB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5" name="Shape 60"/>
          <p:cNvSpPr/>
          <p:nvPr/>
        </p:nvSpPr>
        <p:spPr>
          <a:xfrm>
            <a:off x="6735983" y="4990530"/>
            <a:ext cx="4717052" cy="34911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86" name="Shape 64"/>
          <p:cNvSpPr/>
          <p:nvPr/>
        </p:nvSpPr>
        <p:spPr>
          <a:xfrm>
            <a:off x="6735983" y="5340916"/>
            <a:ext cx="4717052" cy="349113"/>
          </a:xfrm>
          <a:prstGeom prst="rect">
            <a:avLst/>
          </a:prstGeom>
          <a:solidFill>
            <a:srgbClr val="FBFBFB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9" name="Text 57"/>
          <p:cNvSpPr/>
          <p:nvPr/>
        </p:nvSpPr>
        <p:spPr>
          <a:xfrm>
            <a:off x="6808931" y="3332124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b="1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Category</a:t>
            </a:r>
            <a:endParaRPr lang="en-US" sz="1295" dirty="0"/>
          </a:p>
        </p:txBody>
      </p:sp>
      <p:sp>
        <p:nvSpPr>
          <p:cNvPr id="66" name="Shape 64"/>
          <p:cNvSpPr/>
          <p:nvPr/>
        </p:nvSpPr>
        <p:spPr>
          <a:xfrm>
            <a:off x="6735983" y="3957400"/>
            <a:ext cx="4717052" cy="349113"/>
          </a:xfrm>
          <a:prstGeom prst="rect">
            <a:avLst/>
          </a:prstGeom>
          <a:solidFill>
            <a:srgbClr val="FBFBFB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7" name="Text 65"/>
          <p:cNvSpPr/>
          <p:nvPr/>
        </p:nvSpPr>
        <p:spPr>
          <a:xfrm>
            <a:off x="6808931" y="4030348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b="1" dirty="0">
                <a:solidFill>
                  <a:srgbClr val="C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In_projection</a:t>
            </a:r>
            <a:endParaRPr lang="en-US" sz="1295" b="1" dirty="0">
              <a:solidFill>
                <a:srgbClr val="C0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8643341" y="4030348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2305cc</a:t>
            </a:r>
            <a:endParaRPr lang="en-US" sz="1295" dirty="0"/>
          </a:p>
        </p:txBody>
      </p:sp>
      <p:sp>
        <p:nvSpPr>
          <p:cNvPr id="69" name="Text 67"/>
          <p:cNvSpPr/>
          <p:nvPr/>
        </p:nvSpPr>
        <p:spPr>
          <a:xfrm>
            <a:off x="9953633" y="4030348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C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47.25%</a:t>
            </a:r>
            <a:endParaRPr lang="en-US" sz="1295" b="1" dirty="0">
              <a:solidFill>
                <a:srgbClr val="C0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6808930" y="4717954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b="1" dirty="0">
                <a:solidFill>
                  <a:srgbClr val="C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ssm</a:t>
            </a:r>
            <a:endParaRPr lang="en-US" sz="1295" b="1" dirty="0">
              <a:solidFill>
                <a:srgbClr val="C0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8643340" y="4717954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1828 cc</a:t>
            </a:r>
            <a:endParaRPr lang="en-US" sz="1295" dirty="0"/>
          </a:p>
        </p:txBody>
      </p:sp>
      <p:sp>
        <p:nvSpPr>
          <p:cNvPr id="73" name="Text 71"/>
          <p:cNvSpPr/>
          <p:nvPr/>
        </p:nvSpPr>
        <p:spPr>
          <a:xfrm>
            <a:off x="9953632" y="4717954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b="1" dirty="0">
                <a:solidFill>
                  <a:srgbClr val="C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34.48%</a:t>
            </a:r>
            <a:endParaRPr lang="en-US" sz="1295" b="1" dirty="0">
              <a:solidFill>
                <a:srgbClr val="C0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6808930" y="5067066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out_projection</a:t>
            </a:r>
            <a:endParaRPr lang="en-US" sz="1295" dirty="0"/>
          </a:p>
        </p:txBody>
      </p:sp>
      <p:sp>
        <p:nvSpPr>
          <p:cNvPr id="76" name="Text 74"/>
          <p:cNvSpPr/>
          <p:nvPr/>
        </p:nvSpPr>
        <p:spPr>
          <a:xfrm>
            <a:off x="8643340" y="5067066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833 cc</a:t>
            </a:r>
            <a:endParaRPr lang="en-US" sz="1295" dirty="0"/>
          </a:p>
        </p:txBody>
      </p:sp>
      <p:sp>
        <p:nvSpPr>
          <p:cNvPr id="77" name="Text 75"/>
          <p:cNvSpPr/>
          <p:nvPr/>
        </p:nvSpPr>
        <p:spPr>
          <a:xfrm>
            <a:off x="9953632" y="5067066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15.71%</a:t>
            </a:r>
            <a:endParaRPr lang="en-US" sz="1295" dirty="0"/>
          </a:p>
        </p:txBody>
      </p:sp>
      <p:sp>
        <p:nvSpPr>
          <p:cNvPr id="79" name="Text 77"/>
          <p:cNvSpPr/>
          <p:nvPr/>
        </p:nvSpPr>
        <p:spPr>
          <a:xfrm>
            <a:off x="6808930" y="5416178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total</a:t>
            </a:r>
            <a:endParaRPr lang="en-US" sz="1295" dirty="0"/>
          </a:p>
        </p:txBody>
      </p:sp>
      <p:sp>
        <p:nvSpPr>
          <p:cNvPr id="80" name="Text 78"/>
          <p:cNvSpPr/>
          <p:nvPr/>
        </p:nvSpPr>
        <p:spPr>
          <a:xfrm>
            <a:off x="8643340" y="5416178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5301cc</a:t>
            </a:r>
            <a:endParaRPr lang="en-US" sz="1295" dirty="0"/>
          </a:p>
        </p:txBody>
      </p:sp>
      <p:sp>
        <p:nvSpPr>
          <p:cNvPr id="81" name="Text 79"/>
          <p:cNvSpPr/>
          <p:nvPr/>
        </p:nvSpPr>
        <p:spPr>
          <a:xfrm>
            <a:off x="9953632" y="5416178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1295" dirty="0"/>
          </a:p>
        </p:txBody>
      </p:sp>
      <p:sp>
        <p:nvSpPr>
          <p:cNvPr id="3" name="文本框 2"/>
          <p:cNvSpPr txBox="1"/>
          <p:nvPr/>
        </p:nvSpPr>
        <p:spPr>
          <a:xfrm>
            <a:off x="3084195" y="1101090"/>
            <a:ext cx="31686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>
                <a:solidFill>
                  <a:srgbClr val="C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 :             100</a:t>
            </a:r>
            <a:r>
              <a:rPr lang="en-US" altLang="zh-CN" sz="1400" b="1" i="1" dirty="0">
                <a:solidFill>
                  <a:srgbClr val="C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 frames per sec</a:t>
            </a:r>
            <a:endParaRPr lang="en-US" altLang="zh-CN" sz="1400" b="1" i="1" dirty="0">
              <a:solidFill>
                <a:srgbClr val="C0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r>
              <a:rPr lang="en-US" altLang="zh-CN" sz="1400" b="1" i="1" dirty="0">
                <a:solidFill>
                  <a:srgbClr val="C00000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Achieved(100MHz):   471 frames per sec</a:t>
            </a:r>
            <a:endParaRPr lang="en-US" sz="1400" b="1" i="1" dirty="0">
              <a:solidFill>
                <a:srgbClr val="C00000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8" name="Text 69"/>
          <p:cNvSpPr/>
          <p:nvPr/>
        </p:nvSpPr>
        <p:spPr>
          <a:xfrm>
            <a:off x="6814716" y="4364056"/>
            <a:ext cx="1688512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Ping-pong buffer</a:t>
            </a:r>
            <a:endParaRPr lang="en-US" sz="1295" dirty="0"/>
          </a:p>
        </p:txBody>
      </p:sp>
      <p:sp>
        <p:nvSpPr>
          <p:cNvPr id="89" name="Text 70"/>
          <p:cNvSpPr/>
          <p:nvPr/>
        </p:nvSpPr>
        <p:spPr>
          <a:xfrm>
            <a:off x="8649126" y="4364056"/>
            <a:ext cx="1164395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199 cc</a:t>
            </a:r>
            <a:endParaRPr lang="en-US" sz="1295" dirty="0"/>
          </a:p>
        </p:txBody>
      </p:sp>
      <p:sp>
        <p:nvSpPr>
          <p:cNvPr id="90" name="Text 71"/>
          <p:cNvSpPr/>
          <p:nvPr/>
        </p:nvSpPr>
        <p:spPr>
          <a:xfrm>
            <a:off x="9959418" y="4364056"/>
            <a:ext cx="1426453" cy="2032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95" dirty="0">
                <a:solidFill>
                  <a:srgbClr val="2B2B2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3.75%</a:t>
            </a:r>
            <a:endParaRPr lang="en-US" sz="129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63" grpId="0"/>
      <p:bldP spid="63" grpId="1"/>
      <p:bldP spid="64" grpId="0"/>
      <p:bldP spid="64" grpId="1"/>
      <p:bldP spid="65" grpId="0"/>
      <p:bldP spid="65" grpId="1"/>
      <p:bldP spid="3" grpId="0"/>
      <p:bldP spid="3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3572" y="227965"/>
            <a:ext cx="11124692" cy="63830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190" dirty="0">
                <a:solidFill>
                  <a:srgbClr val="8A5A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Next step optimazation for the paper</a:t>
            </a:r>
            <a:endParaRPr lang="en-US" sz="4190" dirty="0"/>
          </a:p>
        </p:txBody>
      </p:sp>
      <p:sp>
        <p:nvSpPr>
          <p:cNvPr id="3" name="文本框 2"/>
          <p:cNvSpPr txBox="1"/>
          <p:nvPr/>
        </p:nvSpPr>
        <p:spPr>
          <a:xfrm>
            <a:off x="875030" y="1327150"/>
            <a:ext cx="1051814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/>
              <a:t>Refine pipeline granularity</a:t>
            </a:r>
            <a:endParaRPr lang="en-US" altLang="zh-CN" b="1"/>
          </a:p>
          <a:p>
            <a:r>
              <a:rPr lang="en-US" altLang="zh-CN"/>
              <a:t>Current design mainly uses </a:t>
            </a:r>
            <a:r>
              <a:rPr lang="en-US" altLang="zh-CN" b="1">
                <a:solidFill>
                  <a:srgbClr val="FF0000"/>
                </a:solidFill>
              </a:rPr>
              <a:t>module-level reuse scheduling</a:t>
            </a:r>
            <a:r>
              <a:rPr lang="en-US" altLang="zh-CN"/>
              <a:t> to reduce hardware cost.</a:t>
            </a:r>
            <a:endParaRPr lang="en-US" altLang="zh-CN"/>
          </a:p>
          <a:p>
            <a:r>
              <a:rPr lang="en-US" altLang="zh-CN"/>
              <a:t>Next step is to split critical compute paths into </a:t>
            </a:r>
            <a:r>
              <a:rPr lang="en-US" altLang="zh-CN" b="1">
                <a:solidFill>
                  <a:srgbClr val="FF0000"/>
                </a:solidFill>
              </a:rPr>
              <a:t>finer pipeline stages.</a:t>
            </a:r>
            <a:endParaRPr lang="en-US" altLang="zh-CN"/>
          </a:p>
          <a:p>
            <a:r>
              <a:rPr lang="en-US" altLang="zh-CN"/>
              <a:t>Compare current reuse-based architecture with fine-grained pipelined architecture.</a:t>
            </a:r>
            <a:endParaRPr lang="en-US" altLang="zh-CN"/>
          </a:p>
          <a:p>
            <a:r>
              <a:rPr lang="en-US" altLang="zh-CN"/>
              <a:t>Goal: shorten combinational delay, improve timing closure, and </a:t>
            </a:r>
            <a:r>
              <a:rPr lang="en-US" altLang="zh-CN" b="1">
                <a:solidFill>
                  <a:srgbClr val="FF0000"/>
                </a:solidFill>
              </a:rPr>
              <a:t>further increase maximum clock frequency.</a:t>
            </a:r>
            <a:endParaRPr lang="en-US" altLang="zh-CN" b="1">
              <a:solidFill>
                <a:srgbClr val="FF0000"/>
              </a:solidFill>
            </a:endParaRPr>
          </a:p>
          <a:p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/>
              <a:t>Add output heading</a:t>
            </a:r>
            <a:endParaRPr lang="en-US" altLang="zh-CN"/>
          </a:p>
          <a:p>
            <a:r>
              <a:rPr lang="en-US" altLang="zh-CN"/>
              <a:t>Add a dedicated output head after the final feature stage.</a:t>
            </a:r>
            <a:endParaRPr lang="en-US" altLang="zh-CN"/>
          </a:p>
          <a:p>
            <a:r>
              <a:rPr lang="en-US" altLang="zh-CN" b="1">
                <a:solidFill>
                  <a:srgbClr val="FF0000"/>
                </a:solidFill>
              </a:rPr>
              <a:t>Directly generate target lacation from hardware output.</a:t>
            </a:r>
            <a:endParaRPr lang="en-US" altLang="zh-CN" b="1">
              <a:solidFill>
                <a:srgbClr val="FF0000"/>
              </a:solidFill>
            </a:endParaRPr>
          </a:p>
          <a:p>
            <a:r>
              <a:rPr lang="en-US" altLang="zh-CN"/>
              <a:t>Avoid extra software-side output post-processing.</a:t>
            </a:r>
            <a:endParaRPr lang="en-US" altLang="zh-CN"/>
          </a:p>
          <a:p>
            <a:r>
              <a:rPr lang="en-US" altLang="zh-CN"/>
              <a:t>Make the accelerator output more </a:t>
            </a:r>
            <a:r>
              <a:rPr lang="en-US" altLang="zh-CN" b="1">
                <a:solidFill>
                  <a:srgbClr val="FF0000"/>
                </a:solidFill>
              </a:rPr>
              <a:t>application-ready</a:t>
            </a:r>
            <a:r>
              <a:rPr lang="en-US" altLang="zh-CN"/>
              <a:t> for engineering deployment.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94473b828724a65fb090fa1836cb64d31dad0ac"/>
  <p:tag name="KSO_WM_NEWLAYOUT_ID" val="slide_a81418525f254632"/>
</p:tagLst>
</file>

<file path=ppt/tags/tag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3"/>
  <p:tag name="KSO_WM_UNIT_SUBTYPE" val="d"/>
  <p:tag name="KSO_WM_UNIT_TYPE" val="l_h_i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3"/>
  <p:tag name="KSO_WM_UNIT_SUBTYPE" val="d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3"/>
  <p:tag name="KSO_WM_UNIT_SUBTYPE" val="d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94473b828724a65fb090fa1836cb64d31dad0ac"/>
  <p:tag name="KSO_WM_NEWLAYOUT_ID" val="slide_a81418525f254632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SLIDE_ID" val="slide_a81418525f254632"/>
</p:tagLst>
</file>

<file path=ppt/tags/tag14.xml><?xml version="1.0" encoding="utf-8"?>
<p:tagLst xmlns:p="http://schemas.openxmlformats.org/presentationml/2006/main">
  <p:tag name="TABLE_ENDDRAG_ORIGIN_RECT" val="367*328"/>
  <p:tag name="TABLE_ENDDRAG_RECT" val="485*113*367*328"/>
</p:tagLst>
</file>

<file path=ppt/tags/tag1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33_1*a*1"/>
  <p:tag name="KSO_WM_TEMPLATE_CATEGORY" val="custom"/>
  <p:tag name="KSO_WM_TEMPLATE_INDEX" val="20235033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5033_1*f*1"/>
  <p:tag name="KSO_WM_TEMPLATE_CATEGORY" val="custom"/>
  <p:tag name="KSO_WM_TEMPLATE_INDEX" val="20235033"/>
  <p:tag name="KSO_WM_UNIT_LAYERLEVEL" val="1"/>
  <p:tag name="KSO_WM_TAG_VERSION" val="3.0"/>
  <p:tag name="KSO_WM_BEAUTIFY_FLAG" val="#wm#"/>
  <p:tag name="KSO_WM_UNIT_SUBTYPE" val="a"/>
  <p:tag name="KSO_WM_UNIT_NOCLEAR" val="0"/>
  <p:tag name="KSO_WM_UNIT_TYPE" val="f"/>
  <p:tag name="KSO_WM_UNIT_INDEX" val="1"/>
  <p:tag name="KSO_WM_UNIT_TEXT_TYPE" val="1"/>
  <p:tag name="KSO_WM_UNIT_TEXT_LAYER_COUNT" val="1"/>
  <p:tag name="KSO_WM_UNIT_VALUE" val="50"/>
  <p:tag name="KSO_WM_UNIT_PRESET_TEXT" val="单击此处输入正文，文字是您思想的提炼，为了最终演示发布的良好效果，请言简的阐述观点。"/>
  <p:tag name="KSO_WM_UNIT_TEXT_FILL_FORE_SCHEMECOLOR_INDEX" val="13"/>
  <p:tag name="KSO_WM_UNIT_TEXT_FILL_TYPE" val="1"/>
  <p:tag name="KSO_WM_UNIT_USESOURCEFORMAT_APPLY" val="1"/>
</p:tagLst>
</file>

<file path=ppt/tags/tag17.xml><?xml version="1.0" encoding="utf-8"?>
<p:tagLst xmlns:p="http://schemas.openxmlformats.org/presentationml/2006/main">
  <p:tag name="TABLE_ENDDRAG_ORIGIN_RECT" val="604*288"/>
  <p:tag name="TABLE_ENDDRAG_RECT" val="81*165*604*288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5033_1*f*1"/>
  <p:tag name="KSO_WM_TEMPLATE_CATEGORY" val="custom"/>
  <p:tag name="KSO_WM_TEMPLATE_INDEX" val="20235033"/>
  <p:tag name="KSO_WM_UNIT_LAYERLEVEL" val="1"/>
  <p:tag name="KSO_WM_TAG_VERSION" val="3.0"/>
  <p:tag name="KSO_WM_BEAUTIFY_FLAG" val="#wm#"/>
  <p:tag name="KSO_WM_UNIT_SUBTYPE" val="a"/>
  <p:tag name="KSO_WM_UNIT_NOCLEAR" val="0"/>
  <p:tag name="KSO_WM_UNIT_TYPE" val="f"/>
  <p:tag name="KSO_WM_UNIT_INDEX" val="1"/>
  <p:tag name="KSO_WM_UNIT_TEXT_TYPE" val="1"/>
  <p:tag name="KSO_WM_UNIT_TEXT_LAYER_COUNT" val="1"/>
  <p:tag name="KSO_WM_UNIT_VALUE" val="50"/>
  <p:tag name="KSO_WM_UNIT_PRESET_TEXT" val="单击此处输入正文，文字是您思想的提炼，为了最终演示发布的良好效果，请言简的阐述观点。"/>
  <p:tag name="KSO_WM_UNIT_TEXT_FILL_FORE_SCHEMECOLOR_INDEX" val="13"/>
  <p:tag name="KSO_WM_UNIT_TEXT_FILL_TYPE" val="1"/>
  <p:tag name="KSO_WM_UNIT_USESOURCEFORMAT_APPLY" val="1"/>
</p:tagLst>
</file>

<file path=ppt/tags/tag19.xml><?xml version="1.0" encoding="utf-8"?>
<p:tagLst xmlns:p="http://schemas.openxmlformats.org/presentationml/2006/main">
  <p:tag name="KSO_WM_SLIDE_ID" val="custom20235033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5033"/>
  <p:tag name="KSO_WM_SLIDE_TYPE" val="text"/>
  <p:tag name="KSO_WM_SLIDE_SUBTYPE" val="picTxt"/>
  <p:tag name="KSO_WM_SLIDE_SIZE" val="408.225*360.15"/>
  <p:tag name="KSO_WM_SLIDE_POSITION" val="504.075*131.75"/>
  <p:tag name="KSO_WM_SLIDE_LAYOUT" val="a_f_β_l"/>
  <p:tag name="KSO_WM_SLIDE_LAYOUT_CNT" val="1_1_1_1"/>
  <p:tag name="KSO_WM_SPECIAL_SOURCE" val="bdnull"/>
  <p:tag name="KSO_WM_DIAGRAM_GROUP_CODE" val="l1-1"/>
  <p:tag name="KSO_WM_SLIDE_DIAGTYPE" val="l"/>
</p:tagLst>
</file>

<file path=ppt/tags/tag2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33_1*a*1"/>
  <p:tag name="KSO_WM_TEMPLATE_CATEGORY" val="custom"/>
  <p:tag name="KSO_WM_TEMPLATE_INDEX" val="20235033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21.xml><?xml version="1.0" encoding="utf-8"?>
<p:tagLst xmlns:p="http://schemas.openxmlformats.org/presentationml/2006/main">
  <p:tag name="KSO_WM_SLIDE_ID" val="custom20235033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5033"/>
  <p:tag name="KSO_WM_SLIDE_TYPE" val="text"/>
  <p:tag name="KSO_WM_SLIDE_SUBTYPE" val="picTxt"/>
  <p:tag name="KSO_WM_SLIDE_SIZE" val="408.225*360.15"/>
  <p:tag name="KSO_WM_SLIDE_POSITION" val="504.075*131.75"/>
  <p:tag name="KSO_WM_SLIDE_LAYOUT" val="a_f_β_l"/>
  <p:tag name="KSO_WM_SLIDE_LAYOUT_CNT" val="1_1_1_1"/>
  <p:tag name="KSO_WM_SPECIAL_SOURCE" val="bdnull"/>
  <p:tag name="KSO_WM_DIAGRAM_GROUP_CODE" val="l1-1"/>
  <p:tag name="KSO_WM_SLIDE_DIAGTYPE" val="l"/>
</p:tagLst>
</file>

<file path=ppt/tags/tag2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5033_1*a*1"/>
  <p:tag name="KSO_WM_TEMPLATE_CATEGORY" val="custom"/>
  <p:tag name="KSO_WM_TEMPLATE_INDEX" val="20235033"/>
  <p:tag name="KSO_WM_UNIT_LAYERLEVEL" val="1"/>
  <p:tag name="KSO_WM_TAG_VERSION" val="3.0"/>
  <p:tag name="KSO_WM_BEAUTIFY_FLAG" val="#wm#"/>
  <p:tag name="KSO_WM_UNIT_VALUE" val="30"/>
  <p:tag name="KSO_WM_DIAGRAM_GROUP_CODE" val="l1-1"/>
  <p:tag name="KSO_WM_UNIT_PRESET_TEXT" val="单击此处添加标题"/>
  <p:tag name="KSO_WM_UNIT_TEXT_TYPE" val="1"/>
  <p:tag name="KSO_WM_UNIT_TEXT_FILL_FORE_SCHEMECOLOR_INDEX" val="13"/>
  <p:tag name="KSO_WM_UNIT_TEXT_FILL_TYPE" val="1"/>
  <p:tag name="KSO_WM_UNIT_USESOURCEFORMAT_APPLY" val="1"/>
</p:tagLst>
</file>

<file path=ppt/tags/tag23.xml><?xml version="1.0" encoding="utf-8"?>
<p:tagLst xmlns:p="http://schemas.openxmlformats.org/presentationml/2006/main">
  <p:tag name="KSO_WM_SLIDE_ID" val="custom20235033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5033"/>
  <p:tag name="KSO_WM_SLIDE_TYPE" val="text"/>
  <p:tag name="KSO_WM_SLIDE_SUBTYPE" val="picTxt"/>
  <p:tag name="KSO_WM_SLIDE_SIZE" val="408.225*360.15"/>
  <p:tag name="KSO_WM_SLIDE_POSITION" val="504.075*131.75"/>
  <p:tag name="KSO_WM_SLIDE_LAYOUT" val="a_f_β_l"/>
  <p:tag name="KSO_WM_SLIDE_LAYOUT_CNT" val="1_1_1_1"/>
  <p:tag name="KSO_WM_SPECIAL_SOURCE" val="bdnull"/>
  <p:tag name="KSO_WM_DIAGRAM_GROUP_CODE" val="l1-1"/>
  <p:tag name="KSO_WM_SLIDE_DIAGTYPE" val="l"/>
</p:tagLst>
</file>

<file path=ppt/tags/tag24.xml><?xml version="1.0" encoding="utf-8"?>
<p:tagLst xmlns:p="http://schemas.openxmlformats.org/presentationml/2006/main">
  <p:tag name="RESOURCE_RECORD_KEY" val="{&quot;29&quot;:[50053024]}"/>
</p:tagLst>
</file>

<file path=ppt/theme/theme1.xml><?xml version="1.0" encoding="utf-8"?>
<a:theme xmlns:a="http://schemas.openxmlformats.org/drawingml/2006/main" name="LU_PPT-mall_ENG_16-9">
  <a:themeElements>
    <a:clrScheme name="Anpassad 3">
      <a:dk1>
        <a:srgbClr val="9C6114"/>
      </a:dk1>
      <a:lt1>
        <a:sysClr val="window" lastClr="FFFFFF"/>
      </a:lt1>
      <a:dk2>
        <a:srgbClr val="000000"/>
      </a:dk2>
      <a:lt2>
        <a:srgbClr val="00008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181002_Internal report</Template>
  <TotalTime>0</TotalTime>
  <Words>6719</Words>
  <Application>WPS 演示</Application>
  <PresentationFormat>自定义</PresentationFormat>
  <Paragraphs>485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2" baseType="lpstr">
      <vt:lpstr>Arial</vt:lpstr>
      <vt:lpstr>宋体</vt:lpstr>
      <vt:lpstr>Wingdings</vt:lpstr>
      <vt:lpstr>Times New Roman</vt:lpstr>
      <vt:lpstr>Arial</vt:lpstr>
      <vt:lpstr>Lucida Grande</vt:lpstr>
      <vt:lpstr>Times New Roman</vt:lpstr>
      <vt:lpstr>Helvetica Light</vt:lpstr>
      <vt:lpstr>MS PGothic</vt:lpstr>
      <vt:lpstr>Wingdings</vt:lpstr>
      <vt:lpstr>Calibri</vt:lpstr>
      <vt:lpstr>微软雅黑</vt:lpstr>
      <vt:lpstr>Arial Unicode MS</vt:lpstr>
      <vt:lpstr>等线</vt:lpstr>
      <vt:lpstr>Times New Roman</vt:lpstr>
      <vt:lpstr>Georgia</vt:lpstr>
      <vt:lpstr>Georgia</vt:lpstr>
      <vt:lpstr>Georgia</vt:lpstr>
      <vt:lpstr>Calibri</vt:lpstr>
      <vt:lpstr>Calibri</vt:lpstr>
      <vt:lpstr>Malgun Gothic</vt:lpstr>
      <vt:lpstr>LU_PPT-mall_ENG_16-9</vt:lpstr>
      <vt:lpstr>Efficient Mamba-Based Accelerator Architecture for Massive-MIMO Indoor Localization Using the LuViRA Dataset </vt:lpstr>
      <vt:lpstr>Contents</vt:lpstr>
      <vt:lpstr>Architecture - Board-level deployment</vt:lpstr>
      <vt:lpstr>Architecture - Pipeline and fine-grained parallelism</vt:lpstr>
      <vt:lpstr>Architecture - Pipeline and fine-grained parallelism</vt:lpstr>
      <vt:lpstr>Architecture - Pipeline and fine-grained parallelism</vt:lpstr>
      <vt:lpstr>Trade Off : Reconfigurable vs. Fine-grained pipeline</vt:lpstr>
      <vt:lpstr>Architecture - Pipeline and fine-grained parallelism</vt:lpstr>
      <vt:lpstr>Nonlinear layer - RMSNorm</vt:lpstr>
      <vt:lpstr>Nonlinear layer - RMSNorm</vt:lpstr>
      <vt:lpstr>Nonlinear layer - RMSNorm</vt:lpstr>
      <vt:lpstr>Nonlinear layer - Sigmoid</vt:lpstr>
      <vt:lpstr>Nonlinear layer - Sigmoid</vt:lpstr>
      <vt:lpstr>Quantisation: Workflow </vt:lpstr>
      <vt:lpstr>Quantisation: Workflow </vt:lpstr>
      <vt:lpstr>Quantisation: Workflow</vt:lpstr>
      <vt:lpstr>Quantisation: Hardware implemetation</vt:lpstr>
      <vt:lpstr>Quantisation: Hardware implemetation</vt:lpstr>
      <vt:lpstr>PowerPoint 演示文稿</vt:lpstr>
      <vt:lpstr>PowerPoint 演示文稿</vt:lpstr>
    </vt:vector>
  </TitlesOfParts>
  <Company>Lunds universitet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</dc:title>
  <dc:creator>Baktash Behmanesh</dc:creator>
  <cp:lastModifiedBy>CSJ</cp:lastModifiedBy>
  <cp:revision>875</cp:revision>
  <dcterms:created xsi:type="dcterms:W3CDTF">2018-10-01T08:48:00Z</dcterms:created>
  <dcterms:modified xsi:type="dcterms:W3CDTF">2026-05-01T19:39:40Z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B6F92FCDC9584775B69D219F0CFDFDBC_13</vt:lpwstr>
  </property>
  <property fmtid="{D5CDD505-2E9C-101B-9397-08002B2CF9AE}" pid="3" name="KSOProductBuildVer">
    <vt:lpwstr>2052-12.1.0.25865</vt:lpwstr>
  </property>
</Properties>
</file>