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9.xml" ContentType="application/vnd.openxmlformats-officedocument.presentationml.tags+xml"/>
  <Override PartName="/ppt/notesSlides/notesSlide15.xml" ContentType="application/vnd.openxmlformats-officedocument.presentationml.notesSlide+xml"/>
  <Override PartName="/ppt/tags/tag20.xml" ContentType="application/vnd.openxmlformats-officedocument.presentationml.tags+xml"/>
  <Override PartName="/ppt/notesSlides/notesSlide16.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32"/>
  </p:notesMasterIdLst>
  <p:sldIdLst>
    <p:sldId id="516" r:id="rId2"/>
    <p:sldId id="563" r:id="rId3"/>
    <p:sldId id="258" r:id="rId4"/>
    <p:sldId id="572" r:id="rId5"/>
    <p:sldId id="557" r:id="rId6"/>
    <p:sldId id="558" r:id="rId7"/>
    <p:sldId id="559" r:id="rId8"/>
    <p:sldId id="561" r:id="rId9"/>
    <p:sldId id="571" r:id="rId10"/>
    <p:sldId id="545" r:id="rId11"/>
    <p:sldId id="562" r:id="rId12"/>
    <p:sldId id="546" r:id="rId13"/>
    <p:sldId id="532" r:id="rId14"/>
    <p:sldId id="551" r:id="rId15"/>
    <p:sldId id="552" r:id="rId16"/>
    <p:sldId id="553" r:id="rId17"/>
    <p:sldId id="554" r:id="rId18"/>
    <p:sldId id="527" r:id="rId19"/>
    <p:sldId id="542" r:id="rId20"/>
    <p:sldId id="543" r:id="rId21"/>
    <p:sldId id="544" r:id="rId22"/>
    <p:sldId id="524" r:id="rId23"/>
    <p:sldId id="526" r:id="rId24"/>
    <p:sldId id="521" r:id="rId25"/>
    <p:sldId id="556" r:id="rId26"/>
    <p:sldId id="536" r:id="rId27"/>
    <p:sldId id="540" r:id="rId28"/>
    <p:sldId id="539" r:id="rId29"/>
    <p:sldId id="541" r:id="rId30"/>
    <p:sldId id="533" r:id="rId31"/>
  </p:sldIdLst>
  <p:sldSz cx="12171363" cy="6838950"/>
  <p:notesSz cx="6858000" cy="9144000"/>
  <p:custDataLst>
    <p:tags r:id="rId33"/>
  </p:custDataLst>
  <p:defaultText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 userDrawn="1">
          <p15:clr>
            <a:srgbClr val="A4A3A4"/>
          </p15:clr>
        </p15:guide>
        <p15:guide id="2" orient="horz" pos="4308" userDrawn="1">
          <p15:clr>
            <a:srgbClr val="A4A3A4"/>
          </p15:clr>
        </p15:guide>
        <p15:guide id="3" orient="horz" pos="824" userDrawn="1">
          <p15:clr>
            <a:srgbClr val="A4A3A4"/>
          </p15:clr>
        </p15:guide>
        <p15:guide id="4" orient="horz" pos="1005" userDrawn="1">
          <p15:clr>
            <a:srgbClr val="A4A3A4"/>
          </p15:clr>
        </p15:guide>
        <p15:guide id="5" pos="215" userDrawn="1">
          <p15:clr>
            <a:srgbClr val="A4A3A4"/>
          </p15:clr>
        </p15:guide>
        <p15:guide id="6" pos="7480" userDrawn="1">
          <p15:clr>
            <a:srgbClr val="A4A3A4"/>
          </p15:clr>
        </p15:guide>
        <p15:guide id="7" pos="4480" userDrawn="1">
          <p15:clr>
            <a:srgbClr val="A4A3A4"/>
          </p15:clr>
        </p15:guide>
        <p15:guide id="8" pos="318" userDrawn="1">
          <p15:clr>
            <a:srgbClr val="A4A3A4"/>
          </p15:clr>
        </p15:guide>
        <p15:guide id="9" pos="6984" userDrawn="1">
          <p15:clr>
            <a:srgbClr val="A4A3A4"/>
          </p15:clr>
        </p15:guide>
        <p15:guide id="10" pos="3939" userDrawn="1">
          <p15:clr>
            <a:srgbClr val="A4A3A4"/>
          </p15:clr>
        </p15:guide>
        <p15:guide id="11" pos="2890" userDrawn="1">
          <p15:clr>
            <a:srgbClr val="A4A3A4"/>
          </p15:clr>
        </p15:guide>
        <p15:guide id="12" pos="4776" userDrawn="1">
          <p15:clr>
            <a:srgbClr val="A4A3A4"/>
          </p15:clr>
        </p15:guide>
        <p15:guide id="13" pos="3133" userDrawn="1">
          <p15:clr>
            <a:srgbClr val="A4A3A4"/>
          </p15:clr>
        </p15:guide>
        <p15:guide id="14" pos="37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00000"/>
    <a:srgbClr val="9C6114"/>
    <a:srgbClr val="4F80B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46" autoAdjust="0"/>
    <p:restoredTop sz="73255" autoAdjust="0"/>
  </p:normalViewPr>
  <p:slideViewPr>
    <p:cSldViewPr snapToGrid="0" snapToObjects="1" showGuides="1">
      <p:cViewPr varScale="1">
        <p:scale>
          <a:sx n="99" d="100"/>
          <a:sy n="99" d="100"/>
        </p:scale>
        <p:origin x="1639" y="86"/>
      </p:cViewPr>
      <p:guideLst>
        <p:guide orient="horz" pos="161"/>
        <p:guide orient="horz" pos="4308"/>
        <p:guide orient="horz" pos="824"/>
        <p:guide orient="horz" pos="1005"/>
        <p:guide pos="215"/>
        <p:guide pos="7480"/>
        <p:guide pos="4480"/>
        <p:guide pos="318"/>
        <p:guide pos="6984"/>
        <p:guide pos="3939"/>
        <p:guide pos="2890"/>
        <p:guide pos="4776"/>
        <p:guide pos="3133"/>
        <p:guide pos="378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468572-F02D-43CE-BFD7-D0486EEC6E6E}" type="datetimeFigureOut">
              <a:rPr lang="en-US" smtClean="0"/>
              <a:t>6/2/2026</a:t>
            </a:fld>
            <a:endParaRPr lang="en-US"/>
          </a:p>
        </p:txBody>
      </p:sp>
      <p:sp>
        <p:nvSpPr>
          <p:cNvPr id="4" name="Slide Image Placeholder 3"/>
          <p:cNvSpPr>
            <a:spLocks noGrp="1" noRot="1" noChangeAspect="1"/>
          </p:cNvSpPr>
          <p:nvPr>
            <p:ph type="sldImg" idx="2"/>
          </p:nvPr>
        </p:nvSpPr>
        <p:spPr>
          <a:xfrm>
            <a:off x="684213" y="1143000"/>
            <a:ext cx="5489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42BEA-1C9E-4F69-A4DF-43828D1541F6}"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DB42BEA-1C9E-4F69-A4DF-43828D1541F6}" type="slidenum">
              <a:rPr lang="en-US" smtClean="0"/>
              <a:t>1</a:t>
            </a:fld>
            <a:endParaRPr lang="en-US"/>
          </a:p>
        </p:txBody>
      </p:sp>
    </p:spTree>
    <p:extLst>
      <p:ext uri="{BB962C8B-B14F-4D97-AF65-F5344CB8AC3E}">
        <p14:creationId xmlns:p14="http://schemas.microsoft.com/office/powerpoint/2010/main" val="17059907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 master’s thesis builds upon the coursework we completed last semester, so I will begin with a brief overview of the relevant background and a summary of the course content we have already covered.</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7DB42BEA-1C9E-4F69-A4DF-43828D1541F6}" type="slidenum">
              <a:rPr lang="en-US" smtClean="0"/>
              <a:t>2</a:t>
            </a:fld>
            <a:endParaRPr lang="en-US"/>
          </a:p>
        </p:txBody>
      </p:sp>
    </p:spTree>
    <p:extLst>
      <p:ext uri="{BB962C8B-B14F-4D97-AF65-F5344CB8AC3E}">
        <p14:creationId xmlns:p14="http://schemas.microsoft.com/office/powerpoint/2010/main" val="609555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FFFFFF"/>
                </a:solidFill>
                <a:effectLst/>
                <a:latin typeface="-apple-system"/>
              </a:rPr>
              <a:t>Massive MIMO means that the base station uses a large excess of antennas relative to the number of active terminals. The key benefit is spatial resolution: with many antennas, the system can separate users and propagation paths much more clearly in space. In communication, this improves throughput and energy efficiency. In our context, it also means that the received channel contains much richer spatial information than a conventional small-array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 master’s thesis builds upon the coursework we completed last semester, so I will begin with a brief overview of the relevant background and a summary of the course content we have already covered.</a:t>
            </a:r>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741173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their previous work, they used an FCNN model for indoor positioning, but this approach presented a major challenge: the model size increased rapidly as the number of antennas grew, and there was a risk of overfitting. Therefore, we turned our attention to other possible models. Furthermore, since the short-term memory window is likely to retain useful information in indoor localization tasks, we turned to the Mamba model. I will begin by introducing this model starting with the state space.</a:t>
            </a:r>
            <a:endParaRPr lang="zh-CN" altLang="en-US" dirty="0"/>
          </a:p>
        </p:txBody>
      </p:sp>
      <p:sp>
        <p:nvSpPr>
          <p:cNvPr id="4" name="灯片编号占位符 3"/>
          <p:cNvSpPr>
            <a:spLocks noGrp="1"/>
          </p:cNvSpPr>
          <p:nvPr>
            <p:ph type="sldNum" sz="quarter" idx="5"/>
          </p:nvPr>
        </p:nvSpPr>
        <p:spPr/>
        <p:txBody>
          <a:bodyPr/>
          <a:lstStyle/>
          <a:p>
            <a:fld id="{7DB42BEA-1C9E-4F69-A4DF-43828D1541F6}" type="slidenum">
              <a:rPr lang="en-US" smtClean="0"/>
              <a:t>5</a:t>
            </a:fld>
            <a:endParaRPr lang="en-US" dirty="0"/>
          </a:p>
        </p:txBody>
      </p:sp>
    </p:spTree>
    <p:extLst>
      <p:ext uri="{BB962C8B-B14F-4D97-AF65-F5344CB8AC3E}">
        <p14:creationId xmlns:p14="http://schemas.microsoft.com/office/powerpoint/2010/main" val="1942141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 presents the basic definition of a state space. A state space model uses states to describe a system ,such as in this picture ,all the potential positions are states</a:t>
            </a:r>
            <a:endParaRPr lang="zh-CN" altLang="en-US" dirty="0"/>
          </a:p>
        </p:txBody>
      </p:sp>
      <p:sp>
        <p:nvSpPr>
          <p:cNvPr id="4" name="灯片编号占位符 3"/>
          <p:cNvSpPr>
            <a:spLocks noGrp="1"/>
          </p:cNvSpPr>
          <p:nvPr>
            <p:ph type="sldNum" sz="quarter" idx="5"/>
          </p:nvPr>
        </p:nvSpPr>
        <p:spPr/>
        <p:txBody>
          <a:bodyPr/>
          <a:lstStyle/>
          <a:p>
            <a:fld id="{7DB42BEA-1C9E-4F69-A4DF-43828D1541F6}" type="slidenum">
              <a:rPr lang="en-US" smtClean="0"/>
              <a:t>6</a:t>
            </a:fld>
            <a:endParaRPr lang="en-US" dirty="0"/>
          </a:p>
        </p:txBody>
      </p:sp>
    </p:spTree>
    <p:extLst>
      <p:ext uri="{BB962C8B-B14F-4D97-AF65-F5344CB8AC3E}">
        <p14:creationId xmlns:p14="http://schemas.microsoft.com/office/powerpoint/2010/main" val="16574702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And here u can see the first equation illustrates how the state changes, the second shows how the state connected with output </a:t>
            </a:r>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7DB42BEA-1C9E-4F69-A4DF-43828D1541F6}" type="slidenum">
              <a:rPr lang="en-US" smtClean="0"/>
              <a:t>7</a:t>
            </a:fld>
            <a:endParaRPr lang="en-US" dirty="0"/>
          </a:p>
        </p:txBody>
      </p:sp>
    </p:spTree>
    <p:extLst>
      <p:ext uri="{BB962C8B-B14F-4D97-AF65-F5344CB8AC3E}">
        <p14:creationId xmlns:p14="http://schemas.microsoft.com/office/powerpoint/2010/main" val="2054017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DB42BEA-1C9E-4F69-A4DF-43828D1541F6}" type="slidenum">
              <a:rPr lang="en-US" smtClean="0"/>
              <a:t>8</a:t>
            </a:fld>
            <a:endParaRPr lang="en-US" dirty="0"/>
          </a:p>
        </p:txBody>
      </p:sp>
    </p:spTree>
    <p:extLst>
      <p:ext uri="{BB962C8B-B14F-4D97-AF65-F5344CB8AC3E}">
        <p14:creationId xmlns:p14="http://schemas.microsoft.com/office/powerpoint/2010/main" val="36004890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After deciding to use the Mamba model, we tried various variants of the Mamba model and trained them using the same dataset split. The table shows the results. As can be seen, all Mamba variants exhibit a lower number of parameters. Among these, the “slim mamba” is the Mamba architecture that we determined, through ablation experiments, to be best suited for this indoor localization task. It achieves the optimal balance between maximum accuracy and model size, hardware resource consumption, and training time.</a:t>
            </a:r>
            <a:endParaRPr lang="zh-CN" altLang="en-US" dirty="0"/>
          </a:p>
        </p:txBody>
      </p:sp>
      <p:sp>
        <p:nvSpPr>
          <p:cNvPr id="4" name="灯片编号占位符 3"/>
          <p:cNvSpPr>
            <a:spLocks noGrp="1"/>
          </p:cNvSpPr>
          <p:nvPr>
            <p:ph type="sldNum" sz="quarter" idx="5"/>
          </p:nvPr>
        </p:nvSpPr>
        <p:spPr/>
        <p:txBody>
          <a:bodyPr/>
          <a:lstStyle/>
          <a:p>
            <a:fld id="{7DB42BEA-1C9E-4F69-A4DF-43828D1541F6}" type="slidenum">
              <a:rPr lang="en-US" smtClean="0"/>
              <a:t>9</a:t>
            </a:fld>
            <a:endParaRPr lang="en-US" dirty="0"/>
          </a:p>
        </p:txBody>
      </p:sp>
    </p:spTree>
    <p:extLst>
      <p:ext uri="{BB962C8B-B14F-4D97-AF65-F5344CB8AC3E}">
        <p14:creationId xmlns:p14="http://schemas.microsoft.com/office/powerpoint/2010/main" val="38332402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Below is the structure of our modified Slim Mamba algorithm. The main changes are concentrated in the recursive section; we have removed the complex time-domain and frequency-domain discretization and replaced it with a relatively simple direct discrete-time update. Once the model architecture has been determined, our primary task is first to quantize the model, measure the quantization error, and identify the layer most sensitive to quantization. My teammates will explain these details later.</a:t>
            </a:r>
            <a:endParaRPr lang="zh-CN" altLang="en-US" dirty="0"/>
          </a:p>
        </p:txBody>
      </p:sp>
      <p:sp>
        <p:nvSpPr>
          <p:cNvPr id="4" name="灯片编号占位符 3"/>
          <p:cNvSpPr>
            <a:spLocks noGrp="1"/>
          </p:cNvSpPr>
          <p:nvPr>
            <p:ph type="sldNum" sz="quarter" idx="5"/>
          </p:nvPr>
        </p:nvSpPr>
        <p:spPr/>
        <p:txBody>
          <a:bodyPr/>
          <a:lstStyle/>
          <a:p>
            <a:fld id="{7DB42BEA-1C9E-4F69-A4DF-43828D1541F6}"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is the board-level architecture of our project deployed on FPGA. First, we store the data to be processed in the memory of the processing system, then preload it into the onboard DDR4 memory (Double Data Rate Fourth Generation Synchronous Dynamic Random Access Memory). Next, we transfer the data from the DDR4 memory to the board shell—that is, our acceleration core—by AXI DMA. The following diagram shows the internal structure of our accelerator within the programming logic. We use AXI Lite control and status registers to monitor the accelerator’s operating status and then control data transfer. These state flags are generated directly by the controller's FSM. As you can see, here are four blocks, all of which are identical Slim Mamba blocks in the pipeline. This means that when we update the model—for example, by training a new three-block or five-block model for a smaller or larger dataset—we can achieve this simply by changing the instantiation and making minor modifications to the controller, while ensuring that inference speed remains unchanged.</a:t>
            </a:r>
            <a:endParaRPr lang="zh-CN" altLang="en-US" dirty="0"/>
          </a:p>
        </p:txBody>
      </p:sp>
      <p:sp>
        <p:nvSpPr>
          <p:cNvPr id="4" name="灯片编号占位符 3"/>
          <p:cNvSpPr>
            <a:spLocks noGrp="1"/>
          </p:cNvSpPr>
          <p:nvPr>
            <p:ph type="sldNum" sz="quarter" idx="5"/>
          </p:nvPr>
        </p:nvSpPr>
        <p:spPr/>
        <p:txBody>
          <a:bodyPr/>
          <a:lstStyle/>
          <a:p>
            <a:fld id="{7DB42BEA-1C9E-4F69-A4DF-43828D1541F6}" type="slidenum">
              <a:rPr lang="en-US" smtClean="0"/>
              <a:t>11</a:t>
            </a:fld>
            <a:endParaRPr lang="en-US"/>
          </a:p>
        </p:txBody>
      </p:sp>
    </p:spTree>
    <p:extLst>
      <p:ext uri="{BB962C8B-B14F-4D97-AF65-F5344CB8AC3E}">
        <p14:creationId xmlns:p14="http://schemas.microsoft.com/office/powerpoint/2010/main" val="8527365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 ensure maintainability and reusability, we have implemented several measures. For example, within each block, all linear layers share the same MAC (multiply-accumulate) unit, and a manager is used to allocate missions. Additionally, all modules are instantiated using the same quantization engine, which allows us to easily modify the quantization target for any individual operation—such as switching between int8 and int16—without affecting the rest of the design. We designed the entire project using a unified interface, which ensures that future algorithm updates will not require a complete rewrite of the hardware. Additionally, after careful calculation, we adopted a shared MAC, which significantly reduces hardware utilization while maintaining the target frame rate. My teammate </a:t>
            </a:r>
            <a:r>
              <a:rPr lang="en-US" altLang="zh-CN" dirty="0" err="1"/>
              <a:t>Shengjie</a:t>
            </a:r>
            <a:r>
              <a:rPr lang="en-US" altLang="zh-CN" dirty="0"/>
              <a:t> will now walk you through the details of hardware.</a:t>
            </a:r>
            <a:endParaRPr lang="zh-CN" altLang="en-US" dirty="0"/>
          </a:p>
        </p:txBody>
      </p:sp>
      <p:sp>
        <p:nvSpPr>
          <p:cNvPr id="4" name="灯片编号占位符 3"/>
          <p:cNvSpPr>
            <a:spLocks noGrp="1"/>
          </p:cNvSpPr>
          <p:nvPr>
            <p:ph type="sldNum" sz="quarter" idx="5"/>
          </p:nvPr>
        </p:nvSpPr>
        <p:spPr/>
        <p:txBody>
          <a:bodyPr/>
          <a:lstStyle/>
          <a:p>
            <a:fld id="{7DB42BEA-1C9E-4F69-A4DF-43828D1541F6}" type="slidenum">
              <a:rPr lang="en-US" smtClean="0"/>
              <a:t>12</a:t>
            </a:fld>
            <a:endParaRPr lang="en-US"/>
          </a:p>
        </p:txBody>
      </p:sp>
    </p:spTree>
    <p:extLst>
      <p:ext uri="{BB962C8B-B14F-4D97-AF65-F5344CB8AC3E}">
        <p14:creationId xmlns:p14="http://schemas.microsoft.com/office/powerpoint/2010/main" val="35016334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15" name="Bildobjekt 14"/>
          <p:cNvPicPr>
            <a:picLocks noChangeAspect="1"/>
          </p:cNvPicPr>
          <p:nvPr userDrawn="1"/>
        </p:nvPicPr>
        <p:blipFill rotWithShape="1">
          <a:blip r:embed="rId2"/>
          <a:srcRect t="1410" b="15718"/>
          <a:stretch>
            <a:fillRect/>
          </a:stretch>
        </p:blipFill>
        <p:spPr>
          <a:xfrm>
            <a:off x="191763" y="188388"/>
            <a:ext cx="11787838" cy="6462175"/>
          </a:xfrm>
          <a:prstGeom prst="rect">
            <a:avLst/>
          </a:prstGeom>
        </p:spPr>
      </p:pic>
      <p:sp>
        <p:nvSpPr>
          <p:cNvPr id="3" name="Rektangel 2"/>
          <p:cNvSpPr/>
          <p:nvPr userDrawn="1"/>
        </p:nvSpPr>
        <p:spPr>
          <a:xfrm>
            <a:off x="5430003" y="1480432"/>
            <a:ext cx="6741360" cy="1298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sz="1795"/>
          </a:p>
        </p:txBody>
      </p:sp>
      <p:sp>
        <p:nvSpPr>
          <p:cNvPr id="6" name="Platshållare för text 5"/>
          <p:cNvSpPr>
            <a:spLocks noGrp="1"/>
          </p:cNvSpPr>
          <p:nvPr>
            <p:ph type="body" sz="quarter" idx="10" hasCustomPrompt="1"/>
          </p:nvPr>
        </p:nvSpPr>
        <p:spPr>
          <a:xfrm>
            <a:off x="6842254" y="1518628"/>
            <a:ext cx="4959227" cy="637985"/>
          </a:xfrm>
        </p:spPr>
        <p:txBody>
          <a:bodyPr>
            <a:noAutofit/>
          </a:bodyPr>
          <a:lstStyle>
            <a:lvl1pPr marL="0" indent="0">
              <a:lnSpc>
                <a:spcPct val="100000"/>
              </a:lnSpc>
              <a:spcBef>
                <a:spcPts val="0"/>
              </a:spcBef>
              <a:buNone/>
              <a:defRPr sz="4785" b="0" i="0">
                <a:solidFill>
                  <a:schemeClr val="accent1"/>
                </a:solidFill>
                <a:latin typeface="Times New Roman" panose="02020603050405020304" pitchFamily="18" charset="0"/>
                <a:cs typeface="Times New Roman" panose="02020603050405020304" pitchFamily="18" charset="0"/>
              </a:defRPr>
            </a:lvl1pPr>
          </a:lstStyle>
          <a:p>
            <a:r>
              <a:rPr lang="sv-SE" dirty="0" err="1"/>
              <a:t>Single</a:t>
            </a:r>
            <a:r>
              <a:rPr lang="sv-SE" dirty="0"/>
              <a:t> </a:t>
            </a:r>
            <a:r>
              <a:rPr lang="sv-SE" dirty="0" err="1"/>
              <a:t>line</a:t>
            </a:r>
            <a:r>
              <a:rPr lang="sv-SE" dirty="0"/>
              <a:t> </a:t>
            </a:r>
            <a:r>
              <a:rPr lang="sv-SE" dirty="0" err="1"/>
              <a:t>title</a:t>
            </a:r>
            <a:endParaRPr lang="sv-SE" dirty="0"/>
          </a:p>
        </p:txBody>
      </p:sp>
      <p:sp>
        <p:nvSpPr>
          <p:cNvPr id="12" name="Platshållare för text 11"/>
          <p:cNvSpPr>
            <a:spLocks noGrp="1"/>
          </p:cNvSpPr>
          <p:nvPr>
            <p:ph type="body" sz="quarter" idx="11" hasCustomPrompt="1"/>
          </p:nvPr>
        </p:nvSpPr>
        <p:spPr>
          <a:xfrm>
            <a:off x="6842253" y="2423260"/>
            <a:ext cx="5137348" cy="348447"/>
          </a:xfrm>
        </p:spPr>
        <p:txBody>
          <a:bodyPr>
            <a:noAutofit/>
          </a:bodyPr>
          <a:lstStyle>
            <a:lvl1pPr marL="0" indent="0">
              <a:spcBef>
                <a:spcPts val="0"/>
              </a:spcBef>
              <a:buNone/>
              <a:defRPr sz="1395" b="1" cap="all" spc="50" baseline="0">
                <a:solidFill>
                  <a:schemeClr val="accent1"/>
                </a:solidFill>
              </a:defRPr>
            </a:lvl1pPr>
          </a:lstStyle>
          <a:p>
            <a:r>
              <a:rPr lang="sv-SE" dirty="0" err="1"/>
              <a:t>Subtitle</a:t>
            </a:r>
            <a:r>
              <a:rPr lang="sv-SE" dirty="0"/>
              <a:t>, </a:t>
            </a:r>
            <a:r>
              <a:rPr lang="sv-SE" dirty="0" err="1"/>
              <a:t>name</a:t>
            </a:r>
            <a:r>
              <a:rPr lang="sv-SE" dirty="0"/>
              <a:t>, institution, </a:t>
            </a:r>
            <a:r>
              <a:rPr lang="sv-SE" dirty="0" err="1"/>
              <a:t>year</a:t>
            </a:r>
            <a:r>
              <a:rPr lang="sv-SE" dirty="0"/>
              <a:t> </a:t>
            </a:r>
            <a:r>
              <a:rPr lang="sv-SE" dirty="0" err="1"/>
              <a:t>etc</a:t>
            </a:r>
            <a:endParaRPr lang="sv-SE" dirty="0"/>
          </a:p>
        </p:txBody>
      </p:sp>
      <p:cxnSp>
        <p:nvCxnSpPr>
          <p:cNvPr id="7" name="Rak 6"/>
          <p:cNvCxnSpPr/>
          <p:nvPr userDrawn="1"/>
        </p:nvCxnSpPr>
        <p:spPr>
          <a:xfrm>
            <a:off x="6842254" y="2306806"/>
            <a:ext cx="5137347"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23" name="Bildobjekt 22"/>
          <p:cNvPicPr>
            <a:picLocks noChangeAspect="1"/>
          </p:cNvPicPr>
          <p:nvPr userDrawn="1"/>
        </p:nvPicPr>
        <p:blipFill>
          <a:blip r:embed="rId3"/>
          <a:stretch>
            <a:fillRect/>
          </a:stretch>
        </p:blipFill>
        <p:spPr>
          <a:xfrm>
            <a:off x="9358608" y="4216012"/>
            <a:ext cx="2812756" cy="2622939"/>
          </a:xfrm>
          <a:prstGeom prst="rect">
            <a:avLst/>
          </a:prstGeom>
        </p:spPr>
      </p:pic>
      <p:pic>
        <p:nvPicPr>
          <p:cNvPr id="9" name="Bildobjekt 8"/>
          <p:cNvPicPr>
            <a:picLocks noChangeAspect="1"/>
          </p:cNvPicPr>
          <p:nvPr userDrawn="1"/>
        </p:nvPicPr>
        <p:blipFill>
          <a:blip r:embed="rId4" cstate="screen"/>
          <a:stretch>
            <a:fillRect/>
          </a:stretch>
        </p:blipFill>
        <p:spPr>
          <a:xfrm>
            <a:off x="5714352" y="1627904"/>
            <a:ext cx="742658" cy="99045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longer">
    <p:spTree>
      <p:nvGrpSpPr>
        <p:cNvPr id="1" name=""/>
        <p:cNvGrpSpPr/>
        <p:nvPr/>
      </p:nvGrpSpPr>
      <p:grpSpPr>
        <a:xfrm>
          <a:off x="0" y="0"/>
          <a:ext cx="0" cy="0"/>
          <a:chOff x="0" y="0"/>
          <a:chExt cx="0" cy="0"/>
        </a:xfrm>
      </p:grpSpPr>
      <p:pic>
        <p:nvPicPr>
          <p:cNvPr id="18" name="Bildobjekt 17"/>
          <p:cNvPicPr>
            <a:picLocks noChangeAspect="1"/>
          </p:cNvPicPr>
          <p:nvPr userDrawn="1"/>
        </p:nvPicPr>
        <p:blipFill rotWithShape="1">
          <a:blip r:embed="rId2"/>
          <a:srcRect t="1410" b="15718"/>
          <a:stretch>
            <a:fillRect/>
          </a:stretch>
        </p:blipFill>
        <p:spPr>
          <a:xfrm>
            <a:off x="191763" y="188388"/>
            <a:ext cx="11787838" cy="6462175"/>
          </a:xfrm>
          <a:prstGeom prst="rect">
            <a:avLst/>
          </a:prstGeom>
        </p:spPr>
      </p:pic>
      <p:sp>
        <p:nvSpPr>
          <p:cNvPr id="3" name="Rektangel 2"/>
          <p:cNvSpPr/>
          <p:nvPr userDrawn="1"/>
        </p:nvSpPr>
        <p:spPr>
          <a:xfrm>
            <a:off x="5430003" y="1480432"/>
            <a:ext cx="6741360" cy="25853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sz="1795"/>
          </a:p>
        </p:txBody>
      </p:sp>
      <p:sp>
        <p:nvSpPr>
          <p:cNvPr id="12" name="Platshållare för text 11"/>
          <p:cNvSpPr>
            <a:spLocks noGrp="1"/>
          </p:cNvSpPr>
          <p:nvPr>
            <p:ph type="body" sz="quarter" idx="11" hasCustomPrompt="1"/>
          </p:nvPr>
        </p:nvSpPr>
        <p:spPr>
          <a:xfrm>
            <a:off x="5844404" y="3489855"/>
            <a:ext cx="6135199" cy="348447"/>
          </a:xfrm>
        </p:spPr>
        <p:txBody>
          <a:bodyPr>
            <a:noAutofit/>
          </a:bodyPr>
          <a:lstStyle>
            <a:lvl1pPr marL="0" marR="0" indent="0" algn="l" defTabSz="911860" rtl="0" eaLnBrk="1" fontAlgn="auto" latinLnBrk="0" hangingPunct="1">
              <a:lnSpc>
                <a:spcPct val="110000"/>
              </a:lnSpc>
              <a:spcBef>
                <a:spcPts val="0"/>
              </a:spcBef>
              <a:spcAft>
                <a:spcPts val="0"/>
              </a:spcAft>
              <a:buClr>
                <a:schemeClr val="accent1"/>
              </a:buClr>
              <a:buSzTx/>
              <a:buFont typeface="Arial" panose="020B0604020202020204" pitchFamily="34" charset="0"/>
              <a:buNone/>
              <a:defRPr sz="1395" b="1" cap="all" spc="50" baseline="0">
                <a:solidFill>
                  <a:schemeClr val="accent1"/>
                </a:solidFill>
              </a:defRPr>
            </a:lvl1pPr>
          </a:lstStyle>
          <a:p>
            <a:r>
              <a:rPr lang="sv-SE" dirty="0" err="1"/>
              <a:t>Subtitle</a:t>
            </a:r>
            <a:r>
              <a:rPr lang="sv-SE" dirty="0"/>
              <a:t>, </a:t>
            </a:r>
            <a:r>
              <a:rPr lang="sv-SE" dirty="0" err="1"/>
              <a:t>name</a:t>
            </a:r>
            <a:r>
              <a:rPr lang="sv-SE" dirty="0"/>
              <a:t>, institution, </a:t>
            </a:r>
            <a:r>
              <a:rPr lang="sv-SE" dirty="0" err="1"/>
              <a:t>year</a:t>
            </a:r>
            <a:r>
              <a:rPr lang="sv-SE" dirty="0"/>
              <a:t> </a:t>
            </a:r>
            <a:r>
              <a:rPr lang="sv-SE" dirty="0" err="1"/>
              <a:t>etc</a:t>
            </a:r>
            <a:endParaRPr lang="sv-SE" dirty="0"/>
          </a:p>
        </p:txBody>
      </p:sp>
      <p:cxnSp>
        <p:nvCxnSpPr>
          <p:cNvPr id="7" name="Rak 6"/>
          <p:cNvCxnSpPr/>
          <p:nvPr userDrawn="1"/>
        </p:nvCxnSpPr>
        <p:spPr>
          <a:xfrm>
            <a:off x="5845019" y="3344378"/>
            <a:ext cx="613446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2" name="Rektangel 2"/>
          <p:cNvSpPr/>
          <p:nvPr userDrawn="1"/>
        </p:nvSpPr>
        <p:spPr>
          <a:xfrm>
            <a:off x="135397" y="1167690"/>
            <a:ext cx="4257034" cy="469527"/>
          </a:xfrm>
          <a:custGeom>
            <a:avLst/>
            <a:gdLst>
              <a:gd name="connsiteX0" fmla="*/ 0 w 4488028"/>
              <a:gd name="connsiteY0" fmla="*/ 0 h 2937993"/>
              <a:gd name="connsiteX1" fmla="*/ 4488028 w 4488028"/>
              <a:gd name="connsiteY1" fmla="*/ 0 h 2937993"/>
              <a:gd name="connsiteX2" fmla="*/ 4488028 w 4488028"/>
              <a:gd name="connsiteY2" fmla="*/ 2937993 h 2937993"/>
              <a:gd name="connsiteX3" fmla="*/ 0 w 4488028"/>
              <a:gd name="connsiteY3" fmla="*/ 2937993 h 2937993"/>
              <a:gd name="connsiteX4" fmla="*/ 0 w 4488028"/>
              <a:gd name="connsiteY4" fmla="*/ 0 h 2937993"/>
              <a:gd name="connsiteX0-1" fmla="*/ 0 w 4488028"/>
              <a:gd name="connsiteY0-2" fmla="*/ 0 h 2937993"/>
              <a:gd name="connsiteX1-3" fmla="*/ 4488028 w 4488028"/>
              <a:gd name="connsiteY1-4" fmla="*/ 0 h 2937993"/>
              <a:gd name="connsiteX2-5" fmla="*/ 0 w 4488028"/>
              <a:gd name="connsiteY2-6" fmla="*/ 2937993 h 2937993"/>
              <a:gd name="connsiteX3-7" fmla="*/ 0 w 4488028"/>
              <a:gd name="connsiteY3-8" fmla="*/ 0 h 2937993"/>
            </a:gdLst>
            <a:ahLst/>
            <a:cxnLst>
              <a:cxn ang="0">
                <a:pos x="connsiteX0-1" y="connsiteY0-2"/>
              </a:cxn>
              <a:cxn ang="0">
                <a:pos x="connsiteX1-3" y="connsiteY1-4"/>
              </a:cxn>
              <a:cxn ang="0">
                <a:pos x="connsiteX2-5" y="connsiteY2-6"/>
              </a:cxn>
              <a:cxn ang="0">
                <a:pos x="connsiteX3-7" y="connsiteY3-8"/>
              </a:cxn>
            </a:cxnLst>
            <a:rect l="l" t="t" r="r" b="b"/>
            <a:pathLst>
              <a:path w="4488028" h="2937993">
                <a:moveTo>
                  <a:pt x="0" y="0"/>
                </a:moveTo>
                <a:lnTo>
                  <a:pt x="4488028" y="0"/>
                </a:lnTo>
                <a:lnTo>
                  <a:pt x="0" y="2937993"/>
                </a:lnTo>
                <a:lnTo>
                  <a:pt x="0" y="0"/>
                </a:lnTo>
                <a:close/>
              </a:path>
            </a:pathLst>
          </a:custGeom>
          <a:gradFill flip="none" rotWithShape="1">
            <a:gsLst>
              <a:gs pos="41000">
                <a:srgbClr val="FFFFFF">
                  <a:alpha val="76000"/>
                </a:srgbClr>
              </a:gs>
              <a:gs pos="50000">
                <a:srgbClr val="FFFFFF">
                  <a:alpha val="0"/>
                </a:srgbClr>
              </a:gs>
            </a:gsLst>
            <a:lin ang="3480000" scaled="0"/>
            <a:tileRect/>
          </a:gradFill>
          <a:ln w="12700" cap="flat">
            <a:noFill/>
            <a:miter lim="400000"/>
          </a:ln>
          <a:effectLst/>
          <a:sp3d/>
        </p:spPr>
        <p:txBody>
          <a:bodyPr rot="0" spcFirstLastPara="1" vertOverflow="overflow" horzOverflow="overflow" vert="horz" wrap="square" lIns="50659" tIns="50659" rIns="50659" bIns="50659" numCol="1" spcCol="38100" rtlCol="0" anchor="ctr">
            <a:spAutoFit/>
          </a:bodyPr>
          <a:lstStyle/>
          <a:p>
            <a:pPr marL="0" marR="0" lvl="0" indent="0" algn="ctr" defTabSz="582295" eaLnBrk="1" fontAlgn="auto" latinLnBrk="0" hangingPunct="0">
              <a:lnSpc>
                <a:spcPct val="100000"/>
              </a:lnSpc>
              <a:spcBef>
                <a:spcPts val="0"/>
              </a:spcBef>
              <a:spcAft>
                <a:spcPts val="0"/>
              </a:spcAft>
              <a:buClrTx/>
              <a:buSzTx/>
              <a:buFontTx/>
              <a:buNone/>
              <a:defRPr/>
            </a:pPr>
            <a:endParaRPr kumimoji="0" lang="sv-SE" sz="2395" b="0" i="0" u="none" strike="noStrike" kern="0" cap="none" spc="0" normalizeH="0" baseline="0" noProof="0">
              <a:ln>
                <a:noFill/>
              </a:ln>
              <a:solidFill>
                <a:srgbClr val="FFFFFF"/>
              </a:solidFill>
              <a:effectLst/>
              <a:uLnTx/>
              <a:uFillTx/>
              <a:latin typeface="Helvetica Light"/>
              <a:sym typeface="Helvetica Light"/>
            </a:endParaRPr>
          </a:p>
        </p:txBody>
      </p:sp>
      <p:sp>
        <p:nvSpPr>
          <p:cNvPr id="16" name="Platshållare för text 5"/>
          <p:cNvSpPr>
            <a:spLocks noGrp="1"/>
          </p:cNvSpPr>
          <p:nvPr>
            <p:ph type="body" sz="quarter" idx="10" hasCustomPrompt="1"/>
          </p:nvPr>
        </p:nvSpPr>
        <p:spPr>
          <a:xfrm>
            <a:off x="5844403" y="1765371"/>
            <a:ext cx="6135199" cy="1564752"/>
          </a:xfrm>
        </p:spPr>
        <p:txBody>
          <a:bodyPr wrap="square">
            <a:spAutoFit/>
          </a:bodyPr>
          <a:lstStyle>
            <a:lvl1pPr marL="0" indent="0">
              <a:lnSpc>
                <a:spcPct val="100000"/>
              </a:lnSpc>
              <a:spcBef>
                <a:spcPts val="0"/>
              </a:spcBef>
              <a:buNone/>
              <a:defRPr sz="4785" b="0" i="0">
                <a:solidFill>
                  <a:schemeClr val="accent1"/>
                </a:solidFill>
                <a:latin typeface="Times New Roman" panose="02020603050405020304" pitchFamily="18" charset="0"/>
                <a:cs typeface="Times New Roman" panose="02020603050405020304" pitchFamily="18" charset="0"/>
              </a:defRPr>
            </a:lvl1pPr>
          </a:lstStyle>
          <a:p>
            <a:r>
              <a:rPr lang="sv-SE" dirty="0" err="1"/>
              <a:t>Title</a:t>
            </a:r>
            <a:r>
              <a:rPr lang="sv-SE" dirty="0"/>
              <a:t> </a:t>
            </a:r>
            <a:r>
              <a:rPr lang="sv-SE" dirty="0" err="1"/>
              <a:t>slide</a:t>
            </a:r>
            <a:r>
              <a:rPr lang="sv-SE" dirty="0"/>
              <a:t> for </a:t>
            </a:r>
            <a:r>
              <a:rPr lang="sv-SE" dirty="0" err="1"/>
              <a:t>longer</a:t>
            </a:r>
            <a:r>
              <a:rPr lang="sv-SE" dirty="0"/>
              <a:t> </a:t>
            </a:r>
            <a:r>
              <a:rPr lang="sv-SE" dirty="0" err="1"/>
              <a:t>titles</a:t>
            </a:r>
            <a:endParaRPr lang="sv-SE" dirty="0"/>
          </a:p>
        </p:txBody>
      </p:sp>
      <p:pic>
        <p:nvPicPr>
          <p:cNvPr id="10" name="Bildobjekt 9"/>
          <p:cNvPicPr>
            <a:picLocks noChangeAspect="1"/>
          </p:cNvPicPr>
          <p:nvPr userDrawn="1"/>
        </p:nvPicPr>
        <p:blipFill>
          <a:blip r:embed="rId3"/>
          <a:stretch>
            <a:fillRect/>
          </a:stretch>
        </p:blipFill>
        <p:spPr>
          <a:xfrm>
            <a:off x="9358608" y="4216012"/>
            <a:ext cx="2812756" cy="2622939"/>
          </a:xfrm>
          <a:prstGeom prst="rect">
            <a:avLst/>
          </a:prstGeom>
        </p:spPr>
      </p:pic>
      <p:pic>
        <p:nvPicPr>
          <p:cNvPr id="13" name="Bildobjekt 12"/>
          <p:cNvPicPr>
            <a:picLocks noChangeAspect="1"/>
          </p:cNvPicPr>
          <p:nvPr userDrawn="1"/>
        </p:nvPicPr>
        <p:blipFill>
          <a:blip r:embed="rId4" cstate="screen"/>
          <a:stretch>
            <a:fillRect/>
          </a:stretch>
        </p:blipFill>
        <p:spPr>
          <a:xfrm>
            <a:off x="476111" y="352158"/>
            <a:ext cx="742658" cy="99045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pic>
        <p:nvPicPr>
          <p:cNvPr id="15" name="Bildobjekt 14"/>
          <p:cNvPicPr>
            <a:picLocks noChangeAspect="1"/>
          </p:cNvPicPr>
          <p:nvPr userDrawn="1"/>
        </p:nvPicPr>
        <p:blipFill rotWithShape="1">
          <a:blip r:embed="rId2"/>
          <a:srcRect l="6880" t="26162"/>
          <a:stretch>
            <a:fillRect/>
          </a:stretch>
        </p:blipFill>
        <p:spPr>
          <a:xfrm>
            <a:off x="191763" y="188388"/>
            <a:ext cx="11787838" cy="6462175"/>
          </a:xfrm>
          <a:prstGeom prst="rect">
            <a:avLst/>
          </a:prstGeom>
        </p:spPr>
      </p:pic>
      <p:sp>
        <p:nvSpPr>
          <p:cNvPr id="3" name="Rektangel 2"/>
          <p:cNvSpPr/>
          <p:nvPr userDrawn="1"/>
        </p:nvSpPr>
        <p:spPr>
          <a:xfrm>
            <a:off x="6735068" y="1480432"/>
            <a:ext cx="5436295" cy="1298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sz="1795"/>
          </a:p>
        </p:txBody>
      </p:sp>
      <p:sp>
        <p:nvSpPr>
          <p:cNvPr id="6" name="Platshållare för text 5"/>
          <p:cNvSpPr>
            <a:spLocks noGrp="1"/>
          </p:cNvSpPr>
          <p:nvPr>
            <p:ph type="body" sz="quarter" idx="10" hasCustomPrompt="1"/>
          </p:nvPr>
        </p:nvSpPr>
        <p:spPr>
          <a:xfrm>
            <a:off x="7020374" y="1518628"/>
            <a:ext cx="4959227" cy="637985"/>
          </a:xfrm>
        </p:spPr>
        <p:txBody>
          <a:bodyPr>
            <a:noAutofit/>
          </a:bodyPr>
          <a:lstStyle>
            <a:lvl1pPr marL="0" marR="0" indent="0" algn="l" defTabSz="911860" rtl="0" eaLnBrk="1" fontAlgn="auto" latinLnBrk="0" hangingPunct="1">
              <a:lnSpc>
                <a:spcPct val="100000"/>
              </a:lnSpc>
              <a:spcBef>
                <a:spcPts val="0"/>
              </a:spcBef>
              <a:spcAft>
                <a:spcPts val="0"/>
              </a:spcAft>
              <a:buClr>
                <a:schemeClr val="accent1"/>
              </a:buClr>
              <a:buSzTx/>
              <a:buFont typeface="Arial" panose="020B0604020202020204" pitchFamily="34" charset="0"/>
              <a:buNone/>
              <a:defRPr sz="4785" b="0" i="0">
                <a:solidFill>
                  <a:schemeClr val="accent1"/>
                </a:solidFill>
                <a:latin typeface="Times New Roman" panose="02020603050405020304" pitchFamily="18" charset="0"/>
                <a:cs typeface="Times New Roman" panose="02020603050405020304" pitchFamily="18" charset="0"/>
              </a:defRPr>
            </a:lvl1pPr>
          </a:lstStyle>
          <a:p>
            <a:r>
              <a:rPr lang="sv-SE" dirty="0" err="1"/>
              <a:t>Single</a:t>
            </a:r>
            <a:r>
              <a:rPr lang="sv-SE" dirty="0"/>
              <a:t> </a:t>
            </a:r>
            <a:r>
              <a:rPr lang="sv-SE" dirty="0" err="1"/>
              <a:t>line</a:t>
            </a:r>
            <a:r>
              <a:rPr lang="sv-SE" dirty="0"/>
              <a:t> </a:t>
            </a:r>
            <a:r>
              <a:rPr lang="sv-SE" dirty="0" err="1"/>
              <a:t>title</a:t>
            </a:r>
            <a:endParaRPr lang="sv-SE" dirty="0"/>
          </a:p>
        </p:txBody>
      </p:sp>
      <p:sp>
        <p:nvSpPr>
          <p:cNvPr id="12" name="Platshållare för text 11"/>
          <p:cNvSpPr>
            <a:spLocks noGrp="1"/>
          </p:cNvSpPr>
          <p:nvPr>
            <p:ph type="body" sz="quarter" idx="11" hasCustomPrompt="1"/>
          </p:nvPr>
        </p:nvSpPr>
        <p:spPr>
          <a:xfrm>
            <a:off x="7020373" y="2423260"/>
            <a:ext cx="4959228" cy="348447"/>
          </a:xfrm>
        </p:spPr>
        <p:txBody>
          <a:bodyPr>
            <a:noAutofit/>
          </a:bodyPr>
          <a:lstStyle>
            <a:lvl1pPr marL="0" marR="0" indent="0" algn="l" defTabSz="911860" rtl="0" eaLnBrk="1" fontAlgn="auto" latinLnBrk="0" hangingPunct="1">
              <a:lnSpc>
                <a:spcPct val="110000"/>
              </a:lnSpc>
              <a:spcBef>
                <a:spcPts val="0"/>
              </a:spcBef>
              <a:spcAft>
                <a:spcPts val="0"/>
              </a:spcAft>
              <a:buClr>
                <a:schemeClr val="accent1"/>
              </a:buClr>
              <a:buSzTx/>
              <a:buFont typeface="Arial" panose="020B0604020202020204" pitchFamily="34" charset="0"/>
              <a:buNone/>
              <a:defRPr sz="1395" b="1" cap="all" spc="50" baseline="0">
                <a:solidFill>
                  <a:schemeClr val="accent1"/>
                </a:solidFill>
              </a:defRPr>
            </a:lvl1pPr>
          </a:lstStyle>
          <a:p>
            <a:r>
              <a:rPr lang="sv-SE" dirty="0" err="1"/>
              <a:t>Subtitle</a:t>
            </a:r>
            <a:r>
              <a:rPr lang="sv-SE" dirty="0"/>
              <a:t>, </a:t>
            </a:r>
            <a:r>
              <a:rPr lang="sv-SE" dirty="0" err="1"/>
              <a:t>name</a:t>
            </a:r>
            <a:r>
              <a:rPr lang="sv-SE" dirty="0"/>
              <a:t>, institution, </a:t>
            </a:r>
            <a:r>
              <a:rPr lang="sv-SE" dirty="0" err="1"/>
              <a:t>year</a:t>
            </a:r>
            <a:r>
              <a:rPr lang="sv-SE" dirty="0"/>
              <a:t> </a:t>
            </a:r>
            <a:r>
              <a:rPr lang="sv-SE" dirty="0" err="1"/>
              <a:t>etc</a:t>
            </a:r>
            <a:endParaRPr lang="sv-SE" dirty="0"/>
          </a:p>
        </p:txBody>
      </p:sp>
      <p:cxnSp>
        <p:nvCxnSpPr>
          <p:cNvPr id="7" name="Rak 6"/>
          <p:cNvCxnSpPr/>
          <p:nvPr userDrawn="1"/>
        </p:nvCxnSpPr>
        <p:spPr>
          <a:xfrm>
            <a:off x="7020374" y="2306806"/>
            <a:ext cx="495922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Rektangel 2"/>
          <p:cNvSpPr/>
          <p:nvPr userDrawn="1"/>
        </p:nvSpPr>
        <p:spPr>
          <a:xfrm>
            <a:off x="135397" y="1167690"/>
            <a:ext cx="4257034" cy="469527"/>
          </a:xfrm>
          <a:custGeom>
            <a:avLst/>
            <a:gdLst>
              <a:gd name="connsiteX0" fmla="*/ 0 w 4488028"/>
              <a:gd name="connsiteY0" fmla="*/ 0 h 2937993"/>
              <a:gd name="connsiteX1" fmla="*/ 4488028 w 4488028"/>
              <a:gd name="connsiteY1" fmla="*/ 0 h 2937993"/>
              <a:gd name="connsiteX2" fmla="*/ 4488028 w 4488028"/>
              <a:gd name="connsiteY2" fmla="*/ 2937993 h 2937993"/>
              <a:gd name="connsiteX3" fmla="*/ 0 w 4488028"/>
              <a:gd name="connsiteY3" fmla="*/ 2937993 h 2937993"/>
              <a:gd name="connsiteX4" fmla="*/ 0 w 4488028"/>
              <a:gd name="connsiteY4" fmla="*/ 0 h 2937993"/>
              <a:gd name="connsiteX0-1" fmla="*/ 0 w 4488028"/>
              <a:gd name="connsiteY0-2" fmla="*/ 0 h 2937993"/>
              <a:gd name="connsiteX1-3" fmla="*/ 4488028 w 4488028"/>
              <a:gd name="connsiteY1-4" fmla="*/ 0 h 2937993"/>
              <a:gd name="connsiteX2-5" fmla="*/ 0 w 4488028"/>
              <a:gd name="connsiteY2-6" fmla="*/ 2937993 h 2937993"/>
              <a:gd name="connsiteX3-7" fmla="*/ 0 w 4488028"/>
              <a:gd name="connsiteY3-8" fmla="*/ 0 h 2937993"/>
            </a:gdLst>
            <a:ahLst/>
            <a:cxnLst>
              <a:cxn ang="0">
                <a:pos x="connsiteX0-1" y="connsiteY0-2"/>
              </a:cxn>
              <a:cxn ang="0">
                <a:pos x="connsiteX1-3" y="connsiteY1-4"/>
              </a:cxn>
              <a:cxn ang="0">
                <a:pos x="connsiteX2-5" y="connsiteY2-6"/>
              </a:cxn>
              <a:cxn ang="0">
                <a:pos x="connsiteX3-7" y="connsiteY3-8"/>
              </a:cxn>
            </a:cxnLst>
            <a:rect l="l" t="t" r="r" b="b"/>
            <a:pathLst>
              <a:path w="4488028" h="2937993">
                <a:moveTo>
                  <a:pt x="0" y="0"/>
                </a:moveTo>
                <a:lnTo>
                  <a:pt x="4488028" y="0"/>
                </a:lnTo>
                <a:lnTo>
                  <a:pt x="0" y="2937993"/>
                </a:lnTo>
                <a:lnTo>
                  <a:pt x="0" y="0"/>
                </a:lnTo>
                <a:close/>
              </a:path>
            </a:pathLst>
          </a:custGeom>
          <a:gradFill flip="none" rotWithShape="1">
            <a:gsLst>
              <a:gs pos="41000">
                <a:srgbClr val="FFFFFF">
                  <a:alpha val="76000"/>
                </a:srgbClr>
              </a:gs>
              <a:gs pos="50000">
                <a:srgbClr val="FFFFFF">
                  <a:alpha val="0"/>
                </a:srgbClr>
              </a:gs>
            </a:gsLst>
            <a:lin ang="3480000" scaled="0"/>
            <a:tileRect/>
          </a:gradFill>
          <a:ln w="12700" cap="flat">
            <a:noFill/>
            <a:miter lim="400000"/>
          </a:ln>
          <a:effectLst/>
          <a:sp3d/>
        </p:spPr>
        <p:txBody>
          <a:bodyPr rot="0" spcFirstLastPara="1" vertOverflow="overflow" horzOverflow="overflow" vert="horz" wrap="square" lIns="50659" tIns="50659" rIns="50659" bIns="50659" numCol="1" spcCol="38100" rtlCol="0" anchor="ctr">
            <a:spAutoFit/>
          </a:bodyPr>
          <a:lstStyle/>
          <a:p>
            <a:pPr marL="0" marR="0" lvl="0" indent="0" algn="ctr" defTabSz="582295" eaLnBrk="1" fontAlgn="auto" latinLnBrk="0" hangingPunct="0">
              <a:lnSpc>
                <a:spcPct val="100000"/>
              </a:lnSpc>
              <a:spcBef>
                <a:spcPts val="0"/>
              </a:spcBef>
              <a:spcAft>
                <a:spcPts val="0"/>
              </a:spcAft>
              <a:buClrTx/>
              <a:buSzTx/>
              <a:buFontTx/>
              <a:buNone/>
              <a:defRPr/>
            </a:pPr>
            <a:endParaRPr kumimoji="0" lang="sv-SE" sz="2395" b="0" i="0" u="none" strike="noStrike" kern="0" cap="none" spc="0" normalizeH="0" baseline="0" noProof="0">
              <a:ln>
                <a:noFill/>
              </a:ln>
              <a:solidFill>
                <a:srgbClr val="FFFFFF"/>
              </a:solidFill>
              <a:effectLst/>
              <a:uLnTx/>
              <a:uFillTx/>
              <a:latin typeface="Helvetica Light"/>
              <a:sym typeface="Helvetica Light"/>
            </a:endParaRPr>
          </a:p>
        </p:txBody>
      </p:sp>
      <p:pic>
        <p:nvPicPr>
          <p:cNvPr id="13" name="Bildobjekt 12"/>
          <p:cNvPicPr>
            <a:picLocks noChangeAspect="1"/>
          </p:cNvPicPr>
          <p:nvPr userDrawn="1"/>
        </p:nvPicPr>
        <p:blipFill>
          <a:blip r:embed="rId3"/>
          <a:stretch>
            <a:fillRect/>
          </a:stretch>
        </p:blipFill>
        <p:spPr>
          <a:xfrm>
            <a:off x="9358608" y="4216012"/>
            <a:ext cx="2812756" cy="2622939"/>
          </a:xfrm>
          <a:prstGeom prst="rect">
            <a:avLst/>
          </a:prstGeom>
        </p:spPr>
      </p:pic>
      <p:pic>
        <p:nvPicPr>
          <p:cNvPr id="14" name="Bildobjekt 13"/>
          <p:cNvPicPr>
            <a:picLocks noChangeAspect="1"/>
          </p:cNvPicPr>
          <p:nvPr userDrawn="1"/>
        </p:nvPicPr>
        <p:blipFill>
          <a:blip r:embed="rId4" cstate="screen"/>
          <a:stretch>
            <a:fillRect/>
          </a:stretch>
        </p:blipFill>
        <p:spPr>
          <a:xfrm>
            <a:off x="476111" y="352158"/>
            <a:ext cx="742658" cy="99045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longer">
    <p:spTree>
      <p:nvGrpSpPr>
        <p:cNvPr id="1" name=""/>
        <p:cNvGrpSpPr/>
        <p:nvPr/>
      </p:nvGrpSpPr>
      <p:grpSpPr>
        <a:xfrm>
          <a:off x="0" y="0"/>
          <a:ext cx="0" cy="0"/>
          <a:chOff x="0" y="0"/>
          <a:chExt cx="0" cy="0"/>
        </a:xfrm>
      </p:grpSpPr>
      <p:pic>
        <p:nvPicPr>
          <p:cNvPr id="11" name="Bildobjekt 10"/>
          <p:cNvPicPr>
            <a:picLocks noChangeAspect="1"/>
          </p:cNvPicPr>
          <p:nvPr userDrawn="1"/>
        </p:nvPicPr>
        <p:blipFill rotWithShape="1">
          <a:blip r:embed="rId2"/>
          <a:srcRect l="6880" t="26162"/>
          <a:stretch>
            <a:fillRect/>
          </a:stretch>
        </p:blipFill>
        <p:spPr>
          <a:xfrm>
            <a:off x="191763" y="188388"/>
            <a:ext cx="11787838" cy="6462175"/>
          </a:xfrm>
          <a:prstGeom prst="rect">
            <a:avLst/>
          </a:prstGeom>
        </p:spPr>
      </p:pic>
      <p:sp>
        <p:nvSpPr>
          <p:cNvPr id="14" name="Rektangel 2"/>
          <p:cNvSpPr/>
          <p:nvPr userDrawn="1"/>
        </p:nvSpPr>
        <p:spPr>
          <a:xfrm>
            <a:off x="135397" y="1167690"/>
            <a:ext cx="4257034" cy="469527"/>
          </a:xfrm>
          <a:custGeom>
            <a:avLst/>
            <a:gdLst>
              <a:gd name="connsiteX0" fmla="*/ 0 w 4488028"/>
              <a:gd name="connsiteY0" fmla="*/ 0 h 2937993"/>
              <a:gd name="connsiteX1" fmla="*/ 4488028 w 4488028"/>
              <a:gd name="connsiteY1" fmla="*/ 0 h 2937993"/>
              <a:gd name="connsiteX2" fmla="*/ 4488028 w 4488028"/>
              <a:gd name="connsiteY2" fmla="*/ 2937993 h 2937993"/>
              <a:gd name="connsiteX3" fmla="*/ 0 w 4488028"/>
              <a:gd name="connsiteY3" fmla="*/ 2937993 h 2937993"/>
              <a:gd name="connsiteX4" fmla="*/ 0 w 4488028"/>
              <a:gd name="connsiteY4" fmla="*/ 0 h 2937993"/>
              <a:gd name="connsiteX0-1" fmla="*/ 0 w 4488028"/>
              <a:gd name="connsiteY0-2" fmla="*/ 0 h 2937993"/>
              <a:gd name="connsiteX1-3" fmla="*/ 4488028 w 4488028"/>
              <a:gd name="connsiteY1-4" fmla="*/ 0 h 2937993"/>
              <a:gd name="connsiteX2-5" fmla="*/ 0 w 4488028"/>
              <a:gd name="connsiteY2-6" fmla="*/ 2937993 h 2937993"/>
              <a:gd name="connsiteX3-7" fmla="*/ 0 w 4488028"/>
              <a:gd name="connsiteY3-8" fmla="*/ 0 h 2937993"/>
            </a:gdLst>
            <a:ahLst/>
            <a:cxnLst>
              <a:cxn ang="0">
                <a:pos x="connsiteX0-1" y="connsiteY0-2"/>
              </a:cxn>
              <a:cxn ang="0">
                <a:pos x="connsiteX1-3" y="connsiteY1-4"/>
              </a:cxn>
              <a:cxn ang="0">
                <a:pos x="connsiteX2-5" y="connsiteY2-6"/>
              </a:cxn>
              <a:cxn ang="0">
                <a:pos x="connsiteX3-7" y="connsiteY3-8"/>
              </a:cxn>
            </a:cxnLst>
            <a:rect l="l" t="t" r="r" b="b"/>
            <a:pathLst>
              <a:path w="4488028" h="2937993">
                <a:moveTo>
                  <a:pt x="0" y="0"/>
                </a:moveTo>
                <a:lnTo>
                  <a:pt x="4488028" y="0"/>
                </a:lnTo>
                <a:lnTo>
                  <a:pt x="0" y="2937993"/>
                </a:lnTo>
                <a:lnTo>
                  <a:pt x="0" y="0"/>
                </a:lnTo>
                <a:close/>
              </a:path>
            </a:pathLst>
          </a:custGeom>
          <a:gradFill flip="none" rotWithShape="1">
            <a:gsLst>
              <a:gs pos="41000">
                <a:srgbClr val="FFFFFF">
                  <a:alpha val="76000"/>
                </a:srgbClr>
              </a:gs>
              <a:gs pos="50000">
                <a:srgbClr val="FFFFFF">
                  <a:alpha val="0"/>
                </a:srgbClr>
              </a:gs>
            </a:gsLst>
            <a:lin ang="3480000" scaled="0"/>
            <a:tileRect/>
          </a:gradFill>
          <a:ln w="12700" cap="flat">
            <a:noFill/>
            <a:miter lim="400000"/>
          </a:ln>
          <a:effectLst/>
          <a:sp3d/>
        </p:spPr>
        <p:txBody>
          <a:bodyPr rot="0" spcFirstLastPara="1" vertOverflow="overflow" horzOverflow="overflow" vert="horz" wrap="square" lIns="50659" tIns="50659" rIns="50659" bIns="50659" numCol="1" spcCol="38100" rtlCol="0" anchor="ctr">
            <a:spAutoFit/>
          </a:bodyPr>
          <a:lstStyle/>
          <a:p>
            <a:pPr marL="0" marR="0" lvl="0" indent="0" algn="ctr" defTabSz="582295" eaLnBrk="1" fontAlgn="auto" latinLnBrk="0" hangingPunct="0">
              <a:lnSpc>
                <a:spcPct val="100000"/>
              </a:lnSpc>
              <a:spcBef>
                <a:spcPts val="0"/>
              </a:spcBef>
              <a:spcAft>
                <a:spcPts val="0"/>
              </a:spcAft>
              <a:buClrTx/>
              <a:buSzTx/>
              <a:buFontTx/>
              <a:buNone/>
              <a:defRPr/>
            </a:pPr>
            <a:endParaRPr kumimoji="0" lang="sv-SE" sz="2395" b="0" i="0" u="none" strike="noStrike" kern="0" cap="none" spc="0" normalizeH="0" baseline="0" noProof="0">
              <a:ln>
                <a:noFill/>
              </a:ln>
              <a:solidFill>
                <a:srgbClr val="FFFFFF"/>
              </a:solidFill>
              <a:effectLst/>
              <a:uLnTx/>
              <a:uFillTx/>
              <a:latin typeface="Helvetica Light"/>
              <a:sym typeface="Helvetica Light"/>
            </a:endParaRPr>
          </a:p>
        </p:txBody>
      </p:sp>
      <p:sp>
        <p:nvSpPr>
          <p:cNvPr id="3" name="Rektangel 2"/>
          <p:cNvSpPr/>
          <p:nvPr userDrawn="1"/>
        </p:nvSpPr>
        <p:spPr>
          <a:xfrm>
            <a:off x="5430003" y="1480432"/>
            <a:ext cx="6741360" cy="25853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sz="1795"/>
          </a:p>
        </p:txBody>
      </p:sp>
      <p:sp>
        <p:nvSpPr>
          <p:cNvPr id="12" name="Platshållare för text 11"/>
          <p:cNvSpPr>
            <a:spLocks noGrp="1"/>
          </p:cNvSpPr>
          <p:nvPr>
            <p:ph type="body" sz="quarter" idx="11" hasCustomPrompt="1"/>
          </p:nvPr>
        </p:nvSpPr>
        <p:spPr>
          <a:xfrm>
            <a:off x="5844404" y="3489855"/>
            <a:ext cx="6135199" cy="348447"/>
          </a:xfrm>
        </p:spPr>
        <p:txBody>
          <a:bodyPr>
            <a:noAutofit/>
          </a:bodyPr>
          <a:lstStyle>
            <a:lvl1pPr marL="0" marR="0" indent="0" algn="l" defTabSz="911860" rtl="0" eaLnBrk="1" fontAlgn="auto" latinLnBrk="0" hangingPunct="1">
              <a:lnSpc>
                <a:spcPct val="110000"/>
              </a:lnSpc>
              <a:spcBef>
                <a:spcPts val="0"/>
              </a:spcBef>
              <a:spcAft>
                <a:spcPts val="0"/>
              </a:spcAft>
              <a:buClr>
                <a:schemeClr val="accent1"/>
              </a:buClr>
              <a:buSzTx/>
              <a:buFont typeface="Arial" panose="020B0604020202020204" pitchFamily="34" charset="0"/>
              <a:buNone/>
              <a:defRPr sz="1395" b="1" cap="all" spc="50" baseline="0">
                <a:solidFill>
                  <a:schemeClr val="accent1"/>
                </a:solidFill>
              </a:defRPr>
            </a:lvl1pPr>
          </a:lstStyle>
          <a:p>
            <a:r>
              <a:rPr lang="sv-SE" dirty="0" err="1"/>
              <a:t>Subtitle</a:t>
            </a:r>
            <a:r>
              <a:rPr lang="sv-SE" dirty="0"/>
              <a:t>, </a:t>
            </a:r>
            <a:r>
              <a:rPr lang="sv-SE" dirty="0" err="1"/>
              <a:t>name</a:t>
            </a:r>
            <a:r>
              <a:rPr lang="sv-SE" dirty="0"/>
              <a:t>, institution, </a:t>
            </a:r>
            <a:r>
              <a:rPr lang="sv-SE" dirty="0" err="1"/>
              <a:t>year</a:t>
            </a:r>
            <a:r>
              <a:rPr lang="sv-SE" dirty="0"/>
              <a:t> </a:t>
            </a:r>
            <a:r>
              <a:rPr lang="sv-SE" dirty="0" err="1"/>
              <a:t>etc</a:t>
            </a:r>
            <a:endParaRPr lang="sv-SE" dirty="0"/>
          </a:p>
        </p:txBody>
      </p:sp>
      <p:cxnSp>
        <p:nvCxnSpPr>
          <p:cNvPr id="7" name="Rak 6"/>
          <p:cNvCxnSpPr/>
          <p:nvPr userDrawn="1"/>
        </p:nvCxnSpPr>
        <p:spPr>
          <a:xfrm>
            <a:off x="5845019" y="3344378"/>
            <a:ext cx="613446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6" name="Platshållare för text 5"/>
          <p:cNvSpPr>
            <a:spLocks noGrp="1"/>
          </p:cNvSpPr>
          <p:nvPr>
            <p:ph type="body" sz="quarter" idx="10" hasCustomPrompt="1"/>
          </p:nvPr>
        </p:nvSpPr>
        <p:spPr>
          <a:xfrm>
            <a:off x="5844403" y="1765371"/>
            <a:ext cx="6135199" cy="1564752"/>
          </a:xfrm>
        </p:spPr>
        <p:txBody>
          <a:bodyPr wrap="square">
            <a:spAutoFit/>
          </a:bodyPr>
          <a:lstStyle>
            <a:lvl1pPr marL="0" indent="0">
              <a:lnSpc>
                <a:spcPct val="100000"/>
              </a:lnSpc>
              <a:spcBef>
                <a:spcPts val="0"/>
              </a:spcBef>
              <a:buNone/>
              <a:defRPr sz="4785" b="0" i="0">
                <a:solidFill>
                  <a:schemeClr val="accent1"/>
                </a:solidFill>
                <a:latin typeface="Times New Roman" panose="02020603050405020304" pitchFamily="18" charset="0"/>
                <a:cs typeface="Times New Roman" panose="02020603050405020304" pitchFamily="18" charset="0"/>
              </a:defRPr>
            </a:lvl1pPr>
          </a:lstStyle>
          <a:p>
            <a:r>
              <a:rPr lang="sv-SE" dirty="0" err="1"/>
              <a:t>Title</a:t>
            </a:r>
            <a:r>
              <a:rPr lang="sv-SE" dirty="0"/>
              <a:t> </a:t>
            </a:r>
            <a:r>
              <a:rPr lang="sv-SE" dirty="0" err="1"/>
              <a:t>slide</a:t>
            </a:r>
            <a:r>
              <a:rPr lang="sv-SE" dirty="0"/>
              <a:t> for </a:t>
            </a:r>
            <a:r>
              <a:rPr lang="sv-SE" dirty="0" err="1"/>
              <a:t>longer</a:t>
            </a:r>
            <a:r>
              <a:rPr lang="sv-SE" dirty="0"/>
              <a:t> </a:t>
            </a:r>
            <a:r>
              <a:rPr lang="sv-SE" dirty="0" err="1"/>
              <a:t>titles</a:t>
            </a:r>
            <a:endParaRPr lang="sv-SE" dirty="0"/>
          </a:p>
        </p:txBody>
      </p:sp>
      <p:pic>
        <p:nvPicPr>
          <p:cNvPr id="10" name="Bildobjekt 9"/>
          <p:cNvPicPr>
            <a:picLocks noChangeAspect="1"/>
          </p:cNvPicPr>
          <p:nvPr userDrawn="1"/>
        </p:nvPicPr>
        <p:blipFill>
          <a:blip r:embed="rId3"/>
          <a:stretch>
            <a:fillRect/>
          </a:stretch>
        </p:blipFill>
        <p:spPr>
          <a:xfrm>
            <a:off x="9358608" y="4216012"/>
            <a:ext cx="2812756" cy="2622939"/>
          </a:xfrm>
          <a:prstGeom prst="rect">
            <a:avLst/>
          </a:prstGeom>
        </p:spPr>
      </p:pic>
      <p:pic>
        <p:nvPicPr>
          <p:cNvPr id="13" name="Bildobjekt 12"/>
          <p:cNvPicPr>
            <a:picLocks noChangeAspect="1"/>
          </p:cNvPicPr>
          <p:nvPr userDrawn="1"/>
        </p:nvPicPr>
        <p:blipFill>
          <a:blip r:embed="rId4" cstate="screen"/>
          <a:stretch>
            <a:fillRect/>
          </a:stretch>
        </p:blipFill>
        <p:spPr>
          <a:xfrm>
            <a:off x="476111" y="352158"/>
            <a:ext cx="742658" cy="990456"/>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pic>
        <p:nvPicPr>
          <p:cNvPr id="11" name="Bildobjekt 10"/>
          <p:cNvPicPr>
            <a:picLocks noChangeAspect="1"/>
          </p:cNvPicPr>
          <p:nvPr userDrawn="1"/>
        </p:nvPicPr>
        <p:blipFill rotWithShape="1">
          <a:blip r:embed="rId2"/>
          <a:srcRect l="10261" t="19608" b="8271"/>
          <a:stretch>
            <a:fillRect/>
          </a:stretch>
        </p:blipFill>
        <p:spPr>
          <a:xfrm>
            <a:off x="191763" y="188388"/>
            <a:ext cx="11787838" cy="6462175"/>
          </a:xfrm>
          <a:prstGeom prst="rect">
            <a:avLst/>
          </a:prstGeom>
        </p:spPr>
      </p:pic>
      <p:sp>
        <p:nvSpPr>
          <p:cNvPr id="3" name="Rektangel 2"/>
          <p:cNvSpPr/>
          <p:nvPr userDrawn="1"/>
        </p:nvSpPr>
        <p:spPr>
          <a:xfrm>
            <a:off x="6735068" y="1480432"/>
            <a:ext cx="5436295" cy="1298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sz="1795"/>
          </a:p>
        </p:txBody>
      </p:sp>
      <p:sp>
        <p:nvSpPr>
          <p:cNvPr id="6" name="Platshållare för text 5"/>
          <p:cNvSpPr>
            <a:spLocks noGrp="1"/>
          </p:cNvSpPr>
          <p:nvPr>
            <p:ph type="body" sz="quarter" idx="10" hasCustomPrompt="1"/>
          </p:nvPr>
        </p:nvSpPr>
        <p:spPr>
          <a:xfrm>
            <a:off x="7020374" y="1518628"/>
            <a:ext cx="4959227" cy="637985"/>
          </a:xfrm>
        </p:spPr>
        <p:txBody>
          <a:bodyPr>
            <a:noAutofit/>
          </a:bodyPr>
          <a:lstStyle>
            <a:lvl1pPr marL="0" marR="0" indent="0" algn="l" defTabSz="911860" rtl="0" eaLnBrk="1" fontAlgn="auto" latinLnBrk="0" hangingPunct="1">
              <a:lnSpc>
                <a:spcPct val="100000"/>
              </a:lnSpc>
              <a:spcBef>
                <a:spcPts val="0"/>
              </a:spcBef>
              <a:spcAft>
                <a:spcPts val="0"/>
              </a:spcAft>
              <a:buClr>
                <a:schemeClr val="accent1"/>
              </a:buClr>
              <a:buSzTx/>
              <a:buFont typeface="Arial" panose="020B0604020202020204" pitchFamily="34" charset="0"/>
              <a:buNone/>
              <a:defRPr sz="4785" b="0" i="0">
                <a:solidFill>
                  <a:schemeClr val="accent1"/>
                </a:solidFill>
                <a:latin typeface="Times New Roman" panose="02020603050405020304" pitchFamily="18" charset="0"/>
                <a:cs typeface="Times New Roman" panose="02020603050405020304" pitchFamily="18" charset="0"/>
              </a:defRPr>
            </a:lvl1pPr>
          </a:lstStyle>
          <a:p>
            <a:r>
              <a:rPr lang="sv-SE" dirty="0" err="1"/>
              <a:t>Single</a:t>
            </a:r>
            <a:r>
              <a:rPr lang="sv-SE" dirty="0"/>
              <a:t> </a:t>
            </a:r>
            <a:r>
              <a:rPr lang="sv-SE" dirty="0" err="1"/>
              <a:t>line</a:t>
            </a:r>
            <a:r>
              <a:rPr lang="sv-SE" dirty="0"/>
              <a:t> </a:t>
            </a:r>
            <a:r>
              <a:rPr lang="sv-SE" dirty="0" err="1"/>
              <a:t>title</a:t>
            </a:r>
            <a:endParaRPr lang="sv-SE" dirty="0"/>
          </a:p>
        </p:txBody>
      </p:sp>
      <p:sp>
        <p:nvSpPr>
          <p:cNvPr id="12" name="Platshållare för text 11"/>
          <p:cNvSpPr>
            <a:spLocks noGrp="1"/>
          </p:cNvSpPr>
          <p:nvPr>
            <p:ph type="body" sz="quarter" idx="11" hasCustomPrompt="1"/>
          </p:nvPr>
        </p:nvSpPr>
        <p:spPr>
          <a:xfrm>
            <a:off x="7020373" y="2423260"/>
            <a:ext cx="4959228" cy="348447"/>
          </a:xfrm>
        </p:spPr>
        <p:txBody>
          <a:bodyPr>
            <a:noAutofit/>
          </a:bodyPr>
          <a:lstStyle>
            <a:lvl1pPr marL="0" marR="0" indent="0" algn="l" defTabSz="911860" rtl="0" eaLnBrk="1" fontAlgn="auto" latinLnBrk="0" hangingPunct="1">
              <a:lnSpc>
                <a:spcPct val="110000"/>
              </a:lnSpc>
              <a:spcBef>
                <a:spcPts val="0"/>
              </a:spcBef>
              <a:spcAft>
                <a:spcPts val="0"/>
              </a:spcAft>
              <a:buClr>
                <a:schemeClr val="accent1"/>
              </a:buClr>
              <a:buSzTx/>
              <a:buFont typeface="Arial" panose="020B0604020202020204" pitchFamily="34" charset="0"/>
              <a:buNone/>
              <a:defRPr sz="1395" b="1" cap="all" spc="50" baseline="0">
                <a:solidFill>
                  <a:schemeClr val="accent1"/>
                </a:solidFill>
              </a:defRPr>
            </a:lvl1pPr>
          </a:lstStyle>
          <a:p>
            <a:r>
              <a:rPr lang="sv-SE" dirty="0" err="1"/>
              <a:t>Subtitle</a:t>
            </a:r>
            <a:r>
              <a:rPr lang="sv-SE" dirty="0"/>
              <a:t>, </a:t>
            </a:r>
            <a:r>
              <a:rPr lang="sv-SE" dirty="0" err="1"/>
              <a:t>name</a:t>
            </a:r>
            <a:r>
              <a:rPr lang="sv-SE" dirty="0"/>
              <a:t>, institution, </a:t>
            </a:r>
            <a:r>
              <a:rPr lang="sv-SE" dirty="0" err="1"/>
              <a:t>year</a:t>
            </a:r>
            <a:r>
              <a:rPr lang="sv-SE" dirty="0"/>
              <a:t> </a:t>
            </a:r>
            <a:r>
              <a:rPr lang="sv-SE" dirty="0" err="1"/>
              <a:t>etc</a:t>
            </a:r>
            <a:endParaRPr lang="sv-SE" dirty="0"/>
          </a:p>
        </p:txBody>
      </p:sp>
      <p:cxnSp>
        <p:nvCxnSpPr>
          <p:cNvPr id="7" name="Rak 6"/>
          <p:cNvCxnSpPr/>
          <p:nvPr userDrawn="1"/>
        </p:nvCxnSpPr>
        <p:spPr>
          <a:xfrm>
            <a:off x="7020374" y="2306806"/>
            <a:ext cx="4959227"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13" name="Bildobjekt 12"/>
          <p:cNvPicPr>
            <a:picLocks noChangeAspect="1"/>
          </p:cNvPicPr>
          <p:nvPr userDrawn="1"/>
        </p:nvPicPr>
        <p:blipFill>
          <a:blip r:embed="rId3"/>
          <a:stretch>
            <a:fillRect/>
          </a:stretch>
        </p:blipFill>
        <p:spPr>
          <a:xfrm>
            <a:off x="9358608" y="4216012"/>
            <a:ext cx="2812756" cy="2622939"/>
          </a:xfrm>
          <a:prstGeom prst="rect">
            <a:avLst/>
          </a:prstGeom>
        </p:spPr>
      </p:pic>
      <p:pic>
        <p:nvPicPr>
          <p:cNvPr id="14" name="Bildobjekt 13"/>
          <p:cNvPicPr>
            <a:picLocks noChangeAspect="1"/>
          </p:cNvPicPr>
          <p:nvPr userDrawn="1"/>
        </p:nvPicPr>
        <p:blipFill>
          <a:blip r:embed="rId4" cstate="screen"/>
          <a:stretch>
            <a:fillRect/>
          </a:stretch>
        </p:blipFill>
        <p:spPr>
          <a:xfrm>
            <a:off x="476111" y="352158"/>
            <a:ext cx="742658" cy="9904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3 longer">
    <p:spTree>
      <p:nvGrpSpPr>
        <p:cNvPr id="1" name=""/>
        <p:cNvGrpSpPr/>
        <p:nvPr/>
      </p:nvGrpSpPr>
      <p:grpSpPr>
        <a:xfrm>
          <a:off x="0" y="0"/>
          <a:ext cx="0" cy="0"/>
          <a:chOff x="0" y="0"/>
          <a:chExt cx="0" cy="0"/>
        </a:xfrm>
      </p:grpSpPr>
      <p:pic>
        <p:nvPicPr>
          <p:cNvPr id="8" name="Bildobjekt 7"/>
          <p:cNvPicPr>
            <a:picLocks noChangeAspect="1"/>
          </p:cNvPicPr>
          <p:nvPr userDrawn="1"/>
        </p:nvPicPr>
        <p:blipFill rotWithShape="1">
          <a:blip r:embed="rId2"/>
          <a:srcRect l="10261" t="19608" b="8271"/>
          <a:stretch>
            <a:fillRect/>
          </a:stretch>
        </p:blipFill>
        <p:spPr>
          <a:xfrm>
            <a:off x="191763" y="188388"/>
            <a:ext cx="11787838" cy="6462175"/>
          </a:xfrm>
          <a:prstGeom prst="rect">
            <a:avLst/>
          </a:prstGeom>
        </p:spPr>
      </p:pic>
      <p:sp>
        <p:nvSpPr>
          <p:cNvPr id="3" name="Rektangel 2"/>
          <p:cNvSpPr/>
          <p:nvPr userDrawn="1"/>
        </p:nvSpPr>
        <p:spPr>
          <a:xfrm>
            <a:off x="5430003" y="1480432"/>
            <a:ext cx="6741360" cy="25853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sz="1795"/>
          </a:p>
        </p:txBody>
      </p:sp>
      <p:sp>
        <p:nvSpPr>
          <p:cNvPr id="12" name="Platshållare för text 11"/>
          <p:cNvSpPr>
            <a:spLocks noGrp="1"/>
          </p:cNvSpPr>
          <p:nvPr>
            <p:ph type="body" sz="quarter" idx="11" hasCustomPrompt="1"/>
          </p:nvPr>
        </p:nvSpPr>
        <p:spPr>
          <a:xfrm>
            <a:off x="5844404" y="3489855"/>
            <a:ext cx="6135199" cy="348447"/>
          </a:xfrm>
        </p:spPr>
        <p:txBody>
          <a:bodyPr>
            <a:noAutofit/>
          </a:bodyPr>
          <a:lstStyle>
            <a:lvl1pPr marL="0" marR="0" indent="0" algn="l" defTabSz="911860" rtl="0" eaLnBrk="1" fontAlgn="auto" latinLnBrk="0" hangingPunct="1">
              <a:lnSpc>
                <a:spcPct val="110000"/>
              </a:lnSpc>
              <a:spcBef>
                <a:spcPts val="0"/>
              </a:spcBef>
              <a:spcAft>
                <a:spcPts val="0"/>
              </a:spcAft>
              <a:buClr>
                <a:schemeClr val="accent1"/>
              </a:buClr>
              <a:buSzTx/>
              <a:buFont typeface="Arial" panose="020B0604020202020204" pitchFamily="34" charset="0"/>
              <a:buNone/>
              <a:defRPr sz="1395" b="1" cap="all" spc="50" baseline="0">
                <a:solidFill>
                  <a:schemeClr val="accent1"/>
                </a:solidFill>
              </a:defRPr>
            </a:lvl1pPr>
          </a:lstStyle>
          <a:p>
            <a:r>
              <a:rPr lang="sv-SE" dirty="0" err="1"/>
              <a:t>Subtitle</a:t>
            </a:r>
            <a:r>
              <a:rPr lang="sv-SE" dirty="0"/>
              <a:t>, </a:t>
            </a:r>
            <a:r>
              <a:rPr lang="sv-SE" dirty="0" err="1"/>
              <a:t>name</a:t>
            </a:r>
            <a:r>
              <a:rPr lang="sv-SE" dirty="0"/>
              <a:t>, institution, </a:t>
            </a:r>
            <a:r>
              <a:rPr lang="sv-SE" dirty="0" err="1"/>
              <a:t>year</a:t>
            </a:r>
            <a:r>
              <a:rPr lang="sv-SE" dirty="0"/>
              <a:t> </a:t>
            </a:r>
            <a:r>
              <a:rPr lang="sv-SE" dirty="0" err="1"/>
              <a:t>etc</a:t>
            </a:r>
            <a:endParaRPr lang="sv-SE" dirty="0"/>
          </a:p>
        </p:txBody>
      </p:sp>
      <p:cxnSp>
        <p:nvCxnSpPr>
          <p:cNvPr id="7" name="Rak 6"/>
          <p:cNvCxnSpPr/>
          <p:nvPr userDrawn="1"/>
        </p:nvCxnSpPr>
        <p:spPr>
          <a:xfrm>
            <a:off x="5845019" y="3344378"/>
            <a:ext cx="613446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6" name="Platshållare för text 5"/>
          <p:cNvSpPr>
            <a:spLocks noGrp="1"/>
          </p:cNvSpPr>
          <p:nvPr>
            <p:ph type="body" sz="quarter" idx="10" hasCustomPrompt="1"/>
          </p:nvPr>
        </p:nvSpPr>
        <p:spPr>
          <a:xfrm>
            <a:off x="5844403" y="1765371"/>
            <a:ext cx="6135199" cy="1564752"/>
          </a:xfrm>
        </p:spPr>
        <p:txBody>
          <a:bodyPr wrap="square">
            <a:spAutoFit/>
          </a:bodyPr>
          <a:lstStyle>
            <a:lvl1pPr marL="0" indent="0">
              <a:lnSpc>
                <a:spcPct val="100000"/>
              </a:lnSpc>
              <a:spcBef>
                <a:spcPts val="0"/>
              </a:spcBef>
              <a:buNone/>
              <a:defRPr sz="4785" b="0" i="0">
                <a:solidFill>
                  <a:schemeClr val="accent1"/>
                </a:solidFill>
                <a:latin typeface="Times New Roman" panose="02020603050405020304" pitchFamily="18" charset="0"/>
                <a:cs typeface="Times New Roman" panose="02020603050405020304" pitchFamily="18" charset="0"/>
              </a:defRPr>
            </a:lvl1pPr>
          </a:lstStyle>
          <a:p>
            <a:r>
              <a:rPr lang="sv-SE" dirty="0" err="1"/>
              <a:t>Title</a:t>
            </a:r>
            <a:r>
              <a:rPr lang="sv-SE" dirty="0"/>
              <a:t> </a:t>
            </a:r>
            <a:r>
              <a:rPr lang="sv-SE" dirty="0" err="1"/>
              <a:t>slide</a:t>
            </a:r>
            <a:r>
              <a:rPr lang="sv-SE" dirty="0"/>
              <a:t> for </a:t>
            </a:r>
            <a:r>
              <a:rPr lang="sv-SE" dirty="0" err="1"/>
              <a:t>longer</a:t>
            </a:r>
            <a:r>
              <a:rPr lang="sv-SE" dirty="0"/>
              <a:t> </a:t>
            </a:r>
            <a:r>
              <a:rPr lang="sv-SE" dirty="0" err="1"/>
              <a:t>titles</a:t>
            </a:r>
            <a:endParaRPr lang="sv-SE" dirty="0"/>
          </a:p>
        </p:txBody>
      </p:sp>
      <p:pic>
        <p:nvPicPr>
          <p:cNvPr id="10" name="Bildobjekt 9"/>
          <p:cNvPicPr>
            <a:picLocks noChangeAspect="1"/>
          </p:cNvPicPr>
          <p:nvPr userDrawn="1"/>
        </p:nvPicPr>
        <p:blipFill>
          <a:blip r:embed="rId3"/>
          <a:stretch>
            <a:fillRect/>
          </a:stretch>
        </p:blipFill>
        <p:spPr>
          <a:xfrm>
            <a:off x="9358608" y="4216012"/>
            <a:ext cx="2812756" cy="2622939"/>
          </a:xfrm>
          <a:prstGeom prst="rect">
            <a:avLst/>
          </a:prstGeom>
        </p:spPr>
      </p:pic>
      <p:pic>
        <p:nvPicPr>
          <p:cNvPr id="13" name="Bildobjekt 12"/>
          <p:cNvPicPr>
            <a:picLocks noChangeAspect="1"/>
          </p:cNvPicPr>
          <p:nvPr userDrawn="1"/>
        </p:nvPicPr>
        <p:blipFill>
          <a:blip r:embed="rId4" cstate="screen"/>
          <a:stretch>
            <a:fillRect/>
          </a:stretch>
        </p:blipFill>
        <p:spPr>
          <a:xfrm>
            <a:off x="476111" y="352158"/>
            <a:ext cx="742658" cy="9904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1 line pink">
    <p:spTree>
      <p:nvGrpSpPr>
        <p:cNvPr id="1" name=""/>
        <p:cNvGrpSpPr/>
        <p:nvPr/>
      </p:nvGrpSpPr>
      <p:grpSpPr>
        <a:xfrm>
          <a:off x="0" y="0"/>
          <a:ext cx="0" cy="0"/>
          <a:chOff x="0" y="0"/>
          <a:chExt cx="0" cy="0"/>
        </a:xfrm>
      </p:grpSpPr>
      <p:pic>
        <p:nvPicPr>
          <p:cNvPr id="25" name="Bildobjekt 24" descr="huset-rosa_16-9.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88" y="-1"/>
            <a:ext cx="12180984" cy="6838951"/>
          </a:xfrm>
          <a:prstGeom prst="rect">
            <a:avLst/>
          </a:prstGeom>
        </p:spPr>
      </p:pic>
      <p:sp>
        <p:nvSpPr>
          <p:cNvPr id="6" name="Rektangel 5"/>
          <p:cNvSpPr/>
          <p:nvPr userDrawn="1"/>
        </p:nvSpPr>
        <p:spPr bwMode="auto">
          <a:xfrm>
            <a:off x="4109337" y="1467998"/>
            <a:ext cx="8062026" cy="12960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04875" rtl="0" eaLnBrk="1" fontAlgn="base" latinLnBrk="0" hangingPunct="1">
              <a:lnSpc>
                <a:spcPct val="100000"/>
              </a:lnSpc>
              <a:spcBef>
                <a:spcPct val="0"/>
              </a:spcBef>
              <a:spcAft>
                <a:spcPct val="0"/>
              </a:spcAft>
              <a:buClrTx/>
              <a:buSzTx/>
              <a:buFontTx/>
              <a:buNone/>
            </a:pPr>
            <a:endParaRPr kumimoji="0" lang="sv-SE" sz="1800" b="1" i="0" u="none" strike="noStrike" cap="none" normalizeH="0" baseline="0" dirty="0">
              <a:ln>
                <a:noFill/>
              </a:ln>
              <a:solidFill>
                <a:schemeClr val="tx1"/>
              </a:solidFill>
              <a:effectLst/>
              <a:latin typeface="Arial" panose="020B0604020202020204" pitchFamily="34" charset="0"/>
            </a:endParaRPr>
          </a:p>
        </p:txBody>
      </p:sp>
      <p:sp>
        <p:nvSpPr>
          <p:cNvPr id="9" name="Rubrik 1"/>
          <p:cNvSpPr>
            <a:spLocks noGrp="1"/>
          </p:cNvSpPr>
          <p:nvPr>
            <p:ph type="ctrTitle" hasCustomPrompt="1"/>
          </p:nvPr>
        </p:nvSpPr>
        <p:spPr>
          <a:xfrm>
            <a:off x="4383598" y="1583677"/>
            <a:ext cx="7490902" cy="714380"/>
          </a:xfrm>
        </p:spPr>
        <p:txBody>
          <a:bodyPr lIns="0" tIns="97200" rIns="0" bIns="82800"/>
          <a:lstStyle>
            <a:lvl1pPr>
              <a:defRPr sz="4000" baseline="0"/>
            </a:lvl1pPr>
          </a:lstStyle>
          <a:p>
            <a:r>
              <a:rPr lang="en-GB" noProof="0" dirty="0"/>
              <a:t>Single-line title</a:t>
            </a:r>
          </a:p>
        </p:txBody>
      </p:sp>
      <p:sp>
        <p:nvSpPr>
          <p:cNvPr id="10" name="Underrubrik 2"/>
          <p:cNvSpPr>
            <a:spLocks noGrp="1"/>
          </p:cNvSpPr>
          <p:nvPr>
            <p:ph type="subTitle" idx="1" hasCustomPrompt="1"/>
          </p:nvPr>
        </p:nvSpPr>
        <p:spPr>
          <a:xfrm>
            <a:off x="4383598" y="2400299"/>
            <a:ext cx="7490902" cy="212213"/>
          </a:xfrm>
        </p:spPr>
        <p:txBody>
          <a:bodyPr lIns="0" tIns="0" rIns="0" bIns="0" anchor="t" anchorCtr="0"/>
          <a:lstStyle>
            <a:lvl1pPr marL="0" indent="0" algn="l">
              <a:buNone/>
              <a:defRPr sz="1200" b="1" kern="1200" cap="all" spc="10" baseline="0">
                <a:solidFill>
                  <a:schemeClr val="tx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noProof="0" dirty="0"/>
              <a:t>Subtitle or name</a:t>
            </a:r>
          </a:p>
        </p:txBody>
      </p:sp>
      <p:cxnSp>
        <p:nvCxnSpPr>
          <p:cNvPr id="11" name="Rak 10"/>
          <p:cNvCxnSpPr/>
          <p:nvPr userDrawn="1"/>
        </p:nvCxnSpPr>
        <p:spPr bwMode="auto">
          <a:xfrm>
            <a:off x="4380178" y="2282088"/>
            <a:ext cx="760544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pic>
        <p:nvPicPr>
          <p:cNvPr id="13" name="Bildobjekt 12" descr="Lunds sigill RGB 150.png"/>
          <p:cNvPicPr>
            <a:picLocks noChangeAspect="1"/>
          </p:cNvPicPr>
          <p:nvPr userDrawn="1"/>
        </p:nvPicPr>
        <p:blipFill>
          <a:blip r:embed="rId3"/>
          <a:srcRect r="17691" b="21541"/>
          <a:stretch>
            <a:fillRect/>
          </a:stretch>
        </p:blipFill>
        <p:spPr>
          <a:xfrm>
            <a:off x="9253855" y="4042124"/>
            <a:ext cx="2917508" cy="2796826"/>
          </a:xfrm>
          <a:prstGeom prst="rect">
            <a:avLst/>
          </a:prstGeom>
          <a:noFill/>
          <a:ln>
            <a:noFill/>
          </a:ln>
        </p:spPr>
      </p:pic>
      <p:pic>
        <p:nvPicPr>
          <p:cNvPr id="15" name="Bildobjekt 14" descr="LundUniversity_C2line RGB 150.png"/>
          <p:cNvPicPr>
            <a:picLocks noChangeAspect="1"/>
          </p:cNvPicPr>
          <p:nvPr userDrawn="1"/>
        </p:nvPicPr>
        <p:blipFill>
          <a:blip r:embed="rId4"/>
          <a:stretch>
            <a:fillRect/>
          </a:stretch>
        </p:blipFill>
        <p:spPr>
          <a:xfrm>
            <a:off x="486800" y="359907"/>
            <a:ext cx="708740" cy="9468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2 lines pink">
    <p:spTree>
      <p:nvGrpSpPr>
        <p:cNvPr id="1" name=""/>
        <p:cNvGrpSpPr/>
        <p:nvPr/>
      </p:nvGrpSpPr>
      <p:grpSpPr>
        <a:xfrm>
          <a:off x="0" y="0"/>
          <a:ext cx="0" cy="0"/>
          <a:chOff x="0" y="0"/>
          <a:chExt cx="0" cy="0"/>
        </a:xfrm>
      </p:grpSpPr>
      <p:pic>
        <p:nvPicPr>
          <p:cNvPr id="25" name="Bildobjekt 24" descr="huset-rosa_16-9.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0975" y="180000"/>
            <a:ext cx="11807952" cy="6480048"/>
          </a:xfrm>
          <a:prstGeom prst="rect">
            <a:avLst/>
          </a:prstGeom>
        </p:spPr>
      </p:pic>
      <p:sp>
        <p:nvSpPr>
          <p:cNvPr id="6" name="Rektangel 5"/>
          <p:cNvSpPr/>
          <p:nvPr userDrawn="1"/>
        </p:nvSpPr>
        <p:spPr bwMode="auto">
          <a:xfrm>
            <a:off x="4109337" y="1467998"/>
            <a:ext cx="8062026" cy="18862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04875" rtl="0" eaLnBrk="1" fontAlgn="base" latinLnBrk="0" hangingPunct="1">
              <a:lnSpc>
                <a:spcPct val="100000"/>
              </a:lnSpc>
              <a:spcBef>
                <a:spcPct val="0"/>
              </a:spcBef>
              <a:spcAft>
                <a:spcPct val="0"/>
              </a:spcAft>
              <a:buClrTx/>
              <a:buSzTx/>
              <a:buFontTx/>
              <a:buNone/>
            </a:pPr>
            <a:endParaRPr kumimoji="0" lang="sv-SE" sz="1800" b="1" i="0" u="none" strike="noStrike" cap="none" normalizeH="0" baseline="0" dirty="0">
              <a:ln>
                <a:noFill/>
              </a:ln>
              <a:solidFill>
                <a:schemeClr val="tx1"/>
              </a:solidFill>
              <a:effectLst/>
              <a:latin typeface="Arial" panose="020B0604020202020204" pitchFamily="34" charset="0"/>
            </a:endParaRPr>
          </a:p>
        </p:txBody>
      </p:sp>
      <p:sp>
        <p:nvSpPr>
          <p:cNvPr id="9" name="Rubrik 1"/>
          <p:cNvSpPr>
            <a:spLocks noGrp="1"/>
          </p:cNvSpPr>
          <p:nvPr>
            <p:ph type="ctrTitle" hasCustomPrompt="1"/>
          </p:nvPr>
        </p:nvSpPr>
        <p:spPr>
          <a:xfrm>
            <a:off x="4383598" y="1621776"/>
            <a:ext cx="7490902" cy="1231811"/>
          </a:xfrm>
        </p:spPr>
        <p:txBody>
          <a:bodyPr lIns="0" tIns="97200" rIns="0" bIns="82800"/>
          <a:lstStyle>
            <a:lvl1pPr>
              <a:lnSpc>
                <a:spcPts val="4400"/>
              </a:lnSpc>
              <a:defRPr sz="4000" baseline="0"/>
            </a:lvl1pPr>
          </a:lstStyle>
          <a:p>
            <a:r>
              <a:rPr lang="en-GB" noProof="0" dirty="0"/>
              <a:t>Two-line title</a:t>
            </a:r>
            <a:br>
              <a:rPr lang="en-GB" noProof="0" dirty="0"/>
            </a:br>
            <a:r>
              <a:rPr lang="en-GB" noProof="0" dirty="0"/>
              <a:t>– if one line isn’t enough</a:t>
            </a:r>
          </a:p>
        </p:txBody>
      </p:sp>
      <p:sp>
        <p:nvSpPr>
          <p:cNvPr id="10" name="Underrubrik 2"/>
          <p:cNvSpPr>
            <a:spLocks noGrp="1"/>
          </p:cNvSpPr>
          <p:nvPr>
            <p:ph type="subTitle" idx="1" hasCustomPrompt="1"/>
          </p:nvPr>
        </p:nvSpPr>
        <p:spPr>
          <a:xfrm>
            <a:off x="4383598" y="2971799"/>
            <a:ext cx="7490902" cy="212213"/>
          </a:xfrm>
        </p:spPr>
        <p:txBody>
          <a:bodyPr lIns="0" tIns="0" rIns="0" bIns="0" anchor="t" anchorCtr="0"/>
          <a:lstStyle>
            <a:lvl1pPr marL="0" indent="0" algn="l">
              <a:buNone/>
              <a:defRPr sz="1200" b="1" kern="1200" cap="all" spc="10" baseline="0">
                <a:solidFill>
                  <a:schemeClr val="tx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noProof="0" dirty="0"/>
              <a:t>Subtitle or name</a:t>
            </a:r>
          </a:p>
        </p:txBody>
      </p:sp>
      <p:cxnSp>
        <p:nvCxnSpPr>
          <p:cNvPr id="11" name="Rak 10"/>
          <p:cNvCxnSpPr/>
          <p:nvPr userDrawn="1"/>
        </p:nvCxnSpPr>
        <p:spPr bwMode="auto">
          <a:xfrm>
            <a:off x="4380178" y="2853588"/>
            <a:ext cx="760544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pic>
        <p:nvPicPr>
          <p:cNvPr id="13" name="Bildobjekt 12" descr="Lunds sigill RGB 150.png"/>
          <p:cNvPicPr>
            <a:picLocks noChangeAspect="1"/>
          </p:cNvPicPr>
          <p:nvPr userDrawn="1"/>
        </p:nvPicPr>
        <p:blipFill>
          <a:blip r:embed="rId3"/>
          <a:srcRect r="17691" b="21541"/>
          <a:stretch>
            <a:fillRect/>
          </a:stretch>
        </p:blipFill>
        <p:spPr>
          <a:xfrm>
            <a:off x="9253855" y="4042124"/>
            <a:ext cx="2917508" cy="2796826"/>
          </a:xfrm>
          <a:prstGeom prst="rect">
            <a:avLst/>
          </a:prstGeom>
          <a:noFill/>
          <a:ln>
            <a:noFill/>
          </a:ln>
        </p:spPr>
      </p:pic>
      <p:pic>
        <p:nvPicPr>
          <p:cNvPr id="14" name="Bildobjekt 13" descr="LundUniversity_C2line RGB 150.png"/>
          <p:cNvPicPr>
            <a:picLocks noChangeAspect="1"/>
          </p:cNvPicPr>
          <p:nvPr userDrawn="1"/>
        </p:nvPicPr>
        <p:blipFill>
          <a:blip r:embed="rId4"/>
          <a:stretch>
            <a:fillRect/>
          </a:stretch>
        </p:blipFill>
        <p:spPr>
          <a:xfrm>
            <a:off x="486800" y="359907"/>
            <a:ext cx="708740" cy="94680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1 line green">
    <p:spTree>
      <p:nvGrpSpPr>
        <p:cNvPr id="1" name=""/>
        <p:cNvGrpSpPr/>
        <p:nvPr/>
      </p:nvGrpSpPr>
      <p:grpSpPr>
        <a:xfrm>
          <a:off x="0" y="0"/>
          <a:ext cx="0" cy="0"/>
          <a:chOff x="0" y="0"/>
          <a:chExt cx="0" cy="0"/>
        </a:xfrm>
      </p:grpSpPr>
      <p:pic>
        <p:nvPicPr>
          <p:cNvPr id="25" name="Bildobjekt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0975" y="180000"/>
            <a:ext cx="11807952" cy="6480048"/>
          </a:xfrm>
          <a:prstGeom prst="rect">
            <a:avLst/>
          </a:prstGeom>
        </p:spPr>
      </p:pic>
      <p:sp>
        <p:nvSpPr>
          <p:cNvPr id="6" name="Rektangel 5"/>
          <p:cNvSpPr/>
          <p:nvPr userDrawn="1"/>
        </p:nvSpPr>
        <p:spPr bwMode="auto">
          <a:xfrm>
            <a:off x="4109337" y="1467998"/>
            <a:ext cx="8062026" cy="12960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04875" rtl="0" eaLnBrk="1" fontAlgn="base" latinLnBrk="0" hangingPunct="1">
              <a:lnSpc>
                <a:spcPct val="100000"/>
              </a:lnSpc>
              <a:spcBef>
                <a:spcPct val="0"/>
              </a:spcBef>
              <a:spcAft>
                <a:spcPct val="0"/>
              </a:spcAft>
              <a:buClrTx/>
              <a:buSzTx/>
              <a:buFontTx/>
              <a:buNone/>
            </a:pPr>
            <a:endParaRPr kumimoji="0" lang="sv-SE" sz="1800" b="1" i="0" u="none" strike="noStrike" cap="none" normalizeH="0" baseline="0" dirty="0">
              <a:ln>
                <a:noFill/>
              </a:ln>
              <a:solidFill>
                <a:schemeClr val="tx1"/>
              </a:solidFill>
              <a:effectLst/>
              <a:latin typeface="Arial" panose="020B0604020202020204" pitchFamily="34" charset="0"/>
            </a:endParaRPr>
          </a:p>
        </p:txBody>
      </p:sp>
      <p:cxnSp>
        <p:nvCxnSpPr>
          <p:cNvPr id="11" name="Rak 10"/>
          <p:cNvCxnSpPr/>
          <p:nvPr userDrawn="1"/>
        </p:nvCxnSpPr>
        <p:spPr bwMode="auto">
          <a:xfrm>
            <a:off x="4380178" y="2282088"/>
            <a:ext cx="760544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pic>
        <p:nvPicPr>
          <p:cNvPr id="13" name="Bildobjekt 12" descr="Lunds sigill RGB 150.png"/>
          <p:cNvPicPr>
            <a:picLocks noChangeAspect="1"/>
          </p:cNvPicPr>
          <p:nvPr userDrawn="1"/>
        </p:nvPicPr>
        <p:blipFill>
          <a:blip r:embed="rId3"/>
          <a:srcRect r="17691" b="21541"/>
          <a:stretch>
            <a:fillRect/>
          </a:stretch>
        </p:blipFill>
        <p:spPr>
          <a:xfrm>
            <a:off x="9253855" y="4042124"/>
            <a:ext cx="2917508" cy="2796826"/>
          </a:xfrm>
          <a:prstGeom prst="rect">
            <a:avLst/>
          </a:prstGeom>
          <a:noFill/>
          <a:ln>
            <a:noFill/>
          </a:ln>
        </p:spPr>
      </p:pic>
      <p:pic>
        <p:nvPicPr>
          <p:cNvPr id="14" name="Bildobjekt 13" descr="LundUniversity_C2line RGB 150.png"/>
          <p:cNvPicPr>
            <a:picLocks noChangeAspect="1"/>
          </p:cNvPicPr>
          <p:nvPr userDrawn="1"/>
        </p:nvPicPr>
        <p:blipFill>
          <a:blip r:embed="rId4"/>
          <a:stretch>
            <a:fillRect/>
          </a:stretch>
        </p:blipFill>
        <p:spPr>
          <a:xfrm>
            <a:off x="486800" y="359907"/>
            <a:ext cx="708740" cy="946800"/>
          </a:xfrm>
          <a:prstGeom prst="rect">
            <a:avLst/>
          </a:prstGeom>
        </p:spPr>
      </p:pic>
      <p:sp>
        <p:nvSpPr>
          <p:cNvPr id="12" name="Rubrik 1"/>
          <p:cNvSpPr>
            <a:spLocks noGrp="1"/>
          </p:cNvSpPr>
          <p:nvPr>
            <p:ph type="ctrTitle" hasCustomPrompt="1"/>
          </p:nvPr>
        </p:nvSpPr>
        <p:spPr>
          <a:xfrm>
            <a:off x="4383598" y="1583677"/>
            <a:ext cx="7490902" cy="714380"/>
          </a:xfrm>
        </p:spPr>
        <p:txBody>
          <a:bodyPr lIns="0" tIns="97200" rIns="0" bIns="82800"/>
          <a:lstStyle>
            <a:lvl1pPr>
              <a:defRPr sz="4000" baseline="0"/>
            </a:lvl1pPr>
          </a:lstStyle>
          <a:p>
            <a:r>
              <a:rPr lang="en-GB" noProof="0" dirty="0"/>
              <a:t>Single-line title</a:t>
            </a:r>
          </a:p>
        </p:txBody>
      </p:sp>
      <p:sp>
        <p:nvSpPr>
          <p:cNvPr id="15" name="Underrubrik 2"/>
          <p:cNvSpPr>
            <a:spLocks noGrp="1"/>
          </p:cNvSpPr>
          <p:nvPr>
            <p:ph type="subTitle" idx="1" hasCustomPrompt="1"/>
          </p:nvPr>
        </p:nvSpPr>
        <p:spPr>
          <a:xfrm>
            <a:off x="4383598" y="2400299"/>
            <a:ext cx="7490902" cy="212213"/>
          </a:xfrm>
        </p:spPr>
        <p:txBody>
          <a:bodyPr lIns="0" tIns="0" rIns="0" bIns="0" anchor="t" anchorCtr="0"/>
          <a:lstStyle>
            <a:lvl1pPr marL="0" indent="0" algn="l">
              <a:buNone/>
              <a:defRPr sz="1200" b="1" kern="1200" cap="all" spc="10" baseline="0">
                <a:solidFill>
                  <a:schemeClr val="tx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noProof="0" dirty="0"/>
              <a:t>Subtitle or name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2 lines green">
    <p:spTree>
      <p:nvGrpSpPr>
        <p:cNvPr id="1" name=""/>
        <p:cNvGrpSpPr/>
        <p:nvPr/>
      </p:nvGrpSpPr>
      <p:grpSpPr>
        <a:xfrm>
          <a:off x="0" y="0"/>
          <a:ext cx="0" cy="0"/>
          <a:chOff x="0" y="0"/>
          <a:chExt cx="0" cy="0"/>
        </a:xfrm>
      </p:grpSpPr>
      <p:pic>
        <p:nvPicPr>
          <p:cNvPr id="25" name="Bildobjekt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0975" y="180000"/>
            <a:ext cx="11807952" cy="6480048"/>
          </a:xfrm>
          <a:prstGeom prst="rect">
            <a:avLst/>
          </a:prstGeom>
        </p:spPr>
      </p:pic>
      <p:sp>
        <p:nvSpPr>
          <p:cNvPr id="6" name="Rektangel 5"/>
          <p:cNvSpPr/>
          <p:nvPr userDrawn="1"/>
        </p:nvSpPr>
        <p:spPr bwMode="auto">
          <a:xfrm>
            <a:off x="4109337" y="1467998"/>
            <a:ext cx="8062026" cy="18862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04875" rtl="0" eaLnBrk="1" fontAlgn="base" latinLnBrk="0" hangingPunct="1">
              <a:lnSpc>
                <a:spcPct val="100000"/>
              </a:lnSpc>
              <a:spcBef>
                <a:spcPct val="0"/>
              </a:spcBef>
              <a:spcAft>
                <a:spcPct val="0"/>
              </a:spcAft>
              <a:buClrTx/>
              <a:buSzTx/>
              <a:buFontTx/>
              <a:buNone/>
            </a:pPr>
            <a:endParaRPr kumimoji="0" lang="sv-SE" sz="1800" b="1" i="0" u="none" strike="noStrike" cap="none" normalizeH="0" baseline="0" dirty="0">
              <a:ln>
                <a:noFill/>
              </a:ln>
              <a:solidFill>
                <a:schemeClr val="tx1"/>
              </a:solidFill>
              <a:effectLst/>
              <a:latin typeface="Arial" panose="020B0604020202020204" pitchFamily="34" charset="0"/>
            </a:endParaRPr>
          </a:p>
        </p:txBody>
      </p:sp>
      <p:cxnSp>
        <p:nvCxnSpPr>
          <p:cNvPr id="11" name="Rak 10"/>
          <p:cNvCxnSpPr/>
          <p:nvPr userDrawn="1"/>
        </p:nvCxnSpPr>
        <p:spPr bwMode="auto">
          <a:xfrm>
            <a:off x="4380178" y="2853588"/>
            <a:ext cx="760544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pic>
        <p:nvPicPr>
          <p:cNvPr id="13" name="Bildobjekt 12" descr="Lunds sigill RGB 150.png"/>
          <p:cNvPicPr>
            <a:picLocks noChangeAspect="1"/>
          </p:cNvPicPr>
          <p:nvPr userDrawn="1"/>
        </p:nvPicPr>
        <p:blipFill>
          <a:blip r:embed="rId3"/>
          <a:srcRect r="17691" b="21541"/>
          <a:stretch>
            <a:fillRect/>
          </a:stretch>
        </p:blipFill>
        <p:spPr>
          <a:xfrm>
            <a:off x="9253855" y="4042124"/>
            <a:ext cx="2917508" cy="2796826"/>
          </a:xfrm>
          <a:prstGeom prst="rect">
            <a:avLst/>
          </a:prstGeom>
          <a:noFill/>
          <a:ln>
            <a:noFill/>
          </a:ln>
        </p:spPr>
      </p:pic>
      <p:pic>
        <p:nvPicPr>
          <p:cNvPr id="14" name="Bildobjekt 13" descr="LundUniversity_C2line RGB 150.png"/>
          <p:cNvPicPr>
            <a:picLocks noChangeAspect="1"/>
          </p:cNvPicPr>
          <p:nvPr userDrawn="1"/>
        </p:nvPicPr>
        <p:blipFill>
          <a:blip r:embed="rId4"/>
          <a:stretch>
            <a:fillRect/>
          </a:stretch>
        </p:blipFill>
        <p:spPr>
          <a:xfrm>
            <a:off x="486800" y="359907"/>
            <a:ext cx="708740" cy="946800"/>
          </a:xfrm>
          <a:prstGeom prst="rect">
            <a:avLst/>
          </a:prstGeom>
        </p:spPr>
      </p:pic>
      <p:sp>
        <p:nvSpPr>
          <p:cNvPr id="12" name="Rubrik 1"/>
          <p:cNvSpPr>
            <a:spLocks noGrp="1"/>
          </p:cNvSpPr>
          <p:nvPr>
            <p:ph type="ctrTitle" hasCustomPrompt="1"/>
          </p:nvPr>
        </p:nvSpPr>
        <p:spPr>
          <a:xfrm>
            <a:off x="4383598" y="1621776"/>
            <a:ext cx="7490902" cy="1231811"/>
          </a:xfrm>
        </p:spPr>
        <p:txBody>
          <a:bodyPr lIns="0" tIns="97200" rIns="0" bIns="82800"/>
          <a:lstStyle>
            <a:lvl1pPr>
              <a:lnSpc>
                <a:spcPts val="4400"/>
              </a:lnSpc>
              <a:defRPr sz="4000" baseline="0"/>
            </a:lvl1pPr>
          </a:lstStyle>
          <a:p>
            <a:r>
              <a:rPr lang="en-GB" noProof="0" dirty="0"/>
              <a:t>Two-line title</a:t>
            </a:r>
            <a:br>
              <a:rPr lang="en-GB" noProof="0" dirty="0"/>
            </a:br>
            <a:r>
              <a:rPr lang="en-GB" noProof="0" dirty="0"/>
              <a:t>– if one line isn’t enough</a:t>
            </a:r>
          </a:p>
        </p:txBody>
      </p:sp>
      <p:sp>
        <p:nvSpPr>
          <p:cNvPr id="15" name="Underrubrik 2"/>
          <p:cNvSpPr>
            <a:spLocks noGrp="1"/>
          </p:cNvSpPr>
          <p:nvPr>
            <p:ph type="subTitle" idx="1" hasCustomPrompt="1"/>
          </p:nvPr>
        </p:nvSpPr>
        <p:spPr>
          <a:xfrm>
            <a:off x="4383598" y="2971799"/>
            <a:ext cx="7490902" cy="212213"/>
          </a:xfrm>
        </p:spPr>
        <p:txBody>
          <a:bodyPr lIns="0" tIns="0" rIns="0" bIns="0" anchor="t" anchorCtr="0"/>
          <a:lstStyle>
            <a:lvl1pPr marL="0" marR="0" indent="0" algn="l" defTabSz="457200" rtl="0" eaLnBrk="1" fontAlgn="auto" latinLnBrk="0" hangingPunct="1">
              <a:lnSpc>
                <a:spcPct val="100000"/>
              </a:lnSpc>
              <a:spcBef>
                <a:spcPct val="20000"/>
              </a:spcBef>
              <a:spcAft>
                <a:spcPts val="0"/>
              </a:spcAft>
              <a:buClr>
                <a:schemeClr val="tx2"/>
              </a:buClr>
              <a:buSzTx/>
              <a:buFont typeface="Arial" panose="020B0604020202020204"/>
              <a:buNone/>
              <a:defRPr sz="1200" b="1" kern="1200" cap="all" spc="10" baseline="0">
                <a:solidFill>
                  <a:schemeClr val="tx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noProof="0" dirty="0"/>
              <a:t>Subtitle or name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1 line blue">
    <p:spTree>
      <p:nvGrpSpPr>
        <p:cNvPr id="1" name=""/>
        <p:cNvGrpSpPr/>
        <p:nvPr/>
      </p:nvGrpSpPr>
      <p:grpSpPr>
        <a:xfrm>
          <a:off x="0" y="0"/>
          <a:ext cx="0" cy="0"/>
          <a:chOff x="0" y="0"/>
          <a:chExt cx="0" cy="0"/>
        </a:xfrm>
      </p:grpSpPr>
      <p:pic>
        <p:nvPicPr>
          <p:cNvPr id="25" name="Bildobjekt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0975" y="180000"/>
            <a:ext cx="11807952" cy="6480048"/>
          </a:xfrm>
          <a:prstGeom prst="rect">
            <a:avLst/>
          </a:prstGeom>
        </p:spPr>
      </p:pic>
      <p:sp>
        <p:nvSpPr>
          <p:cNvPr id="6" name="Rektangel 5"/>
          <p:cNvSpPr/>
          <p:nvPr userDrawn="1"/>
        </p:nvSpPr>
        <p:spPr bwMode="auto">
          <a:xfrm>
            <a:off x="4109337" y="1467998"/>
            <a:ext cx="8062026" cy="12960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04875" rtl="0" eaLnBrk="1" fontAlgn="base" latinLnBrk="0" hangingPunct="1">
              <a:lnSpc>
                <a:spcPct val="100000"/>
              </a:lnSpc>
              <a:spcBef>
                <a:spcPct val="0"/>
              </a:spcBef>
              <a:spcAft>
                <a:spcPct val="0"/>
              </a:spcAft>
              <a:buClrTx/>
              <a:buSzTx/>
              <a:buFontTx/>
              <a:buNone/>
            </a:pPr>
            <a:endParaRPr kumimoji="0" lang="sv-SE" sz="1800" b="1" i="0" u="none" strike="noStrike" cap="none" normalizeH="0" baseline="0" dirty="0">
              <a:ln>
                <a:noFill/>
              </a:ln>
              <a:solidFill>
                <a:schemeClr val="tx1"/>
              </a:solidFill>
              <a:effectLst/>
              <a:latin typeface="Arial" panose="020B0604020202020204" pitchFamily="34" charset="0"/>
            </a:endParaRPr>
          </a:p>
        </p:txBody>
      </p:sp>
      <p:sp>
        <p:nvSpPr>
          <p:cNvPr id="9" name="Rubrik 1"/>
          <p:cNvSpPr>
            <a:spLocks noGrp="1"/>
          </p:cNvSpPr>
          <p:nvPr>
            <p:ph type="ctrTitle" hasCustomPrompt="1"/>
          </p:nvPr>
        </p:nvSpPr>
        <p:spPr>
          <a:xfrm>
            <a:off x="4383598" y="1583677"/>
            <a:ext cx="7490902" cy="714380"/>
          </a:xfrm>
        </p:spPr>
        <p:txBody>
          <a:bodyPr lIns="0" tIns="97200" rIns="0" bIns="82800"/>
          <a:lstStyle>
            <a:lvl1pPr>
              <a:defRPr sz="4000" baseline="0"/>
            </a:lvl1pPr>
          </a:lstStyle>
          <a:p>
            <a:r>
              <a:rPr lang="en-GB" noProof="0" dirty="0"/>
              <a:t>Single-line title</a:t>
            </a:r>
          </a:p>
        </p:txBody>
      </p:sp>
      <p:sp>
        <p:nvSpPr>
          <p:cNvPr id="10" name="Underrubrik 2"/>
          <p:cNvSpPr>
            <a:spLocks noGrp="1"/>
          </p:cNvSpPr>
          <p:nvPr>
            <p:ph type="subTitle" idx="1" hasCustomPrompt="1"/>
          </p:nvPr>
        </p:nvSpPr>
        <p:spPr>
          <a:xfrm>
            <a:off x="4383598" y="2400299"/>
            <a:ext cx="7490902" cy="212213"/>
          </a:xfrm>
        </p:spPr>
        <p:txBody>
          <a:bodyPr lIns="0" tIns="0" rIns="0" bIns="0" anchor="t" anchorCtr="0"/>
          <a:lstStyle>
            <a:lvl1pPr marL="0" indent="0" algn="l">
              <a:buNone/>
              <a:defRPr sz="1200" b="1" kern="1200" cap="all" spc="10" baseline="0">
                <a:solidFill>
                  <a:schemeClr val="tx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noProof="0" dirty="0"/>
              <a:t>Subtitle or name</a:t>
            </a:r>
          </a:p>
        </p:txBody>
      </p:sp>
      <p:cxnSp>
        <p:nvCxnSpPr>
          <p:cNvPr id="11" name="Rak 10"/>
          <p:cNvCxnSpPr/>
          <p:nvPr userDrawn="1"/>
        </p:nvCxnSpPr>
        <p:spPr bwMode="auto">
          <a:xfrm>
            <a:off x="4380178" y="2282088"/>
            <a:ext cx="760544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pic>
        <p:nvPicPr>
          <p:cNvPr id="13" name="Bildobjekt 12" descr="Lunds sigill RGB 150.png"/>
          <p:cNvPicPr>
            <a:picLocks noChangeAspect="1"/>
          </p:cNvPicPr>
          <p:nvPr userDrawn="1"/>
        </p:nvPicPr>
        <p:blipFill>
          <a:blip r:embed="rId3"/>
          <a:srcRect r="17691" b="21541"/>
          <a:stretch>
            <a:fillRect/>
          </a:stretch>
        </p:blipFill>
        <p:spPr>
          <a:xfrm>
            <a:off x="9253855" y="4042124"/>
            <a:ext cx="2917508" cy="2796826"/>
          </a:xfrm>
          <a:prstGeom prst="rect">
            <a:avLst/>
          </a:prstGeom>
          <a:noFill/>
          <a:ln>
            <a:noFill/>
          </a:ln>
        </p:spPr>
      </p:pic>
      <p:pic>
        <p:nvPicPr>
          <p:cNvPr id="15" name="Bildobjekt 14" descr="LundUniversity_C2line RGB 150.png"/>
          <p:cNvPicPr>
            <a:picLocks noChangeAspect="1"/>
          </p:cNvPicPr>
          <p:nvPr userDrawn="1"/>
        </p:nvPicPr>
        <p:blipFill>
          <a:blip r:embed="rId4"/>
          <a:stretch>
            <a:fillRect/>
          </a:stretch>
        </p:blipFill>
        <p:spPr>
          <a:xfrm>
            <a:off x="486800" y="359907"/>
            <a:ext cx="708740" cy="94680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2 lines blue">
    <p:spTree>
      <p:nvGrpSpPr>
        <p:cNvPr id="1" name=""/>
        <p:cNvGrpSpPr/>
        <p:nvPr/>
      </p:nvGrpSpPr>
      <p:grpSpPr>
        <a:xfrm>
          <a:off x="0" y="0"/>
          <a:ext cx="0" cy="0"/>
          <a:chOff x="0" y="0"/>
          <a:chExt cx="0" cy="0"/>
        </a:xfrm>
      </p:grpSpPr>
      <p:pic>
        <p:nvPicPr>
          <p:cNvPr id="25" name="Bildobjekt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0975" y="180000"/>
            <a:ext cx="11807952" cy="6480048"/>
          </a:xfrm>
          <a:prstGeom prst="rect">
            <a:avLst/>
          </a:prstGeom>
        </p:spPr>
      </p:pic>
      <p:sp>
        <p:nvSpPr>
          <p:cNvPr id="6" name="Rektangel 5"/>
          <p:cNvSpPr/>
          <p:nvPr userDrawn="1"/>
        </p:nvSpPr>
        <p:spPr bwMode="auto">
          <a:xfrm>
            <a:off x="4109337" y="1467998"/>
            <a:ext cx="8062026" cy="18862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04875" rtl="0" eaLnBrk="1" fontAlgn="base" latinLnBrk="0" hangingPunct="1">
              <a:lnSpc>
                <a:spcPct val="100000"/>
              </a:lnSpc>
              <a:spcBef>
                <a:spcPct val="0"/>
              </a:spcBef>
              <a:spcAft>
                <a:spcPct val="0"/>
              </a:spcAft>
              <a:buClrTx/>
              <a:buSzTx/>
              <a:buFontTx/>
              <a:buNone/>
            </a:pPr>
            <a:endParaRPr kumimoji="0" lang="sv-SE" sz="1800" b="1" i="0" u="none" strike="noStrike" cap="none" normalizeH="0" baseline="0" dirty="0">
              <a:ln>
                <a:noFill/>
              </a:ln>
              <a:solidFill>
                <a:schemeClr val="tx1"/>
              </a:solidFill>
              <a:effectLst/>
              <a:latin typeface="Arial" panose="020B0604020202020204" pitchFamily="34" charset="0"/>
            </a:endParaRPr>
          </a:p>
        </p:txBody>
      </p:sp>
      <p:sp>
        <p:nvSpPr>
          <p:cNvPr id="9" name="Rubrik 1"/>
          <p:cNvSpPr>
            <a:spLocks noGrp="1"/>
          </p:cNvSpPr>
          <p:nvPr>
            <p:ph type="ctrTitle" hasCustomPrompt="1"/>
          </p:nvPr>
        </p:nvSpPr>
        <p:spPr>
          <a:xfrm>
            <a:off x="4383598" y="1621776"/>
            <a:ext cx="7490902" cy="1231811"/>
          </a:xfrm>
        </p:spPr>
        <p:txBody>
          <a:bodyPr lIns="0" tIns="97200" rIns="0" bIns="82800"/>
          <a:lstStyle>
            <a:lvl1pPr>
              <a:lnSpc>
                <a:spcPts val="4400"/>
              </a:lnSpc>
              <a:defRPr sz="4000" baseline="0"/>
            </a:lvl1pPr>
          </a:lstStyle>
          <a:p>
            <a:r>
              <a:rPr lang="en-GB" noProof="0" dirty="0"/>
              <a:t>Two-line title</a:t>
            </a:r>
            <a:br>
              <a:rPr lang="en-GB" noProof="0" dirty="0"/>
            </a:br>
            <a:r>
              <a:rPr lang="en-GB" noProof="0" dirty="0"/>
              <a:t>– if one line isn’t enough</a:t>
            </a:r>
          </a:p>
        </p:txBody>
      </p:sp>
      <p:sp>
        <p:nvSpPr>
          <p:cNvPr id="10" name="Underrubrik 2"/>
          <p:cNvSpPr>
            <a:spLocks noGrp="1"/>
          </p:cNvSpPr>
          <p:nvPr>
            <p:ph type="subTitle" idx="1" hasCustomPrompt="1"/>
          </p:nvPr>
        </p:nvSpPr>
        <p:spPr>
          <a:xfrm>
            <a:off x="4383598" y="2971799"/>
            <a:ext cx="7490902" cy="212213"/>
          </a:xfrm>
        </p:spPr>
        <p:txBody>
          <a:bodyPr lIns="0" tIns="0" rIns="0" bIns="0" anchor="t" anchorCtr="0"/>
          <a:lstStyle>
            <a:lvl1pPr marL="0" indent="0" algn="l">
              <a:buNone/>
              <a:defRPr sz="1200" b="1" kern="1200" cap="all" spc="10" baseline="0">
                <a:solidFill>
                  <a:schemeClr val="tx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noProof="0" dirty="0"/>
              <a:t>Subtitle or name</a:t>
            </a:r>
          </a:p>
        </p:txBody>
      </p:sp>
      <p:cxnSp>
        <p:nvCxnSpPr>
          <p:cNvPr id="11" name="Rak 10"/>
          <p:cNvCxnSpPr/>
          <p:nvPr userDrawn="1"/>
        </p:nvCxnSpPr>
        <p:spPr bwMode="auto">
          <a:xfrm>
            <a:off x="4380178" y="2853588"/>
            <a:ext cx="760544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pic>
        <p:nvPicPr>
          <p:cNvPr id="13" name="Bildobjekt 12" descr="Lunds sigill RGB 150.png"/>
          <p:cNvPicPr>
            <a:picLocks noChangeAspect="1"/>
          </p:cNvPicPr>
          <p:nvPr userDrawn="1"/>
        </p:nvPicPr>
        <p:blipFill>
          <a:blip r:embed="rId3"/>
          <a:srcRect r="17691" b="21541"/>
          <a:stretch>
            <a:fillRect/>
          </a:stretch>
        </p:blipFill>
        <p:spPr>
          <a:xfrm>
            <a:off x="9253855" y="4042124"/>
            <a:ext cx="2917508" cy="2796826"/>
          </a:xfrm>
          <a:prstGeom prst="rect">
            <a:avLst/>
          </a:prstGeom>
          <a:noFill/>
          <a:ln>
            <a:noFill/>
          </a:ln>
        </p:spPr>
      </p:pic>
      <p:pic>
        <p:nvPicPr>
          <p:cNvPr id="14" name="Bildobjekt 13" descr="LundUniversity_C2line RGB 150.png"/>
          <p:cNvPicPr>
            <a:picLocks noChangeAspect="1"/>
          </p:cNvPicPr>
          <p:nvPr userDrawn="1"/>
        </p:nvPicPr>
        <p:blipFill>
          <a:blip r:embed="rId4"/>
          <a:stretch>
            <a:fillRect/>
          </a:stretch>
        </p:blipFill>
        <p:spPr>
          <a:xfrm>
            <a:off x="486800" y="359907"/>
            <a:ext cx="708740" cy="9468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1 line beige">
    <p:spTree>
      <p:nvGrpSpPr>
        <p:cNvPr id="1" name=""/>
        <p:cNvGrpSpPr/>
        <p:nvPr/>
      </p:nvGrpSpPr>
      <p:grpSpPr>
        <a:xfrm>
          <a:off x="0" y="0"/>
          <a:ext cx="0" cy="0"/>
          <a:chOff x="0" y="0"/>
          <a:chExt cx="0" cy="0"/>
        </a:xfrm>
      </p:grpSpPr>
      <p:pic>
        <p:nvPicPr>
          <p:cNvPr id="25" name="Bildobjekt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0975" y="180000"/>
            <a:ext cx="11807952" cy="6480048"/>
          </a:xfrm>
          <a:prstGeom prst="rect">
            <a:avLst/>
          </a:prstGeom>
        </p:spPr>
      </p:pic>
      <p:sp>
        <p:nvSpPr>
          <p:cNvPr id="6" name="Rektangel 5"/>
          <p:cNvSpPr/>
          <p:nvPr userDrawn="1"/>
        </p:nvSpPr>
        <p:spPr bwMode="auto">
          <a:xfrm>
            <a:off x="4109337" y="1467998"/>
            <a:ext cx="8062026" cy="12960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04875" rtl="0" eaLnBrk="1" fontAlgn="base" latinLnBrk="0" hangingPunct="1">
              <a:lnSpc>
                <a:spcPct val="100000"/>
              </a:lnSpc>
              <a:spcBef>
                <a:spcPct val="0"/>
              </a:spcBef>
              <a:spcAft>
                <a:spcPct val="0"/>
              </a:spcAft>
              <a:buClrTx/>
              <a:buSzTx/>
              <a:buFontTx/>
              <a:buNone/>
            </a:pPr>
            <a:endParaRPr kumimoji="0" lang="sv-SE" sz="1800" b="1" i="0" u="none" strike="noStrike" cap="none" normalizeH="0" baseline="0" dirty="0">
              <a:ln>
                <a:noFill/>
              </a:ln>
              <a:solidFill>
                <a:schemeClr val="tx1"/>
              </a:solidFill>
              <a:effectLst/>
              <a:latin typeface="Arial" panose="020B0604020202020204" pitchFamily="34" charset="0"/>
            </a:endParaRPr>
          </a:p>
        </p:txBody>
      </p:sp>
      <p:cxnSp>
        <p:nvCxnSpPr>
          <p:cNvPr id="11" name="Rak 10"/>
          <p:cNvCxnSpPr/>
          <p:nvPr userDrawn="1"/>
        </p:nvCxnSpPr>
        <p:spPr bwMode="auto">
          <a:xfrm>
            <a:off x="4380178" y="2282088"/>
            <a:ext cx="760544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pic>
        <p:nvPicPr>
          <p:cNvPr id="13" name="Bildobjekt 12" descr="Lunds sigill RGB 150.png"/>
          <p:cNvPicPr>
            <a:picLocks noChangeAspect="1"/>
          </p:cNvPicPr>
          <p:nvPr userDrawn="1"/>
        </p:nvPicPr>
        <p:blipFill>
          <a:blip r:embed="rId3"/>
          <a:srcRect r="17691" b="21541"/>
          <a:stretch>
            <a:fillRect/>
          </a:stretch>
        </p:blipFill>
        <p:spPr>
          <a:xfrm>
            <a:off x="9253855" y="4042124"/>
            <a:ext cx="2917508" cy="2796826"/>
          </a:xfrm>
          <a:prstGeom prst="rect">
            <a:avLst/>
          </a:prstGeom>
          <a:noFill/>
          <a:ln>
            <a:noFill/>
          </a:ln>
        </p:spPr>
      </p:pic>
      <p:pic>
        <p:nvPicPr>
          <p:cNvPr id="14" name="Bildobjekt 13" descr="LundUniversity_C2line RGB 150.png"/>
          <p:cNvPicPr>
            <a:picLocks noChangeAspect="1"/>
          </p:cNvPicPr>
          <p:nvPr userDrawn="1"/>
        </p:nvPicPr>
        <p:blipFill>
          <a:blip r:embed="rId4"/>
          <a:stretch>
            <a:fillRect/>
          </a:stretch>
        </p:blipFill>
        <p:spPr>
          <a:xfrm>
            <a:off x="486800" y="359907"/>
            <a:ext cx="708740" cy="946800"/>
          </a:xfrm>
          <a:prstGeom prst="rect">
            <a:avLst/>
          </a:prstGeom>
        </p:spPr>
      </p:pic>
      <p:sp>
        <p:nvSpPr>
          <p:cNvPr id="12" name="Rubrik 1"/>
          <p:cNvSpPr>
            <a:spLocks noGrp="1"/>
          </p:cNvSpPr>
          <p:nvPr>
            <p:ph type="ctrTitle" hasCustomPrompt="1"/>
          </p:nvPr>
        </p:nvSpPr>
        <p:spPr>
          <a:xfrm>
            <a:off x="4383598" y="1583677"/>
            <a:ext cx="7490902" cy="714380"/>
          </a:xfrm>
        </p:spPr>
        <p:txBody>
          <a:bodyPr lIns="0" tIns="97200" rIns="0" bIns="82800"/>
          <a:lstStyle>
            <a:lvl1pPr>
              <a:defRPr sz="4000" baseline="0"/>
            </a:lvl1pPr>
          </a:lstStyle>
          <a:p>
            <a:r>
              <a:rPr lang="en-GB" noProof="0" dirty="0"/>
              <a:t>Single-line title</a:t>
            </a:r>
          </a:p>
        </p:txBody>
      </p:sp>
      <p:sp>
        <p:nvSpPr>
          <p:cNvPr id="15" name="Underrubrik 2"/>
          <p:cNvSpPr>
            <a:spLocks noGrp="1"/>
          </p:cNvSpPr>
          <p:nvPr>
            <p:ph type="subTitle" idx="1" hasCustomPrompt="1"/>
          </p:nvPr>
        </p:nvSpPr>
        <p:spPr>
          <a:xfrm>
            <a:off x="4383598" y="2400299"/>
            <a:ext cx="7490902" cy="212213"/>
          </a:xfrm>
        </p:spPr>
        <p:txBody>
          <a:bodyPr lIns="0" tIns="0" rIns="0" bIns="0" anchor="t" anchorCtr="0"/>
          <a:lstStyle>
            <a:lvl1pPr marL="0" indent="0" algn="l">
              <a:buNone/>
              <a:defRPr sz="1200" b="1" kern="1200" cap="all" spc="10" baseline="0">
                <a:solidFill>
                  <a:schemeClr val="tx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noProof="0" dirty="0"/>
              <a:t>Subtitle or name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2 lines beige">
    <p:spTree>
      <p:nvGrpSpPr>
        <p:cNvPr id="1" name=""/>
        <p:cNvGrpSpPr/>
        <p:nvPr/>
      </p:nvGrpSpPr>
      <p:grpSpPr>
        <a:xfrm>
          <a:off x="0" y="0"/>
          <a:ext cx="0" cy="0"/>
          <a:chOff x="0" y="0"/>
          <a:chExt cx="0" cy="0"/>
        </a:xfrm>
      </p:grpSpPr>
      <p:pic>
        <p:nvPicPr>
          <p:cNvPr id="25" name="Bildobjekt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0975" y="180000"/>
            <a:ext cx="11807952" cy="6480048"/>
          </a:xfrm>
          <a:prstGeom prst="rect">
            <a:avLst/>
          </a:prstGeom>
        </p:spPr>
      </p:pic>
      <p:sp>
        <p:nvSpPr>
          <p:cNvPr id="6" name="Rektangel 5"/>
          <p:cNvSpPr/>
          <p:nvPr userDrawn="1"/>
        </p:nvSpPr>
        <p:spPr bwMode="auto">
          <a:xfrm>
            <a:off x="4109337" y="1467998"/>
            <a:ext cx="8062026" cy="18862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04875" rtl="0" eaLnBrk="1" fontAlgn="base" latinLnBrk="0" hangingPunct="1">
              <a:lnSpc>
                <a:spcPct val="100000"/>
              </a:lnSpc>
              <a:spcBef>
                <a:spcPct val="0"/>
              </a:spcBef>
              <a:spcAft>
                <a:spcPct val="0"/>
              </a:spcAft>
              <a:buClrTx/>
              <a:buSzTx/>
              <a:buFontTx/>
              <a:buNone/>
            </a:pPr>
            <a:endParaRPr kumimoji="0" lang="sv-SE" sz="1800" b="1" i="0" u="none" strike="noStrike" cap="none" normalizeH="0" baseline="0" dirty="0">
              <a:ln>
                <a:noFill/>
              </a:ln>
              <a:solidFill>
                <a:schemeClr val="tx1"/>
              </a:solidFill>
              <a:effectLst/>
              <a:latin typeface="Arial" panose="020B0604020202020204" pitchFamily="34" charset="0"/>
            </a:endParaRPr>
          </a:p>
        </p:txBody>
      </p:sp>
      <p:cxnSp>
        <p:nvCxnSpPr>
          <p:cNvPr id="11" name="Rak 10"/>
          <p:cNvCxnSpPr/>
          <p:nvPr userDrawn="1"/>
        </p:nvCxnSpPr>
        <p:spPr bwMode="auto">
          <a:xfrm>
            <a:off x="4380178" y="2853588"/>
            <a:ext cx="760544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pic>
        <p:nvPicPr>
          <p:cNvPr id="13" name="Bildobjekt 12" descr="Lunds sigill RGB 150.png"/>
          <p:cNvPicPr>
            <a:picLocks noChangeAspect="1"/>
          </p:cNvPicPr>
          <p:nvPr userDrawn="1"/>
        </p:nvPicPr>
        <p:blipFill>
          <a:blip r:embed="rId3"/>
          <a:srcRect r="17691" b="21541"/>
          <a:stretch>
            <a:fillRect/>
          </a:stretch>
        </p:blipFill>
        <p:spPr>
          <a:xfrm>
            <a:off x="9253855" y="4042124"/>
            <a:ext cx="2917508" cy="2796826"/>
          </a:xfrm>
          <a:prstGeom prst="rect">
            <a:avLst/>
          </a:prstGeom>
          <a:noFill/>
          <a:ln>
            <a:noFill/>
          </a:ln>
        </p:spPr>
      </p:pic>
      <p:pic>
        <p:nvPicPr>
          <p:cNvPr id="14" name="Bildobjekt 13" descr="LundUniversity_C2line RGB 150.png"/>
          <p:cNvPicPr>
            <a:picLocks noChangeAspect="1"/>
          </p:cNvPicPr>
          <p:nvPr userDrawn="1"/>
        </p:nvPicPr>
        <p:blipFill>
          <a:blip r:embed="rId4"/>
          <a:stretch>
            <a:fillRect/>
          </a:stretch>
        </p:blipFill>
        <p:spPr>
          <a:xfrm>
            <a:off x="486800" y="359907"/>
            <a:ext cx="708740" cy="946800"/>
          </a:xfrm>
          <a:prstGeom prst="rect">
            <a:avLst/>
          </a:prstGeom>
        </p:spPr>
      </p:pic>
      <p:sp>
        <p:nvSpPr>
          <p:cNvPr id="12" name="Rubrik 1"/>
          <p:cNvSpPr>
            <a:spLocks noGrp="1"/>
          </p:cNvSpPr>
          <p:nvPr>
            <p:ph type="ctrTitle" hasCustomPrompt="1"/>
          </p:nvPr>
        </p:nvSpPr>
        <p:spPr>
          <a:xfrm>
            <a:off x="4383598" y="1621776"/>
            <a:ext cx="7490902" cy="1231811"/>
          </a:xfrm>
        </p:spPr>
        <p:txBody>
          <a:bodyPr lIns="0" tIns="97200" rIns="0" bIns="82800"/>
          <a:lstStyle>
            <a:lvl1pPr>
              <a:lnSpc>
                <a:spcPts val="4400"/>
              </a:lnSpc>
              <a:defRPr sz="4000" baseline="0"/>
            </a:lvl1pPr>
          </a:lstStyle>
          <a:p>
            <a:r>
              <a:rPr lang="en-GB" noProof="0" dirty="0"/>
              <a:t>Two-line title</a:t>
            </a:r>
            <a:br>
              <a:rPr lang="en-GB" noProof="0" dirty="0"/>
            </a:br>
            <a:r>
              <a:rPr lang="en-GB" noProof="0" dirty="0"/>
              <a:t>– if one line isn’t enough</a:t>
            </a:r>
          </a:p>
        </p:txBody>
      </p:sp>
      <p:sp>
        <p:nvSpPr>
          <p:cNvPr id="15" name="Underrubrik 2"/>
          <p:cNvSpPr>
            <a:spLocks noGrp="1"/>
          </p:cNvSpPr>
          <p:nvPr>
            <p:ph type="subTitle" idx="1" hasCustomPrompt="1"/>
          </p:nvPr>
        </p:nvSpPr>
        <p:spPr>
          <a:xfrm>
            <a:off x="4383598" y="2971799"/>
            <a:ext cx="7490902" cy="212213"/>
          </a:xfrm>
        </p:spPr>
        <p:txBody>
          <a:bodyPr lIns="0" tIns="0" rIns="0" bIns="0" anchor="t" anchorCtr="0"/>
          <a:lstStyle>
            <a:lvl1pPr marL="0" marR="0" indent="0" algn="l" defTabSz="457200" rtl="0" eaLnBrk="1" fontAlgn="auto" latinLnBrk="0" hangingPunct="1">
              <a:lnSpc>
                <a:spcPct val="100000"/>
              </a:lnSpc>
              <a:spcBef>
                <a:spcPct val="20000"/>
              </a:spcBef>
              <a:spcAft>
                <a:spcPts val="0"/>
              </a:spcAft>
              <a:buClr>
                <a:schemeClr val="tx2"/>
              </a:buClr>
              <a:buSzTx/>
              <a:buFont typeface="Arial" panose="020B0604020202020204"/>
              <a:buNone/>
              <a:defRPr sz="1200" b="1" kern="1200" cap="all" spc="10" baseline="0">
                <a:solidFill>
                  <a:schemeClr val="tx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noProof="0" dirty="0"/>
              <a:t>Subtitle or name</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1 line grey">
    <p:spTree>
      <p:nvGrpSpPr>
        <p:cNvPr id="1" name=""/>
        <p:cNvGrpSpPr/>
        <p:nvPr/>
      </p:nvGrpSpPr>
      <p:grpSpPr>
        <a:xfrm>
          <a:off x="0" y="0"/>
          <a:ext cx="0" cy="0"/>
          <a:chOff x="0" y="0"/>
          <a:chExt cx="0" cy="0"/>
        </a:xfrm>
      </p:grpSpPr>
      <p:pic>
        <p:nvPicPr>
          <p:cNvPr id="25" name="Bildobjekt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0975" y="180000"/>
            <a:ext cx="11807952" cy="6480048"/>
          </a:xfrm>
          <a:prstGeom prst="rect">
            <a:avLst/>
          </a:prstGeom>
        </p:spPr>
      </p:pic>
      <p:sp>
        <p:nvSpPr>
          <p:cNvPr id="6" name="Rektangel 5"/>
          <p:cNvSpPr/>
          <p:nvPr userDrawn="1"/>
        </p:nvSpPr>
        <p:spPr bwMode="auto">
          <a:xfrm>
            <a:off x="4109337" y="1467998"/>
            <a:ext cx="8062026" cy="12960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04875" rtl="0" eaLnBrk="1" fontAlgn="base" latinLnBrk="0" hangingPunct="1">
              <a:lnSpc>
                <a:spcPct val="100000"/>
              </a:lnSpc>
              <a:spcBef>
                <a:spcPct val="0"/>
              </a:spcBef>
              <a:spcAft>
                <a:spcPct val="0"/>
              </a:spcAft>
              <a:buClrTx/>
              <a:buSzTx/>
              <a:buFontTx/>
              <a:buNone/>
            </a:pPr>
            <a:endParaRPr kumimoji="0" lang="sv-SE" sz="1800" b="1" i="0" u="none" strike="noStrike" cap="none" normalizeH="0" baseline="0" dirty="0">
              <a:ln>
                <a:noFill/>
              </a:ln>
              <a:solidFill>
                <a:schemeClr val="tx1"/>
              </a:solidFill>
              <a:effectLst/>
              <a:latin typeface="Arial" panose="020B0604020202020204" pitchFamily="34" charset="0"/>
            </a:endParaRPr>
          </a:p>
        </p:txBody>
      </p:sp>
      <p:cxnSp>
        <p:nvCxnSpPr>
          <p:cNvPr id="11" name="Rak 10"/>
          <p:cNvCxnSpPr/>
          <p:nvPr userDrawn="1"/>
        </p:nvCxnSpPr>
        <p:spPr bwMode="auto">
          <a:xfrm>
            <a:off x="4380178" y="2282088"/>
            <a:ext cx="760544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pic>
        <p:nvPicPr>
          <p:cNvPr id="13" name="Bildobjekt 12" descr="Lunds sigill RGB 150.png"/>
          <p:cNvPicPr>
            <a:picLocks noChangeAspect="1"/>
          </p:cNvPicPr>
          <p:nvPr userDrawn="1"/>
        </p:nvPicPr>
        <p:blipFill>
          <a:blip r:embed="rId3"/>
          <a:srcRect r="17691" b="21541"/>
          <a:stretch>
            <a:fillRect/>
          </a:stretch>
        </p:blipFill>
        <p:spPr>
          <a:xfrm>
            <a:off x="9253855" y="4042124"/>
            <a:ext cx="2917508" cy="2796826"/>
          </a:xfrm>
          <a:prstGeom prst="rect">
            <a:avLst/>
          </a:prstGeom>
          <a:noFill/>
          <a:ln>
            <a:noFill/>
          </a:ln>
        </p:spPr>
      </p:pic>
      <p:pic>
        <p:nvPicPr>
          <p:cNvPr id="14" name="Bildobjekt 13" descr="LundUniversity_C2line RGB 150.png"/>
          <p:cNvPicPr>
            <a:picLocks noChangeAspect="1"/>
          </p:cNvPicPr>
          <p:nvPr userDrawn="1"/>
        </p:nvPicPr>
        <p:blipFill>
          <a:blip r:embed="rId4"/>
          <a:stretch>
            <a:fillRect/>
          </a:stretch>
        </p:blipFill>
        <p:spPr>
          <a:xfrm>
            <a:off x="486800" y="359907"/>
            <a:ext cx="708740" cy="946800"/>
          </a:xfrm>
          <a:prstGeom prst="rect">
            <a:avLst/>
          </a:prstGeom>
        </p:spPr>
      </p:pic>
      <p:sp>
        <p:nvSpPr>
          <p:cNvPr id="12" name="Rubrik 1"/>
          <p:cNvSpPr>
            <a:spLocks noGrp="1"/>
          </p:cNvSpPr>
          <p:nvPr>
            <p:ph type="ctrTitle" hasCustomPrompt="1"/>
          </p:nvPr>
        </p:nvSpPr>
        <p:spPr>
          <a:xfrm>
            <a:off x="4383598" y="1583677"/>
            <a:ext cx="7490902" cy="714380"/>
          </a:xfrm>
        </p:spPr>
        <p:txBody>
          <a:bodyPr lIns="0" tIns="97200" rIns="0" bIns="82800"/>
          <a:lstStyle>
            <a:lvl1pPr>
              <a:defRPr sz="4000" baseline="0"/>
            </a:lvl1pPr>
          </a:lstStyle>
          <a:p>
            <a:r>
              <a:rPr lang="en-GB" noProof="0" dirty="0"/>
              <a:t>Single-line title</a:t>
            </a:r>
          </a:p>
        </p:txBody>
      </p:sp>
      <p:sp>
        <p:nvSpPr>
          <p:cNvPr id="15" name="Underrubrik 2"/>
          <p:cNvSpPr>
            <a:spLocks noGrp="1"/>
          </p:cNvSpPr>
          <p:nvPr>
            <p:ph type="subTitle" idx="1" hasCustomPrompt="1"/>
          </p:nvPr>
        </p:nvSpPr>
        <p:spPr>
          <a:xfrm>
            <a:off x="4383598" y="2400299"/>
            <a:ext cx="7490902" cy="212213"/>
          </a:xfrm>
        </p:spPr>
        <p:txBody>
          <a:bodyPr lIns="0" tIns="0" rIns="0" bIns="0" anchor="t" anchorCtr="0"/>
          <a:lstStyle>
            <a:lvl1pPr marL="0" indent="0" algn="l">
              <a:buNone/>
              <a:defRPr sz="1200" b="1" kern="1200" cap="all" spc="10" baseline="0">
                <a:solidFill>
                  <a:schemeClr val="tx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noProof="0" dirty="0"/>
              <a:t>Subtitle or name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2 lines grey">
    <p:spTree>
      <p:nvGrpSpPr>
        <p:cNvPr id="1" name=""/>
        <p:cNvGrpSpPr/>
        <p:nvPr/>
      </p:nvGrpSpPr>
      <p:grpSpPr>
        <a:xfrm>
          <a:off x="0" y="0"/>
          <a:ext cx="0" cy="0"/>
          <a:chOff x="0" y="0"/>
          <a:chExt cx="0" cy="0"/>
        </a:xfrm>
      </p:grpSpPr>
      <p:pic>
        <p:nvPicPr>
          <p:cNvPr id="25" name="Bildobjekt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0975" y="180000"/>
            <a:ext cx="11807952" cy="6480048"/>
          </a:xfrm>
          <a:prstGeom prst="rect">
            <a:avLst/>
          </a:prstGeom>
        </p:spPr>
      </p:pic>
      <p:sp>
        <p:nvSpPr>
          <p:cNvPr id="6" name="Rektangel 5"/>
          <p:cNvSpPr/>
          <p:nvPr userDrawn="1"/>
        </p:nvSpPr>
        <p:spPr bwMode="auto">
          <a:xfrm>
            <a:off x="4109337" y="1467998"/>
            <a:ext cx="8062026" cy="18862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04875" rtl="0" eaLnBrk="1" fontAlgn="base" latinLnBrk="0" hangingPunct="1">
              <a:lnSpc>
                <a:spcPct val="100000"/>
              </a:lnSpc>
              <a:spcBef>
                <a:spcPct val="0"/>
              </a:spcBef>
              <a:spcAft>
                <a:spcPct val="0"/>
              </a:spcAft>
              <a:buClrTx/>
              <a:buSzTx/>
              <a:buFontTx/>
              <a:buNone/>
            </a:pPr>
            <a:endParaRPr kumimoji="0" lang="sv-SE" sz="1800" b="1" i="0" u="none" strike="noStrike" cap="none" normalizeH="0" baseline="0" dirty="0">
              <a:ln>
                <a:noFill/>
              </a:ln>
              <a:solidFill>
                <a:schemeClr val="tx1"/>
              </a:solidFill>
              <a:effectLst/>
              <a:latin typeface="Arial" panose="020B0604020202020204" pitchFamily="34" charset="0"/>
            </a:endParaRPr>
          </a:p>
        </p:txBody>
      </p:sp>
      <p:cxnSp>
        <p:nvCxnSpPr>
          <p:cNvPr id="11" name="Rak 10"/>
          <p:cNvCxnSpPr/>
          <p:nvPr userDrawn="1"/>
        </p:nvCxnSpPr>
        <p:spPr bwMode="auto">
          <a:xfrm>
            <a:off x="4380178" y="2853588"/>
            <a:ext cx="760544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pic>
        <p:nvPicPr>
          <p:cNvPr id="13" name="Bildobjekt 12" descr="Lunds sigill RGB 150.png"/>
          <p:cNvPicPr>
            <a:picLocks noChangeAspect="1"/>
          </p:cNvPicPr>
          <p:nvPr userDrawn="1"/>
        </p:nvPicPr>
        <p:blipFill>
          <a:blip r:embed="rId3"/>
          <a:srcRect r="17691" b="21541"/>
          <a:stretch>
            <a:fillRect/>
          </a:stretch>
        </p:blipFill>
        <p:spPr>
          <a:xfrm>
            <a:off x="9253855" y="4042124"/>
            <a:ext cx="2917508" cy="2796826"/>
          </a:xfrm>
          <a:prstGeom prst="rect">
            <a:avLst/>
          </a:prstGeom>
          <a:noFill/>
          <a:ln>
            <a:noFill/>
          </a:ln>
        </p:spPr>
      </p:pic>
      <p:pic>
        <p:nvPicPr>
          <p:cNvPr id="14" name="Bildobjekt 13" descr="LundUniversity_C2line RGB 150.png"/>
          <p:cNvPicPr>
            <a:picLocks noChangeAspect="1"/>
          </p:cNvPicPr>
          <p:nvPr userDrawn="1"/>
        </p:nvPicPr>
        <p:blipFill>
          <a:blip r:embed="rId4"/>
          <a:stretch>
            <a:fillRect/>
          </a:stretch>
        </p:blipFill>
        <p:spPr>
          <a:xfrm>
            <a:off x="486800" y="359907"/>
            <a:ext cx="708740" cy="946800"/>
          </a:xfrm>
          <a:prstGeom prst="rect">
            <a:avLst/>
          </a:prstGeom>
        </p:spPr>
      </p:pic>
      <p:sp>
        <p:nvSpPr>
          <p:cNvPr id="12" name="Rubrik 1"/>
          <p:cNvSpPr>
            <a:spLocks noGrp="1"/>
          </p:cNvSpPr>
          <p:nvPr>
            <p:ph type="ctrTitle" hasCustomPrompt="1"/>
          </p:nvPr>
        </p:nvSpPr>
        <p:spPr>
          <a:xfrm>
            <a:off x="4383598" y="1621776"/>
            <a:ext cx="7490902" cy="1231811"/>
          </a:xfrm>
        </p:spPr>
        <p:txBody>
          <a:bodyPr lIns="0" tIns="97200" rIns="0" bIns="82800"/>
          <a:lstStyle>
            <a:lvl1pPr>
              <a:lnSpc>
                <a:spcPts val="4400"/>
              </a:lnSpc>
              <a:defRPr sz="4000" baseline="0"/>
            </a:lvl1pPr>
          </a:lstStyle>
          <a:p>
            <a:r>
              <a:rPr lang="en-GB" noProof="0" dirty="0"/>
              <a:t>Two-line title</a:t>
            </a:r>
            <a:br>
              <a:rPr lang="en-GB" noProof="0" dirty="0"/>
            </a:br>
            <a:r>
              <a:rPr lang="en-GB" noProof="0" dirty="0"/>
              <a:t>– if one line isn’t enough</a:t>
            </a:r>
          </a:p>
        </p:txBody>
      </p:sp>
      <p:sp>
        <p:nvSpPr>
          <p:cNvPr id="15" name="Underrubrik 2"/>
          <p:cNvSpPr>
            <a:spLocks noGrp="1"/>
          </p:cNvSpPr>
          <p:nvPr>
            <p:ph type="subTitle" idx="1" hasCustomPrompt="1"/>
          </p:nvPr>
        </p:nvSpPr>
        <p:spPr>
          <a:xfrm>
            <a:off x="4383598" y="2971799"/>
            <a:ext cx="7490902" cy="212213"/>
          </a:xfrm>
        </p:spPr>
        <p:txBody>
          <a:bodyPr lIns="0" tIns="0" rIns="0" bIns="0" anchor="t" anchorCtr="0"/>
          <a:lstStyle>
            <a:lvl1pPr marL="0" marR="0" indent="0" algn="l" defTabSz="457200" rtl="0" eaLnBrk="1" fontAlgn="auto" latinLnBrk="0" hangingPunct="1">
              <a:lnSpc>
                <a:spcPct val="100000"/>
              </a:lnSpc>
              <a:spcBef>
                <a:spcPct val="20000"/>
              </a:spcBef>
              <a:spcAft>
                <a:spcPts val="0"/>
              </a:spcAft>
              <a:buClr>
                <a:schemeClr val="tx2"/>
              </a:buClr>
              <a:buSzTx/>
              <a:buFont typeface="Arial" panose="020B0604020202020204"/>
              <a:buNone/>
              <a:defRPr sz="1200" b="1" kern="1200" cap="all" spc="10" baseline="0">
                <a:solidFill>
                  <a:schemeClr val="tx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noProof="0" dirty="0"/>
              <a:t>Subtitle or name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eader and text">
    <p:spTree>
      <p:nvGrpSpPr>
        <p:cNvPr id="1" name=""/>
        <p:cNvGrpSpPr/>
        <p:nvPr/>
      </p:nvGrpSpPr>
      <p:grpSpPr>
        <a:xfrm>
          <a:off x="0" y="0"/>
          <a:ext cx="0" cy="0"/>
          <a:chOff x="0" y="0"/>
          <a:chExt cx="0" cy="0"/>
        </a:xfrm>
      </p:grpSpPr>
      <p:sp>
        <p:nvSpPr>
          <p:cNvPr id="2" name="Rubrik 1"/>
          <p:cNvSpPr>
            <a:spLocks noGrp="1"/>
          </p:cNvSpPr>
          <p:nvPr>
            <p:ph type="title" hasCustomPrompt="1"/>
          </p:nvPr>
        </p:nvSpPr>
        <p:spPr>
          <a:xfrm>
            <a:off x="510746" y="256556"/>
            <a:ext cx="11162270" cy="674320"/>
          </a:xfrm>
        </p:spPr>
        <p:txBody>
          <a:bodyPr/>
          <a:lstStyle/>
          <a:p>
            <a:r>
              <a:rPr lang="en-GB" noProof="0" dirty="0"/>
              <a:t>Header</a:t>
            </a:r>
          </a:p>
        </p:txBody>
      </p:sp>
      <p:sp>
        <p:nvSpPr>
          <p:cNvPr id="6" name="Rectangle 3"/>
          <p:cNvSpPr>
            <a:spLocks noGrp="1" noChangeArrowheads="1"/>
          </p:cNvSpPr>
          <p:nvPr>
            <p:ph idx="1" hasCustomPrompt="1"/>
          </p:nvPr>
        </p:nvSpPr>
        <p:spPr bwMode="auto">
          <a:xfrm>
            <a:off x="510746" y="1070919"/>
            <a:ext cx="11162270" cy="5008605"/>
          </a:xfrm>
          <a:prstGeom prst="rect">
            <a:avLst/>
          </a:prstGeom>
          <a:noFill/>
          <a:ln w="9525">
            <a:noFill/>
            <a:miter lim="800000"/>
          </a:ln>
        </p:spPr>
        <p:txBody>
          <a:bodyPr vert="horz" wrap="square" lIns="90516" tIns="45258" rIns="90516" bIns="45258" numCol="1" anchor="t" anchorCtr="0" compatLnSpc="1"/>
          <a:lstStyle>
            <a:lvl1pPr>
              <a:defRPr/>
            </a:lvl1pPr>
          </a:lstStyle>
          <a:p>
            <a:pPr lvl="0"/>
            <a:r>
              <a:rPr lang="en-GB" noProof="0" dirty="0"/>
              <a:t>Add text</a:t>
            </a:r>
          </a:p>
          <a:p>
            <a:pPr lvl="1"/>
            <a:r>
              <a:rPr lang="en-GB" noProof="0" dirty="0"/>
              <a:t>Level two</a:t>
            </a:r>
          </a:p>
          <a:p>
            <a:pPr lvl="2"/>
            <a:r>
              <a:rPr lang="en-GB" noProof="0" dirty="0"/>
              <a:t>Level three</a:t>
            </a:r>
          </a:p>
          <a:p>
            <a:pPr lvl="3"/>
            <a:r>
              <a:rPr lang="en-GB" noProof="0" dirty="0"/>
              <a:t>Level four</a:t>
            </a:r>
          </a:p>
          <a:p>
            <a:pPr lvl="0"/>
            <a:endParaRPr lang="en-GB" noProof="0" dirty="0"/>
          </a:p>
        </p:txBody>
      </p:sp>
      <p:sp>
        <p:nvSpPr>
          <p:cNvPr id="4" name="슬라이드 번호 개체 틀 5"/>
          <p:cNvSpPr>
            <a:spLocks noGrp="1"/>
          </p:cNvSpPr>
          <p:nvPr>
            <p:ph type="sldNum" sz="quarter" idx="12"/>
          </p:nvPr>
        </p:nvSpPr>
        <p:spPr>
          <a:xfrm>
            <a:off x="510746" y="6357296"/>
            <a:ext cx="2743200" cy="365125"/>
          </a:xfrm>
          <a:prstGeom prst="rect">
            <a:avLst/>
          </a:prstGeom>
        </p:spPr>
        <p:txBody>
          <a:bodyPr/>
          <a:lstStyle/>
          <a:p>
            <a:fld id="{9D1B9D8C-A161-4084-924B-59152344AFCF}" type="slidenum">
              <a:rPr lang="ko-KR" altLang="en-US" smtClean="0"/>
              <a:t>‹#›</a:t>
            </a:fld>
            <a:endParaRPr lang="ko-KR"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raph and text">
    <p:spTree>
      <p:nvGrpSpPr>
        <p:cNvPr id="1" name=""/>
        <p:cNvGrpSpPr/>
        <p:nvPr/>
      </p:nvGrpSpPr>
      <p:grpSpPr>
        <a:xfrm>
          <a:off x="0" y="0"/>
          <a:ext cx="0" cy="0"/>
          <a:chOff x="0" y="0"/>
          <a:chExt cx="0" cy="0"/>
        </a:xfrm>
      </p:grpSpPr>
      <p:sp>
        <p:nvSpPr>
          <p:cNvPr id="2" name="Rubrik 1"/>
          <p:cNvSpPr>
            <a:spLocks noGrp="1"/>
          </p:cNvSpPr>
          <p:nvPr>
            <p:ph type="title" hasCustomPrompt="1"/>
          </p:nvPr>
        </p:nvSpPr>
        <p:spPr/>
        <p:txBody>
          <a:bodyPr/>
          <a:lstStyle/>
          <a:p>
            <a:r>
              <a:rPr lang="en-GB" noProof="0" dirty="0"/>
              <a:t>Header</a:t>
            </a:r>
          </a:p>
        </p:txBody>
      </p:sp>
      <p:sp>
        <p:nvSpPr>
          <p:cNvPr id="6" name="Rectangle 3"/>
          <p:cNvSpPr>
            <a:spLocks noGrp="1" noChangeArrowheads="1"/>
          </p:cNvSpPr>
          <p:nvPr>
            <p:ph idx="1" hasCustomPrompt="1"/>
          </p:nvPr>
        </p:nvSpPr>
        <p:spPr bwMode="auto">
          <a:xfrm>
            <a:off x="518984" y="1079157"/>
            <a:ext cx="11158868" cy="4992129"/>
          </a:xfrm>
          <a:prstGeom prst="rect">
            <a:avLst/>
          </a:prstGeom>
          <a:noFill/>
          <a:ln w="9525">
            <a:noFill/>
            <a:miter lim="800000"/>
          </a:ln>
        </p:spPr>
        <p:txBody>
          <a:bodyPr vert="horz" wrap="square" lIns="90516" tIns="45258" rIns="90516" bIns="45258" numCol="1" anchor="t" anchorCtr="0" compatLnSpc="1"/>
          <a:lstStyle/>
          <a:p>
            <a:pPr lvl="0"/>
            <a:r>
              <a:rPr lang="en-GB" noProof="0" dirty="0"/>
              <a:t>Add text</a:t>
            </a:r>
          </a:p>
          <a:p>
            <a:pPr lvl="1"/>
            <a:r>
              <a:rPr lang="en-GB" noProof="0" dirty="0"/>
              <a:t>Level two</a:t>
            </a:r>
          </a:p>
          <a:p>
            <a:pPr lvl="2"/>
            <a:r>
              <a:rPr lang="en-GB" noProof="0" dirty="0"/>
              <a:t>Level three</a:t>
            </a:r>
          </a:p>
          <a:p>
            <a:pPr lvl="3"/>
            <a:r>
              <a:rPr lang="en-GB" noProof="0" dirty="0"/>
              <a:t>Level four</a:t>
            </a:r>
          </a:p>
          <a:p>
            <a:pPr lvl="0"/>
            <a:endParaRPr lang="en-GB" noProof="0" dirty="0"/>
          </a:p>
        </p:txBody>
      </p:sp>
      <p:sp>
        <p:nvSpPr>
          <p:cNvPr id="4" name="슬라이드 번호 개체 틀 5"/>
          <p:cNvSpPr>
            <a:spLocks noGrp="1"/>
          </p:cNvSpPr>
          <p:nvPr>
            <p:ph type="sldNum" sz="quarter" idx="12"/>
          </p:nvPr>
        </p:nvSpPr>
        <p:spPr>
          <a:xfrm>
            <a:off x="518984" y="6375463"/>
            <a:ext cx="2743200" cy="365125"/>
          </a:xfrm>
          <a:prstGeom prst="rect">
            <a:avLst/>
          </a:prstGeom>
        </p:spPr>
        <p:txBody>
          <a:bodyPr/>
          <a:lstStyle/>
          <a:p>
            <a:fld id="{9D1B9D8C-A161-4084-924B-59152344AFCF}" type="slidenum">
              <a:rPr lang="ko-KR" altLang="en-US" smtClean="0"/>
              <a:t>‹#›</a:t>
            </a:fld>
            <a:endParaRPr lang="ko-KR"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2" name="Rektangel 1"/>
          <p:cNvSpPr/>
          <p:nvPr userDrawn="1"/>
        </p:nvSpPr>
        <p:spPr>
          <a:xfrm>
            <a:off x="197709" y="381001"/>
            <a:ext cx="11771440" cy="63575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pic>
        <p:nvPicPr>
          <p:cNvPr id="5" name="Bildobjekt 4" descr="LundUniversity_C2line RGB 150.png"/>
          <p:cNvPicPr>
            <a:picLocks noChangeAspect="1"/>
          </p:cNvPicPr>
          <p:nvPr userDrawn="1"/>
        </p:nvPicPr>
        <p:blipFill>
          <a:blip r:embed="rId2"/>
          <a:stretch>
            <a:fillRect/>
          </a:stretch>
        </p:blipFill>
        <p:spPr>
          <a:xfrm>
            <a:off x="4489450" y="1112256"/>
            <a:ext cx="3207776" cy="4285244"/>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le and bulleted list">
    <p:spTree>
      <p:nvGrpSpPr>
        <p:cNvPr id="1" name=""/>
        <p:cNvGrpSpPr/>
        <p:nvPr/>
      </p:nvGrpSpPr>
      <p:grpSpPr>
        <a:xfrm>
          <a:off x="0" y="0"/>
          <a:ext cx="0" cy="0"/>
          <a:chOff x="0" y="0"/>
          <a:chExt cx="0" cy="0"/>
        </a:xfrm>
      </p:grpSpPr>
      <p:sp>
        <p:nvSpPr>
          <p:cNvPr id="2" name="Rubrik 1"/>
          <p:cNvSpPr>
            <a:spLocks noGrp="1"/>
          </p:cNvSpPr>
          <p:nvPr>
            <p:ph type="title" hasCustomPrompt="1"/>
          </p:nvPr>
        </p:nvSpPr>
        <p:spPr/>
        <p:txBody>
          <a:bodyPr/>
          <a:lstStyle>
            <a:lvl1pPr>
              <a:defRPr/>
            </a:lvl1pPr>
          </a:lstStyle>
          <a:p>
            <a:r>
              <a:rPr lang="en-GB" noProof="0"/>
              <a:t>Title</a:t>
            </a:r>
          </a:p>
        </p:txBody>
      </p:sp>
      <p:sp>
        <p:nvSpPr>
          <p:cNvPr id="3" name="Platshållare för innehåll 2"/>
          <p:cNvSpPr>
            <a:spLocks noGrp="1"/>
          </p:cNvSpPr>
          <p:nvPr>
            <p:ph idx="1" hasCustomPrompt="1"/>
          </p:nvPr>
        </p:nvSpPr>
        <p:spPr>
          <a:xfrm>
            <a:off x="889126" y="1848243"/>
            <a:ext cx="10259772" cy="3562332"/>
          </a:xfrm>
        </p:spPr>
        <p:txBody>
          <a:bodyPr/>
          <a:lstStyle>
            <a:lvl1pPr>
              <a:spcAft>
                <a:spcPts val="0"/>
              </a:spcAft>
              <a:defRPr sz="2195"/>
            </a:lvl1pPr>
            <a:lvl2pPr>
              <a:spcAft>
                <a:spcPts val="0"/>
              </a:spcAft>
              <a:buClr>
                <a:schemeClr val="tx2"/>
              </a:buClr>
              <a:defRPr sz="2195"/>
            </a:lvl2pPr>
            <a:lvl3pPr>
              <a:spcAft>
                <a:spcPts val="0"/>
              </a:spcAft>
              <a:buClr>
                <a:schemeClr val="tx2"/>
              </a:buClr>
              <a:defRPr/>
            </a:lvl3pPr>
            <a:lvl4pPr>
              <a:spcAft>
                <a:spcPts val="0"/>
              </a:spcAft>
              <a:buClr>
                <a:schemeClr val="tx2"/>
              </a:buClr>
              <a:defRPr/>
            </a:lvl4pPr>
          </a:lstStyle>
          <a:p>
            <a:pPr lvl="0"/>
            <a:r>
              <a:rPr lang="en-GB" noProof="0"/>
              <a:t>Add text</a:t>
            </a:r>
          </a:p>
          <a:p>
            <a:pPr lvl="1"/>
            <a:r>
              <a:rPr lang="en-GB" noProof="0"/>
              <a:t>Level two</a:t>
            </a:r>
          </a:p>
          <a:p>
            <a:pPr lvl="2"/>
            <a:r>
              <a:rPr lang="en-GB" noProof="0"/>
              <a:t>Level three</a:t>
            </a:r>
          </a:p>
          <a:p>
            <a:pPr lvl="3"/>
            <a:r>
              <a:rPr lang="en-GB" noProof="0"/>
              <a:t>Level four</a:t>
            </a:r>
          </a:p>
        </p:txBody>
      </p:sp>
      <p:cxnSp>
        <p:nvCxnSpPr>
          <p:cNvPr id="11" name="Rak 10"/>
          <p:cNvCxnSpPr/>
          <p:nvPr userDrawn="1"/>
        </p:nvCxnSpPr>
        <p:spPr bwMode="auto">
          <a:xfrm>
            <a:off x="1007743" y="1499035"/>
            <a:ext cx="1014964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 name="Rectangle 25"/>
          <p:cNvSpPr>
            <a:spLocks noGrp="1" noChangeArrowheads="1"/>
          </p:cNvSpPr>
          <p:nvPr>
            <p:ph type="sldNum" sz="quarter" idx="10"/>
          </p:nvPr>
        </p:nvSpPr>
        <p:spPr>
          <a:xfrm>
            <a:off x="0" y="6459626"/>
            <a:ext cx="710534" cy="303143"/>
          </a:xfrm>
          <a:prstGeom prst="rect">
            <a:avLst/>
          </a:prstGeom>
        </p:spPr>
        <p:txBody>
          <a:bodyPr vert="horz" wrap="square" lIns="90516" tIns="45258" rIns="90516" bIns="45258" numCol="1" anchor="t" anchorCtr="0" compatLnSpc="1"/>
          <a:lstStyle>
            <a:lvl1pPr>
              <a:defRPr sz="1595" b="1">
                <a:ea typeface="MS PGothic" panose="020B0600070205080204" pitchFamily="34" charset="-128"/>
              </a:defRPr>
            </a:lvl1pPr>
          </a:lstStyle>
          <a:p>
            <a:fld id="{B3606B9E-5A98-41E4-AEFB-F9B2EA2CEE49}" type="slidenum">
              <a:rPr lang="ko-KR" altLang="en-US" smtClean="0"/>
              <a:t>‹#›</a:t>
            </a:fld>
            <a:endParaRPr lang="en-US" altLang="ko-KR"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多行文本_3项">
    <p:spTree>
      <p:nvGrpSpPr>
        <p:cNvPr id="1" name=""/>
        <p:cNvGrpSpPr/>
        <p:nvPr/>
      </p:nvGrpSpPr>
      <p:grpSpPr>
        <a:xfrm>
          <a:off x="0" y="0"/>
          <a:ext cx="0" cy="0"/>
          <a:chOff x="0" y="0"/>
          <a:chExt cx="0" cy="0"/>
        </a:xfrm>
      </p:grpSpPr>
      <p:sp>
        <p:nvSpPr>
          <p:cNvPr id="16" name="装饰  9">
            <a:extLst>
              <a:ext uri="{FF2B5EF4-FFF2-40B4-BE49-F238E27FC236}">
                <a16:creationId xmlns:a16="http://schemas.microsoft.com/office/drawing/2014/main" id="{C2688E0E-35FE-445E-AC8C-4F8C1838FE8B}"/>
              </a:ext>
            </a:extLst>
          </p:cNvPr>
          <p:cNvSpPr>
            <a:spLocks noGrp="1"/>
          </p:cNvSpPr>
          <p:nvPr>
            <p:ph type="body" idx="16394" hasCustomPrompt="1"/>
            <p:custDataLst>
              <p:tags r:id="rId1"/>
            </p:custDataLst>
          </p:nvPr>
        </p:nvSpPr>
        <p:spPr>
          <a:xfrm>
            <a:off x="571346" y="2419617"/>
            <a:ext cx="10953940" cy="1038508"/>
          </a:xfrm>
          <a:custGeom>
            <a:avLst/>
            <a:gdLst>
              <a:gd name="connisteX0" fmla="*/ 0 w 10972800"/>
              <a:gd name="connsiteY0" fmla="*/ 203200 h 1473200"/>
              <a:gd name="connisteX1" fmla="*/ 203200 w 10972800"/>
              <a:gd name="connsiteY1" fmla="*/ 0 h 1473200"/>
              <a:gd name="connisteX2" fmla="*/ 10769600 w 10972800"/>
              <a:gd name="connsiteY2" fmla="*/ 0 h 1473200"/>
              <a:gd name="connisteX3" fmla="*/ 10972800 w 10972800"/>
              <a:gd name="connsiteY3" fmla="*/ 203200 h 1473200"/>
              <a:gd name="connisteX4" fmla="*/ 10972800 w 10972800"/>
              <a:gd name="connsiteY4" fmla="*/ 1270000 h 1473200"/>
              <a:gd name="connisteX5" fmla="*/ 10769600 w 10972800"/>
              <a:gd name="connsiteY5" fmla="*/ 1473200 h 1473200"/>
              <a:gd name="connisteX6" fmla="*/ 203200 w 10972800"/>
              <a:gd name="connsiteY6" fmla="*/ 1473200 h 1473200"/>
              <a:gd name="connisteX7" fmla="*/ 0 w 10972800"/>
              <a:gd name="connsiteY7" fmla="*/ 1270000 h 1473200"/>
              <a:gd name="connisteX8" fmla="*/ 0 w 10972800"/>
              <a:gd name="connsiteY8"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1473200">
                <a:moveTo>
                  <a:pt x="0" y="203200"/>
                </a:moveTo>
                <a:cubicBezTo>
                  <a:pt x="0" y="90976"/>
                  <a:pt x="90976" y="0"/>
                  <a:pt x="203200" y="0"/>
                </a:cubicBezTo>
                <a:lnTo>
                  <a:pt x="10769600" y="0"/>
                </a:lnTo>
                <a:cubicBezTo>
                  <a:pt x="10881824" y="0"/>
                  <a:pt x="10972800" y="90976"/>
                  <a:pt x="10972800" y="203200"/>
                </a:cubicBezTo>
                <a:lnTo>
                  <a:pt x="10972800" y="1270000"/>
                </a:lnTo>
                <a:cubicBezTo>
                  <a:pt x="10972800" y="1382224"/>
                  <a:pt x="10881824" y="1473200"/>
                  <a:pt x="10769600" y="1473200"/>
                </a:cubicBezTo>
                <a:lnTo>
                  <a:pt x="203200" y="1473200"/>
                </a:lnTo>
                <a:cubicBezTo>
                  <a:pt x="90976" y="1473200"/>
                  <a:pt x="0" y="1382224"/>
                  <a:pt x="0" y="12700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7" name="装饰  9">
            <a:extLst>
              <a:ext uri="{FF2B5EF4-FFF2-40B4-BE49-F238E27FC236}">
                <a16:creationId xmlns:a16="http://schemas.microsoft.com/office/drawing/2014/main" id="{68784ECD-4A65-45EC-BC2C-9AC1906F9CF4}"/>
              </a:ext>
            </a:extLst>
          </p:cNvPr>
          <p:cNvSpPr>
            <a:spLocks noGrp="1"/>
          </p:cNvSpPr>
          <p:nvPr>
            <p:ph type="body" idx="16395" hasCustomPrompt="1"/>
            <p:custDataLst>
              <p:tags r:id="rId2"/>
            </p:custDataLst>
          </p:nvPr>
        </p:nvSpPr>
        <p:spPr>
          <a:xfrm>
            <a:off x="566741" y="4716067"/>
            <a:ext cx="10953940" cy="1038508"/>
          </a:xfrm>
          <a:custGeom>
            <a:avLst/>
            <a:gdLst>
              <a:gd name="connisteX0" fmla="*/ 0 w 10972800"/>
              <a:gd name="connsiteY0" fmla="*/ 203200 h 1473200"/>
              <a:gd name="connisteX1" fmla="*/ 203200 w 10972800"/>
              <a:gd name="connsiteY1" fmla="*/ 0 h 1473200"/>
              <a:gd name="connisteX2" fmla="*/ 10769600 w 10972800"/>
              <a:gd name="connsiteY2" fmla="*/ 0 h 1473200"/>
              <a:gd name="connisteX3" fmla="*/ 10972800 w 10972800"/>
              <a:gd name="connsiteY3" fmla="*/ 203200 h 1473200"/>
              <a:gd name="connisteX4" fmla="*/ 10972800 w 10972800"/>
              <a:gd name="connsiteY4" fmla="*/ 1270000 h 1473200"/>
              <a:gd name="connisteX5" fmla="*/ 10769600 w 10972800"/>
              <a:gd name="connsiteY5" fmla="*/ 1473200 h 1473200"/>
              <a:gd name="connisteX6" fmla="*/ 203200 w 10972800"/>
              <a:gd name="connsiteY6" fmla="*/ 1473200 h 1473200"/>
              <a:gd name="connisteX7" fmla="*/ 0 w 10972800"/>
              <a:gd name="connsiteY7" fmla="*/ 1270000 h 1473200"/>
              <a:gd name="connisteX8" fmla="*/ 0 w 10972800"/>
              <a:gd name="connsiteY8"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1473200">
                <a:moveTo>
                  <a:pt x="0" y="203200"/>
                </a:moveTo>
                <a:cubicBezTo>
                  <a:pt x="0" y="90976"/>
                  <a:pt x="90976" y="0"/>
                  <a:pt x="203200" y="0"/>
                </a:cubicBezTo>
                <a:lnTo>
                  <a:pt x="10769600" y="0"/>
                </a:lnTo>
                <a:cubicBezTo>
                  <a:pt x="10881824" y="0"/>
                  <a:pt x="10972800" y="90976"/>
                  <a:pt x="10972800" y="203200"/>
                </a:cubicBezTo>
                <a:lnTo>
                  <a:pt x="10972800" y="1270000"/>
                </a:lnTo>
                <a:cubicBezTo>
                  <a:pt x="10972800" y="1382224"/>
                  <a:pt x="10881824" y="1473200"/>
                  <a:pt x="10769600" y="1473200"/>
                </a:cubicBezTo>
                <a:lnTo>
                  <a:pt x="203200" y="1473200"/>
                </a:lnTo>
                <a:cubicBezTo>
                  <a:pt x="90976" y="1473200"/>
                  <a:pt x="0" y="1382224"/>
                  <a:pt x="0" y="12700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8" name="装饰  9">
            <a:extLst>
              <a:ext uri="{FF2B5EF4-FFF2-40B4-BE49-F238E27FC236}">
                <a16:creationId xmlns:a16="http://schemas.microsoft.com/office/drawing/2014/main" id="{FD4C9BCE-76B6-4BA7-A8EF-34CEAE7336A1}"/>
              </a:ext>
            </a:extLst>
          </p:cNvPr>
          <p:cNvSpPr>
            <a:spLocks noGrp="1"/>
          </p:cNvSpPr>
          <p:nvPr>
            <p:ph type="body" idx="16396" hasCustomPrompt="1"/>
            <p:custDataLst>
              <p:tags r:id="rId3"/>
            </p:custDataLst>
          </p:nvPr>
        </p:nvSpPr>
        <p:spPr>
          <a:xfrm>
            <a:off x="571346" y="1215812"/>
            <a:ext cx="10953940" cy="1038508"/>
          </a:xfrm>
          <a:custGeom>
            <a:avLst/>
            <a:gdLst>
              <a:gd name="connisteX0" fmla="*/ 0 w 10972800"/>
              <a:gd name="connsiteY0" fmla="*/ 203200 h 1473200"/>
              <a:gd name="connisteX1" fmla="*/ 203200 w 10972800"/>
              <a:gd name="connsiteY1" fmla="*/ 0 h 1473200"/>
              <a:gd name="connisteX2" fmla="*/ 10769600 w 10972800"/>
              <a:gd name="connsiteY2" fmla="*/ 0 h 1473200"/>
              <a:gd name="connisteX3" fmla="*/ 10972800 w 10972800"/>
              <a:gd name="connsiteY3" fmla="*/ 203200 h 1473200"/>
              <a:gd name="connisteX4" fmla="*/ 10972800 w 10972800"/>
              <a:gd name="connsiteY4" fmla="*/ 1270000 h 1473200"/>
              <a:gd name="connisteX5" fmla="*/ 10769600 w 10972800"/>
              <a:gd name="connsiteY5" fmla="*/ 1473200 h 1473200"/>
              <a:gd name="connisteX6" fmla="*/ 203200 w 10972800"/>
              <a:gd name="connsiteY6" fmla="*/ 1473200 h 1473200"/>
              <a:gd name="connisteX7" fmla="*/ 0 w 10972800"/>
              <a:gd name="connsiteY7" fmla="*/ 1270000 h 1473200"/>
              <a:gd name="connisteX8" fmla="*/ 0 w 10972800"/>
              <a:gd name="connsiteY8"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1473200">
                <a:moveTo>
                  <a:pt x="0" y="203200"/>
                </a:moveTo>
                <a:cubicBezTo>
                  <a:pt x="0" y="90976"/>
                  <a:pt x="90976" y="0"/>
                  <a:pt x="203200" y="0"/>
                </a:cubicBezTo>
                <a:lnTo>
                  <a:pt x="10769600" y="0"/>
                </a:lnTo>
                <a:cubicBezTo>
                  <a:pt x="10881824" y="0"/>
                  <a:pt x="10972800" y="90976"/>
                  <a:pt x="10972800" y="203200"/>
                </a:cubicBezTo>
                <a:lnTo>
                  <a:pt x="10972800" y="1270000"/>
                </a:lnTo>
                <a:cubicBezTo>
                  <a:pt x="10972800" y="1382224"/>
                  <a:pt x="10881824" y="1473200"/>
                  <a:pt x="10769600" y="1473200"/>
                </a:cubicBezTo>
                <a:lnTo>
                  <a:pt x="203200" y="1473200"/>
                </a:lnTo>
                <a:cubicBezTo>
                  <a:pt x="90976" y="1473200"/>
                  <a:pt x="0" y="1382224"/>
                  <a:pt x="0" y="12700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dirty="0"/>
              <a:t> </a:t>
            </a:r>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t>2026/6/2</a:t>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p:txBody>
          <a:bodyPr/>
          <a:lstStyle/>
          <a:p>
            <a:fld id="{9D1B9D8C-A161-4084-924B-59152344AFCF}" type="slidenum">
              <a:rPr lang="ko-KR" altLang="en-US" smtClean="0"/>
              <a:t>‹#›</a:t>
            </a:fld>
            <a:endParaRPr lang="ko-KR" altLang="en-US"/>
          </a:p>
        </p:txBody>
      </p:sp>
      <p:sp>
        <p:nvSpPr>
          <p:cNvPr id="6" name="标题 5"/>
          <p:cNvSpPr>
            <a:spLocks noGrp="1"/>
          </p:cNvSpPr>
          <p:nvPr>
            <p:ph type="ctrTitle" idx="16385" hasCustomPrompt="1"/>
            <p:custDataLst>
              <p:tags r:id="rId4"/>
            </p:custDataLst>
          </p:nvPr>
        </p:nvSpPr>
        <p:spPr>
          <a:xfrm>
            <a:off x="608552" y="531918"/>
            <a:ext cx="10953940" cy="607907"/>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p>
        </p:txBody>
      </p:sp>
      <p:sp>
        <p:nvSpPr>
          <p:cNvPr id="8" name="文本占位符 7"/>
          <p:cNvSpPr>
            <a:spLocks noGrp="1"/>
          </p:cNvSpPr>
          <p:nvPr>
            <p:ph type="body" idx="16387" hasCustomPrompt="1"/>
            <p:custDataLst>
              <p:tags r:id="rId5"/>
            </p:custDataLst>
          </p:nvPr>
        </p:nvSpPr>
        <p:spPr>
          <a:xfrm>
            <a:off x="838200" y="1374323"/>
            <a:ext cx="874794" cy="734554"/>
          </a:xfrm>
          <a:noFill/>
        </p:spPr>
        <p:txBody>
          <a:bodyPr wrap="none" lIns="0" tIns="0" rIns="0" bIns="0" anchor="ctr">
            <a:noAutofit/>
          </a:bodyPr>
          <a:lstStyle>
            <a:lvl1pPr marL="0" indent="0" algn="ctr">
              <a:lnSpc>
                <a:spcPct val="109000"/>
              </a:lnSpc>
              <a:spcBef>
                <a:spcPct val="0"/>
              </a:spcBef>
              <a:spcAft>
                <a:spcPct val="0"/>
              </a:spcAft>
              <a:buNone/>
              <a:defRPr sz="5800" b="0" spc="0">
                <a:solidFill>
                  <a:schemeClr val="accent1"/>
                </a:solidFill>
              </a:defRPr>
            </a:lvl1pPr>
          </a:lstStyle>
          <a:p>
            <a:pPr lvl="0"/>
            <a:r>
              <a:rPr lang="zh-CN" altLang="en-US" dirty="0"/>
              <a:t>01</a:t>
            </a:r>
          </a:p>
        </p:txBody>
      </p:sp>
      <p:sp>
        <p:nvSpPr>
          <p:cNvPr id="9" name="文本占位符 8"/>
          <p:cNvSpPr>
            <a:spLocks noGrp="1"/>
          </p:cNvSpPr>
          <p:nvPr>
            <p:ph type="body" idx="16386" hasCustomPrompt="1"/>
            <p:custDataLst>
              <p:tags r:id="rId6"/>
            </p:custDataLst>
          </p:nvPr>
        </p:nvSpPr>
        <p:spPr>
          <a:xfrm>
            <a:off x="2029642" y="1498200"/>
            <a:ext cx="9178996" cy="607907"/>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dirty="0"/>
              <a:t>单击此处添加项正文</a:t>
            </a:r>
          </a:p>
        </p:txBody>
      </p:sp>
      <p:sp>
        <p:nvSpPr>
          <p:cNvPr id="10" name="装饰  9"/>
          <p:cNvSpPr>
            <a:spLocks noGrp="1"/>
          </p:cNvSpPr>
          <p:nvPr>
            <p:ph type="body" idx="16393" hasCustomPrompt="1"/>
            <p:custDataLst>
              <p:tags r:id="rId7"/>
            </p:custDataLst>
          </p:nvPr>
        </p:nvSpPr>
        <p:spPr>
          <a:xfrm>
            <a:off x="566741" y="3563801"/>
            <a:ext cx="10953940" cy="1038508"/>
          </a:xfrm>
          <a:custGeom>
            <a:avLst/>
            <a:gdLst>
              <a:gd name="connisteX0" fmla="*/ 0 w 10972800"/>
              <a:gd name="connsiteY0" fmla="*/ 203200 h 1473200"/>
              <a:gd name="connisteX1" fmla="*/ 203200 w 10972800"/>
              <a:gd name="connsiteY1" fmla="*/ 0 h 1473200"/>
              <a:gd name="connisteX2" fmla="*/ 10769600 w 10972800"/>
              <a:gd name="connsiteY2" fmla="*/ 0 h 1473200"/>
              <a:gd name="connisteX3" fmla="*/ 10972800 w 10972800"/>
              <a:gd name="connsiteY3" fmla="*/ 203200 h 1473200"/>
              <a:gd name="connisteX4" fmla="*/ 10972800 w 10972800"/>
              <a:gd name="connsiteY4" fmla="*/ 1270000 h 1473200"/>
              <a:gd name="connisteX5" fmla="*/ 10769600 w 10972800"/>
              <a:gd name="connsiteY5" fmla="*/ 1473200 h 1473200"/>
              <a:gd name="connisteX6" fmla="*/ 203200 w 10972800"/>
              <a:gd name="connsiteY6" fmla="*/ 1473200 h 1473200"/>
              <a:gd name="connisteX7" fmla="*/ 0 w 10972800"/>
              <a:gd name="connsiteY7" fmla="*/ 1270000 h 1473200"/>
              <a:gd name="connisteX8" fmla="*/ 0 w 10972800"/>
              <a:gd name="connsiteY8" fmla="*/ 203200 h 14732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0" t="0" r="0" b="0"/>
            <a:pathLst>
              <a:path w="10972800" h="1473200">
                <a:moveTo>
                  <a:pt x="0" y="203200"/>
                </a:moveTo>
                <a:cubicBezTo>
                  <a:pt x="0" y="90976"/>
                  <a:pt x="90976" y="0"/>
                  <a:pt x="203200" y="0"/>
                </a:cubicBezTo>
                <a:lnTo>
                  <a:pt x="10769600" y="0"/>
                </a:lnTo>
                <a:cubicBezTo>
                  <a:pt x="10881824" y="0"/>
                  <a:pt x="10972800" y="90976"/>
                  <a:pt x="10972800" y="203200"/>
                </a:cubicBezTo>
                <a:lnTo>
                  <a:pt x="10972800" y="1270000"/>
                </a:lnTo>
                <a:cubicBezTo>
                  <a:pt x="10972800" y="1382224"/>
                  <a:pt x="10881824" y="1473200"/>
                  <a:pt x="10769600" y="1473200"/>
                </a:cubicBezTo>
                <a:lnTo>
                  <a:pt x="203200" y="1473200"/>
                </a:lnTo>
                <a:cubicBezTo>
                  <a:pt x="90976" y="1473200"/>
                  <a:pt x="0" y="1382224"/>
                  <a:pt x="0" y="12700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a:t> </a:t>
            </a:r>
          </a:p>
        </p:txBody>
      </p:sp>
      <p:sp>
        <p:nvSpPr>
          <p:cNvPr id="11" name="文本占位符 10"/>
          <p:cNvSpPr>
            <a:spLocks noGrp="1"/>
          </p:cNvSpPr>
          <p:nvPr>
            <p:ph type="body" idx="16389" hasCustomPrompt="1"/>
            <p:custDataLst>
              <p:tags r:id="rId8"/>
            </p:custDataLst>
          </p:nvPr>
        </p:nvSpPr>
        <p:spPr>
          <a:xfrm>
            <a:off x="838200" y="2574144"/>
            <a:ext cx="874794" cy="734554"/>
          </a:xfrm>
          <a:noFill/>
        </p:spPr>
        <p:txBody>
          <a:bodyPr wrap="none" lIns="0" tIns="0" rIns="0" bIns="0" anchor="ctr">
            <a:noAutofit/>
          </a:bodyPr>
          <a:lstStyle>
            <a:lvl1pPr marL="0" indent="0" algn="ctr">
              <a:lnSpc>
                <a:spcPct val="109000"/>
              </a:lnSpc>
              <a:spcBef>
                <a:spcPct val="0"/>
              </a:spcBef>
              <a:spcAft>
                <a:spcPct val="0"/>
              </a:spcAft>
              <a:buNone/>
              <a:defRPr sz="5800" b="0" spc="0">
                <a:solidFill>
                  <a:schemeClr val="accent1"/>
                </a:solidFill>
              </a:defRPr>
            </a:lvl1pPr>
          </a:lstStyle>
          <a:p>
            <a:pPr lvl="0"/>
            <a:r>
              <a:rPr lang="zh-CN" altLang="en-US" dirty="0"/>
              <a:t>02</a:t>
            </a:r>
          </a:p>
        </p:txBody>
      </p:sp>
      <p:sp>
        <p:nvSpPr>
          <p:cNvPr id="12" name="文本占位符 11"/>
          <p:cNvSpPr>
            <a:spLocks noGrp="1"/>
          </p:cNvSpPr>
          <p:nvPr>
            <p:ph type="body" idx="16388" hasCustomPrompt="1"/>
            <p:custDataLst>
              <p:tags r:id="rId9"/>
            </p:custDataLst>
          </p:nvPr>
        </p:nvSpPr>
        <p:spPr>
          <a:xfrm>
            <a:off x="2029642" y="2707882"/>
            <a:ext cx="9178996" cy="607907"/>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dirty="0"/>
              <a:t>单击此处添加项正文</a:t>
            </a:r>
          </a:p>
        </p:txBody>
      </p:sp>
      <p:sp>
        <p:nvSpPr>
          <p:cNvPr id="14" name="文本占位符 13"/>
          <p:cNvSpPr>
            <a:spLocks noGrp="1"/>
          </p:cNvSpPr>
          <p:nvPr>
            <p:ph type="body" idx="16391" hasCustomPrompt="1"/>
            <p:custDataLst>
              <p:tags r:id="rId10"/>
            </p:custDataLst>
          </p:nvPr>
        </p:nvSpPr>
        <p:spPr>
          <a:xfrm>
            <a:off x="838200" y="3711736"/>
            <a:ext cx="874794" cy="734554"/>
          </a:xfrm>
          <a:noFill/>
        </p:spPr>
        <p:txBody>
          <a:bodyPr wrap="none" lIns="0" tIns="0" rIns="0" bIns="0" anchor="ctr">
            <a:noAutofit/>
          </a:bodyPr>
          <a:lstStyle>
            <a:lvl1pPr marL="0" indent="0" algn="ctr">
              <a:lnSpc>
                <a:spcPct val="109000"/>
              </a:lnSpc>
              <a:spcBef>
                <a:spcPct val="0"/>
              </a:spcBef>
              <a:spcAft>
                <a:spcPct val="0"/>
              </a:spcAft>
              <a:buNone/>
              <a:defRPr sz="5800" b="0" spc="0">
                <a:solidFill>
                  <a:schemeClr val="accent1"/>
                </a:solidFill>
              </a:defRPr>
            </a:lvl1pPr>
          </a:lstStyle>
          <a:p>
            <a:pPr lvl="0"/>
            <a:r>
              <a:rPr lang="zh-CN" altLang="en-US" dirty="0"/>
              <a:t>03</a:t>
            </a:r>
          </a:p>
        </p:txBody>
      </p:sp>
      <p:sp>
        <p:nvSpPr>
          <p:cNvPr id="15" name="文本占位符 14"/>
          <p:cNvSpPr>
            <a:spLocks noGrp="1"/>
          </p:cNvSpPr>
          <p:nvPr>
            <p:ph type="body" idx="16390" hasCustomPrompt="1"/>
            <p:custDataLst>
              <p:tags r:id="rId11"/>
            </p:custDataLst>
          </p:nvPr>
        </p:nvSpPr>
        <p:spPr>
          <a:xfrm>
            <a:off x="2027339" y="3838383"/>
            <a:ext cx="9178996" cy="607907"/>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dirty="0"/>
              <a:t>单击此处添加项正文</a:t>
            </a:r>
          </a:p>
        </p:txBody>
      </p:sp>
      <p:sp>
        <p:nvSpPr>
          <p:cNvPr id="20" name="文本占位符 13">
            <a:extLst>
              <a:ext uri="{FF2B5EF4-FFF2-40B4-BE49-F238E27FC236}">
                <a16:creationId xmlns:a16="http://schemas.microsoft.com/office/drawing/2014/main" id="{71C588B9-E728-4BBC-ADCB-ACD76F03E342}"/>
              </a:ext>
            </a:extLst>
          </p:cNvPr>
          <p:cNvSpPr>
            <a:spLocks noGrp="1"/>
          </p:cNvSpPr>
          <p:nvPr>
            <p:ph type="body" idx="16397" hasCustomPrompt="1"/>
            <p:custDataLst>
              <p:tags r:id="rId12"/>
            </p:custDataLst>
          </p:nvPr>
        </p:nvSpPr>
        <p:spPr>
          <a:xfrm>
            <a:off x="838200" y="4864002"/>
            <a:ext cx="874794" cy="734554"/>
          </a:xfrm>
          <a:noFill/>
        </p:spPr>
        <p:txBody>
          <a:bodyPr wrap="none" lIns="0" tIns="0" rIns="0" bIns="0" anchor="ctr">
            <a:noAutofit/>
          </a:bodyPr>
          <a:lstStyle>
            <a:lvl1pPr marL="0" indent="0" algn="ctr">
              <a:lnSpc>
                <a:spcPct val="109000"/>
              </a:lnSpc>
              <a:spcBef>
                <a:spcPct val="0"/>
              </a:spcBef>
              <a:spcAft>
                <a:spcPct val="0"/>
              </a:spcAft>
              <a:buNone/>
              <a:defRPr sz="5800" b="0" spc="0">
                <a:solidFill>
                  <a:schemeClr val="accent1"/>
                </a:solidFill>
              </a:defRPr>
            </a:lvl1pPr>
          </a:lstStyle>
          <a:p>
            <a:pPr lvl="0"/>
            <a:r>
              <a:rPr lang="zh-CN" altLang="en-US" dirty="0"/>
              <a:t>0</a:t>
            </a:r>
            <a:r>
              <a:rPr lang="en-US" altLang="zh-CN" dirty="0"/>
              <a:t>4</a:t>
            </a:r>
            <a:endParaRPr lang="zh-CN" altLang="en-US" dirty="0"/>
          </a:p>
        </p:txBody>
      </p:sp>
      <p:sp>
        <p:nvSpPr>
          <p:cNvPr id="21" name="文本占位符 14">
            <a:extLst>
              <a:ext uri="{FF2B5EF4-FFF2-40B4-BE49-F238E27FC236}">
                <a16:creationId xmlns:a16="http://schemas.microsoft.com/office/drawing/2014/main" id="{EFB99DCE-3CFB-4097-AAB5-9EB7368F771E}"/>
              </a:ext>
            </a:extLst>
          </p:cNvPr>
          <p:cNvSpPr>
            <a:spLocks noGrp="1"/>
          </p:cNvSpPr>
          <p:nvPr>
            <p:ph type="body" idx="16398" hasCustomPrompt="1"/>
            <p:custDataLst>
              <p:tags r:id="rId13"/>
            </p:custDataLst>
          </p:nvPr>
        </p:nvSpPr>
        <p:spPr>
          <a:xfrm>
            <a:off x="2027339" y="5003321"/>
            <a:ext cx="9178996" cy="607907"/>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dirty="0"/>
              <a:t>单击此处添加项正文</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Graph and text">
    <p:spTree>
      <p:nvGrpSpPr>
        <p:cNvPr id="1" name=""/>
        <p:cNvGrpSpPr/>
        <p:nvPr/>
      </p:nvGrpSpPr>
      <p:grpSpPr>
        <a:xfrm>
          <a:off x="0" y="0"/>
          <a:ext cx="0" cy="0"/>
          <a:chOff x="0" y="0"/>
          <a:chExt cx="0" cy="0"/>
        </a:xfrm>
      </p:grpSpPr>
      <p:sp>
        <p:nvSpPr>
          <p:cNvPr id="2" name="Rubrik 1"/>
          <p:cNvSpPr>
            <a:spLocks noGrp="1"/>
          </p:cNvSpPr>
          <p:nvPr>
            <p:ph type="title" hasCustomPrompt="1"/>
          </p:nvPr>
        </p:nvSpPr>
        <p:spPr/>
        <p:txBody>
          <a:bodyPr/>
          <a:lstStyle/>
          <a:p>
            <a:r>
              <a:rPr lang="en-GB" noProof="0" dirty="0"/>
              <a:t>Header</a:t>
            </a:r>
          </a:p>
        </p:txBody>
      </p:sp>
      <p:sp>
        <p:nvSpPr>
          <p:cNvPr id="5" name="슬라이드 번호 개체 틀 5">
            <a:extLst>
              <a:ext uri="{FF2B5EF4-FFF2-40B4-BE49-F238E27FC236}">
                <a16:creationId xmlns:a16="http://schemas.microsoft.com/office/drawing/2014/main" id="{9E0B034E-BEEC-4385-B23B-A2951A244E0C}"/>
              </a:ext>
            </a:extLst>
          </p:cNvPr>
          <p:cNvSpPr>
            <a:spLocks noGrp="1"/>
          </p:cNvSpPr>
          <p:nvPr>
            <p:ph type="sldNum" sz="quarter" idx="12"/>
          </p:nvPr>
        </p:nvSpPr>
        <p:spPr>
          <a:xfrm>
            <a:off x="518984" y="6375463"/>
            <a:ext cx="2743200" cy="365125"/>
          </a:xfrm>
          <a:prstGeom prst="rect">
            <a:avLst/>
          </a:prstGeom>
        </p:spPr>
        <p:txBody>
          <a:bodyPr/>
          <a:lstStyle/>
          <a:p>
            <a:fld id="{9D1B9D8C-A161-4084-924B-59152344AFCF}" type="slidenum">
              <a:rPr lang="ko-KR" altLang="en-US" smtClean="0"/>
              <a:t>‹#›</a:t>
            </a:fld>
            <a:endParaRPr lang="ko-KR" altLang="en-US" dirty="0"/>
          </a:p>
        </p:txBody>
      </p:sp>
    </p:spTree>
    <p:extLst>
      <p:ext uri="{BB962C8B-B14F-4D97-AF65-F5344CB8AC3E}">
        <p14:creationId xmlns:p14="http://schemas.microsoft.com/office/powerpoint/2010/main" val="1726796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2.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Bildobjekt 6"/>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72000" y="-72000"/>
            <a:ext cx="12310364" cy="6983998"/>
          </a:xfrm>
          <a:prstGeom prst="rect">
            <a:avLst/>
          </a:prstGeom>
        </p:spPr>
      </p:pic>
      <p:sp>
        <p:nvSpPr>
          <p:cNvPr id="5" name="Rectangle 2"/>
          <p:cNvSpPr>
            <a:spLocks noGrp="1" noChangeArrowheads="1"/>
          </p:cNvSpPr>
          <p:nvPr>
            <p:ph type="title"/>
          </p:nvPr>
        </p:nvSpPr>
        <p:spPr bwMode="auto">
          <a:xfrm>
            <a:off x="518984" y="256555"/>
            <a:ext cx="11158868" cy="666083"/>
          </a:xfrm>
          <a:prstGeom prst="rect">
            <a:avLst/>
          </a:prstGeom>
          <a:noFill/>
          <a:ln w="9525">
            <a:noFill/>
            <a:miter lim="800000"/>
          </a:ln>
        </p:spPr>
        <p:txBody>
          <a:bodyPr vert="horz" wrap="square" lIns="90516" tIns="45258" rIns="90516" bIns="45258" numCol="1" anchor="b" anchorCtr="0" compatLnSpc="1"/>
          <a:lstStyle/>
          <a:p>
            <a:pPr lvl="0"/>
            <a:r>
              <a:rPr lang="en-GB" noProof="0" dirty="0"/>
              <a:t>Header</a:t>
            </a:r>
          </a:p>
        </p:txBody>
      </p:sp>
      <p:sp>
        <p:nvSpPr>
          <p:cNvPr id="6" name="Rectangle 3"/>
          <p:cNvSpPr>
            <a:spLocks noGrp="1" noChangeArrowheads="1"/>
          </p:cNvSpPr>
          <p:nvPr>
            <p:ph type="body" idx="1"/>
          </p:nvPr>
        </p:nvSpPr>
        <p:spPr bwMode="auto">
          <a:xfrm>
            <a:off x="518984" y="1071108"/>
            <a:ext cx="11158868" cy="4952531"/>
          </a:xfrm>
          <a:prstGeom prst="rect">
            <a:avLst/>
          </a:prstGeom>
          <a:noFill/>
          <a:ln w="9525">
            <a:noFill/>
            <a:miter lim="800000"/>
          </a:ln>
        </p:spPr>
        <p:txBody>
          <a:bodyPr vert="horz" wrap="square" lIns="90516" tIns="45258" rIns="90516" bIns="45258" numCol="1" anchor="t" anchorCtr="0" compatLnSpc="1"/>
          <a:lstStyle/>
          <a:p>
            <a:pPr lvl="0"/>
            <a:r>
              <a:rPr lang="en-GB" noProof="0" dirty="0"/>
              <a:t>Add text</a:t>
            </a:r>
          </a:p>
          <a:p>
            <a:pPr lvl="1"/>
            <a:r>
              <a:rPr lang="en-GB" noProof="0" dirty="0"/>
              <a:t>Level two</a:t>
            </a:r>
          </a:p>
          <a:p>
            <a:pPr lvl="2"/>
            <a:r>
              <a:rPr lang="en-GB" noProof="0" dirty="0"/>
              <a:t>Level three</a:t>
            </a:r>
          </a:p>
          <a:p>
            <a:pPr lvl="3"/>
            <a:r>
              <a:rPr lang="en-GB" noProof="0" dirty="0"/>
              <a:t>Level four</a:t>
            </a:r>
          </a:p>
        </p:txBody>
      </p:sp>
      <p:cxnSp>
        <p:nvCxnSpPr>
          <p:cNvPr id="8" name="Rak 7"/>
          <p:cNvCxnSpPr/>
          <p:nvPr/>
        </p:nvCxnSpPr>
        <p:spPr bwMode="auto">
          <a:xfrm>
            <a:off x="518984" y="996873"/>
            <a:ext cx="11158868" cy="0"/>
          </a:xfrm>
          <a:prstGeom prst="line">
            <a:avLst/>
          </a:prstGeom>
          <a:solidFill>
            <a:schemeClr val="accent1"/>
          </a:solidFill>
          <a:ln w="9525" cap="flat" cmpd="sng" algn="ctr">
            <a:solidFill>
              <a:srgbClr val="9C6114"/>
            </a:solidFill>
            <a:prstDash val="solid"/>
            <a:round/>
            <a:headEnd type="none" w="med" len="med"/>
            <a:tailEnd type="none" w="med" len="med"/>
          </a:ln>
          <a:effectLst/>
        </p:spPr>
      </p:cxnSp>
      <p:pic>
        <p:nvPicPr>
          <p:cNvPr id="11" name="Bildobjekt 10" descr="LundUniversity_C2line RGB 150.png"/>
          <p:cNvPicPr>
            <a:picLocks noChangeAspect="1"/>
          </p:cNvPicPr>
          <p:nvPr/>
        </p:nvPicPr>
        <p:blipFill>
          <a:blip r:embed="rId26"/>
          <a:stretch>
            <a:fillRect/>
          </a:stretch>
        </p:blipFill>
        <p:spPr>
          <a:xfrm>
            <a:off x="11264900" y="6089544"/>
            <a:ext cx="527996" cy="705345"/>
          </a:xfrm>
          <a:prstGeom prst="rect">
            <a:avLst/>
          </a:prstGeom>
        </p:spPr>
      </p:pic>
      <p:sp>
        <p:nvSpPr>
          <p:cNvPr id="9" name="슬라이드 번호 개체 틀 5"/>
          <p:cNvSpPr>
            <a:spLocks noGrp="1"/>
          </p:cNvSpPr>
          <p:nvPr>
            <p:ph type="sldNum" sz="quarter" idx="4"/>
          </p:nvPr>
        </p:nvSpPr>
        <p:spPr>
          <a:xfrm>
            <a:off x="518984" y="6375463"/>
            <a:ext cx="2743200" cy="365125"/>
          </a:xfrm>
          <a:prstGeom prst="rect">
            <a:avLst/>
          </a:prstGeom>
        </p:spPr>
        <p:txBody>
          <a:bodyPr/>
          <a:lstStyle/>
          <a:p>
            <a:fld id="{9D1B9D8C-A161-4084-924B-59152344AFCF}" type="slidenum">
              <a:rPr lang="ko-KR" altLang="en-US" smtClean="0"/>
              <a:t>‹#›</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dt="0"/>
  <p:txStyles>
    <p:titleStyle>
      <a:lvl1pPr algn="l" defTabSz="457200" rtl="0" eaLnBrk="1" latinLnBrk="0" hangingPunct="1">
        <a:spcBef>
          <a:spcPct val="0"/>
        </a:spcBef>
        <a:buNone/>
        <a:defRPr sz="4000" kern="1200">
          <a:solidFill>
            <a:schemeClr val="tx1"/>
          </a:solidFill>
          <a:latin typeface="Times New Roman" panose="02020603050405020304"/>
          <a:ea typeface="+mj-ea"/>
          <a:cs typeface="+mj-cs"/>
        </a:defRPr>
      </a:lvl1pPr>
    </p:titleStyle>
    <p:bodyStyle>
      <a:lvl1pPr marL="230505" indent="-230505" algn="l" defTabSz="457200" rtl="0" eaLnBrk="1" latinLnBrk="0" hangingPunct="1">
        <a:spcBef>
          <a:spcPct val="20000"/>
        </a:spcBef>
        <a:buClr>
          <a:schemeClr val="tx2"/>
        </a:buClr>
        <a:buFont typeface="Arial" panose="020B0604020202020204"/>
        <a:buChar char="•"/>
        <a:defRPr sz="2200" kern="1200" baseline="0">
          <a:solidFill>
            <a:schemeClr val="tx2"/>
          </a:solidFill>
          <a:latin typeface="Arial" panose="020B0604020202020204"/>
          <a:ea typeface="+mn-ea"/>
          <a:cs typeface="+mn-cs"/>
        </a:defRPr>
      </a:lvl1pPr>
      <a:lvl2pPr marL="742950" indent="-285750" algn="l" defTabSz="457200" rtl="0" eaLnBrk="1" latinLnBrk="0" hangingPunct="1">
        <a:spcBef>
          <a:spcPct val="20000"/>
        </a:spcBef>
        <a:buClr>
          <a:srgbClr val="9C6114"/>
        </a:buClr>
        <a:buFont typeface="Arial" panose="020B0604020202020204"/>
        <a:buChar char="–"/>
        <a:defRPr sz="2200" kern="1200">
          <a:solidFill>
            <a:schemeClr val="tx2"/>
          </a:solidFill>
          <a:latin typeface="Arial" panose="020B0604020202020204"/>
          <a:ea typeface="+mn-ea"/>
          <a:cs typeface="+mn-cs"/>
        </a:defRPr>
      </a:lvl2pPr>
      <a:lvl3pPr marL="1143000" indent="-228600" algn="l" defTabSz="457200" rtl="0" eaLnBrk="1" latinLnBrk="0" hangingPunct="1">
        <a:spcBef>
          <a:spcPct val="20000"/>
        </a:spcBef>
        <a:buClr>
          <a:srgbClr val="9C6114"/>
        </a:buClr>
        <a:buFont typeface="Lucida Grande"/>
        <a:buChar char="»"/>
        <a:defRPr sz="2000" kern="1200">
          <a:solidFill>
            <a:schemeClr val="tx2"/>
          </a:solidFill>
          <a:latin typeface="Arial" panose="020B0604020202020204"/>
          <a:ea typeface="+mn-ea"/>
          <a:cs typeface="+mn-cs"/>
        </a:defRPr>
      </a:lvl3pPr>
      <a:lvl4pPr marL="1600200" indent="-228600" algn="l" defTabSz="457200" rtl="0" eaLnBrk="1" latinLnBrk="0" hangingPunct="1">
        <a:spcBef>
          <a:spcPct val="20000"/>
        </a:spcBef>
        <a:buClr>
          <a:srgbClr val="9C6114"/>
        </a:buClr>
        <a:buFont typeface="Arial" panose="020B0604020202020204"/>
        <a:buChar char="–"/>
        <a:defRPr sz="2000" kern="1200">
          <a:solidFill>
            <a:schemeClr val="tx2"/>
          </a:solidFill>
          <a:latin typeface="Arial" panose="020B0604020202020204"/>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3.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7.xml"/><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7.xml"/><Relationship Id="rId5" Type="http://schemas.openxmlformats.org/officeDocument/2006/relationships/image" Target="../media/image29.sv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7.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7.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slides/_rels/slide13.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 Id="rId4"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17.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17.xml"/><Relationship Id="rId1" Type="http://schemas.openxmlformats.org/officeDocument/2006/relationships/tags" Target="../tags/tag18.xml"/><Relationship Id="rId4" Type="http://schemas.openxmlformats.org/officeDocument/2006/relationships/image" Target="../media/image4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pn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7.xml"/><Relationship Id="rId5" Type="http://schemas.openxmlformats.org/officeDocument/2006/relationships/image" Target="../media/image58.png"/><Relationship Id="rId4" Type="http://schemas.openxmlformats.org/officeDocument/2006/relationships/image" Target="../media/image57.png"/></Relationships>
</file>

<file path=ppt/slides/_rels/slide2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4.xml"/><Relationship Id="rId1" Type="http://schemas.openxmlformats.org/officeDocument/2006/relationships/slideLayout" Target="../slideLayouts/slideLayout17.xml"/><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7.xml"/><Relationship Id="rId1" Type="http://schemas.openxmlformats.org/officeDocument/2006/relationships/tags" Target="../tags/tag19.xml"/><Relationship Id="rId6" Type="http://schemas.openxmlformats.org/officeDocument/2006/relationships/image" Target="../media/image510.png"/><Relationship Id="rId5" Type="http://schemas.openxmlformats.org/officeDocument/2006/relationships/image" Target="../media/image66.svg"/><Relationship Id="rId4" Type="http://schemas.openxmlformats.org/officeDocument/2006/relationships/image" Target="../media/image65.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7.xml"/><Relationship Id="rId1" Type="http://schemas.openxmlformats.org/officeDocument/2006/relationships/tags" Target="../tags/tag20.xml"/><Relationship Id="rId5" Type="http://schemas.openxmlformats.org/officeDocument/2006/relationships/image" Target="../media/image68.svg"/><Relationship Id="rId4" Type="http://schemas.openxmlformats.org/officeDocument/2006/relationships/image" Target="../media/image67.png"/></Relationships>
</file>

<file path=ppt/slides/_rels/slide27.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slideLayout" Target="../slideLayouts/slideLayout17.xml"/><Relationship Id="rId5" Type="http://schemas.openxmlformats.org/officeDocument/2006/relationships/tags" Target="../tags/tag25.xml"/><Relationship Id="rId4" Type="http://schemas.openxmlformats.org/officeDocument/2006/relationships/tags" Target="../tags/tag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70.svg"/><Relationship Id="rId4" Type="http://schemas.openxmlformats.org/officeDocument/2006/relationships/image" Target="../media/image69.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72.svg"/><Relationship Id="rId5" Type="http://schemas.openxmlformats.org/officeDocument/2006/relationships/image" Target="../media/image71.png"/><Relationship Id="rId4" Type="http://schemas.openxmlformats.org/officeDocument/2006/relationships/notesSlide" Target="../notesSlides/notesSlide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nSpc>
                <a:spcPct val="100000"/>
              </a:lnSpc>
            </a:pPr>
            <a:r>
              <a:rPr lang="en-US" altLang="zh-CN" sz="2800" dirty="0"/>
              <a:t>Efficient Mamba-Based Accelerator Architecture for Massive-MIMO Indoor Localization Using the LuViRA Dataset </a:t>
            </a:r>
          </a:p>
        </p:txBody>
      </p:sp>
      <p:sp>
        <p:nvSpPr>
          <p:cNvPr id="15" name="副标题 14"/>
          <p:cNvSpPr>
            <a:spLocks noGrp="1"/>
          </p:cNvSpPr>
          <p:nvPr>
            <p:ph type="subTitle" idx="1"/>
          </p:nvPr>
        </p:nvSpPr>
        <p:spPr/>
        <p:txBody>
          <a:bodyPr/>
          <a:lstStyle/>
          <a:p>
            <a:r>
              <a:rPr lang="en-US" altLang="zh-CN" dirty="0"/>
              <a:t>CHENXI ZHANG       </a:t>
            </a:r>
            <a:r>
              <a:rPr lang="en-US" altLang="zh-CN" dirty="0" err="1"/>
              <a:t>Shengjie</a:t>
            </a:r>
            <a:r>
              <a:rPr lang="en-US" altLang="zh-CN" dirty="0"/>
              <a:t> Chen</a:t>
            </a:r>
          </a:p>
        </p:txBody>
      </p:sp>
      <p:sp>
        <p:nvSpPr>
          <p:cNvPr id="4" name="Slide Number Placeholder 3"/>
          <p:cNvSpPr>
            <a:spLocks noGrp="1"/>
          </p:cNvSpPr>
          <p:nvPr>
            <p:ph type="sldNum" sz="quarter" idx="4294967295"/>
          </p:nvPr>
        </p:nvSpPr>
        <p:spPr>
          <a:xfrm>
            <a:off x="0" y="6356985"/>
            <a:ext cx="2743200" cy="365125"/>
          </a:xfrm>
        </p:spPr>
        <p:txBody>
          <a:bodyPr/>
          <a:lstStyle/>
          <a:p>
            <a:r>
              <a:rPr lang="en-US" altLang="ko-KR" dirty="0"/>
              <a:t>1</a:t>
            </a:r>
            <a:endParaRPr lang="ko-KR"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占位符 33">
            <a:extLst>
              <a:ext uri="{FF2B5EF4-FFF2-40B4-BE49-F238E27FC236}">
                <a16:creationId xmlns:a16="http://schemas.microsoft.com/office/drawing/2014/main" id="{47A9FA57-F6CD-485A-B629-77E194124E05}"/>
              </a:ext>
            </a:extLst>
          </p:cNvPr>
          <p:cNvSpPr>
            <a:spLocks noGrp="1"/>
          </p:cNvSpPr>
          <p:nvPr>
            <p:ph type="body" idx="16394"/>
          </p:nvPr>
        </p:nvSpPr>
        <p:spPr/>
        <p:txBody>
          <a:bodyPr/>
          <a:lstStyle/>
          <a:p>
            <a:endParaRPr lang="zh-CN" altLang="en-US" dirty="0"/>
          </a:p>
        </p:txBody>
      </p:sp>
      <p:sp>
        <p:nvSpPr>
          <p:cNvPr id="35" name="文本占位符 34">
            <a:extLst>
              <a:ext uri="{FF2B5EF4-FFF2-40B4-BE49-F238E27FC236}">
                <a16:creationId xmlns:a16="http://schemas.microsoft.com/office/drawing/2014/main" id="{DDBD871E-75F4-4B7A-AD2D-66726BF8822A}"/>
              </a:ext>
            </a:extLst>
          </p:cNvPr>
          <p:cNvSpPr>
            <a:spLocks noGrp="1"/>
          </p:cNvSpPr>
          <p:nvPr>
            <p:ph type="body" idx="16395"/>
          </p:nvPr>
        </p:nvSpPr>
        <p:spPr/>
        <p:txBody>
          <a:bodyPr/>
          <a:lstStyle/>
          <a:p>
            <a:endParaRPr lang="zh-CN" altLang="en-US"/>
          </a:p>
        </p:txBody>
      </p:sp>
      <p:sp>
        <p:nvSpPr>
          <p:cNvPr id="36" name="文本占位符 35">
            <a:extLst>
              <a:ext uri="{FF2B5EF4-FFF2-40B4-BE49-F238E27FC236}">
                <a16:creationId xmlns:a16="http://schemas.microsoft.com/office/drawing/2014/main" id="{C9A1375A-CAA7-49E7-933D-0D114F675B3E}"/>
              </a:ext>
            </a:extLst>
          </p:cNvPr>
          <p:cNvSpPr>
            <a:spLocks noGrp="1"/>
          </p:cNvSpPr>
          <p:nvPr>
            <p:ph type="body" idx="16396"/>
          </p:nvPr>
        </p:nvSpPr>
        <p:spPr/>
        <p:txBody>
          <a:bodyPr/>
          <a:lstStyle/>
          <a:p>
            <a:endParaRPr lang="zh-CN" altLang="en-US" dirty="0"/>
          </a:p>
        </p:txBody>
      </p:sp>
      <p:sp>
        <p:nvSpPr>
          <p:cNvPr id="12" name="标题 11">
            <a:extLst>
              <a:ext uri="{FF2B5EF4-FFF2-40B4-BE49-F238E27FC236}">
                <a16:creationId xmlns:a16="http://schemas.microsoft.com/office/drawing/2014/main" id="{F5CE8005-DA08-4E6A-B2A5-35371A1724A1}"/>
              </a:ext>
            </a:extLst>
          </p:cNvPr>
          <p:cNvSpPr>
            <a:spLocks noGrp="1"/>
          </p:cNvSpPr>
          <p:nvPr>
            <p:ph type="ctrTitle" idx="16385"/>
          </p:nvPr>
        </p:nvSpPr>
        <p:spPr/>
        <p:txBody>
          <a:bodyPr>
            <a:normAutofit fontScale="90000"/>
          </a:bodyPr>
          <a:lstStyle/>
          <a:p>
            <a:r>
              <a:rPr lang="en-US" altLang="zh-CN" b="1" dirty="0"/>
              <a:t>Contents</a:t>
            </a:r>
            <a:br>
              <a:rPr lang="en-US" altLang="zh-CN" b="1" dirty="0"/>
            </a:br>
            <a:endParaRPr lang="zh-CN" altLang="en-US" dirty="0"/>
          </a:p>
        </p:txBody>
      </p:sp>
      <p:sp>
        <p:nvSpPr>
          <p:cNvPr id="28" name="文本占位符 27">
            <a:extLst>
              <a:ext uri="{FF2B5EF4-FFF2-40B4-BE49-F238E27FC236}">
                <a16:creationId xmlns:a16="http://schemas.microsoft.com/office/drawing/2014/main" id="{2DC42EF9-676C-48FF-8F61-3BF9FEB244E8}"/>
              </a:ext>
            </a:extLst>
          </p:cNvPr>
          <p:cNvSpPr>
            <a:spLocks noGrp="1"/>
          </p:cNvSpPr>
          <p:nvPr>
            <p:ph type="body" idx="16387"/>
          </p:nvPr>
        </p:nvSpPr>
        <p:spPr/>
        <p:txBody>
          <a:bodyPr/>
          <a:lstStyle/>
          <a:p>
            <a:r>
              <a:rPr lang="en-US" altLang="zh-CN" dirty="0"/>
              <a:t>01</a:t>
            </a:r>
            <a:endParaRPr lang="zh-CN" altLang="en-US" dirty="0"/>
          </a:p>
        </p:txBody>
      </p:sp>
      <p:sp>
        <p:nvSpPr>
          <p:cNvPr id="27" name="文本占位符 26">
            <a:extLst>
              <a:ext uri="{FF2B5EF4-FFF2-40B4-BE49-F238E27FC236}">
                <a16:creationId xmlns:a16="http://schemas.microsoft.com/office/drawing/2014/main" id="{65155569-3987-44AA-8B07-D3199D234550}"/>
              </a:ext>
            </a:extLst>
          </p:cNvPr>
          <p:cNvSpPr>
            <a:spLocks noGrp="1"/>
          </p:cNvSpPr>
          <p:nvPr>
            <p:ph type="body" idx="16386"/>
          </p:nvPr>
        </p:nvSpPr>
        <p:spPr/>
        <p:txBody>
          <a:bodyPr/>
          <a:lstStyle/>
          <a:p>
            <a:r>
              <a:rPr lang="en-US" altLang="zh-CN" sz="2800" dirty="0">
                <a:latin typeface="Arial" panose="020B0604020202020204" pitchFamily="34" charset="0"/>
                <a:cs typeface="Arial" panose="020B0604020202020204" pitchFamily="34" charset="0"/>
              </a:rPr>
              <a:t>Background</a:t>
            </a:r>
            <a:endParaRPr lang="zh-CN" altLang="en-US" sz="2800" dirty="0">
              <a:latin typeface="Arial" panose="020B0604020202020204" pitchFamily="34" charset="0"/>
              <a:cs typeface="Arial" panose="020B0604020202020204" pitchFamily="34" charset="0"/>
            </a:endParaRPr>
          </a:p>
        </p:txBody>
      </p:sp>
      <p:sp>
        <p:nvSpPr>
          <p:cNvPr id="33" name="文本占位符 32">
            <a:extLst>
              <a:ext uri="{FF2B5EF4-FFF2-40B4-BE49-F238E27FC236}">
                <a16:creationId xmlns:a16="http://schemas.microsoft.com/office/drawing/2014/main" id="{65B96DDF-23B8-4672-BF0E-8DA2D7DAF840}"/>
              </a:ext>
            </a:extLst>
          </p:cNvPr>
          <p:cNvSpPr>
            <a:spLocks noGrp="1"/>
          </p:cNvSpPr>
          <p:nvPr>
            <p:ph type="body" idx="16393"/>
          </p:nvPr>
        </p:nvSpPr>
        <p:spPr/>
        <p:txBody>
          <a:bodyPr/>
          <a:lstStyle/>
          <a:p>
            <a:endParaRPr lang="zh-CN" altLang="en-US"/>
          </a:p>
        </p:txBody>
      </p:sp>
      <p:sp>
        <p:nvSpPr>
          <p:cNvPr id="30" name="文本占位符 29">
            <a:extLst>
              <a:ext uri="{FF2B5EF4-FFF2-40B4-BE49-F238E27FC236}">
                <a16:creationId xmlns:a16="http://schemas.microsoft.com/office/drawing/2014/main" id="{BF7CC3A3-A136-4E5C-854B-BEE2D926AFF3}"/>
              </a:ext>
            </a:extLst>
          </p:cNvPr>
          <p:cNvSpPr>
            <a:spLocks noGrp="1"/>
          </p:cNvSpPr>
          <p:nvPr>
            <p:ph type="body" idx="16389"/>
          </p:nvPr>
        </p:nvSpPr>
        <p:spPr/>
        <p:txBody>
          <a:bodyPr/>
          <a:lstStyle/>
          <a:p>
            <a:r>
              <a:rPr lang="en-US" altLang="zh-CN" dirty="0"/>
              <a:t>02</a:t>
            </a:r>
            <a:endParaRPr lang="zh-CN" altLang="en-US" dirty="0"/>
          </a:p>
        </p:txBody>
      </p:sp>
      <p:sp>
        <p:nvSpPr>
          <p:cNvPr id="29" name="文本占位符 28">
            <a:extLst>
              <a:ext uri="{FF2B5EF4-FFF2-40B4-BE49-F238E27FC236}">
                <a16:creationId xmlns:a16="http://schemas.microsoft.com/office/drawing/2014/main" id="{7CDFE890-016B-4533-AEA6-5C16389A77DA}"/>
              </a:ext>
            </a:extLst>
          </p:cNvPr>
          <p:cNvSpPr>
            <a:spLocks noGrp="1"/>
          </p:cNvSpPr>
          <p:nvPr>
            <p:ph type="body" idx="16388"/>
          </p:nvPr>
        </p:nvSpPr>
        <p:spPr/>
        <p:txBody>
          <a:bodyPr/>
          <a:lstStyle/>
          <a:p>
            <a:pPr>
              <a:buFont typeface="Wingdings" panose="05000000000000000000" charset="0"/>
            </a:pPr>
            <a:r>
              <a:rPr lang="en-US" altLang="zh-CN" sz="2800" dirty="0"/>
              <a:t>Architecture</a:t>
            </a:r>
          </a:p>
          <a:p>
            <a:endParaRPr lang="zh-CN" altLang="en-US" dirty="0"/>
          </a:p>
        </p:txBody>
      </p:sp>
      <p:sp>
        <p:nvSpPr>
          <p:cNvPr id="32" name="文本占位符 31">
            <a:extLst>
              <a:ext uri="{FF2B5EF4-FFF2-40B4-BE49-F238E27FC236}">
                <a16:creationId xmlns:a16="http://schemas.microsoft.com/office/drawing/2014/main" id="{C78279DD-8408-4F88-8C25-1EA0E0CA40DB}"/>
              </a:ext>
            </a:extLst>
          </p:cNvPr>
          <p:cNvSpPr>
            <a:spLocks noGrp="1"/>
          </p:cNvSpPr>
          <p:nvPr>
            <p:ph type="body" idx="16391"/>
          </p:nvPr>
        </p:nvSpPr>
        <p:spPr/>
        <p:txBody>
          <a:bodyPr/>
          <a:lstStyle/>
          <a:p>
            <a:r>
              <a:rPr lang="en-US" altLang="zh-CN" dirty="0"/>
              <a:t>03</a:t>
            </a:r>
            <a:endParaRPr lang="zh-CN" altLang="en-US" dirty="0"/>
          </a:p>
        </p:txBody>
      </p:sp>
      <p:sp>
        <p:nvSpPr>
          <p:cNvPr id="31" name="文本占位符 30">
            <a:extLst>
              <a:ext uri="{FF2B5EF4-FFF2-40B4-BE49-F238E27FC236}">
                <a16:creationId xmlns:a16="http://schemas.microsoft.com/office/drawing/2014/main" id="{9192B5BA-8660-47E7-BFFF-6E281B143440}"/>
              </a:ext>
            </a:extLst>
          </p:cNvPr>
          <p:cNvSpPr>
            <a:spLocks noGrp="1"/>
          </p:cNvSpPr>
          <p:nvPr>
            <p:ph type="body" idx="16390"/>
          </p:nvPr>
        </p:nvSpPr>
        <p:spPr/>
        <p:txBody>
          <a:bodyPr/>
          <a:lstStyle/>
          <a:p>
            <a:r>
              <a:rPr lang="en-US" altLang="zh-CN" sz="2800" dirty="0">
                <a:latin typeface="Arial" panose="020B0604020202020204" pitchFamily="34" charset="0"/>
                <a:cs typeface="Arial" panose="020B0604020202020204" pitchFamily="34" charset="0"/>
              </a:rPr>
              <a:t>Methodology &amp; Experimental Design</a:t>
            </a:r>
          </a:p>
          <a:p>
            <a:endParaRPr lang="zh-CN" altLang="en-US" b="1" dirty="0"/>
          </a:p>
        </p:txBody>
      </p:sp>
      <p:sp>
        <p:nvSpPr>
          <p:cNvPr id="37" name="文本占位符 36">
            <a:extLst>
              <a:ext uri="{FF2B5EF4-FFF2-40B4-BE49-F238E27FC236}">
                <a16:creationId xmlns:a16="http://schemas.microsoft.com/office/drawing/2014/main" id="{199BE5EB-B07A-435E-801B-BCAB5D5DB0AB}"/>
              </a:ext>
            </a:extLst>
          </p:cNvPr>
          <p:cNvSpPr>
            <a:spLocks noGrp="1"/>
          </p:cNvSpPr>
          <p:nvPr>
            <p:ph type="body" idx="16397"/>
          </p:nvPr>
        </p:nvSpPr>
        <p:spPr/>
        <p:txBody>
          <a:bodyPr/>
          <a:lstStyle/>
          <a:p>
            <a:r>
              <a:rPr lang="en-US" altLang="zh-CN" dirty="0"/>
              <a:t>04</a:t>
            </a:r>
            <a:endParaRPr lang="zh-CN" altLang="en-US" dirty="0"/>
          </a:p>
        </p:txBody>
      </p:sp>
      <p:sp>
        <p:nvSpPr>
          <p:cNvPr id="38" name="文本占位符 37">
            <a:extLst>
              <a:ext uri="{FF2B5EF4-FFF2-40B4-BE49-F238E27FC236}">
                <a16:creationId xmlns:a16="http://schemas.microsoft.com/office/drawing/2014/main" id="{880AE849-AFFF-4164-8A74-2BE1DBA9EA9A}"/>
              </a:ext>
            </a:extLst>
          </p:cNvPr>
          <p:cNvSpPr>
            <a:spLocks noGrp="1"/>
          </p:cNvSpPr>
          <p:nvPr>
            <p:ph type="body" idx="16398"/>
          </p:nvPr>
        </p:nvSpPr>
        <p:spPr/>
        <p:txBody>
          <a:bodyPr/>
          <a:lstStyle/>
          <a:p>
            <a:r>
              <a:rPr lang="en-US" altLang="zh-CN" sz="2800" dirty="0">
                <a:latin typeface="Arial" panose="020B0604020202020204" pitchFamily="34" charset="0"/>
                <a:cs typeface="Arial" panose="020B0604020202020204" pitchFamily="34" charset="0"/>
              </a:rPr>
              <a:t>Results, Discussion &amp; Conclusions</a:t>
            </a:r>
          </a:p>
          <a:p>
            <a:endParaRPr lang="zh-CN" altLang="en-US" dirty="0"/>
          </a:p>
        </p:txBody>
      </p:sp>
    </p:spTree>
    <p:extLst>
      <p:ext uri="{BB962C8B-B14F-4D97-AF65-F5344CB8AC3E}">
        <p14:creationId xmlns:p14="http://schemas.microsoft.com/office/powerpoint/2010/main" val="4081780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a:extLst>
              <a:ext uri="{FF2B5EF4-FFF2-40B4-BE49-F238E27FC236}">
                <a16:creationId xmlns:a16="http://schemas.microsoft.com/office/drawing/2014/main" id="{FB3B3972-DF4C-45F0-92F1-77CCCDE33E72}"/>
              </a:ext>
            </a:extLst>
          </p:cNvPr>
          <p:cNvSpPr>
            <a:spLocks noGrp="1"/>
          </p:cNvSpPr>
          <p:nvPr>
            <p:ph type="title"/>
          </p:nvPr>
        </p:nvSpPr>
        <p:spPr/>
        <p:txBody>
          <a:bodyPr/>
          <a:lstStyle/>
          <a:p>
            <a:r>
              <a:rPr lang="en-US" altLang="zh-CN" dirty="0"/>
              <a:t>Background &amp; Task: Massive MIMO</a:t>
            </a:r>
            <a:endParaRPr lang="zh-CN" altLang="en-US" dirty="0"/>
          </a:p>
        </p:txBody>
      </p:sp>
      <p:sp>
        <p:nvSpPr>
          <p:cNvPr id="15" name="文本框 14">
            <a:extLst>
              <a:ext uri="{FF2B5EF4-FFF2-40B4-BE49-F238E27FC236}">
                <a16:creationId xmlns:a16="http://schemas.microsoft.com/office/drawing/2014/main" id="{8F44FDD0-F4BF-4202-81F2-C51A74B08A5E}"/>
              </a:ext>
            </a:extLst>
          </p:cNvPr>
          <p:cNvSpPr txBox="1"/>
          <p:nvPr/>
        </p:nvSpPr>
        <p:spPr>
          <a:xfrm>
            <a:off x="510540" y="5820410"/>
            <a:ext cx="10824845" cy="535940"/>
          </a:xfrm>
          <a:prstGeom prst="rect">
            <a:avLst/>
          </a:prstGeom>
          <a:noFill/>
        </p:spPr>
        <p:txBody>
          <a:bodyPr wrap="square" rtlCol="0">
            <a:noAutofit/>
          </a:bodyPr>
          <a:lstStyle/>
          <a:p>
            <a:r>
              <a:rPr lang="en-US" altLang="zh-CN" sz="1400" i="1" dirty="0">
                <a:solidFill>
                  <a:schemeClr val="bg1">
                    <a:lumMod val="50000"/>
                  </a:schemeClr>
                </a:solidFill>
              </a:rPr>
              <a:t>E. G. Larsson, O. </a:t>
            </a:r>
            <a:r>
              <a:rPr lang="en-US" altLang="zh-CN" sz="1400" i="1" dirty="0" err="1">
                <a:solidFill>
                  <a:schemeClr val="bg1">
                    <a:lumMod val="50000"/>
                  </a:schemeClr>
                </a:solidFill>
              </a:rPr>
              <a:t>Edfors</a:t>
            </a:r>
            <a:r>
              <a:rPr lang="en-US" altLang="zh-CN" sz="1400" i="1" dirty="0">
                <a:solidFill>
                  <a:schemeClr val="bg1">
                    <a:lumMod val="50000"/>
                  </a:schemeClr>
                </a:solidFill>
              </a:rPr>
              <a:t>, F. </a:t>
            </a:r>
            <a:r>
              <a:rPr lang="en-US" altLang="zh-CN" sz="1400" i="1" dirty="0" err="1">
                <a:solidFill>
                  <a:schemeClr val="bg1">
                    <a:lumMod val="50000"/>
                  </a:schemeClr>
                </a:solidFill>
              </a:rPr>
              <a:t>Tufvesson</a:t>
            </a:r>
            <a:r>
              <a:rPr lang="en-US" altLang="zh-CN" sz="1400" i="1" dirty="0">
                <a:solidFill>
                  <a:schemeClr val="bg1">
                    <a:lumMod val="50000"/>
                  </a:schemeClr>
                </a:solidFill>
              </a:rPr>
              <a:t> and T. L. Marzetta, "Massive MIMO for next generation wireless systems," in IEEE Communications Magazine, vol. 52, no. 2, pp. 186-195, February 2014, </a:t>
            </a:r>
            <a:r>
              <a:rPr lang="en-US" altLang="zh-CN" sz="1400" i="1" dirty="0" err="1">
                <a:solidFill>
                  <a:schemeClr val="bg1">
                    <a:lumMod val="50000"/>
                  </a:schemeClr>
                </a:solidFill>
              </a:rPr>
              <a:t>doi</a:t>
            </a:r>
            <a:r>
              <a:rPr lang="en-US" altLang="zh-CN" sz="1400" i="1" dirty="0">
                <a:solidFill>
                  <a:schemeClr val="bg1">
                    <a:lumMod val="50000"/>
                  </a:schemeClr>
                </a:solidFill>
              </a:rPr>
              <a:t>: 10.1109/MCOM.2014.6736761. </a:t>
            </a:r>
          </a:p>
        </p:txBody>
      </p:sp>
      <p:pic>
        <p:nvPicPr>
          <p:cNvPr id="4" name="图片 3">
            <a:extLst>
              <a:ext uri="{FF2B5EF4-FFF2-40B4-BE49-F238E27FC236}">
                <a16:creationId xmlns:a16="http://schemas.microsoft.com/office/drawing/2014/main" id="{7819BF29-7BAE-4178-A979-9AEFD8B95D2E}"/>
              </a:ext>
            </a:extLst>
          </p:cNvPr>
          <p:cNvPicPr>
            <a:picLocks noChangeAspect="1"/>
          </p:cNvPicPr>
          <p:nvPr/>
        </p:nvPicPr>
        <p:blipFill>
          <a:blip r:embed="rId3"/>
          <a:stretch>
            <a:fillRect/>
          </a:stretch>
        </p:blipFill>
        <p:spPr>
          <a:xfrm>
            <a:off x="984044" y="1392598"/>
            <a:ext cx="4547034" cy="4053753"/>
          </a:xfrm>
          <a:prstGeom prst="rect">
            <a:avLst/>
          </a:prstGeom>
        </p:spPr>
      </p:pic>
      <p:pic>
        <p:nvPicPr>
          <p:cNvPr id="18" name="图片 17">
            <a:extLst>
              <a:ext uri="{FF2B5EF4-FFF2-40B4-BE49-F238E27FC236}">
                <a16:creationId xmlns:a16="http://schemas.microsoft.com/office/drawing/2014/main" id="{D4550425-87EC-4CF1-BF18-7738AFCAA1FB}"/>
              </a:ext>
            </a:extLst>
          </p:cNvPr>
          <p:cNvPicPr>
            <a:picLocks noChangeAspect="1"/>
          </p:cNvPicPr>
          <p:nvPr/>
        </p:nvPicPr>
        <p:blipFill>
          <a:blip r:embed="rId4"/>
          <a:stretch>
            <a:fillRect/>
          </a:stretch>
        </p:blipFill>
        <p:spPr>
          <a:xfrm>
            <a:off x="6640285" y="1449765"/>
            <a:ext cx="4242161" cy="4201202"/>
          </a:xfrm>
          <a:prstGeom prst="rect">
            <a:avLst/>
          </a:prstGeom>
        </p:spPr>
      </p:pic>
      <p:sp>
        <p:nvSpPr>
          <p:cNvPr id="19" name="文本框 18">
            <a:extLst>
              <a:ext uri="{FF2B5EF4-FFF2-40B4-BE49-F238E27FC236}">
                <a16:creationId xmlns:a16="http://schemas.microsoft.com/office/drawing/2014/main" id="{BC8BE404-5F66-488F-949D-43C803A87D90}"/>
              </a:ext>
            </a:extLst>
          </p:cNvPr>
          <p:cNvSpPr txBox="1"/>
          <p:nvPr/>
        </p:nvSpPr>
        <p:spPr>
          <a:xfrm>
            <a:off x="510540" y="1049655"/>
            <a:ext cx="4072890" cy="400110"/>
          </a:xfrm>
          <a:prstGeom prst="rect">
            <a:avLst/>
          </a:prstGeom>
          <a:noFill/>
        </p:spPr>
        <p:txBody>
          <a:bodyPr wrap="square" rtlCol="0">
            <a:spAutoFit/>
          </a:bodyPr>
          <a:lstStyle/>
          <a:p>
            <a:r>
              <a:rPr lang="en-US" altLang="zh-CN" sz="2000" b="1" dirty="0"/>
              <a:t>What is Massive MIMO?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3"/>
          <p:cNvSpPr/>
          <p:nvPr/>
        </p:nvSpPr>
        <p:spPr>
          <a:xfrm>
            <a:off x="666269" y="1218397"/>
            <a:ext cx="2817802" cy="294455"/>
          </a:xfrm>
          <a:prstGeom prst="rect">
            <a:avLst/>
          </a:prstGeom>
          <a:noFill/>
          <a:ln/>
        </p:spPr>
        <p:txBody>
          <a:bodyPr wrap="none" lIns="0" tIns="0" rIns="0" bIns="0" rtlCol="0" anchor="t"/>
          <a:lstStyle/>
          <a:p>
            <a:pPr>
              <a:lnSpc>
                <a:spcPts val="2285"/>
              </a:lnSpc>
            </a:pPr>
            <a:endParaRPr lang="en-US" sz="1828" dirty="0"/>
          </a:p>
        </p:txBody>
      </p:sp>
      <p:sp>
        <p:nvSpPr>
          <p:cNvPr id="7" name="Text 4"/>
          <p:cNvSpPr/>
          <p:nvPr/>
        </p:nvSpPr>
        <p:spPr>
          <a:xfrm>
            <a:off x="666269" y="1724894"/>
            <a:ext cx="5754335" cy="301579"/>
          </a:xfrm>
          <a:prstGeom prst="rect">
            <a:avLst/>
          </a:prstGeom>
          <a:noFill/>
          <a:ln/>
        </p:spPr>
        <p:txBody>
          <a:bodyPr wrap="none" lIns="0" tIns="0" rIns="0" bIns="0" rtlCol="0" anchor="t"/>
          <a:lstStyle/>
          <a:p>
            <a:pPr marL="284950" indent="-284950">
              <a:lnSpc>
                <a:spcPts val="2368"/>
              </a:lnSpc>
              <a:buSzPct val="100000"/>
              <a:buChar char="•"/>
            </a:pPr>
            <a:r>
              <a:rPr lang="en-US" sz="1454" b="1" dirty="0">
                <a:solidFill>
                  <a:schemeClr val="bg2">
                    <a:lumMod val="40000"/>
                    <a:lumOff val="60000"/>
                  </a:schemeClr>
                </a:solidFill>
                <a:latin typeface="Instrument Sans Medium" pitchFamily="34" charset="0"/>
                <a:ea typeface="Instrument Sans Medium" pitchFamily="34" charset="-122"/>
                <a:cs typeface="Instrument Sans Medium" pitchFamily="34" charset="-120"/>
              </a:rPr>
              <a:t>70 spatial grids </a:t>
            </a:r>
            <a:r>
              <a:rPr lang="en-US" sz="1600" dirty="0"/>
              <a:t>covering the operational environment</a:t>
            </a:r>
          </a:p>
        </p:txBody>
      </p:sp>
      <p:sp>
        <p:nvSpPr>
          <p:cNvPr id="8" name="Text 5"/>
          <p:cNvSpPr/>
          <p:nvPr/>
        </p:nvSpPr>
        <p:spPr>
          <a:xfrm>
            <a:off x="666269" y="2092368"/>
            <a:ext cx="5754335" cy="301579"/>
          </a:xfrm>
          <a:prstGeom prst="rect">
            <a:avLst/>
          </a:prstGeom>
          <a:noFill/>
          <a:ln/>
        </p:spPr>
        <p:txBody>
          <a:bodyPr wrap="none" lIns="0" tIns="0" rIns="0" bIns="0" rtlCol="0" anchor="t"/>
          <a:lstStyle/>
          <a:p>
            <a:pPr marL="284950" indent="-284950">
              <a:lnSpc>
                <a:spcPts val="2368"/>
              </a:lnSpc>
              <a:buSzPct val="100000"/>
              <a:buChar char="•"/>
            </a:pPr>
            <a:r>
              <a:rPr lang="en-US" sz="1454" b="1" dirty="0">
                <a:solidFill>
                  <a:schemeClr val="bg2">
                    <a:lumMod val="40000"/>
                    <a:lumOff val="60000"/>
                  </a:schemeClr>
                </a:solidFill>
                <a:latin typeface="Instrument Sans Medium" pitchFamily="34" charset="0"/>
                <a:ea typeface="Instrument Sans Medium" pitchFamily="34" charset="-122"/>
                <a:cs typeface="Instrument Sans Medium" pitchFamily="34" charset="-120"/>
              </a:rPr>
              <a:t>100 fps temporal resolution</a:t>
            </a:r>
            <a:r>
              <a:rPr lang="en-US" sz="1454" dirty="0">
                <a:solidFill>
                  <a:schemeClr val="bg2">
                    <a:lumMod val="40000"/>
                    <a:lumOff val="60000"/>
                  </a:schemeClr>
                </a:solidFill>
                <a:latin typeface="Instrument Sans Medium" pitchFamily="34" charset="0"/>
                <a:ea typeface="Instrument Sans Medium" pitchFamily="34" charset="-122"/>
                <a:cs typeface="Instrument Sans Medium" pitchFamily="34" charset="-120"/>
              </a:rPr>
              <a:t> </a:t>
            </a:r>
            <a:r>
              <a:rPr lang="en-US" sz="1600" dirty="0"/>
              <a:t>for high‑fidelity signal capture</a:t>
            </a:r>
          </a:p>
        </p:txBody>
      </p:sp>
      <p:sp>
        <p:nvSpPr>
          <p:cNvPr id="9" name="Text 6"/>
          <p:cNvSpPr/>
          <p:nvPr/>
        </p:nvSpPr>
        <p:spPr>
          <a:xfrm>
            <a:off x="666269" y="2459843"/>
            <a:ext cx="5754335" cy="301579"/>
          </a:xfrm>
          <a:prstGeom prst="rect">
            <a:avLst/>
          </a:prstGeom>
          <a:noFill/>
          <a:ln/>
        </p:spPr>
        <p:txBody>
          <a:bodyPr wrap="none" lIns="0" tIns="0" rIns="0" bIns="0" rtlCol="0" anchor="t"/>
          <a:lstStyle/>
          <a:p>
            <a:pPr marL="284950" indent="-284950">
              <a:lnSpc>
                <a:spcPts val="2368"/>
              </a:lnSpc>
              <a:buSzPct val="100000"/>
              <a:buChar char="•"/>
            </a:pPr>
            <a:r>
              <a:rPr lang="en-US" sz="1454" b="1" dirty="0">
                <a:solidFill>
                  <a:schemeClr val="bg2">
                    <a:lumMod val="40000"/>
                    <a:lumOff val="60000"/>
                  </a:schemeClr>
                </a:solidFill>
                <a:latin typeface="Instrument Sans Medium" pitchFamily="34" charset="0"/>
                <a:ea typeface="Instrument Sans Medium" pitchFamily="34" charset="-122"/>
                <a:cs typeface="Instrument Sans Medium" pitchFamily="34" charset="-120"/>
              </a:rPr>
              <a:t>4,700+ annotated frames</a:t>
            </a:r>
            <a:r>
              <a:rPr lang="en-US" sz="1454" dirty="0">
                <a:solidFill>
                  <a:schemeClr val="bg2">
                    <a:lumMod val="40000"/>
                    <a:lumOff val="60000"/>
                  </a:schemeClr>
                </a:solidFill>
                <a:latin typeface="Instrument Sans Medium" pitchFamily="34" charset="0"/>
                <a:ea typeface="Instrument Sans Medium" pitchFamily="34" charset="-122"/>
                <a:cs typeface="Instrument Sans Medium" pitchFamily="34" charset="-120"/>
              </a:rPr>
              <a:t> </a:t>
            </a:r>
            <a:r>
              <a:rPr lang="en-US" sz="1600" dirty="0"/>
              <a:t>with ground‑truth (x, y) positions</a:t>
            </a:r>
          </a:p>
        </p:txBody>
      </p:sp>
      <p:sp>
        <p:nvSpPr>
          <p:cNvPr id="10" name="Text 7"/>
          <p:cNvSpPr/>
          <p:nvPr/>
        </p:nvSpPr>
        <p:spPr>
          <a:xfrm>
            <a:off x="666269" y="2827319"/>
            <a:ext cx="5754335" cy="433646"/>
          </a:xfrm>
          <a:prstGeom prst="rect">
            <a:avLst/>
          </a:prstGeom>
          <a:noFill/>
          <a:ln/>
        </p:spPr>
        <p:txBody>
          <a:bodyPr wrap="square" lIns="0" tIns="0" rIns="0" bIns="0" rtlCol="0" anchor="t"/>
          <a:lstStyle/>
          <a:p>
            <a:pPr marL="284950" indent="-284950">
              <a:lnSpc>
                <a:spcPts val="2368"/>
              </a:lnSpc>
              <a:buSzPct val="100000"/>
              <a:buChar char="•"/>
            </a:pPr>
            <a:r>
              <a:rPr lang="en-US" sz="1454" b="1" dirty="0">
                <a:solidFill>
                  <a:schemeClr val="bg2">
                    <a:lumMod val="40000"/>
                    <a:lumOff val="60000"/>
                  </a:schemeClr>
                </a:solidFill>
                <a:latin typeface="Instrument Sans Medium" pitchFamily="34" charset="0"/>
              </a:rPr>
              <a:t>100 antennas</a:t>
            </a:r>
            <a:r>
              <a:rPr lang="en-US" sz="1600" dirty="0"/>
              <a:t>, each containing </a:t>
            </a:r>
            <a:r>
              <a:rPr lang="en-US" sz="1454" b="1" dirty="0">
                <a:solidFill>
                  <a:schemeClr val="bg2">
                    <a:lumMod val="40000"/>
                    <a:lumOff val="60000"/>
                  </a:schemeClr>
                </a:solidFill>
                <a:latin typeface="Instrument Sans Medium" pitchFamily="34" charset="0"/>
              </a:rPr>
              <a:t>100 subcarriers</a:t>
            </a:r>
            <a:r>
              <a:rPr lang="en-US" sz="1600" dirty="0"/>
              <a:t>, with a center frequency of 3.7 GHz and a bandwidth of 20 </a:t>
            </a:r>
            <a:r>
              <a:rPr lang="en-US" sz="1600" dirty="0" err="1"/>
              <a:t>MHz.</a:t>
            </a:r>
            <a:endParaRPr lang="en-US" sz="1600" dirty="0"/>
          </a:p>
        </p:txBody>
      </p:sp>
      <p:sp>
        <p:nvSpPr>
          <p:cNvPr id="11" name="Text 8"/>
          <p:cNvSpPr/>
          <p:nvPr/>
        </p:nvSpPr>
        <p:spPr>
          <a:xfrm>
            <a:off x="666269" y="3624083"/>
            <a:ext cx="2356133" cy="294455"/>
          </a:xfrm>
          <a:prstGeom prst="rect">
            <a:avLst/>
          </a:prstGeom>
          <a:noFill/>
          <a:ln/>
        </p:spPr>
        <p:txBody>
          <a:bodyPr wrap="none" lIns="0" tIns="0" rIns="0" bIns="0" rtlCol="0" anchor="t"/>
          <a:lstStyle/>
          <a:p>
            <a:pPr>
              <a:lnSpc>
                <a:spcPts val="2285"/>
              </a:lnSpc>
            </a:pPr>
            <a:r>
              <a:rPr lang="en-US" sz="2000" b="1" dirty="0"/>
              <a:t>Objective</a:t>
            </a:r>
          </a:p>
        </p:txBody>
      </p:sp>
      <p:sp>
        <p:nvSpPr>
          <p:cNvPr id="12" name="Text 9"/>
          <p:cNvSpPr/>
          <p:nvPr/>
        </p:nvSpPr>
        <p:spPr>
          <a:xfrm>
            <a:off x="666269" y="4053012"/>
            <a:ext cx="5754335" cy="904737"/>
          </a:xfrm>
          <a:prstGeom prst="rect">
            <a:avLst/>
          </a:prstGeom>
          <a:noFill/>
          <a:ln/>
        </p:spPr>
        <p:txBody>
          <a:bodyPr wrap="square" lIns="0" tIns="0" rIns="0" bIns="0" rtlCol="0" anchor="t"/>
          <a:lstStyle/>
          <a:p>
            <a:pPr>
              <a:lnSpc>
                <a:spcPts val="2368"/>
              </a:lnSpc>
            </a:pPr>
            <a:r>
              <a:rPr lang="en-US" sz="1454" dirty="0">
                <a:solidFill>
                  <a:schemeClr val="bg2">
                    <a:lumMod val="40000"/>
                    <a:lumOff val="60000"/>
                  </a:schemeClr>
                </a:solidFill>
                <a:latin typeface="Instrument Sans Medium" pitchFamily="34" charset="0"/>
                <a:ea typeface="Instrument Sans Medium" pitchFamily="34" charset="-122"/>
                <a:cs typeface="Instrument Sans Medium" pitchFamily="34" charset="-120"/>
              </a:rPr>
              <a:t>Estimate precise </a:t>
            </a:r>
            <a:r>
              <a:rPr lang="en-US" sz="1454" b="1" dirty="0">
                <a:solidFill>
                  <a:schemeClr val="bg2">
                    <a:lumMod val="40000"/>
                    <a:lumOff val="60000"/>
                  </a:schemeClr>
                </a:solidFill>
                <a:latin typeface="Instrument Sans Medium" pitchFamily="34" charset="0"/>
                <a:ea typeface="Instrument Sans Medium" pitchFamily="34" charset="-122"/>
                <a:cs typeface="Instrument Sans Medium" pitchFamily="34" charset="-120"/>
              </a:rPr>
              <a:t>(x, y) coordinates</a:t>
            </a:r>
            <a:r>
              <a:rPr lang="en-US" sz="1454" dirty="0">
                <a:solidFill>
                  <a:schemeClr val="bg2">
                    <a:lumMod val="40000"/>
                    <a:lumOff val="60000"/>
                  </a:schemeClr>
                </a:solidFill>
                <a:latin typeface="Instrument Sans Medium" pitchFamily="34" charset="0"/>
                <a:ea typeface="Instrument Sans Medium" pitchFamily="34" charset="-122"/>
                <a:cs typeface="Instrument Sans Medium" pitchFamily="34" charset="-120"/>
              </a:rPr>
              <a:t> </a:t>
            </a:r>
            <a:r>
              <a:rPr lang="en-US" sz="1600" dirty="0"/>
              <a:t>from temporal wireless signal sequences, enabling accurate indoor locali</a:t>
            </a:r>
            <a:r>
              <a:rPr lang="en-US" altLang="zh-CN" sz="1600" dirty="0"/>
              <a:t>z</a:t>
            </a:r>
            <a:r>
              <a:rPr lang="en-US" sz="1600" dirty="0"/>
              <a:t>ation for positioning applications.</a:t>
            </a:r>
          </a:p>
        </p:txBody>
      </p:sp>
      <p:pic>
        <p:nvPicPr>
          <p:cNvPr id="13" name="Image 1"/>
          <p:cNvPicPr>
            <a:picLocks noChangeAspect="1"/>
          </p:cNvPicPr>
          <p:nvPr/>
        </p:nvPicPr>
        <p:blipFill>
          <a:blip r:embed="rId3"/>
          <a:srcRect/>
          <a:stretch/>
        </p:blipFill>
        <p:spPr>
          <a:xfrm>
            <a:off x="6601415" y="1718790"/>
            <a:ext cx="4586690" cy="3701603"/>
          </a:xfrm>
          <a:prstGeom prst="rect">
            <a:avLst/>
          </a:prstGeom>
        </p:spPr>
      </p:pic>
      <p:sp>
        <p:nvSpPr>
          <p:cNvPr id="14" name="标题 13">
            <a:extLst>
              <a:ext uri="{FF2B5EF4-FFF2-40B4-BE49-F238E27FC236}">
                <a16:creationId xmlns:a16="http://schemas.microsoft.com/office/drawing/2014/main" id="{FB3B3972-DF4C-45F0-92F1-77CCCDE33E72}"/>
              </a:ext>
            </a:extLst>
          </p:cNvPr>
          <p:cNvSpPr>
            <a:spLocks noGrp="1"/>
          </p:cNvSpPr>
          <p:nvPr>
            <p:ph type="title"/>
          </p:nvPr>
        </p:nvSpPr>
        <p:spPr/>
        <p:txBody>
          <a:bodyPr/>
          <a:lstStyle/>
          <a:p>
            <a:r>
              <a:rPr lang="en-US" altLang="zh-CN" dirty="0"/>
              <a:t>Background &amp; Task: Massive MIMO</a:t>
            </a:r>
            <a:endParaRPr lang="zh-CN" altLang="en-US" dirty="0"/>
          </a:p>
        </p:txBody>
      </p:sp>
      <p:sp>
        <p:nvSpPr>
          <p:cNvPr id="15" name="文本框 14">
            <a:extLst>
              <a:ext uri="{FF2B5EF4-FFF2-40B4-BE49-F238E27FC236}">
                <a16:creationId xmlns:a16="http://schemas.microsoft.com/office/drawing/2014/main" id="{8F44FDD0-F4BF-4202-81F2-C51A74B08A5E}"/>
              </a:ext>
            </a:extLst>
          </p:cNvPr>
          <p:cNvSpPr txBox="1"/>
          <p:nvPr/>
        </p:nvSpPr>
        <p:spPr>
          <a:xfrm>
            <a:off x="510540" y="5820410"/>
            <a:ext cx="10824845" cy="535940"/>
          </a:xfrm>
          <a:prstGeom prst="rect">
            <a:avLst/>
          </a:prstGeom>
          <a:noFill/>
        </p:spPr>
        <p:txBody>
          <a:bodyPr wrap="square" rtlCol="0">
            <a:noAutofit/>
          </a:bodyPr>
          <a:lstStyle/>
          <a:p>
            <a:r>
              <a:rPr lang="en-US" altLang="zh-CN" sz="1400" i="1" dirty="0">
                <a:solidFill>
                  <a:schemeClr val="bg1">
                    <a:lumMod val="50000"/>
                  </a:schemeClr>
                </a:solidFill>
              </a:rPr>
              <a:t>G. Tian, I. </a:t>
            </a:r>
            <a:r>
              <a:rPr lang="en-US" altLang="zh-CN" sz="1400" i="1" dirty="0" err="1">
                <a:solidFill>
                  <a:schemeClr val="bg1">
                    <a:lumMod val="50000"/>
                  </a:schemeClr>
                </a:solidFill>
              </a:rPr>
              <a:t>Yaman</a:t>
            </a:r>
            <a:r>
              <a:rPr lang="en-US" altLang="zh-CN" sz="1400" i="1" dirty="0">
                <a:solidFill>
                  <a:schemeClr val="bg1">
                    <a:lumMod val="50000"/>
                  </a:schemeClr>
                </a:solidFill>
              </a:rPr>
              <a:t>, M. Sandra, X. Cai, L. Liu and F. </a:t>
            </a:r>
            <a:r>
              <a:rPr lang="en-US" altLang="zh-CN" sz="1400" i="1" dirty="0" err="1">
                <a:solidFill>
                  <a:schemeClr val="bg1">
                    <a:lumMod val="50000"/>
                  </a:schemeClr>
                </a:solidFill>
              </a:rPr>
              <a:t>Tufvesson</a:t>
            </a:r>
            <a:r>
              <a:rPr lang="en-US" altLang="zh-CN" sz="1400" i="1" dirty="0">
                <a:solidFill>
                  <a:schemeClr val="bg1">
                    <a:lumMod val="50000"/>
                  </a:schemeClr>
                </a:solidFill>
              </a:rPr>
              <a:t>, "Deep-Learning-Based High-Precision Localization With Massive MIMO," in IEEE Transactions on Machine Learning in Communications and Networking, vol. 2, pp. 19-33, 2024, </a:t>
            </a:r>
            <a:r>
              <a:rPr lang="en-US" altLang="zh-CN" sz="1400" i="1" dirty="0" err="1">
                <a:solidFill>
                  <a:schemeClr val="bg1">
                    <a:lumMod val="50000"/>
                  </a:schemeClr>
                </a:solidFill>
              </a:rPr>
              <a:t>doi</a:t>
            </a:r>
            <a:r>
              <a:rPr lang="en-US" altLang="zh-CN" sz="1400" i="1" dirty="0">
                <a:solidFill>
                  <a:schemeClr val="bg1">
                    <a:lumMod val="50000"/>
                  </a:schemeClr>
                </a:solidFill>
              </a:rPr>
              <a:t>: 10.1109/TMLCN.2023.3334712.</a:t>
            </a:r>
          </a:p>
        </p:txBody>
      </p:sp>
      <p:sp>
        <p:nvSpPr>
          <p:cNvPr id="18" name="文本框 17">
            <a:extLst>
              <a:ext uri="{FF2B5EF4-FFF2-40B4-BE49-F238E27FC236}">
                <a16:creationId xmlns:a16="http://schemas.microsoft.com/office/drawing/2014/main" id="{76A3F96B-FCB7-4118-97D3-2B540F60FEC2}"/>
              </a:ext>
            </a:extLst>
          </p:cNvPr>
          <p:cNvSpPr txBox="1"/>
          <p:nvPr/>
        </p:nvSpPr>
        <p:spPr>
          <a:xfrm>
            <a:off x="510539" y="1049655"/>
            <a:ext cx="7991203" cy="707886"/>
          </a:xfrm>
          <a:prstGeom prst="rect">
            <a:avLst/>
          </a:prstGeom>
          <a:noFill/>
        </p:spPr>
        <p:txBody>
          <a:bodyPr wrap="square" rtlCol="0">
            <a:spAutoFit/>
          </a:bodyPr>
          <a:lstStyle/>
          <a:p>
            <a:r>
              <a:rPr lang="en-US" altLang="zh-CN" sz="2000" b="1" dirty="0"/>
              <a:t>Lund University Vision, Radio, and Audio (</a:t>
            </a:r>
            <a:r>
              <a:rPr lang="en-US" altLang="zh-CN" sz="2000" b="1" dirty="0" err="1"/>
              <a:t>LuViRA</a:t>
            </a:r>
            <a:r>
              <a:rPr lang="en-US" altLang="zh-CN" sz="2000" b="1" dirty="0"/>
              <a:t>) Dataset Overview</a:t>
            </a:r>
          </a:p>
          <a:p>
            <a:endParaRPr lang="en-US" altLang="zh-CN" sz="2000" b="1" dirty="0"/>
          </a:p>
        </p:txBody>
      </p:sp>
    </p:spTree>
    <p:extLst>
      <p:ext uri="{BB962C8B-B14F-4D97-AF65-F5344CB8AC3E}">
        <p14:creationId xmlns:p14="http://schemas.microsoft.com/office/powerpoint/2010/main" val="3069719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 </a:t>
            </a:r>
            <a:r>
              <a:rPr lang="en-US" altLang="zh-CN" dirty="0"/>
              <a:t>Previous works</a:t>
            </a:r>
            <a:endParaRPr lang="en-US" dirty="0"/>
          </a:p>
        </p:txBody>
      </p:sp>
      <p:sp>
        <p:nvSpPr>
          <p:cNvPr id="8" name="文本框 7"/>
          <p:cNvSpPr txBox="1"/>
          <p:nvPr/>
        </p:nvSpPr>
        <p:spPr>
          <a:xfrm>
            <a:off x="510540" y="1049655"/>
            <a:ext cx="4602948" cy="400110"/>
          </a:xfrm>
          <a:prstGeom prst="rect">
            <a:avLst/>
          </a:prstGeom>
          <a:noFill/>
        </p:spPr>
        <p:txBody>
          <a:bodyPr wrap="square" rtlCol="0">
            <a:spAutoFit/>
          </a:bodyPr>
          <a:lstStyle/>
          <a:p>
            <a:r>
              <a:rPr lang="en-US" altLang="zh-CN" sz="2000" b="1" dirty="0"/>
              <a:t>FCNN: Fully Connected Neural Network</a:t>
            </a:r>
          </a:p>
        </p:txBody>
      </p:sp>
      <p:sp>
        <p:nvSpPr>
          <p:cNvPr id="6" name="文本框 5"/>
          <p:cNvSpPr txBox="1"/>
          <p:nvPr/>
        </p:nvSpPr>
        <p:spPr>
          <a:xfrm>
            <a:off x="549909" y="1448435"/>
            <a:ext cx="9656633" cy="338554"/>
          </a:xfrm>
          <a:prstGeom prst="rect">
            <a:avLst/>
          </a:prstGeom>
          <a:noFill/>
        </p:spPr>
        <p:txBody>
          <a:bodyPr wrap="square" rtlCol="0">
            <a:spAutoFit/>
          </a:bodyPr>
          <a:lstStyle/>
          <a:p>
            <a:r>
              <a:rPr lang="en-US" altLang="zh-CN" sz="1600" dirty="0"/>
              <a:t>localization as a static nonlinear regression problem via FCNN, </a:t>
            </a:r>
            <a:r>
              <a:rPr lang="en-US" altLang="zh-CN" sz="1600" b="1" dirty="0">
                <a:solidFill>
                  <a:srgbClr val="FF0000"/>
                </a:solidFill>
              </a:rPr>
              <a:t>without explicit temporal memory</a:t>
            </a:r>
          </a:p>
        </p:txBody>
      </p:sp>
      <p:sp>
        <p:nvSpPr>
          <p:cNvPr id="14" name="文本框 13"/>
          <p:cNvSpPr txBox="1"/>
          <p:nvPr/>
        </p:nvSpPr>
        <p:spPr>
          <a:xfrm>
            <a:off x="510540" y="5820410"/>
            <a:ext cx="10824845" cy="535940"/>
          </a:xfrm>
          <a:prstGeom prst="rect">
            <a:avLst/>
          </a:prstGeom>
          <a:noFill/>
        </p:spPr>
        <p:txBody>
          <a:bodyPr wrap="square" rtlCol="0">
            <a:noAutofit/>
          </a:bodyPr>
          <a:lstStyle/>
          <a:p>
            <a:r>
              <a:rPr lang="en-US" altLang="zh-CN" sz="1400" i="1" dirty="0">
                <a:solidFill>
                  <a:schemeClr val="bg1">
                    <a:lumMod val="50000"/>
                  </a:schemeClr>
                </a:solidFill>
              </a:rPr>
              <a:t>G. Tian, I. Yaman, M. Sandra, X. Cai, L. Liu and F. Tufvesson, "Deep-Learning-Based High-Precision Localization With Massive MIMO," in IEEE Transactions on Machine Learning in Communications and Networking, vol. 2, pp. 19-33, 2024, doi: 10.1109/TMLCN.2023.3334712.</a:t>
            </a:r>
          </a:p>
        </p:txBody>
      </p:sp>
      <p:pic>
        <p:nvPicPr>
          <p:cNvPr id="9" name="图片 8">
            <a:extLst>
              <a:ext uri="{FF2B5EF4-FFF2-40B4-BE49-F238E27FC236}">
                <a16:creationId xmlns:a16="http://schemas.microsoft.com/office/drawing/2014/main" id="{7D8419F2-D850-4B28-A1DD-D866E026C6A5}"/>
              </a:ext>
            </a:extLst>
          </p:cNvPr>
          <p:cNvPicPr>
            <a:picLocks noChangeAspect="1"/>
          </p:cNvPicPr>
          <p:nvPr/>
        </p:nvPicPr>
        <p:blipFill rotWithShape="1">
          <a:blip r:embed="rId3"/>
          <a:srcRect l="2909" r="3037"/>
          <a:stretch/>
        </p:blipFill>
        <p:spPr>
          <a:xfrm>
            <a:off x="597680" y="1967323"/>
            <a:ext cx="4633301" cy="3334197"/>
          </a:xfrm>
          <a:prstGeom prst="rect">
            <a:avLst/>
          </a:prstGeom>
        </p:spPr>
      </p:pic>
      <p:pic>
        <p:nvPicPr>
          <p:cNvPr id="4" name="图片 3">
            <a:extLst>
              <a:ext uri="{FF2B5EF4-FFF2-40B4-BE49-F238E27FC236}">
                <a16:creationId xmlns:a16="http://schemas.microsoft.com/office/drawing/2014/main" id="{1F2EDFD5-7DE4-597D-9D26-26D4C24392E9}"/>
              </a:ext>
            </a:extLst>
          </p:cNvPr>
          <p:cNvPicPr>
            <a:picLocks noChangeAspect="1"/>
          </p:cNvPicPr>
          <p:nvPr/>
        </p:nvPicPr>
        <p:blipFill>
          <a:blip r:embed="rId4"/>
          <a:stretch>
            <a:fillRect/>
          </a:stretch>
        </p:blipFill>
        <p:spPr>
          <a:xfrm>
            <a:off x="5785479" y="1869055"/>
            <a:ext cx="4882218" cy="3334198"/>
          </a:xfrm>
          <a:prstGeom prst="rect">
            <a:avLst/>
          </a:prstGeom>
        </p:spPr>
      </p:pic>
    </p:spTree>
    <p:extLst>
      <p:ext uri="{BB962C8B-B14F-4D97-AF65-F5344CB8AC3E}">
        <p14:creationId xmlns:p14="http://schemas.microsoft.com/office/powerpoint/2010/main" val="1216421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 Why use Mamba</a:t>
            </a:r>
          </a:p>
        </p:txBody>
      </p:sp>
      <p:sp>
        <p:nvSpPr>
          <p:cNvPr id="8" name="文本框 7"/>
          <p:cNvSpPr txBox="1"/>
          <p:nvPr/>
        </p:nvSpPr>
        <p:spPr>
          <a:xfrm>
            <a:off x="510540" y="1049655"/>
            <a:ext cx="4072890" cy="398780"/>
          </a:xfrm>
          <a:prstGeom prst="rect">
            <a:avLst/>
          </a:prstGeom>
          <a:noFill/>
        </p:spPr>
        <p:txBody>
          <a:bodyPr wrap="square" rtlCol="0">
            <a:spAutoFit/>
          </a:bodyPr>
          <a:lstStyle/>
          <a:p>
            <a:r>
              <a:rPr lang="en-US" altLang="zh-CN" sz="2000" b="1" dirty="0"/>
              <a:t>State Space Model</a:t>
            </a:r>
          </a:p>
        </p:txBody>
      </p:sp>
      <p:sp>
        <p:nvSpPr>
          <p:cNvPr id="6" name="文本框 5"/>
          <p:cNvSpPr txBox="1"/>
          <p:nvPr/>
        </p:nvSpPr>
        <p:spPr>
          <a:xfrm>
            <a:off x="510540" y="1567214"/>
            <a:ext cx="10424160" cy="646331"/>
          </a:xfrm>
          <a:prstGeom prst="rect">
            <a:avLst/>
          </a:prstGeom>
          <a:noFill/>
        </p:spPr>
        <p:txBody>
          <a:bodyPr wrap="square" rtlCol="0">
            <a:spAutoFit/>
          </a:bodyPr>
          <a:lstStyle/>
          <a:p>
            <a:r>
              <a:rPr lang="en-US" altLang="zh-CN" dirty="0"/>
              <a:t>A State Space contains the </a:t>
            </a:r>
            <a:r>
              <a:rPr lang="en-US" altLang="zh-CN" dirty="0">
                <a:solidFill>
                  <a:schemeClr val="bg2">
                    <a:lumMod val="40000"/>
                    <a:lumOff val="60000"/>
                  </a:schemeClr>
                </a:solidFill>
              </a:rPr>
              <a:t>minimum number of variables </a:t>
            </a:r>
            <a:r>
              <a:rPr lang="en-US" altLang="zh-CN" dirty="0"/>
              <a:t>that fully describe a system. It mathematically represent a problem by </a:t>
            </a:r>
            <a:r>
              <a:rPr lang="en-US" altLang="zh-CN" dirty="0">
                <a:solidFill>
                  <a:schemeClr val="bg2">
                    <a:lumMod val="40000"/>
                    <a:lumOff val="60000"/>
                  </a:schemeClr>
                </a:solidFill>
              </a:rPr>
              <a:t>defining a system’s possible states.</a:t>
            </a:r>
          </a:p>
        </p:txBody>
      </p:sp>
      <p:sp>
        <p:nvSpPr>
          <p:cNvPr id="14" name="文本框 13"/>
          <p:cNvSpPr txBox="1"/>
          <p:nvPr/>
        </p:nvSpPr>
        <p:spPr>
          <a:xfrm>
            <a:off x="510540" y="6006748"/>
            <a:ext cx="10824845" cy="349601"/>
          </a:xfrm>
          <a:prstGeom prst="rect">
            <a:avLst/>
          </a:prstGeom>
          <a:noFill/>
        </p:spPr>
        <p:txBody>
          <a:bodyPr wrap="square" rtlCol="0">
            <a:noAutofit/>
          </a:bodyPr>
          <a:lstStyle/>
          <a:p>
            <a:r>
              <a:rPr lang="en-US" altLang="zh-CN" sz="1400" i="1" dirty="0">
                <a:solidFill>
                  <a:schemeClr val="bg1">
                    <a:lumMod val="50000"/>
                  </a:schemeClr>
                </a:solidFill>
              </a:rPr>
              <a:t>Grootendorst, M. (2024). A Visual Guide to Mamba and State Space Models.</a:t>
            </a:r>
          </a:p>
        </p:txBody>
      </p:sp>
      <p:pic>
        <p:nvPicPr>
          <p:cNvPr id="9" name="图片 8">
            <a:extLst>
              <a:ext uri="{FF2B5EF4-FFF2-40B4-BE49-F238E27FC236}">
                <a16:creationId xmlns:a16="http://schemas.microsoft.com/office/drawing/2014/main" id="{C3032173-2B5B-4277-9978-CD4A21DCB789}"/>
              </a:ext>
            </a:extLst>
          </p:cNvPr>
          <p:cNvPicPr>
            <a:picLocks noChangeAspect="1"/>
          </p:cNvPicPr>
          <p:nvPr/>
        </p:nvPicPr>
        <p:blipFill>
          <a:blip r:embed="rId3"/>
          <a:stretch>
            <a:fillRect/>
          </a:stretch>
        </p:blipFill>
        <p:spPr>
          <a:xfrm>
            <a:off x="2794670" y="2141733"/>
            <a:ext cx="5167110" cy="3248782"/>
          </a:xfrm>
          <a:prstGeom prst="rect">
            <a:avLst/>
          </a:prstGeom>
        </p:spPr>
      </p:pic>
    </p:spTree>
    <p:extLst>
      <p:ext uri="{BB962C8B-B14F-4D97-AF65-F5344CB8AC3E}">
        <p14:creationId xmlns:p14="http://schemas.microsoft.com/office/powerpoint/2010/main" val="2877151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A0030AD2-0971-4C31-9A5A-7AF0363F5B76}"/>
              </a:ext>
            </a:extLst>
          </p:cNvPr>
          <p:cNvPicPr>
            <a:picLocks noChangeAspect="1"/>
          </p:cNvPicPr>
          <p:nvPr/>
        </p:nvPicPr>
        <p:blipFill>
          <a:blip r:embed="rId3"/>
          <a:stretch>
            <a:fillRect/>
          </a:stretch>
        </p:blipFill>
        <p:spPr>
          <a:xfrm>
            <a:off x="1263201" y="2195508"/>
            <a:ext cx="4301236" cy="1730718"/>
          </a:xfrm>
          <a:prstGeom prst="rect">
            <a:avLst/>
          </a:prstGeom>
        </p:spPr>
      </p:pic>
      <p:sp>
        <p:nvSpPr>
          <p:cNvPr id="2" name="Title 1"/>
          <p:cNvSpPr>
            <a:spLocks noGrp="1"/>
          </p:cNvSpPr>
          <p:nvPr>
            <p:ph type="title"/>
          </p:nvPr>
        </p:nvSpPr>
        <p:spPr/>
        <p:txBody>
          <a:bodyPr/>
          <a:lstStyle/>
          <a:p>
            <a:r>
              <a:rPr lang="en-US" dirty="0"/>
              <a:t>Background - Why use Mamba</a:t>
            </a:r>
          </a:p>
        </p:txBody>
      </p:sp>
      <p:sp>
        <p:nvSpPr>
          <p:cNvPr id="8" name="文本框 7"/>
          <p:cNvSpPr txBox="1"/>
          <p:nvPr/>
        </p:nvSpPr>
        <p:spPr>
          <a:xfrm>
            <a:off x="510540" y="1049655"/>
            <a:ext cx="4072890" cy="398780"/>
          </a:xfrm>
          <a:prstGeom prst="rect">
            <a:avLst/>
          </a:prstGeom>
          <a:noFill/>
        </p:spPr>
        <p:txBody>
          <a:bodyPr wrap="square" rtlCol="0">
            <a:spAutoFit/>
          </a:bodyPr>
          <a:lstStyle/>
          <a:p>
            <a:r>
              <a:rPr lang="en-US" altLang="zh-CN" sz="2000" b="1" dirty="0"/>
              <a:t>State Space Model</a:t>
            </a:r>
          </a:p>
        </p:txBody>
      </p:sp>
      <p:sp>
        <p:nvSpPr>
          <p:cNvPr id="14" name="文本框 13"/>
          <p:cNvSpPr txBox="1"/>
          <p:nvPr/>
        </p:nvSpPr>
        <p:spPr>
          <a:xfrm>
            <a:off x="510540" y="6006748"/>
            <a:ext cx="10824845" cy="349601"/>
          </a:xfrm>
          <a:prstGeom prst="rect">
            <a:avLst/>
          </a:prstGeom>
          <a:noFill/>
        </p:spPr>
        <p:txBody>
          <a:bodyPr wrap="square" rtlCol="0">
            <a:noAutofit/>
          </a:bodyPr>
          <a:lstStyle/>
          <a:p>
            <a:r>
              <a:rPr lang="en-US" altLang="zh-CN" sz="1400" i="1" dirty="0">
                <a:solidFill>
                  <a:schemeClr val="bg1">
                    <a:lumMod val="50000"/>
                  </a:schemeClr>
                </a:solidFill>
              </a:rPr>
              <a:t>Grootendorst, M. (2024). A Visual Guide to Mamba and State Space Models.</a:t>
            </a:r>
          </a:p>
        </p:txBody>
      </p:sp>
      <p:sp>
        <p:nvSpPr>
          <p:cNvPr id="10" name="文本框 9">
            <a:extLst>
              <a:ext uri="{FF2B5EF4-FFF2-40B4-BE49-F238E27FC236}">
                <a16:creationId xmlns:a16="http://schemas.microsoft.com/office/drawing/2014/main" id="{8488A6B1-D16C-4A6B-B771-C3BD2588516D}"/>
              </a:ext>
            </a:extLst>
          </p:cNvPr>
          <p:cNvSpPr txBox="1"/>
          <p:nvPr/>
        </p:nvSpPr>
        <p:spPr>
          <a:xfrm>
            <a:off x="6319230" y="2308653"/>
            <a:ext cx="5520500" cy="1015663"/>
          </a:xfrm>
          <a:prstGeom prst="rect">
            <a:avLst/>
          </a:prstGeom>
          <a:noFill/>
        </p:spPr>
        <p:txBody>
          <a:bodyPr wrap="square">
            <a:spAutoFit/>
          </a:bodyPr>
          <a:lstStyle/>
          <a:p>
            <a:pPr algn="l"/>
            <a:r>
              <a:rPr lang="en-US" altLang="zh-CN" sz="1600" b="0" i="0" dirty="0">
                <a:effectLst/>
                <a:latin typeface="Lora" pitchFamily="2" charset="0"/>
              </a:rPr>
              <a:t>Traditionally, at time </a:t>
            </a:r>
            <a:r>
              <a:rPr lang="en-US" altLang="zh-CN" sz="1600" b="1" i="1" dirty="0">
                <a:effectLst/>
                <a:latin typeface="Lora" pitchFamily="2" charset="0"/>
              </a:rPr>
              <a:t>t</a:t>
            </a:r>
            <a:r>
              <a:rPr lang="en-US" altLang="zh-CN" sz="1600" b="0" i="0" dirty="0">
                <a:effectLst/>
                <a:latin typeface="Lora" pitchFamily="2" charset="0"/>
              </a:rPr>
              <a:t>, SSMs:</a:t>
            </a:r>
          </a:p>
          <a:p>
            <a:pPr marL="171450" indent="-171450" algn="l">
              <a:buFont typeface="Wingdings" panose="05000000000000000000" pitchFamily="2" charset="2"/>
              <a:buChar char="l"/>
            </a:pPr>
            <a:r>
              <a:rPr lang="en-US" altLang="zh-CN" sz="1100" b="0" i="0" dirty="0">
                <a:effectLst/>
                <a:latin typeface="Lora" pitchFamily="2" charset="0"/>
              </a:rPr>
              <a:t>map an input sequence </a:t>
            </a:r>
            <a:r>
              <a:rPr lang="en-US" altLang="zh-CN" sz="1100" b="1" i="1" dirty="0">
                <a:effectLst/>
                <a:latin typeface="Lora" pitchFamily="2" charset="0"/>
              </a:rPr>
              <a:t>x(t)                  </a:t>
            </a:r>
            <a:r>
              <a:rPr lang="en-US" altLang="zh-CN" sz="1100" b="0" i="0" dirty="0">
                <a:effectLst/>
                <a:latin typeface="Lora" pitchFamily="2" charset="0"/>
              </a:rPr>
              <a:t> — (e.g., moved left and </a:t>
            </a:r>
            <a:r>
              <a:rPr lang="en-US" altLang="zh-CN" sz="1100" dirty="0">
                <a:latin typeface="Lora" pitchFamily="2" charset="0"/>
              </a:rPr>
              <a:t>down in the maze)</a:t>
            </a:r>
          </a:p>
          <a:p>
            <a:pPr marL="171450" indent="-171450">
              <a:buFont typeface="Wingdings" panose="05000000000000000000" pitchFamily="2" charset="2"/>
              <a:buChar char="l"/>
            </a:pPr>
            <a:r>
              <a:rPr lang="en-US" altLang="zh-CN" sz="1100" dirty="0">
                <a:latin typeface="Lora" pitchFamily="2" charset="0"/>
              </a:rPr>
              <a:t>to a latent state  h(t)                               — (e.g., distance to exit or x/y)</a:t>
            </a:r>
          </a:p>
          <a:p>
            <a:pPr marL="171450" indent="-171450">
              <a:buFont typeface="Wingdings" panose="05000000000000000000" pitchFamily="2" charset="2"/>
              <a:buChar char="l"/>
            </a:pPr>
            <a:r>
              <a:rPr lang="en-US" altLang="zh-CN" sz="1100" dirty="0">
                <a:latin typeface="Lora" pitchFamily="2" charset="0"/>
              </a:rPr>
              <a:t>and derive a predicted output sequence y(t) — (e.g., predict move left again)</a:t>
            </a:r>
          </a:p>
          <a:p>
            <a:pPr marL="171450" indent="-171450" algn="l">
              <a:buFont typeface="Wingdings" panose="05000000000000000000" pitchFamily="2" charset="2"/>
              <a:buChar char="l"/>
            </a:pPr>
            <a:endParaRPr lang="en-US" altLang="zh-CN" sz="1100" dirty="0">
              <a:latin typeface="Lora" pitchFamily="2" charset="0"/>
            </a:endParaRPr>
          </a:p>
        </p:txBody>
      </p:sp>
      <p:pic>
        <p:nvPicPr>
          <p:cNvPr id="5" name="图片 4">
            <a:extLst>
              <a:ext uri="{FF2B5EF4-FFF2-40B4-BE49-F238E27FC236}">
                <a16:creationId xmlns:a16="http://schemas.microsoft.com/office/drawing/2014/main" id="{4B9D4E9F-D254-4EFD-82E0-6551AA746730}"/>
              </a:ext>
            </a:extLst>
          </p:cNvPr>
          <p:cNvPicPr>
            <a:picLocks noChangeAspect="1"/>
          </p:cNvPicPr>
          <p:nvPr/>
        </p:nvPicPr>
        <p:blipFill>
          <a:blip r:embed="rId4"/>
          <a:stretch>
            <a:fillRect/>
          </a:stretch>
        </p:blipFill>
        <p:spPr>
          <a:xfrm>
            <a:off x="6657995" y="3876757"/>
            <a:ext cx="4594797" cy="1753019"/>
          </a:xfrm>
          <a:prstGeom prst="rect">
            <a:avLst/>
          </a:prstGeom>
        </p:spPr>
      </p:pic>
      <p:sp>
        <p:nvSpPr>
          <p:cNvPr id="11" name="文本框 10">
            <a:extLst>
              <a:ext uri="{FF2B5EF4-FFF2-40B4-BE49-F238E27FC236}">
                <a16:creationId xmlns:a16="http://schemas.microsoft.com/office/drawing/2014/main" id="{C1A8F741-316D-4E58-97AC-7BF084B95910}"/>
              </a:ext>
            </a:extLst>
          </p:cNvPr>
          <p:cNvSpPr txBox="1"/>
          <p:nvPr/>
        </p:nvSpPr>
        <p:spPr>
          <a:xfrm>
            <a:off x="502215" y="4117317"/>
            <a:ext cx="6155780" cy="923330"/>
          </a:xfrm>
          <a:prstGeom prst="rect">
            <a:avLst/>
          </a:prstGeom>
          <a:noFill/>
        </p:spPr>
        <p:txBody>
          <a:bodyPr wrap="square">
            <a:spAutoFit/>
          </a:bodyPr>
          <a:lstStyle/>
          <a:p>
            <a:r>
              <a:rPr lang="en-US" altLang="zh-CN" b="0" i="0" dirty="0">
                <a:effectLst/>
                <a:latin typeface="Lora" pitchFamily="2" charset="0"/>
              </a:rPr>
              <a:t>SSMs assume that dynamic systems, such as an </a:t>
            </a:r>
            <a:r>
              <a:rPr lang="en-US" altLang="zh-CN" b="0" i="0" dirty="0">
                <a:solidFill>
                  <a:schemeClr val="bg2">
                    <a:lumMod val="40000"/>
                    <a:lumOff val="60000"/>
                  </a:schemeClr>
                </a:solidFill>
                <a:effectLst/>
                <a:latin typeface="Lora" pitchFamily="2" charset="0"/>
              </a:rPr>
              <a:t>object moving </a:t>
            </a:r>
            <a:r>
              <a:rPr lang="en-US" altLang="zh-CN" b="0" i="0" dirty="0">
                <a:effectLst/>
                <a:latin typeface="Lora" pitchFamily="2" charset="0"/>
              </a:rPr>
              <a:t>in 3D space, can be predicted from its state at time </a:t>
            </a:r>
            <a:r>
              <a:rPr lang="en-US" altLang="zh-CN" b="1" i="1" dirty="0">
                <a:effectLst/>
                <a:latin typeface="Lora" pitchFamily="2" charset="0"/>
              </a:rPr>
              <a:t>t</a:t>
            </a:r>
            <a:r>
              <a:rPr lang="en-US" altLang="zh-CN" b="0" i="0" dirty="0">
                <a:effectLst/>
                <a:latin typeface="Lora" pitchFamily="2" charset="0"/>
              </a:rPr>
              <a:t> through two equations.</a:t>
            </a:r>
            <a:endParaRPr lang="zh-CN" altLang="en-US" dirty="0"/>
          </a:p>
        </p:txBody>
      </p:sp>
      <p:pic>
        <p:nvPicPr>
          <p:cNvPr id="7" name="图片 6">
            <a:extLst>
              <a:ext uri="{FF2B5EF4-FFF2-40B4-BE49-F238E27FC236}">
                <a16:creationId xmlns:a16="http://schemas.microsoft.com/office/drawing/2014/main" id="{D5F1E3FA-AABF-4A34-8A9A-C8092B81721D}"/>
              </a:ext>
            </a:extLst>
          </p:cNvPr>
          <p:cNvPicPr>
            <a:picLocks noChangeAspect="1"/>
          </p:cNvPicPr>
          <p:nvPr/>
        </p:nvPicPr>
        <p:blipFill rotWithShape="1">
          <a:blip r:embed="rId5"/>
          <a:srcRect r="1383"/>
          <a:stretch/>
        </p:blipFill>
        <p:spPr>
          <a:xfrm>
            <a:off x="6825163" y="3876757"/>
            <a:ext cx="4324456" cy="1705171"/>
          </a:xfrm>
          <a:prstGeom prst="rect">
            <a:avLst/>
          </a:prstGeom>
        </p:spPr>
      </p:pic>
      <p:sp>
        <p:nvSpPr>
          <p:cNvPr id="12" name="文本框 11">
            <a:extLst>
              <a:ext uri="{FF2B5EF4-FFF2-40B4-BE49-F238E27FC236}">
                <a16:creationId xmlns:a16="http://schemas.microsoft.com/office/drawing/2014/main" id="{61D6BC59-A3F1-414C-BE96-F44143D8229A}"/>
              </a:ext>
            </a:extLst>
          </p:cNvPr>
          <p:cNvSpPr txBox="1"/>
          <p:nvPr/>
        </p:nvSpPr>
        <p:spPr>
          <a:xfrm>
            <a:off x="7474857" y="5625471"/>
            <a:ext cx="2601803" cy="646331"/>
          </a:xfrm>
          <a:prstGeom prst="rect">
            <a:avLst/>
          </a:prstGeom>
          <a:noFill/>
        </p:spPr>
        <p:txBody>
          <a:bodyPr wrap="none" rtlCol="0">
            <a:spAutoFit/>
          </a:bodyPr>
          <a:lstStyle/>
          <a:p>
            <a:r>
              <a:rPr lang="en-US" altLang="zh-CN" dirty="0"/>
              <a:t>D = 0 for positioning tasks</a:t>
            </a:r>
          </a:p>
          <a:p>
            <a:endParaRPr lang="zh-CN" altLang="en-US" dirty="0"/>
          </a:p>
        </p:txBody>
      </p:sp>
      <p:cxnSp>
        <p:nvCxnSpPr>
          <p:cNvPr id="15" name="直接箭头连接符 14">
            <a:extLst>
              <a:ext uri="{FF2B5EF4-FFF2-40B4-BE49-F238E27FC236}">
                <a16:creationId xmlns:a16="http://schemas.microsoft.com/office/drawing/2014/main" id="{75E510E6-F951-4739-9438-4CEB23B69B62}"/>
              </a:ext>
            </a:extLst>
          </p:cNvPr>
          <p:cNvCxnSpPr/>
          <p:nvPr/>
        </p:nvCxnSpPr>
        <p:spPr>
          <a:xfrm flipH="1">
            <a:off x="9079480" y="5123543"/>
            <a:ext cx="245949" cy="4583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文本框 15">
            <a:extLst>
              <a:ext uri="{FF2B5EF4-FFF2-40B4-BE49-F238E27FC236}">
                <a16:creationId xmlns:a16="http://schemas.microsoft.com/office/drawing/2014/main" id="{D28AE8D5-5AE0-4F42-97FC-0D90494780CB}"/>
              </a:ext>
            </a:extLst>
          </p:cNvPr>
          <p:cNvSpPr txBox="1"/>
          <p:nvPr/>
        </p:nvSpPr>
        <p:spPr>
          <a:xfrm>
            <a:off x="549909" y="1448435"/>
            <a:ext cx="10386605" cy="646331"/>
          </a:xfrm>
          <a:prstGeom prst="rect">
            <a:avLst/>
          </a:prstGeom>
          <a:noFill/>
        </p:spPr>
        <p:txBody>
          <a:bodyPr wrap="square" rtlCol="0">
            <a:spAutoFit/>
          </a:bodyPr>
          <a:lstStyle/>
          <a:p>
            <a:r>
              <a:rPr lang="en-US" altLang="zh-CN" b="0" i="0" dirty="0">
                <a:effectLst/>
                <a:latin typeface="Lora" pitchFamily="2" charset="0"/>
              </a:rPr>
              <a:t>SSMs are models used to </a:t>
            </a:r>
            <a:r>
              <a:rPr lang="en-US" altLang="zh-CN" b="0" i="0" dirty="0">
                <a:solidFill>
                  <a:schemeClr val="bg2">
                    <a:lumMod val="40000"/>
                    <a:lumOff val="60000"/>
                  </a:schemeClr>
                </a:solidFill>
                <a:effectLst/>
                <a:latin typeface="Lora" pitchFamily="2" charset="0"/>
              </a:rPr>
              <a:t>describe </a:t>
            </a:r>
            <a:r>
              <a:rPr lang="en-US" altLang="zh-CN" b="0" i="0" dirty="0">
                <a:effectLst/>
                <a:latin typeface="Lora" pitchFamily="2" charset="0"/>
              </a:rPr>
              <a:t>and </a:t>
            </a:r>
            <a:r>
              <a:rPr lang="en-US" altLang="zh-CN" b="0" i="0" dirty="0">
                <a:solidFill>
                  <a:schemeClr val="bg2">
                    <a:lumMod val="40000"/>
                    <a:lumOff val="60000"/>
                  </a:schemeClr>
                </a:solidFill>
                <a:effectLst/>
                <a:latin typeface="Lora" pitchFamily="2" charset="0"/>
              </a:rPr>
              <a:t>make predictions </a:t>
            </a:r>
            <a:r>
              <a:rPr lang="en-US" altLang="zh-CN" dirty="0">
                <a:latin typeface="Lora" pitchFamily="2" charset="0"/>
              </a:rPr>
              <a:t>of these state</a:t>
            </a:r>
            <a:r>
              <a:rPr lang="en-US" altLang="zh-CN" b="0" i="0" dirty="0">
                <a:effectLst/>
                <a:latin typeface="Lora" pitchFamily="2" charset="0"/>
              </a:rPr>
              <a:t>,</a:t>
            </a:r>
            <a:r>
              <a:rPr lang="zh-CN" altLang="en-US" b="0" i="0" dirty="0">
                <a:effectLst/>
                <a:latin typeface="Lora" pitchFamily="2" charset="0"/>
              </a:rPr>
              <a:t> </a:t>
            </a:r>
            <a:r>
              <a:rPr lang="en-US" altLang="zh-CN" b="0" i="0" dirty="0">
                <a:effectLst/>
                <a:latin typeface="Lora" pitchFamily="2" charset="0"/>
              </a:rPr>
              <a:t>which</a:t>
            </a:r>
            <a:r>
              <a:rPr lang="en-US" altLang="zh-CN" dirty="0">
                <a:latin typeface="Lora" pitchFamily="2" charset="0"/>
              </a:rPr>
              <a:t> is </a:t>
            </a:r>
            <a:r>
              <a:rPr lang="en-US" altLang="zh-CN" dirty="0">
                <a:solidFill>
                  <a:schemeClr val="bg2">
                    <a:lumMod val="40000"/>
                    <a:lumOff val="60000"/>
                  </a:schemeClr>
                </a:solidFill>
                <a:latin typeface="Lora" pitchFamily="2" charset="0"/>
              </a:rPr>
              <a:t>well suited for positioning tasks</a:t>
            </a:r>
            <a:r>
              <a:rPr lang="en-US" altLang="zh-CN" dirty="0">
                <a:latin typeface="Lora" pitchFamily="2" charset="0"/>
              </a:rPr>
              <a:t>.</a:t>
            </a:r>
          </a:p>
        </p:txBody>
      </p:sp>
    </p:spTree>
    <p:extLst>
      <p:ext uri="{BB962C8B-B14F-4D97-AF65-F5344CB8AC3E}">
        <p14:creationId xmlns:p14="http://schemas.microsoft.com/office/powerpoint/2010/main" val="3993938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 Why use Mamba</a:t>
            </a:r>
          </a:p>
        </p:txBody>
      </p:sp>
      <p:sp>
        <p:nvSpPr>
          <p:cNvPr id="8" name="文本框 7"/>
          <p:cNvSpPr txBox="1"/>
          <p:nvPr/>
        </p:nvSpPr>
        <p:spPr>
          <a:xfrm>
            <a:off x="510539" y="1049655"/>
            <a:ext cx="8825049" cy="400110"/>
          </a:xfrm>
          <a:prstGeom prst="rect">
            <a:avLst/>
          </a:prstGeom>
          <a:noFill/>
        </p:spPr>
        <p:txBody>
          <a:bodyPr wrap="square" rtlCol="0">
            <a:spAutoFit/>
          </a:bodyPr>
          <a:lstStyle/>
          <a:p>
            <a:r>
              <a:rPr lang="en-US" altLang="zh-CN" sz="2000" b="1" dirty="0"/>
              <a:t>Mamba is a State Space Model but more hardware-efficient</a:t>
            </a:r>
          </a:p>
        </p:txBody>
      </p:sp>
      <p:sp>
        <p:nvSpPr>
          <p:cNvPr id="14" name="文本框 13"/>
          <p:cNvSpPr txBox="1"/>
          <p:nvPr/>
        </p:nvSpPr>
        <p:spPr>
          <a:xfrm>
            <a:off x="510540" y="6006748"/>
            <a:ext cx="10824845" cy="349601"/>
          </a:xfrm>
          <a:prstGeom prst="rect">
            <a:avLst/>
          </a:prstGeom>
          <a:noFill/>
        </p:spPr>
        <p:txBody>
          <a:bodyPr wrap="square" rtlCol="0">
            <a:noAutofit/>
          </a:bodyPr>
          <a:lstStyle/>
          <a:p>
            <a:r>
              <a:rPr lang="en-US" altLang="zh-CN" sz="1400" i="1" dirty="0">
                <a:solidFill>
                  <a:schemeClr val="bg1">
                    <a:lumMod val="50000"/>
                  </a:schemeClr>
                </a:solidFill>
              </a:rPr>
              <a:t>Grootendorst, M. (2024). A Visual Guide to Mamba and State Space Models.</a:t>
            </a:r>
          </a:p>
        </p:txBody>
      </p:sp>
      <p:pic>
        <p:nvPicPr>
          <p:cNvPr id="7" name="图片 6">
            <a:extLst>
              <a:ext uri="{FF2B5EF4-FFF2-40B4-BE49-F238E27FC236}">
                <a16:creationId xmlns:a16="http://schemas.microsoft.com/office/drawing/2014/main" id="{C55A8251-F8B1-4655-A1EE-61CB2B6AD6AD}"/>
              </a:ext>
            </a:extLst>
          </p:cNvPr>
          <p:cNvPicPr>
            <a:picLocks noChangeAspect="1"/>
          </p:cNvPicPr>
          <p:nvPr/>
        </p:nvPicPr>
        <p:blipFill>
          <a:blip r:embed="rId3"/>
          <a:stretch>
            <a:fillRect/>
          </a:stretch>
        </p:blipFill>
        <p:spPr>
          <a:xfrm>
            <a:off x="599109" y="2111891"/>
            <a:ext cx="3034745" cy="2070178"/>
          </a:xfrm>
          <a:prstGeom prst="rect">
            <a:avLst/>
          </a:prstGeom>
        </p:spPr>
      </p:pic>
      <p:pic>
        <p:nvPicPr>
          <p:cNvPr id="9" name="图片 8">
            <a:extLst>
              <a:ext uri="{FF2B5EF4-FFF2-40B4-BE49-F238E27FC236}">
                <a16:creationId xmlns:a16="http://schemas.microsoft.com/office/drawing/2014/main" id="{8A699D89-975A-45B2-BAD9-8A6342DB705E}"/>
              </a:ext>
            </a:extLst>
          </p:cNvPr>
          <p:cNvPicPr>
            <a:picLocks noChangeAspect="1"/>
          </p:cNvPicPr>
          <p:nvPr/>
        </p:nvPicPr>
        <p:blipFill>
          <a:blip r:embed="rId4"/>
          <a:stretch>
            <a:fillRect/>
          </a:stretch>
        </p:blipFill>
        <p:spPr>
          <a:xfrm>
            <a:off x="4123190" y="2072017"/>
            <a:ext cx="7279024" cy="2713841"/>
          </a:xfrm>
          <a:prstGeom prst="rect">
            <a:avLst/>
          </a:prstGeom>
        </p:spPr>
      </p:pic>
      <p:sp>
        <p:nvSpPr>
          <p:cNvPr id="3" name="文本框 2">
            <a:extLst>
              <a:ext uri="{FF2B5EF4-FFF2-40B4-BE49-F238E27FC236}">
                <a16:creationId xmlns:a16="http://schemas.microsoft.com/office/drawing/2014/main" id="{5D2FEC7B-5E6A-4397-A235-7717E7565E45}"/>
              </a:ext>
            </a:extLst>
          </p:cNvPr>
          <p:cNvSpPr txBox="1"/>
          <p:nvPr/>
        </p:nvSpPr>
        <p:spPr>
          <a:xfrm>
            <a:off x="1687346" y="4416526"/>
            <a:ext cx="593432" cy="369332"/>
          </a:xfrm>
          <a:prstGeom prst="rect">
            <a:avLst/>
          </a:prstGeom>
          <a:noFill/>
        </p:spPr>
        <p:txBody>
          <a:bodyPr wrap="none" rtlCol="0">
            <a:spAutoFit/>
          </a:bodyPr>
          <a:lstStyle/>
          <a:p>
            <a:r>
              <a:rPr lang="en-US" altLang="zh-CN" dirty="0"/>
              <a:t>SSM</a:t>
            </a:r>
          </a:p>
        </p:txBody>
      </p:sp>
      <p:sp>
        <p:nvSpPr>
          <p:cNvPr id="10" name="文本框 9">
            <a:extLst>
              <a:ext uri="{FF2B5EF4-FFF2-40B4-BE49-F238E27FC236}">
                <a16:creationId xmlns:a16="http://schemas.microsoft.com/office/drawing/2014/main" id="{01AA08E0-6601-45A4-AA15-C37787CFF941}"/>
              </a:ext>
            </a:extLst>
          </p:cNvPr>
          <p:cNvSpPr txBox="1"/>
          <p:nvPr/>
        </p:nvSpPr>
        <p:spPr>
          <a:xfrm>
            <a:off x="549909" y="1448435"/>
            <a:ext cx="9656633" cy="369332"/>
          </a:xfrm>
          <a:prstGeom prst="rect">
            <a:avLst/>
          </a:prstGeom>
          <a:noFill/>
        </p:spPr>
        <p:txBody>
          <a:bodyPr wrap="square" rtlCol="0">
            <a:spAutoFit/>
          </a:bodyPr>
          <a:lstStyle/>
          <a:p>
            <a:r>
              <a:rPr lang="en-US" altLang="zh-CN" dirty="0"/>
              <a:t>Using hidden states to </a:t>
            </a:r>
            <a:r>
              <a:rPr lang="en-US" altLang="zh-CN" dirty="0">
                <a:solidFill>
                  <a:schemeClr val="bg2">
                    <a:lumMod val="40000"/>
                    <a:lumOff val="60000"/>
                  </a:schemeClr>
                </a:solidFill>
              </a:rPr>
              <a:t>store historical information</a:t>
            </a:r>
            <a:r>
              <a:rPr lang="en-US" altLang="zh-CN" dirty="0">
                <a:solidFill>
                  <a:srgbClr val="00B0F0"/>
                </a:solidFill>
              </a:rPr>
              <a:t> </a:t>
            </a:r>
            <a:r>
              <a:rPr lang="en-US" altLang="zh-CN" dirty="0"/>
              <a:t>and process sequences with </a:t>
            </a:r>
            <a:r>
              <a:rPr lang="en-US" altLang="zh-CN" dirty="0">
                <a:solidFill>
                  <a:schemeClr val="bg2">
                    <a:lumMod val="40000"/>
                    <a:lumOff val="60000"/>
                  </a:schemeClr>
                </a:solidFill>
              </a:rPr>
              <a:t>recursive updates</a:t>
            </a:r>
            <a:r>
              <a:rPr lang="en-US" altLang="zh-CN" b="1" dirty="0">
                <a:solidFill>
                  <a:srgbClr val="FF0000"/>
                </a:solidFill>
              </a:rPr>
              <a:t>. </a:t>
            </a:r>
          </a:p>
        </p:txBody>
      </p:sp>
    </p:spTree>
    <p:extLst>
      <p:ext uri="{BB962C8B-B14F-4D97-AF65-F5344CB8AC3E}">
        <p14:creationId xmlns:p14="http://schemas.microsoft.com/office/powerpoint/2010/main" val="893492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 </a:t>
            </a:r>
            <a:r>
              <a:rPr lang="en-US" altLang="zh-CN" dirty="0"/>
              <a:t>Previous works</a:t>
            </a:r>
            <a:endParaRPr lang="en-US" dirty="0"/>
          </a:p>
        </p:txBody>
      </p:sp>
      <p:sp>
        <p:nvSpPr>
          <p:cNvPr id="8" name="文本框 7"/>
          <p:cNvSpPr txBox="1"/>
          <p:nvPr/>
        </p:nvSpPr>
        <p:spPr>
          <a:xfrm>
            <a:off x="510540" y="1049655"/>
            <a:ext cx="4602948" cy="400110"/>
          </a:xfrm>
          <a:prstGeom prst="rect">
            <a:avLst/>
          </a:prstGeom>
          <a:noFill/>
        </p:spPr>
        <p:txBody>
          <a:bodyPr wrap="square" rtlCol="0">
            <a:spAutoFit/>
          </a:bodyPr>
          <a:lstStyle/>
          <a:p>
            <a:r>
              <a:rPr lang="en-US" altLang="zh-CN" sz="2000" b="1" dirty="0"/>
              <a:t>FCNN: Fully Connected Neural Network</a:t>
            </a:r>
          </a:p>
        </p:txBody>
      </p:sp>
      <p:pic>
        <p:nvPicPr>
          <p:cNvPr id="6" name="图片 5">
            <a:extLst>
              <a:ext uri="{FF2B5EF4-FFF2-40B4-BE49-F238E27FC236}">
                <a16:creationId xmlns:a16="http://schemas.microsoft.com/office/drawing/2014/main" id="{0FEEAC89-61EA-479F-9041-E1CF80CF70D3}"/>
              </a:ext>
            </a:extLst>
          </p:cNvPr>
          <p:cNvPicPr>
            <a:picLocks noChangeAspect="1"/>
          </p:cNvPicPr>
          <p:nvPr/>
        </p:nvPicPr>
        <p:blipFill>
          <a:blip r:embed="rId3"/>
          <a:stretch>
            <a:fillRect/>
          </a:stretch>
        </p:blipFill>
        <p:spPr>
          <a:xfrm>
            <a:off x="818171" y="2017041"/>
            <a:ext cx="10484621" cy="2026967"/>
          </a:xfrm>
          <a:prstGeom prst="rect">
            <a:avLst/>
          </a:prstGeom>
        </p:spPr>
      </p:pic>
      <p:sp>
        <p:nvSpPr>
          <p:cNvPr id="7" name="文本框 6">
            <a:extLst>
              <a:ext uri="{FF2B5EF4-FFF2-40B4-BE49-F238E27FC236}">
                <a16:creationId xmlns:a16="http://schemas.microsoft.com/office/drawing/2014/main" id="{8BA8D74C-EA9A-41D9-BDC2-B14F511E47E6}"/>
              </a:ext>
            </a:extLst>
          </p:cNvPr>
          <p:cNvSpPr txBox="1"/>
          <p:nvPr/>
        </p:nvSpPr>
        <p:spPr>
          <a:xfrm>
            <a:off x="510540" y="4932133"/>
            <a:ext cx="11527391" cy="461665"/>
          </a:xfrm>
          <a:prstGeom prst="rect">
            <a:avLst/>
          </a:prstGeom>
          <a:noFill/>
        </p:spPr>
        <p:txBody>
          <a:bodyPr wrap="square" rtlCol="0">
            <a:spAutoFit/>
          </a:bodyPr>
          <a:lstStyle/>
          <a:p>
            <a:r>
              <a:rPr lang="en-US" altLang="zh-CN" sz="2400" dirty="0"/>
              <a:t>All variant models using Mamba architecture exhibit significantly smaller parameters.</a:t>
            </a:r>
            <a:endParaRPr lang="zh-CN" altLang="en-US" sz="2400" dirty="0"/>
          </a:p>
        </p:txBody>
      </p:sp>
      <p:pic>
        <p:nvPicPr>
          <p:cNvPr id="5" name="图片 4">
            <a:extLst>
              <a:ext uri="{FF2B5EF4-FFF2-40B4-BE49-F238E27FC236}">
                <a16:creationId xmlns:a16="http://schemas.microsoft.com/office/drawing/2014/main" id="{600485BF-912B-4749-8AD2-B0D19CD73DB8}"/>
              </a:ext>
            </a:extLst>
          </p:cNvPr>
          <p:cNvPicPr>
            <a:picLocks noChangeAspect="1"/>
          </p:cNvPicPr>
          <p:nvPr/>
        </p:nvPicPr>
        <p:blipFill>
          <a:blip r:embed="rId4"/>
          <a:stretch>
            <a:fillRect/>
          </a:stretch>
        </p:blipFill>
        <p:spPr>
          <a:xfrm>
            <a:off x="644805" y="2388522"/>
            <a:ext cx="10657987" cy="2438533"/>
          </a:xfrm>
          <a:prstGeom prst="rect">
            <a:avLst/>
          </a:prstGeom>
        </p:spPr>
      </p:pic>
      <p:sp>
        <p:nvSpPr>
          <p:cNvPr id="3" name="矩形: 圆角 2">
            <a:extLst>
              <a:ext uri="{FF2B5EF4-FFF2-40B4-BE49-F238E27FC236}">
                <a16:creationId xmlns:a16="http://schemas.microsoft.com/office/drawing/2014/main" id="{D34AAAFA-C189-4C02-9F8E-FC82CC94CB68}"/>
              </a:ext>
            </a:extLst>
          </p:cNvPr>
          <p:cNvSpPr/>
          <p:nvPr/>
        </p:nvSpPr>
        <p:spPr>
          <a:xfrm>
            <a:off x="5318091" y="3318552"/>
            <a:ext cx="767590" cy="1292731"/>
          </a:xfrm>
          <a:prstGeom prst="roundRect">
            <a:avLst/>
          </a:prstGeom>
          <a:noFill/>
          <a:ln w="28575"/>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12048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8BB4F1F6-C9C3-4150-B051-8343AEFD50B4}"/>
              </a:ext>
            </a:extLst>
          </p:cNvPr>
          <p:cNvPicPr>
            <a:picLocks noChangeAspect="1"/>
          </p:cNvPicPr>
          <p:nvPr/>
        </p:nvPicPr>
        <p:blipFill rotWithShape="1">
          <a:blip r:embed="rId3"/>
          <a:srcRect l="22857"/>
          <a:stretch/>
        </p:blipFill>
        <p:spPr>
          <a:xfrm>
            <a:off x="184082" y="1727656"/>
            <a:ext cx="6246190" cy="3383638"/>
          </a:xfrm>
          <a:prstGeom prst="rect">
            <a:avLst/>
          </a:prstGeom>
        </p:spPr>
      </p:pic>
      <p:sp>
        <p:nvSpPr>
          <p:cNvPr id="2" name="标题 1"/>
          <p:cNvSpPr>
            <a:spLocks noGrp="1"/>
          </p:cNvSpPr>
          <p:nvPr>
            <p:ph type="title"/>
          </p:nvPr>
        </p:nvSpPr>
        <p:spPr/>
        <p:txBody>
          <a:bodyPr/>
          <a:lstStyle/>
          <a:p>
            <a:r>
              <a:rPr lang="en-US" dirty="0">
                <a:sym typeface="+mn-ea"/>
              </a:rPr>
              <a:t>Architecture</a:t>
            </a:r>
            <a:endParaRPr lang="en-US" dirty="0"/>
          </a:p>
        </p:txBody>
      </p:sp>
      <p:pic>
        <p:nvPicPr>
          <p:cNvPr id="7" name="图形 6">
            <a:extLst>
              <a:ext uri="{FF2B5EF4-FFF2-40B4-BE49-F238E27FC236}">
                <a16:creationId xmlns:a16="http://schemas.microsoft.com/office/drawing/2014/main" id="{79A41009-890D-4A8D-8AEF-2DBCBBF15E7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46052" y="1253360"/>
            <a:ext cx="5626964" cy="4674587"/>
          </a:xfrm>
          <a:prstGeom prst="rect">
            <a:avLst/>
          </a:prstGeom>
        </p:spPr>
      </p:pic>
      <p:sp>
        <p:nvSpPr>
          <p:cNvPr id="10" name="矩形: 圆角 9">
            <a:extLst>
              <a:ext uri="{FF2B5EF4-FFF2-40B4-BE49-F238E27FC236}">
                <a16:creationId xmlns:a16="http://schemas.microsoft.com/office/drawing/2014/main" id="{C0E18B87-C7D7-4CAA-B5F9-3B608C4A3D52}"/>
              </a:ext>
            </a:extLst>
          </p:cNvPr>
          <p:cNvSpPr/>
          <p:nvPr/>
        </p:nvSpPr>
        <p:spPr>
          <a:xfrm>
            <a:off x="266007" y="3167149"/>
            <a:ext cx="5621813" cy="1188720"/>
          </a:xfrm>
          <a:prstGeom prst="roundRect">
            <a:avLst/>
          </a:prstGeom>
          <a:noFill/>
          <a:ln w="19050"/>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16" name="连接符: 曲线 15">
            <a:extLst>
              <a:ext uri="{FF2B5EF4-FFF2-40B4-BE49-F238E27FC236}">
                <a16:creationId xmlns:a16="http://schemas.microsoft.com/office/drawing/2014/main" id="{DA040FFC-B034-4ED3-B326-2CEC6D149985}"/>
              </a:ext>
            </a:extLst>
          </p:cNvPr>
          <p:cNvCxnSpPr>
            <a:cxnSpLocks/>
          </p:cNvCxnSpPr>
          <p:nvPr/>
        </p:nvCxnSpPr>
        <p:spPr>
          <a:xfrm flipV="1">
            <a:off x="6013577" y="1820093"/>
            <a:ext cx="2688158" cy="1428204"/>
          </a:xfrm>
          <a:prstGeom prst="curvedConnector3">
            <a:avLst>
              <a:gd name="adj1" fmla="val 46760"/>
            </a:avLst>
          </a:prstGeom>
          <a:ln w="57150" cap="flat" cmpd="sng">
            <a:round/>
            <a:headEnd w="lg" len="lg"/>
            <a:tailEnd type="triangle" w="lg" len="lg"/>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sym typeface="+mn-ea"/>
              </a:rPr>
              <a:t>Architecture</a:t>
            </a:r>
            <a:endParaRPr lang="en-US" dirty="0"/>
          </a:p>
        </p:txBody>
      </p:sp>
      <p:pic>
        <p:nvPicPr>
          <p:cNvPr id="3" name="图片 2" descr="board_level(a)"/>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31975" y="1573530"/>
            <a:ext cx="8843645" cy="3853815"/>
          </a:xfrm>
          <a:prstGeom prst="rect">
            <a:avLst/>
          </a:prstGeom>
        </p:spPr>
      </p:pic>
      <p:pic>
        <p:nvPicPr>
          <p:cNvPr id="4" name="图片 3" descr="board_level(b)"/>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3925" y="1573530"/>
            <a:ext cx="6489065" cy="3949065"/>
          </a:xfrm>
          <a:prstGeom prst="rect">
            <a:avLst/>
          </a:prstGeom>
        </p:spPr>
      </p:pic>
      <p:sp>
        <p:nvSpPr>
          <p:cNvPr id="5" name="圆角矩形 4"/>
          <p:cNvSpPr/>
          <p:nvPr/>
        </p:nvSpPr>
        <p:spPr>
          <a:xfrm>
            <a:off x="7592695" y="1388745"/>
            <a:ext cx="3141345" cy="4133850"/>
          </a:xfrm>
          <a:prstGeom prst="roundRect">
            <a:avLst/>
          </a:prstGeom>
          <a:noFill/>
          <a:ln w="19050">
            <a:solidFill>
              <a:srgbClr val="C0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58428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sym typeface="+mn-ea"/>
              </a:rPr>
              <a:t>Architecture </a:t>
            </a:r>
            <a:endParaRPr lang="en-US" dirty="0"/>
          </a:p>
        </p:txBody>
      </p:sp>
      <p:pic>
        <p:nvPicPr>
          <p:cNvPr id="6" name="图片 5" descr="board_level(b)_noframe"/>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710" y="1404620"/>
            <a:ext cx="6971030" cy="4057015"/>
          </a:xfrm>
          <a:prstGeom prst="rect">
            <a:avLst/>
          </a:prstGeom>
        </p:spPr>
      </p:pic>
      <p:pic>
        <p:nvPicPr>
          <p:cNvPr id="3" name="图片 2" descr="board_level(c)"/>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41565" y="1854200"/>
            <a:ext cx="4729480" cy="3130550"/>
          </a:xfrm>
          <a:prstGeom prst="rect">
            <a:avLst/>
          </a:prstGeom>
        </p:spPr>
      </p:pic>
      <p:sp>
        <p:nvSpPr>
          <p:cNvPr id="7" name="圆角矩形 6"/>
          <p:cNvSpPr/>
          <p:nvPr/>
        </p:nvSpPr>
        <p:spPr>
          <a:xfrm>
            <a:off x="2818765" y="3199765"/>
            <a:ext cx="4510405" cy="1027430"/>
          </a:xfrm>
          <a:prstGeom prst="roundRect">
            <a:avLst/>
          </a:prstGeom>
          <a:solidFill>
            <a:srgbClr val="000000">
              <a:alpha val="0"/>
            </a:srgbClr>
          </a:solidFill>
          <a:ln w="19050">
            <a:solidFill>
              <a:srgbClr val="C00000"/>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16385"/>
            <p:custDataLst>
              <p:tags r:id="rId2"/>
            </p:custDataLst>
          </p:nvPr>
        </p:nvSpPr>
        <p:spPr>
          <a:xfrm>
            <a:off x="608552" y="401743"/>
            <a:ext cx="10953940" cy="607907"/>
          </a:xfrm>
        </p:spPr>
        <p:txBody>
          <a:bodyPr>
            <a:noAutofit/>
          </a:bodyPr>
          <a:lstStyle/>
          <a:p>
            <a:r>
              <a:rPr lang="en-US" altLang="zh-CN" b="1"/>
              <a:t>Contents</a:t>
            </a:r>
          </a:p>
        </p:txBody>
      </p:sp>
      <p:sp>
        <p:nvSpPr>
          <p:cNvPr id="5" name="文本占位符 4"/>
          <p:cNvSpPr>
            <a:spLocks noGrp="1"/>
          </p:cNvSpPr>
          <p:nvPr>
            <p:ph type="body" idx="16386"/>
            <p:custDataLst>
              <p:tags r:id="rId3"/>
            </p:custDataLst>
          </p:nvPr>
        </p:nvSpPr>
        <p:spPr>
          <a:xfrm>
            <a:off x="755650" y="1439545"/>
            <a:ext cx="10805160" cy="4930140"/>
          </a:xfrm>
        </p:spPr>
        <p:txBody>
          <a:bodyPr>
            <a:normAutofit/>
          </a:bodyPr>
          <a:lstStyle/>
          <a:p>
            <a:pPr>
              <a:buFont typeface="Wingdings" panose="05000000000000000000" charset="0"/>
            </a:pPr>
            <a:r>
              <a:rPr lang="en-US" altLang="zh-CN" sz="2400" b="1" dirty="0"/>
              <a:t>1. Architecture</a:t>
            </a:r>
          </a:p>
          <a:p>
            <a:pPr>
              <a:buFont typeface="Wingdings" panose="05000000000000000000" charset="0"/>
            </a:pPr>
            <a:r>
              <a:rPr lang="en-US" altLang="zh-CN" sz="2400" b="1" dirty="0"/>
              <a:t>2. Linear Layers</a:t>
            </a:r>
          </a:p>
          <a:p>
            <a:pPr lvl="1" algn="l">
              <a:buSzTx/>
              <a:buFont typeface="Wingdings" panose="05000000000000000000" charset="0"/>
              <a:buChar char="Ø"/>
            </a:pPr>
            <a:r>
              <a:rPr lang="en-US" altLang="zh-CN" dirty="0">
                <a:solidFill>
                  <a:schemeClr val="tx1"/>
                </a:solidFill>
                <a:latin typeface="Arial" panose="020B0604020202020204" pitchFamily="34" charset="0"/>
                <a:cs typeface="Arial" panose="020B0604020202020204" pitchFamily="34" charset="0"/>
                <a:sym typeface="+mn-ea"/>
              </a:rPr>
              <a:t>Trade Off 1: MAC Architecture Selection</a:t>
            </a:r>
          </a:p>
          <a:p>
            <a:pPr lvl="1" algn="l">
              <a:buSzTx/>
              <a:buFont typeface="Wingdings" panose="05000000000000000000" charset="0"/>
              <a:buChar char="Ø"/>
            </a:pPr>
            <a:r>
              <a:rPr lang="en-US" altLang="zh-CN" sz="2200" dirty="0">
                <a:solidFill>
                  <a:schemeClr val="tx1"/>
                </a:solidFill>
                <a:latin typeface="Arial" panose="020B0604020202020204" pitchFamily="34" charset="0"/>
                <a:cs typeface="Arial" panose="020B0604020202020204" pitchFamily="34" charset="0"/>
                <a:sym typeface="+mn-ea"/>
              </a:rPr>
              <a:t>Trade Off 2: Reconfigurable vs. Fine-grained pipeline</a:t>
            </a:r>
          </a:p>
          <a:p>
            <a:pPr>
              <a:buFont typeface="Wingdings" panose="05000000000000000000" charset="0"/>
            </a:pPr>
            <a:r>
              <a:rPr lang="en-US" altLang="zh-CN" sz="2400" b="1" dirty="0"/>
              <a:t>3. Non-linear Layers</a:t>
            </a:r>
          </a:p>
          <a:p>
            <a:pPr lvl="1" algn="l">
              <a:buSzTx/>
              <a:buFont typeface="Wingdings" panose="05000000000000000000" charset="0"/>
              <a:buChar char="Ø"/>
            </a:pPr>
            <a:r>
              <a:rPr lang="en-US" altLang="zh-CN" dirty="0" err="1">
                <a:solidFill>
                  <a:schemeClr val="tx1"/>
                </a:solidFill>
                <a:latin typeface="Arial" panose="020B0604020202020204" pitchFamily="34" charset="0"/>
                <a:cs typeface="Arial" panose="020B0604020202020204" pitchFamily="34" charset="0"/>
                <a:sym typeface="+mn-ea"/>
              </a:rPr>
              <a:t>RMSNorm</a:t>
            </a:r>
            <a:endParaRPr lang="en-US" altLang="zh-CN" dirty="0">
              <a:solidFill>
                <a:schemeClr val="tx1"/>
              </a:solidFill>
              <a:latin typeface="Arial" panose="020B0604020202020204" pitchFamily="34" charset="0"/>
              <a:cs typeface="Arial" panose="020B0604020202020204" pitchFamily="34" charset="0"/>
              <a:sym typeface="+mn-ea"/>
            </a:endParaRPr>
          </a:p>
          <a:p>
            <a:pPr lvl="1" algn="l">
              <a:buSzTx/>
              <a:buFont typeface="Wingdings" panose="05000000000000000000" charset="0"/>
              <a:buChar char="Ø"/>
            </a:pPr>
            <a:r>
              <a:rPr lang="en-US" altLang="zh-CN" dirty="0">
                <a:solidFill>
                  <a:schemeClr val="tx1"/>
                </a:solidFill>
                <a:latin typeface="Arial" panose="020B0604020202020204" pitchFamily="34" charset="0"/>
                <a:cs typeface="Arial" panose="020B0604020202020204" pitchFamily="34" charset="0"/>
                <a:sym typeface="+mn-ea"/>
              </a:rPr>
              <a:t>Sigmoid</a:t>
            </a:r>
            <a:endParaRPr lang="en-US" altLang="zh-CN" b="1" dirty="0">
              <a:solidFill>
                <a:schemeClr val="tx1"/>
              </a:solidFill>
              <a:latin typeface="Arial" panose="020B0604020202020204" pitchFamily="34" charset="0"/>
              <a:cs typeface="Arial" panose="020B0604020202020204" pitchFamily="34" charset="0"/>
            </a:endParaRPr>
          </a:p>
          <a:p>
            <a:pPr>
              <a:buFont typeface="Wingdings" panose="05000000000000000000" charset="0"/>
            </a:pPr>
            <a:r>
              <a:rPr lang="en-US" altLang="zh-CN" sz="2400" b="1" dirty="0"/>
              <a:t>3. </a:t>
            </a:r>
            <a:r>
              <a:rPr lang="en-US" altLang="zh-CN" sz="2400" b="1" dirty="0" err="1"/>
              <a:t>Quantisation</a:t>
            </a:r>
            <a:endParaRPr lang="en-US" altLang="zh-CN" sz="2400" b="1" dirty="0"/>
          </a:p>
          <a:p>
            <a:pPr lvl="1" algn="l">
              <a:buSzTx/>
              <a:buFont typeface="Wingdings" panose="05000000000000000000" charset="0"/>
              <a:buChar char="Ø"/>
            </a:pPr>
            <a:r>
              <a:rPr lang="en-US" altLang="zh-CN" sz="2200" dirty="0">
                <a:solidFill>
                  <a:schemeClr val="tx1"/>
                </a:solidFill>
                <a:latin typeface="Arial" panose="020B0604020202020204" pitchFamily="34" charset="0"/>
                <a:cs typeface="Arial" panose="020B0604020202020204" pitchFamily="34" charset="0"/>
              </a:rPr>
              <a:t>Workflow</a:t>
            </a:r>
          </a:p>
          <a:p>
            <a:pPr lvl="1" algn="l">
              <a:buSzTx/>
              <a:buFont typeface="Wingdings" panose="05000000000000000000" charset="0"/>
              <a:buChar char="Ø"/>
            </a:pPr>
            <a:r>
              <a:rPr lang="en-US" altLang="zh-CN" sz="2200" dirty="0">
                <a:solidFill>
                  <a:schemeClr val="tx1"/>
                </a:solidFill>
                <a:latin typeface="Arial" panose="020B0604020202020204" pitchFamily="34" charset="0"/>
                <a:cs typeface="Arial" panose="020B0604020202020204" pitchFamily="34" charset="0"/>
              </a:rPr>
              <a:t>Hardware implementation</a:t>
            </a:r>
          </a:p>
          <a:p>
            <a:pPr lvl="0" algn="l">
              <a:buSzTx/>
              <a:buFont typeface="Wingdings" panose="05000000000000000000" charset="0"/>
            </a:pPr>
            <a:r>
              <a:rPr lang="en-US" altLang="zh-CN" sz="2400" b="1" dirty="0">
                <a:sym typeface="+mn-ea"/>
              </a:rPr>
              <a:t>4. Results</a:t>
            </a:r>
            <a:endParaRPr lang="en-US" altLang="zh-CN" sz="2400" b="1" dirty="0"/>
          </a:p>
          <a:p>
            <a:pPr lvl="0" algn="l">
              <a:buSzTx/>
              <a:buFont typeface="Wingdings" panose="05000000000000000000" charset="0"/>
            </a:pPr>
            <a:endParaRPr lang="en-US" altLang="zh-CN" sz="1600" dirty="0">
              <a:solidFill>
                <a:schemeClr val="tx1"/>
              </a:solidFill>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descr="systolic_pr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805" y="2164715"/>
            <a:ext cx="4112260" cy="2907665"/>
          </a:xfrm>
          <a:prstGeom prst="rect">
            <a:avLst/>
          </a:prstGeom>
        </p:spPr>
      </p:pic>
      <p:sp>
        <p:nvSpPr>
          <p:cNvPr id="2" name="Title 1"/>
          <p:cNvSpPr>
            <a:spLocks noGrp="1"/>
          </p:cNvSpPr>
          <p:nvPr>
            <p:ph type="title"/>
          </p:nvPr>
        </p:nvSpPr>
        <p:spPr/>
        <p:txBody>
          <a:bodyPr/>
          <a:lstStyle/>
          <a:p>
            <a:r>
              <a:rPr lang="en-US" dirty="0"/>
              <a:t>Linear Layers - MAC array design</a:t>
            </a:r>
          </a:p>
        </p:txBody>
      </p:sp>
      <p:sp>
        <p:nvSpPr>
          <p:cNvPr id="8" name="文本框 7"/>
          <p:cNvSpPr txBox="1"/>
          <p:nvPr/>
        </p:nvSpPr>
        <p:spPr>
          <a:xfrm>
            <a:off x="417195" y="1370330"/>
            <a:ext cx="3947160" cy="645160"/>
          </a:xfrm>
          <a:prstGeom prst="rect">
            <a:avLst/>
          </a:prstGeom>
          <a:noFill/>
        </p:spPr>
        <p:txBody>
          <a:bodyPr wrap="square" rtlCol="0">
            <a:spAutoFit/>
          </a:bodyPr>
          <a:lstStyle/>
          <a:p>
            <a:r>
              <a:rPr lang="en-US" altLang="zh-CN" b="1"/>
              <a:t>Method 1: 16 x 16 Systolic Array </a:t>
            </a:r>
            <a:endParaRPr lang="en-US" altLang="zh-CN"/>
          </a:p>
          <a:p>
            <a:r>
              <a:rPr lang="en-US" altLang="zh-CN" b="1">
                <a:solidFill>
                  <a:srgbClr val="C00000"/>
                </a:solidFill>
              </a:rPr>
              <a:t>fit for Matrix, bad for Matrix-Vector</a:t>
            </a:r>
          </a:p>
        </p:txBody>
      </p:sp>
      <p:sp>
        <p:nvSpPr>
          <p:cNvPr id="12" name="文本框 11"/>
          <p:cNvSpPr txBox="1"/>
          <p:nvPr/>
        </p:nvSpPr>
        <p:spPr>
          <a:xfrm>
            <a:off x="510540" y="1073150"/>
            <a:ext cx="6571615" cy="368300"/>
          </a:xfrm>
          <a:prstGeom prst="rect">
            <a:avLst/>
          </a:prstGeom>
          <a:noFill/>
        </p:spPr>
        <p:txBody>
          <a:bodyPr wrap="square" rtlCol="0">
            <a:spAutoFit/>
          </a:bodyPr>
          <a:lstStyle/>
          <a:p>
            <a:r>
              <a:rPr lang="en-US" altLang="zh-CN" b="1">
                <a:solidFill>
                  <a:schemeClr val="tx2"/>
                </a:solidFill>
              </a:rPr>
              <a:t>Goal: (256,256) * (256,1) MVM - Total MACs=256</a:t>
            </a:r>
            <a:r>
              <a:rPr lang="en-US" altLang="en-US" b="1">
                <a:solidFill>
                  <a:schemeClr val="tx2"/>
                </a:solidFill>
              </a:rPr>
              <a:t>×</a:t>
            </a:r>
            <a:r>
              <a:rPr lang="en-US" altLang="zh-CN" b="1">
                <a:solidFill>
                  <a:schemeClr val="tx2"/>
                </a:solidFill>
              </a:rPr>
              <a:t>256=65536</a:t>
            </a:r>
          </a:p>
        </p:txBody>
      </p:sp>
      <p:sp>
        <p:nvSpPr>
          <p:cNvPr id="15" name="文本框 14"/>
          <p:cNvSpPr txBox="1"/>
          <p:nvPr/>
        </p:nvSpPr>
        <p:spPr>
          <a:xfrm>
            <a:off x="417195" y="5382260"/>
            <a:ext cx="3552190" cy="922020"/>
          </a:xfrm>
          <a:prstGeom prst="rect">
            <a:avLst/>
          </a:prstGeom>
          <a:noFill/>
        </p:spPr>
        <p:txBody>
          <a:bodyPr wrap="square" rtlCol="0">
            <a:spAutoFit/>
          </a:bodyPr>
          <a:lstStyle/>
          <a:p>
            <a:pPr marL="285750" indent="-285750">
              <a:buFont typeface="Wingdings" panose="05000000000000000000" charset="0"/>
              <a:buChar char="Ø"/>
            </a:pPr>
            <a:r>
              <a:rPr lang="en-US" altLang="zh-CN">
                <a:sym typeface="+mn-ea"/>
              </a:rPr>
              <a:t>Min. latency In theory: </a:t>
            </a:r>
            <a:r>
              <a:rPr lang="en-US" altLang="zh-CN" b="1">
                <a:sym typeface="+mn-ea"/>
              </a:rPr>
              <a:t>256 ccs</a:t>
            </a:r>
          </a:p>
          <a:p>
            <a:pPr marL="285750" indent="-285750">
              <a:buFont typeface="Wingdings" panose="05000000000000000000" charset="0"/>
              <a:buChar char="Ø"/>
            </a:pPr>
            <a:r>
              <a:rPr lang="en-US" altLang="zh-CN">
                <a:sym typeface="+mn-ea"/>
              </a:rPr>
              <a:t>Bandwidth: </a:t>
            </a:r>
            <a:r>
              <a:rPr lang="en-US" altLang="zh-CN" b="1">
                <a:sym typeface="+mn-ea"/>
              </a:rPr>
              <a:t>256 w/cycle</a:t>
            </a:r>
          </a:p>
          <a:p>
            <a:r>
              <a:rPr lang="en-US" altLang="zh-CN">
                <a:sym typeface="+mn-ea"/>
              </a:rPr>
              <a:t> </a:t>
            </a:r>
            <a:r>
              <a:rPr lang="en-US" altLang="zh-CN" b="1">
                <a:solidFill>
                  <a:srgbClr val="C00000"/>
                </a:solidFill>
                <a:sym typeface="+mn-ea"/>
              </a:rPr>
              <a:t>(stuck when run implementation)   </a:t>
            </a:r>
            <a:endParaRPr lang="zh-CN" altLang="en-US"/>
          </a:p>
        </p:txBody>
      </p:sp>
      <p:sp>
        <p:nvSpPr>
          <p:cNvPr id="17" name="文本框 16"/>
          <p:cNvSpPr txBox="1"/>
          <p:nvPr/>
        </p:nvSpPr>
        <p:spPr>
          <a:xfrm>
            <a:off x="4453255" y="1366520"/>
            <a:ext cx="3025775" cy="645160"/>
          </a:xfrm>
          <a:prstGeom prst="rect">
            <a:avLst/>
          </a:prstGeom>
          <a:noFill/>
        </p:spPr>
        <p:txBody>
          <a:bodyPr wrap="square" rtlCol="0">
            <a:spAutoFit/>
          </a:bodyPr>
          <a:lstStyle/>
          <a:p>
            <a:r>
              <a:rPr lang="en-US" altLang="zh-CN" b="1"/>
              <a:t>Method 2: 64 x 1 MV Unit</a:t>
            </a:r>
          </a:p>
          <a:p>
            <a:r>
              <a:rPr lang="en-US" altLang="zh-CN" b="1">
                <a:solidFill>
                  <a:srgbClr val="C00000"/>
                </a:solidFill>
                <a:sym typeface="+mn-ea"/>
              </a:rPr>
              <a:t>fit for Matrix-Vector</a:t>
            </a:r>
            <a:endParaRPr lang="en-US" altLang="zh-CN" b="1">
              <a:solidFill>
                <a:srgbClr val="C00000"/>
              </a:solidFill>
            </a:endParaRPr>
          </a:p>
        </p:txBody>
      </p:sp>
      <p:sp>
        <p:nvSpPr>
          <p:cNvPr id="76" name="文本框 75"/>
          <p:cNvSpPr txBox="1"/>
          <p:nvPr/>
        </p:nvSpPr>
        <p:spPr>
          <a:xfrm>
            <a:off x="4364355" y="5367655"/>
            <a:ext cx="4190365" cy="985520"/>
          </a:xfrm>
          <a:prstGeom prst="rect">
            <a:avLst/>
          </a:prstGeom>
          <a:noFill/>
        </p:spPr>
        <p:txBody>
          <a:bodyPr wrap="square" rtlCol="0">
            <a:noAutofit/>
          </a:bodyPr>
          <a:lstStyle/>
          <a:p>
            <a:pPr marL="285750" indent="-285750">
              <a:buFont typeface="Wingdings" panose="05000000000000000000" charset="0"/>
              <a:buChar char="Ø"/>
            </a:pPr>
            <a:r>
              <a:rPr lang="en-US" altLang="zh-CN">
                <a:sym typeface="+mn-ea"/>
              </a:rPr>
              <a:t>Min. latency In theory: </a:t>
            </a:r>
            <a:r>
              <a:rPr lang="en-US" altLang="zh-CN" b="1">
                <a:sym typeface="+mn-ea"/>
              </a:rPr>
              <a:t>1024 ccs</a:t>
            </a:r>
          </a:p>
          <a:p>
            <a:pPr marL="285750" indent="-285750">
              <a:buFont typeface="Wingdings" panose="05000000000000000000" charset="0"/>
              <a:buChar char="Ø"/>
            </a:pPr>
            <a:r>
              <a:rPr lang="en-US" altLang="zh-CN">
                <a:sym typeface="+mn-ea"/>
              </a:rPr>
              <a:t>Bandwidth: </a:t>
            </a:r>
            <a:r>
              <a:rPr lang="en-US" altLang="zh-CN" b="1">
                <a:sym typeface="+mn-ea"/>
              </a:rPr>
              <a:t>64 w/cycle</a:t>
            </a:r>
            <a:endParaRPr lang="en-US" altLang="zh-CN" b="1">
              <a:solidFill>
                <a:srgbClr val="C00000"/>
              </a:solidFill>
              <a:sym typeface="+mn-ea"/>
            </a:endParaRPr>
          </a:p>
          <a:p>
            <a:r>
              <a:rPr lang="en-US" altLang="zh-CN" b="1">
                <a:solidFill>
                  <a:srgbClr val="C00000"/>
                </a:solidFill>
                <a:sym typeface="+mn-ea"/>
              </a:rPr>
              <a:t>(works well for mvm, limited Reusability )</a:t>
            </a:r>
          </a:p>
        </p:txBody>
      </p:sp>
      <p:cxnSp>
        <p:nvCxnSpPr>
          <p:cNvPr id="5" name="直接连接符 4"/>
          <p:cNvCxnSpPr/>
          <p:nvPr/>
        </p:nvCxnSpPr>
        <p:spPr>
          <a:xfrm>
            <a:off x="4207510" y="1478915"/>
            <a:ext cx="0" cy="4774565"/>
          </a:xfrm>
          <a:prstGeom prst="line">
            <a:avLst/>
          </a:prstGeom>
          <a:ln w="28575" cap="flat" cmpd="sng" algn="ctr">
            <a:solidFill>
              <a:schemeClr val="tx1"/>
            </a:solidFill>
            <a:prstDash val="dash"/>
          </a:ln>
        </p:spPr>
        <p:style>
          <a:lnRef idx="0">
            <a:schemeClr val="accent1"/>
          </a:lnRef>
          <a:fillRef idx="0">
            <a:srgbClr val="FFFFFF"/>
          </a:fillRef>
          <a:effectRef idx="0">
            <a:srgbClr val="FFFFFF"/>
          </a:effectRef>
          <a:fontRef idx="minor">
            <a:schemeClr val="tx1"/>
          </a:fontRef>
        </p:style>
      </p:cxnSp>
      <p:cxnSp>
        <p:nvCxnSpPr>
          <p:cNvPr id="7" name="直接连接符 6"/>
          <p:cNvCxnSpPr/>
          <p:nvPr/>
        </p:nvCxnSpPr>
        <p:spPr>
          <a:xfrm>
            <a:off x="8702040" y="1443990"/>
            <a:ext cx="0" cy="4862830"/>
          </a:xfrm>
          <a:prstGeom prst="line">
            <a:avLst/>
          </a:prstGeom>
          <a:ln w="28575" cap="flat" cmpd="sng" algn="ctr">
            <a:solidFill>
              <a:schemeClr val="tx1"/>
            </a:solidFill>
            <a:prstDash val="dash"/>
          </a:ln>
        </p:spPr>
        <p:style>
          <a:lnRef idx="0">
            <a:schemeClr val="accent1"/>
          </a:lnRef>
          <a:fillRef idx="0">
            <a:srgbClr val="FFFFFF"/>
          </a:fillRef>
          <a:effectRef idx="0">
            <a:srgbClr val="FFFFFF"/>
          </a:effectRef>
          <a:fontRef idx="minor">
            <a:schemeClr val="tx1"/>
          </a:fontRef>
        </p:style>
      </p:cxnSp>
      <p:sp>
        <p:nvSpPr>
          <p:cNvPr id="10" name="文本框 9"/>
          <p:cNvSpPr txBox="1"/>
          <p:nvPr/>
        </p:nvSpPr>
        <p:spPr>
          <a:xfrm>
            <a:off x="8849360" y="1398905"/>
            <a:ext cx="3025775" cy="645160"/>
          </a:xfrm>
          <a:prstGeom prst="rect">
            <a:avLst/>
          </a:prstGeom>
          <a:noFill/>
        </p:spPr>
        <p:txBody>
          <a:bodyPr wrap="square" rtlCol="0">
            <a:spAutoFit/>
          </a:bodyPr>
          <a:lstStyle/>
          <a:p>
            <a:r>
              <a:rPr lang="en-US" altLang="zh-CN" b="1"/>
              <a:t>Method 3:</a:t>
            </a:r>
            <a:r>
              <a:rPr lang="en-US" altLang="zh-CN"/>
              <a:t> </a:t>
            </a:r>
            <a:r>
              <a:rPr lang="en-US" altLang="zh-CN" b="1"/>
              <a:t>4 x 4 x 4 pipeline</a:t>
            </a:r>
          </a:p>
          <a:p>
            <a:pPr algn="l">
              <a:buClrTx/>
              <a:buSzTx/>
              <a:buFontTx/>
            </a:pPr>
            <a:r>
              <a:rPr lang="en-US" altLang="zh-CN" b="1">
                <a:solidFill>
                  <a:srgbClr val="FF0000"/>
                </a:solidFill>
                <a:sym typeface="+mn-ea"/>
              </a:rPr>
              <a:t>compromise solution</a:t>
            </a:r>
            <a:endParaRPr lang="en-US" altLang="zh-CN" b="1">
              <a:solidFill>
                <a:srgbClr val="C00000"/>
              </a:solidFill>
            </a:endParaRPr>
          </a:p>
        </p:txBody>
      </p:sp>
      <p:pic>
        <p:nvPicPr>
          <p:cNvPr id="11" name="图片 10"/>
          <p:cNvPicPr>
            <a:picLocks noChangeAspect="1"/>
          </p:cNvPicPr>
          <p:nvPr/>
        </p:nvPicPr>
        <p:blipFill>
          <a:blip r:embed="rId4"/>
          <a:srcRect r="52546"/>
          <a:stretch>
            <a:fillRect/>
          </a:stretch>
        </p:blipFill>
        <p:spPr>
          <a:xfrm>
            <a:off x="9110980" y="2192020"/>
            <a:ext cx="2363470" cy="1276350"/>
          </a:xfrm>
          <a:prstGeom prst="rect">
            <a:avLst/>
          </a:prstGeom>
        </p:spPr>
      </p:pic>
      <p:pic>
        <p:nvPicPr>
          <p:cNvPr id="13" name="图片 12"/>
          <p:cNvPicPr>
            <a:picLocks noChangeAspect="1"/>
          </p:cNvPicPr>
          <p:nvPr/>
        </p:nvPicPr>
        <p:blipFill>
          <a:blip r:embed="rId4"/>
          <a:srcRect l="52114"/>
          <a:stretch>
            <a:fillRect/>
          </a:stretch>
        </p:blipFill>
        <p:spPr>
          <a:xfrm>
            <a:off x="9110980" y="3543300"/>
            <a:ext cx="2362835" cy="1264285"/>
          </a:xfrm>
          <a:prstGeom prst="rect">
            <a:avLst/>
          </a:prstGeom>
        </p:spPr>
      </p:pic>
      <p:sp>
        <p:nvSpPr>
          <p:cNvPr id="16" name="文本框 15"/>
          <p:cNvSpPr txBox="1"/>
          <p:nvPr/>
        </p:nvSpPr>
        <p:spPr>
          <a:xfrm>
            <a:off x="325755" y="6306820"/>
            <a:ext cx="10564495" cy="521970"/>
          </a:xfrm>
          <a:prstGeom prst="rect">
            <a:avLst/>
          </a:prstGeom>
          <a:noFill/>
        </p:spPr>
        <p:txBody>
          <a:bodyPr wrap="square" rtlCol="0">
            <a:spAutoFit/>
          </a:bodyPr>
          <a:lstStyle/>
          <a:p>
            <a:r>
              <a:rPr lang="en-US" altLang="zh-CN" sz="1400" i="1">
                <a:solidFill>
                  <a:schemeClr val="bg1">
                    <a:lumMod val="50000"/>
                  </a:schemeClr>
                </a:solidFill>
              </a:rPr>
              <a:t>K. B. Theobald et al., "Landing CG on EARTH: A Case Study of Fine-Grained Multithreading on an Evolutionary Path," SC '00: Proceedings of the 2000 ACM/IEEE Conference on Supercomputing, Dallas, TX, USA, 2000, pp. 4-4, doi: 10.1109/SC.2000.10011.</a:t>
            </a:r>
          </a:p>
        </p:txBody>
      </p:sp>
      <p:sp>
        <p:nvSpPr>
          <p:cNvPr id="19" name="文本框 18"/>
          <p:cNvSpPr txBox="1"/>
          <p:nvPr/>
        </p:nvSpPr>
        <p:spPr>
          <a:xfrm>
            <a:off x="8711565" y="5229225"/>
            <a:ext cx="3530600" cy="985520"/>
          </a:xfrm>
          <a:prstGeom prst="rect">
            <a:avLst/>
          </a:prstGeom>
          <a:noFill/>
        </p:spPr>
        <p:txBody>
          <a:bodyPr wrap="square" rtlCol="0">
            <a:noAutofit/>
          </a:bodyPr>
          <a:lstStyle/>
          <a:p>
            <a:pPr marL="285750" indent="-285750">
              <a:buFont typeface="Wingdings" panose="05000000000000000000" charset="0"/>
              <a:buChar char="Ø"/>
            </a:pPr>
            <a:r>
              <a:rPr lang="en-US" altLang="zh-CN">
                <a:sym typeface="+mn-ea"/>
              </a:rPr>
              <a:t>Min. latency In theory: </a:t>
            </a:r>
            <a:r>
              <a:rPr lang="en-US" altLang="zh-CN" b="1">
                <a:sym typeface="+mn-ea"/>
              </a:rPr>
              <a:t>1024 ccs</a:t>
            </a:r>
          </a:p>
          <a:p>
            <a:pPr marL="285750" indent="-285750">
              <a:buFont typeface="Wingdings" panose="05000000000000000000" charset="0"/>
              <a:buChar char="Ø"/>
            </a:pPr>
            <a:r>
              <a:rPr lang="en-US" altLang="zh-CN">
                <a:sym typeface="+mn-ea"/>
              </a:rPr>
              <a:t>Bandwidth: </a:t>
            </a:r>
            <a:r>
              <a:rPr lang="en-US" altLang="zh-CN" b="1">
                <a:sym typeface="+mn-ea"/>
              </a:rPr>
              <a:t>64 w/cycle</a:t>
            </a:r>
            <a:endParaRPr lang="en-US" altLang="zh-CN" b="1">
              <a:solidFill>
                <a:srgbClr val="C00000"/>
              </a:solidFill>
              <a:sym typeface="+mn-ea"/>
            </a:endParaRPr>
          </a:p>
          <a:p>
            <a:endParaRPr lang="en-US" altLang="zh-CN" b="1">
              <a:solidFill>
                <a:srgbClr val="C00000"/>
              </a:solidFill>
              <a:sym typeface="+mn-ea"/>
            </a:endParaRPr>
          </a:p>
        </p:txBody>
      </p:sp>
      <p:pic>
        <p:nvPicPr>
          <p:cNvPr id="18" name="图片 17" descr="gemv_pe_array_pre"/>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42130" y="1975485"/>
            <a:ext cx="4242435" cy="342773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Linear Layers - MAC array design</a:t>
            </a:r>
            <a:endParaRPr lang="en-US" dirty="0"/>
          </a:p>
        </p:txBody>
      </p:sp>
      <p:sp>
        <p:nvSpPr>
          <p:cNvPr id="5" name="文本框 4"/>
          <p:cNvSpPr txBox="1"/>
          <p:nvPr/>
        </p:nvSpPr>
        <p:spPr>
          <a:xfrm>
            <a:off x="510540" y="1122680"/>
            <a:ext cx="4455795" cy="377825"/>
          </a:xfrm>
          <a:prstGeom prst="rect">
            <a:avLst/>
          </a:prstGeom>
          <a:noFill/>
        </p:spPr>
        <p:txBody>
          <a:bodyPr wrap="square" rtlCol="0">
            <a:noAutofit/>
          </a:bodyPr>
          <a:lstStyle/>
          <a:p>
            <a:r>
              <a:rPr lang="en-US" altLang="zh-CN">
                <a:sym typeface="+mn-ea"/>
              </a:rPr>
              <a:t>Method 3</a:t>
            </a:r>
            <a:r>
              <a:rPr lang="en-US" altLang="zh-CN"/>
              <a:t>: small parallel array (4*4) + pipeline</a:t>
            </a:r>
          </a:p>
        </p:txBody>
      </p:sp>
      <p:sp>
        <p:nvSpPr>
          <p:cNvPr id="4" name="矩形 3"/>
          <p:cNvSpPr/>
          <p:nvPr/>
        </p:nvSpPr>
        <p:spPr>
          <a:xfrm>
            <a:off x="1567180" y="1543050"/>
            <a:ext cx="617855" cy="568325"/>
          </a:xfrm>
          <a:prstGeom prst="rect">
            <a:avLst/>
          </a:prstGeom>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7" name="矩形 6"/>
          <p:cNvSpPr/>
          <p:nvPr/>
        </p:nvSpPr>
        <p:spPr>
          <a:xfrm>
            <a:off x="2638425" y="1543050"/>
            <a:ext cx="617855" cy="568325"/>
          </a:xfrm>
          <a:prstGeom prst="rect">
            <a:avLst/>
          </a:prstGeom>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8" name="矩形 7"/>
          <p:cNvSpPr/>
          <p:nvPr/>
        </p:nvSpPr>
        <p:spPr>
          <a:xfrm>
            <a:off x="3843020" y="1543050"/>
            <a:ext cx="617855" cy="568325"/>
          </a:xfrm>
          <a:prstGeom prst="rect">
            <a:avLst/>
          </a:prstGeom>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9" name="矩形 8"/>
          <p:cNvSpPr/>
          <p:nvPr/>
        </p:nvSpPr>
        <p:spPr>
          <a:xfrm>
            <a:off x="5047615" y="1543050"/>
            <a:ext cx="617855" cy="568325"/>
          </a:xfrm>
          <a:prstGeom prst="rect">
            <a:avLst/>
          </a:prstGeom>
        </p:spPr>
        <p:style>
          <a:lnRef idx="1">
            <a:schemeClr val="accent1"/>
          </a:lnRef>
          <a:fillRef idx="3">
            <a:schemeClr val="accent1"/>
          </a:fillRef>
          <a:effectRef idx="2">
            <a:schemeClr val="accent1"/>
          </a:effectRef>
          <a:fontRef idx="minor">
            <a:schemeClr val="lt1"/>
          </a:fontRef>
        </p:style>
        <p:txBody>
          <a:bodyPr/>
          <a:lstStyle/>
          <a:p>
            <a:endParaRPr lang="zh-CN" altLang="en-US"/>
          </a:p>
        </p:txBody>
      </p:sp>
      <p:graphicFrame>
        <p:nvGraphicFramePr>
          <p:cNvPr id="10" name="表格 9"/>
          <p:cNvGraphicFramePr/>
          <p:nvPr>
            <p:custDataLst>
              <p:tags r:id="rId1"/>
            </p:custDataLst>
          </p:nvPr>
        </p:nvGraphicFramePr>
        <p:xfrm>
          <a:off x="308610" y="2438400"/>
          <a:ext cx="5895975" cy="3126740"/>
        </p:xfrm>
        <a:graphic>
          <a:graphicData uri="http://schemas.openxmlformats.org/drawingml/2006/table">
            <a:tbl>
              <a:tblPr/>
              <a:tblGrid>
                <a:gridCol w="779780">
                  <a:extLst>
                    <a:ext uri="{9D8B030D-6E8A-4147-A177-3AD203B41FA5}">
                      <a16:colId xmlns:a16="http://schemas.microsoft.com/office/drawing/2014/main" val="20000"/>
                    </a:ext>
                  </a:extLst>
                </a:gridCol>
                <a:gridCol w="1042670">
                  <a:extLst>
                    <a:ext uri="{9D8B030D-6E8A-4147-A177-3AD203B41FA5}">
                      <a16:colId xmlns:a16="http://schemas.microsoft.com/office/drawing/2014/main" val="20001"/>
                    </a:ext>
                  </a:extLst>
                </a:gridCol>
                <a:gridCol w="1179195">
                  <a:extLst>
                    <a:ext uri="{9D8B030D-6E8A-4147-A177-3AD203B41FA5}">
                      <a16:colId xmlns:a16="http://schemas.microsoft.com/office/drawing/2014/main" val="20002"/>
                    </a:ext>
                  </a:extLst>
                </a:gridCol>
                <a:gridCol w="1298575">
                  <a:extLst>
                    <a:ext uri="{9D8B030D-6E8A-4147-A177-3AD203B41FA5}">
                      <a16:colId xmlns:a16="http://schemas.microsoft.com/office/drawing/2014/main" val="20003"/>
                    </a:ext>
                  </a:extLst>
                </a:gridCol>
                <a:gridCol w="1595755">
                  <a:extLst>
                    <a:ext uri="{9D8B030D-6E8A-4147-A177-3AD203B41FA5}">
                      <a16:colId xmlns:a16="http://schemas.microsoft.com/office/drawing/2014/main" val="20004"/>
                    </a:ext>
                  </a:extLst>
                </a:gridCol>
              </a:tblGrid>
              <a:tr h="244475">
                <a:tc>
                  <a:txBody>
                    <a:bodyPr/>
                    <a:lstStyle/>
                    <a:p>
                      <a:pPr algn="l" fontAlgn="ctr"/>
                      <a:endParaRPr sz="1400" b="0" i="0">
                        <a:solidFill>
                          <a:srgbClr val="000000"/>
                        </a:solidFill>
                        <a:latin typeface="Arial" panose="020B0604020202020204" pitchFamily="34" charset="0"/>
                        <a:ea typeface="宋体" panose="02010600030101010101" pitchFamily="2" charset="-122"/>
                        <a:cs typeface="Arial" panose="020B0604020202020204" pitchFamily="34" charset="0"/>
                      </a:endParaRP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ARRAY1</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ARRAY2</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ARRAY3</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ARRAY4</a:t>
                      </a:r>
                    </a:p>
                  </a:txBody>
                  <a:tcPr marL="7937" marR="7937" marT="7937" marB="0" anchor="ctr">
                    <a:lnL>
                      <a:noFill/>
                    </a:lnL>
                    <a:lnR>
                      <a:noFill/>
                    </a:lnR>
                    <a:lnT>
                      <a:noFill/>
                    </a:lnT>
                    <a:lnB>
                      <a:noFill/>
                    </a:lnB>
                    <a:noFill/>
                  </a:tcPr>
                </a:tc>
                <a:extLst>
                  <a:ext uri="{0D108BD9-81ED-4DB2-BD59-A6C34878D82A}">
                    <a16:rowId xmlns:a16="http://schemas.microsoft.com/office/drawing/2014/main" val="10000"/>
                  </a:ext>
                </a:extLst>
              </a:tr>
              <a:tr h="244475">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cycle1</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B1</a:t>
                      </a:r>
                    </a:p>
                  </a:txBody>
                  <a:tcPr marL="7937" marR="7937" marT="7937" marB="0" anchor="ctr">
                    <a:lnL>
                      <a:noFill/>
                    </a:lnL>
                    <a:lnR>
                      <a:noFill/>
                    </a:lnR>
                    <a:lnT>
                      <a:noFill/>
                    </a:lnT>
                    <a:lnB>
                      <a:noFill/>
                    </a:lnB>
                    <a:noFill/>
                  </a:tcPr>
                </a:tc>
                <a:tc>
                  <a:txBody>
                    <a:bodyPr/>
                    <a:lstStyle/>
                    <a:p>
                      <a:pPr algn="l" fontAlgn="ctr"/>
                      <a:endParaRPr sz="1400" b="0" i="0">
                        <a:solidFill>
                          <a:srgbClr val="000000"/>
                        </a:solidFill>
                        <a:latin typeface="Arial" panose="020B0604020202020204" pitchFamily="34" charset="0"/>
                        <a:ea typeface="宋体" panose="02010600030101010101" pitchFamily="2" charset="-122"/>
                        <a:cs typeface="Arial" panose="020B0604020202020204" pitchFamily="34" charset="0"/>
                      </a:endParaRPr>
                    </a:p>
                  </a:txBody>
                  <a:tcPr marL="7937" marR="7937" marT="7937" marB="0" anchor="ctr">
                    <a:lnL>
                      <a:noFill/>
                    </a:lnL>
                    <a:lnR>
                      <a:noFill/>
                    </a:lnR>
                    <a:lnT>
                      <a:noFill/>
                    </a:lnT>
                    <a:lnB>
                      <a:noFill/>
                    </a:lnB>
                    <a:noFill/>
                  </a:tcPr>
                </a:tc>
                <a:tc>
                  <a:txBody>
                    <a:bodyPr/>
                    <a:lstStyle/>
                    <a:p>
                      <a:pPr algn="l" fontAlgn="ctr"/>
                      <a:endParaRPr sz="1400" b="0" i="0">
                        <a:solidFill>
                          <a:srgbClr val="000000"/>
                        </a:solidFill>
                        <a:latin typeface="Arial" panose="020B0604020202020204" pitchFamily="34" charset="0"/>
                        <a:ea typeface="宋体" panose="02010600030101010101" pitchFamily="2" charset="-122"/>
                        <a:cs typeface="Arial" panose="020B0604020202020204" pitchFamily="34" charset="0"/>
                      </a:endParaRPr>
                    </a:p>
                  </a:txBody>
                  <a:tcPr marL="7937" marR="7937" marT="7937" marB="0" anchor="ctr">
                    <a:lnL>
                      <a:noFill/>
                    </a:lnL>
                    <a:lnR>
                      <a:noFill/>
                    </a:lnR>
                    <a:lnT>
                      <a:noFill/>
                    </a:lnT>
                    <a:lnB>
                      <a:noFill/>
                    </a:lnB>
                    <a:noFill/>
                  </a:tcPr>
                </a:tc>
                <a:tc>
                  <a:txBody>
                    <a:bodyPr/>
                    <a:lstStyle/>
                    <a:p>
                      <a:pPr algn="l" fontAlgn="ctr"/>
                      <a:endParaRPr sz="1400" b="0" i="0">
                        <a:solidFill>
                          <a:srgbClr val="000000"/>
                        </a:solidFill>
                        <a:latin typeface="Arial" panose="020B0604020202020204" pitchFamily="34" charset="0"/>
                        <a:ea typeface="宋体" panose="02010600030101010101" pitchFamily="2" charset="-122"/>
                        <a:cs typeface="Arial" panose="020B0604020202020204" pitchFamily="34" charset="0"/>
                      </a:endParaRPr>
                    </a:p>
                  </a:txBody>
                  <a:tcPr marL="7937" marR="7937" marT="7937" marB="0" anchor="ctr">
                    <a:lnL>
                      <a:noFill/>
                    </a:lnL>
                    <a:lnR>
                      <a:noFill/>
                    </a:lnR>
                    <a:lnT>
                      <a:noFill/>
                    </a:lnT>
                    <a:lnB>
                      <a:noFill/>
                    </a:lnB>
                    <a:noFill/>
                  </a:tcPr>
                </a:tc>
                <a:extLst>
                  <a:ext uri="{0D108BD9-81ED-4DB2-BD59-A6C34878D82A}">
                    <a16:rowId xmlns:a16="http://schemas.microsoft.com/office/drawing/2014/main" val="10001"/>
                  </a:ext>
                </a:extLst>
              </a:tr>
              <a:tr h="243840">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cycle2</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B5</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B2+B1</a:t>
                      </a:r>
                    </a:p>
                  </a:txBody>
                  <a:tcPr marL="7937" marR="7937" marT="7937" marB="0" anchor="ctr">
                    <a:lnL>
                      <a:noFill/>
                    </a:lnL>
                    <a:lnR>
                      <a:noFill/>
                    </a:lnR>
                    <a:lnT>
                      <a:noFill/>
                    </a:lnT>
                    <a:lnB>
                      <a:noFill/>
                    </a:lnB>
                    <a:noFill/>
                  </a:tcPr>
                </a:tc>
                <a:tc>
                  <a:txBody>
                    <a:bodyPr/>
                    <a:lstStyle/>
                    <a:p>
                      <a:pPr algn="l" fontAlgn="ctr"/>
                      <a:endParaRPr sz="1400" b="0" i="0">
                        <a:solidFill>
                          <a:srgbClr val="000000"/>
                        </a:solidFill>
                        <a:latin typeface="Arial" panose="020B0604020202020204" pitchFamily="34" charset="0"/>
                        <a:ea typeface="宋体" panose="02010600030101010101" pitchFamily="2" charset="-122"/>
                        <a:cs typeface="Arial" panose="020B0604020202020204" pitchFamily="34" charset="0"/>
                      </a:endParaRPr>
                    </a:p>
                  </a:txBody>
                  <a:tcPr marL="7937" marR="7937" marT="7937" marB="0" anchor="ctr">
                    <a:lnL>
                      <a:noFill/>
                    </a:lnL>
                    <a:lnR>
                      <a:noFill/>
                    </a:lnR>
                    <a:lnT>
                      <a:noFill/>
                    </a:lnT>
                    <a:lnB>
                      <a:noFill/>
                    </a:lnB>
                    <a:noFill/>
                  </a:tcPr>
                </a:tc>
                <a:tc>
                  <a:txBody>
                    <a:bodyPr/>
                    <a:lstStyle/>
                    <a:p>
                      <a:pPr algn="l" fontAlgn="ctr"/>
                      <a:endParaRPr sz="1400" b="0" i="0">
                        <a:solidFill>
                          <a:srgbClr val="000000"/>
                        </a:solidFill>
                        <a:latin typeface="Arial" panose="020B0604020202020204" pitchFamily="34" charset="0"/>
                        <a:ea typeface="宋体" panose="02010600030101010101" pitchFamily="2" charset="-122"/>
                        <a:cs typeface="Arial" panose="020B0604020202020204" pitchFamily="34" charset="0"/>
                      </a:endParaRPr>
                    </a:p>
                  </a:txBody>
                  <a:tcPr marL="7937" marR="7937" marT="7937" marB="0" anchor="ctr">
                    <a:lnL>
                      <a:noFill/>
                    </a:lnL>
                    <a:lnR>
                      <a:noFill/>
                    </a:lnR>
                    <a:lnT>
                      <a:noFill/>
                    </a:lnT>
                    <a:lnB>
                      <a:noFill/>
                    </a:lnB>
                    <a:noFill/>
                  </a:tcPr>
                </a:tc>
                <a:extLst>
                  <a:ext uri="{0D108BD9-81ED-4DB2-BD59-A6C34878D82A}">
                    <a16:rowId xmlns:a16="http://schemas.microsoft.com/office/drawing/2014/main" val="10002"/>
                  </a:ext>
                </a:extLst>
              </a:tr>
              <a:tr h="244475">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cycle3</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B9</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B6+B5</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B3+B2+B1</a:t>
                      </a:r>
                    </a:p>
                  </a:txBody>
                  <a:tcPr marL="7937" marR="7937" marT="7937" marB="0" anchor="ctr">
                    <a:lnL>
                      <a:noFill/>
                    </a:lnL>
                    <a:lnR>
                      <a:noFill/>
                    </a:lnR>
                    <a:lnT>
                      <a:noFill/>
                    </a:lnT>
                    <a:lnB>
                      <a:noFill/>
                    </a:lnB>
                    <a:noFill/>
                  </a:tcPr>
                </a:tc>
                <a:tc>
                  <a:txBody>
                    <a:bodyPr/>
                    <a:lstStyle/>
                    <a:p>
                      <a:pPr algn="l" fontAlgn="ctr"/>
                      <a:endParaRPr sz="1400" b="0" i="0">
                        <a:solidFill>
                          <a:srgbClr val="000000"/>
                        </a:solidFill>
                        <a:latin typeface="Arial" panose="020B0604020202020204" pitchFamily="34" charset="0"/>
                        <a:ea typeface="宋体" panose="02010600030101010101" pitchFamily="2" charset="-122"/>
                        <a:cs typeface="Arial" panose="020B0604020202020204" pitchFamily="34" charset="0"/>
                      </a:endParaRPr>
                    </a:p>
                  </a:txBody>
                  <a:tcPr marL="7937" marR="7937" marT="7937" marB="0" anchor="ctr">
                    <a:lnL>
                      <a:noFill/>
                    </a:lnL>
                    <a:lnR>
                      <a:noFill/>
                    </a:lnR>
                    <a:lnT>
                      <a:noFill/>
                    </a:lnT>
                    <a:lnB>
                      <a:noFill/>
                    </a:lnB>
                    <a:noFill/>
                  </a:tcPr>
                </a:tc>
                <a:extLst>
                  <a:ext uri="{0D108BD9-81ED-4DB2-BD59-A6C34878D82A}">
                    <a16:rowId xmlns:a16="http://schemas.microsoft.com/office/drawing/2014/main" val="10003"/>
                  </a:ext>
                </a:extLst>
              </a:tr>
              <a:tr h="244475">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cycle4</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B13</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B10+B9</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B7+B6+B5</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B4+B3+B2+B1</a:t>
                      </a:r>
                    </a:p>
                  </a:txBody>
                  <a:tcPr marL="7937" marR="7937" marT="7937" marB="0" anchor="ctr">
                    <a:lnL>
                      <a:noFill/>
                    </a:lnL>
                    <a:lnR>
                      <a:noFill/>
                    </a:lnR>
                    <a:lnT>
                      <a:noFill/>
                    </a:lnT>
                    <a:lnB>
                      <a:noFill/>
                    </a:lnB>
                    <a:noFill/>
                  </a:tcPr>
                </a:tc>
                <a:extLst>
                  <a:ext uri="{0D108BD9-81ED-4DB2-BD59-A6C34878D82A}">
                    <a16:rowId xmlns:a16="http://schemas.microsoft.com/office/drawing/2014/main" val="10004"/>
                  </a:ext>
                </a:extLst>
              </a:tr>
              <a:tr h="244475">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cycle5</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B17</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B14+B13</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B11+B10+B9</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B8+B7+B6+B5</a:t>
                      </a:r>
                    </a:p>
                  </a:txBody>
                  <a:tcPr marL="7937" marR="7937" marT="7937" marB="0" anchor="ctr">
                    <a:lnL>
                      <a:noFill/>
                    </a:lnL>
                    <a:lnR>
                      <a:noFill/>
                    </a:lnR>
                    <a:lnT>
                      <a:noFill/>
                    </a:lnT>
                    <a:lnB>
                      <a:noFill/>
                    </a:lnB>
                    <a:noFill/>
                  </a:tcPr>
                </a:tc>
                <a:extLst>
                  <a:ext uri="{0D108BD9-81ED-4DB2-BD59-A6C34878D82A}">
                    <a16:rowId xmlns:a16="http://schemas.microsoft.com/office/drawing/2014/main" val="10005"/>
                  </a:ext>
                </a:extLst>
              </a:tr>
              <a:tr h="244475">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cycle6</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B15+B14+B13</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B12+B11+B10+B9</a:t>
                      </a:r>
                    </a:p>
                  </a:txBody>
                  <a:tcPr marL="7937" marR="7937" marT="7937" marB="0" anchor="ctr">
                    <a:lnL>
                      <a:noFill/>
                    </a:lnL>
                    <a:lnR>
                      <a:noFill/>
                    </a:lnR>
                    <a:lnT>
                      <a:noFill/>
                    </a:lnT>
                    <a:lnB>
                      <a:noFill/>
                    </a:lnB>
                    <a:noFill/>
                  </a:tcPr>
                </a:tc>
                <a:extLst>
                  <a:ext uri="{0D108BD9-81ED-4DB2-BD59-A6C34878D82A}">
                    <a16:rowId xmlns:a16="http://schemas.microsoft.com/office/drawing/2014/main" val="10006"/>
                  </a:ext>
                </a:extLst>
              </a:tr>
              <a:tr h="244475">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cycle7</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B16+B15+B14+B13</a:t>
                      </a:r>
                    </a:p>
                  </a:txBody>
                  <a:tcPr marL="7937" marR="7937" marT="7937" marB="0" anchor="ctr">
                    <a:lnL>
                      <a:noFill/>
                    </a:lnL>
                    <a:lnR>
                      <a:noFill/>
                    </a:lnR>
                    <a:lnT>
                      <a:noFill/>
                    </a:lnT>
                    <a:lnB>
                      <a:noFill/>
                    </a:lnB>
                    <a:noFill/>
                  </a:tcPr>
                </a:tc>
                <a:extLst>
                  <a:ext uri="{0D108BD9-81ED-4DB2-BD59-A6C34878D82A}">
                    <a16:rowId xmlns:a16="http://schemas.microsoft.com/office/drawing/2014/main" val="10007"/>
                  </a:ext>
                </a:extLst>
              </a:tr>
              <a:tr h="243840">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extLst>
                  <a:ext uri="{0D108BD9-81ED-4DB2-BD59-A6C34878D82A}">
                    <a16:rowId xmlns:a16="http://schemas.microsoft.com/office/drawing/2014/main" val="10008"/>
                  </a:ext>
                </a:extLst>
              </a:tr>
              <a:tr h="244475">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extLst>
                  <a:ext uri="{0D108BD9-81ED-4DB2-BD59-A6C34878D82A}">
                    <a16:rowId xmlns:a16="http://schemas.microsoft.com/office/drawing/2014/main" val="10009"/>
                  </a:ext>
                </a:extLst>
              </a:tr>
              <a:tr h="244475">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extLst>
                  <a:ext uri="{0D108BD9-81ED-4DB2-BD59-A6C34878D82A}">
                    <a16:rowId xmlns:a16="http://schemas.microsoft.com/office/drawing/2014/main" val="10010"/>
                  </a:ext>
                </a:extLst>
              </a:tr>
              <a:tr h="438785">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cycle19</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a:t>
                      </a:r>
                    </a:p>
                  </a:txBody>
                  <a:tcPr marL="7937" marR="7937" marT="7937" marB="0" anchor="ctr">
                    <a:lnL>
                      <a:noFill/>
                    </a:lnL>
                    <a:lnR>
                      <a:noFill/>
                    </a:lnR>
                    <a:lnT>
                      <a:noFill/>
                    </a:lnT>
                    <a:lnB>
                      <a:noFill/>
                    </a:lnB>
                    <a:noFill/>
                  </a:tcPr>
                </a:tc>
                <a:tc>
                  <a:txBody>
                    <a:bodyPr/>
                    <a:lstStyle/>
                    <a:p>
                      <a:pPr algn="l" fontAlgn="ctr"/>
                      <a:r>
                        <a:rPr lang="en-US" altLang="zh-CN" sz="1400" b="0" i="0">
                          <a:solidFill>
                            <a:srgbClr val="000000"/>
                          </a:solidFill>
                          <a:latin typeface="Arial" panose="020B0604020202020204" pitchFamily="34" charset="0"/>
                          <a:ea typeface="宋体" panose="02010600030101010101" pitchFamily="2" charset="-122"/>
                          <a:cs typeface="Arial" panose="020B0604020202020204" pitchFamily="34" charset="0"/>
                        </a:rPr>
                        <a:t>B64+B63+B62+B61</a:t>
                      </a:r>
                    </a:p>
                  </a:txBody>
                  <a:tcPr marL="7937" marR="7937" marT="7937" marB="0" anchor="ctr">
                    <a:lnL>
                      <a:noFill/>
                    </a:lnL>
                    <a:lnR>
                      <a:noFill/>
                    </a:lnR>
                    <a:lnT>
                      <a:noFill/>
                    </a:lnT>
                    <a:lnB>
                      <a:noFill/>
                    </a:lnB>
                    <a:noFill/>
                  </a:tcPr>
                </a:tc>
                <a:extLst>
                  <a:ext uri="{0D108BD9-81ED-4DB2-BD59-A6C34878D82A}">
                    <a16:rowId xmlns:a16="http://schemas.microsoft.com/office/drawing/2014/main" val="10011"/>
                  </a:ext>
                </a:extLst>
              </a:tr>
            </a:tbl>
          </a:graphicData>
        </a:graphic>
      </p:graphicFrame>
      <p:sp>
        <p:nvSpPr>
          <p:cNvPr id="12" name="圆角矩形 11"/>
          <p:cNvSpPr/>
          <p:nvPr/>
        </p:nvSpPr>
        <p:spPr>
          <a:xfrm>
            <a:off x="308610" y="5147945"/>
            <a:ext cx="5895975" cy="417195"/>
          </a:xfrm>
          <a:prstGeom prst="roundRect">
            <a:avLst/>
          </a:prstGeom>
          <a:ln>
            <a:solidFill>
              <a:srgbClr val="C00000"/>
            </a:solidFill>
          </a:ln>
        </p:spPr>
        <p:style>
          <a:lnRef idx="3">
            <a:schemeClr val="accent1"/>
          </a:lnRef>
          <a:fillRef idx="0">
            <a:srgbClr val="FFFFFF"/>
          </a:fillRef>
          <a:effectRef idx="0">
            <a:srgbClr val="FFFFFF"/>
          </a:effectRef>
          <a:fontRef idx="minor">
            <a:schemeClr val="tx1"/>
          </a:fontRef>
        </p:style>
        <p:txBody>
          <a:bodyPr/>
          <a:lstStyle/>
          <a:p>
            <a:endParaRPr lang="zh-CN" altLang="en-US"/>
          </a:p>
        </p:txBody>
      </p:sp>
      <p:sp>
        <p:nvSpPr>
          <p:cNvPr id="13" name="文本框 12"/>
          <p:cNvSpPr txBox="1"/>
          <p:nvPr/>
        </p:nvSpPr>
        <p:spPr>
          <a:xfrm>
            <a:off x="269240" y="5721985"/>
            <a:ext cx="5679440" cy="645160"/>
          </a:xfrm>
          <a:prstGeom prst="rect">
            <a:avLst/>
          </a:prstGeom>
          <a:noFill/>
        </p:spPr>
        <p:txBody>
          <a:bodyPr wrap="square" rtlCol="0">
            <a:spAutoFit/>
          </a:bodyPr>
          <a:lstStyle/>
          <a:p>
            <a:r>
              <a:rPr lang="en-US" altLang="zh-CN"/>
              <a:t>at cycle 19 first 4 rows of (256,256) is completed!</a:t>
            </a:r>
          </a:p>
          <a:p>
            <a:r>
              <a:rPr lang="en-US" altLang="zh-CN">
                <a:sym typeface="+mn-ea"/>
              </a:rPr>
              <a:t>at cycle 22 first tile compete, generating first 4 output! </a:t>
            </a:r>
            <a:endParaRPr lang="en-US" altLang="zh-CN"/>
          </a:p>
        </p:txBody>
      </p:sp>
      <p:cxnSp>
        <p:nvCxnSpPr>
          <p:cNvPr id="14" name="直接箭头连接符 13"/>
          <p:cNvCxnSpPr/>
          <p:nvPr/>
        </p:nvCxnSpPr>
        <p:spPr>
          <a:xfrm>
            <a:off x="5948680" y="3545840"/>
            <a:ext cx="47434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直接箭头连接符 14"/>
          <p:cNvCxnSpPr/>
          <p:nvPr/>
        </p:nvCxnSpPr>
        <p:spPr>
          <a:xfrm>
            <a:off x="5948680" y="3799840"/>
            <a:ext cx="47434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 name="直接箭头连接符 15"/>
          <p:cNvCxnSpPr/>
          <p:nvPr/>
        </p:nvCxnSpPr>
        <p:spPr>
          <a:xfrm>
            <a:off x="6068695" y="4033520"/>
            <a:ext cx="44894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7" name="直接箭头连接符 16"/>
          <p:cNvCxnSpPr/>
          <p:nvPr/>
        </p:nvCxnSpPr>
        <p:spPr>
          <a:xfrm>
            <a:off x="6204585" y="4307840"/>
            <a:ext cx="33401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直接箭头连接符 17"/>
          <p:cNvCxnSpPr/>
          <p:nvPr/>
        </p:nvCxnSpPr>
        <p:spPr>
          <a:xfrm flipV="1">
            <a:off x="6204585" y="4921885"/>
            <a:ext cx="334010" cy="33718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2" name="文本框 71"/>
          <p:cNvSpPr txBox="1"/>
          <p:nvPr/>
        </p:nvSpPr>
        <p:spPr>
          <a:xfrm>
            <a:off x="6538595" y="3344545"/>
            <a:ext cx="1581785" cy="368300"/>
          </a:xfrm>
          <a:prstGeom prst="rect">
            <a:avLst/>
          </a:prstGeom>
          <a:noFill/>
        </p:spPr>
        <p:txBody>
          <a:bodyPr wrap="square" rtlCol="0">
            <a:spAutoFit/>
          </a:bodyPr>
          <a:lstStyle/>
          <a:p>
            <a:r>
              <a:rPr lang="en-US" altLang="zh-CN" b="1"/>
              <a:t>reduction unit</a:t>
            </a:r>
          </a:p>
        </p:txBody>
      </p:sp>
      <p:sp>
        <p:nvSpPr>
          <p:cNvPr id="73" name="文本框 72"/>
          <p:cNvSpPr txBox="1"/>
          <p:nvPr/>
        </p:nvSpPr>
        <p:spPr>
          <a:xfrm>
            <a:off x="6757670" y="4701540"/>
            <a:ext cx="1362710" cy="368300"/>
          </a:xfrm>
          <a:prstGeom prst="rect">
            <a:avLst/>
          </a:prstGeom>
          <a:noFill/>
        </p:spPr>
        <p:txBody>
          <a:bodyPr wrap="square" rtlCol="0">
            <a:spAutoFit/>
          </a:bodyPr>
          <a:lstStyle/>
          <a:p>
            <a:r>
              <a:rPr lang="en-US" altLang="zh-CN"/>
              <a:t>cost 3 cycles</a:t>
            </a:r>
          </a:p>
        </p:txBody>
      </p:sp>
      <p:sp>
        <p:nvSpPr>
          <p:cNvPr id="74" name="文本框 73"/>
          <p:cNvSpPr txBox="1"/>
          <p:nvPr/>
        </p:nvSpPr>
        <p:spPr>
          <a:xfrm>
            <a:off x="6638925" y="5147945"/>
            <a:ext cx="1189990" cy="1145540"/>
          </a:xfrm>
          <a:prstGeom prst="rect">
            <a:avLst/>
          </a:prstGeom>
          <a:noFill/>
        </p:spPr>
        <p:txBody>
          <a:bodyPr wrap="square" rtlCol="0">
            <a:noAutofit/>
          </a:bodyPr>
          <a:lstStyle/>
          <a:p>
            <a:r>
              <a:rPr lang="en-US" altLang="zh-CN"/>
              <a:t>cycle19</a:t>
            </a:r>
          </a:p>
          <a:p>
            <a:r>
              <a:rPr lang="en-US" altLang="zh-CN">
                <a:sym typeface="+mn-ea"/>
              </a:rPr>
              <a:t>cycle</a:t>
            </a:r>
            <a:r>
              <a:rPr lang="en-US" altLang="zh-CN"/>
              <a:t>20</a:t>
            </a:r>
          </a:p>
          <a:p>
            <a:r>
              <a:rPr lang="en-US" altLang="zh-CN">
                <a:sym typeface="+mn-ea"/>
              </a:rPr>
              <a:t>cycle21</a:t>
            </a:r>
            <a:endParaRPr lang="en-US" altLang="zh-CN"/>
          </a:p>
          <a:p>
            <a:r>
              <a:rPr lang="en-US" altLang="zh-CN">
                <a:sym typeface="+mn-ea"/>
              </a:rPr>
              <a:t>cycle</a:t>
            </a:r>
            <a:r>
              <a:rPr lang="en-US" altLang="zh-CN"/>
              <a:t>22</a:t>
            </a:r>
          </a:p>
        </p:txBody>
      </p:sp>
      <p:sp>
        <p:nvSpPr>
          <p:cNvPr id="76" name="圆角矩形 75"/>
          <p:cNvSpPr/>
          <p:nvPr/>
        </p:nvSpPr>
        <p:spPr>
          <a:xfrm>
            <a:off x="6595745" y="6039485"/>
            <a:ext cx="975995" cy="327660"/>
          </a:xfrm>
          <a:prstGeom prst="roundRect">
            <a:avLst/>
          </a:prstGeom>
          <a:ln>
            <a:solidFill>
              <a:srgbClr val="C00000"/>
            </a:solidFill>
          </a:ln>
        </p:spPr>
        <p:style>
          <a:lnRef idx="3">
            <a:schemeClr val="accent1"/>
          </a:lnRef>
          <a:fillRef idx="0">
            <a:srgbClr val="FFFFFF"/>
          </a:fillRef>
          <a:effectRef idx="0">
            <a:srgbClr val="FFFFFF"/>
          </a:effectRef>
          <a:fontRef idx="minor">
            <a:schemeClr val="tx1"/>
          </a:fontRef>
        </p:style>
        <p:txBody>
          <a:bodyPr/>
          <a:lstStyle/>
          <a:p>
            <a:endParaRPr lang="zh-CN" altLang="en-US"/>
          </a:p>
        </p:txBody>
      </p:sp>
      <p:sp>
        <p:nvSpPr>
          <p:cNvPr id="79" name="文本框 78"/>
          <p:cNvSpPr txBox="1"/>
          <p:nvPr/>
        </p:nvSpPr>
        <p:spPr>
          <a:xfrm>
            <a:off x="7983220" y="5259070"/>
            <a:ext cx="3689985" cy="1551305"/>
          </a:xfrm>
          <a:prstGeom prst="rect">
            <a:avLst/>
          </a:prstGeom>
          <a:noFill/>
        </p:spPr>
        <p:txBody>
          <a:bodyPr wrap="square" rtlCol="0">
            <a:noAutofit/>
          </a:bodyPr>
          <a:lstStyle/>
          <a:p>
            <a:pPr marL="285750" indent="-285750">
              <a:buFont typeface="Wingdings" panose="05000000000000000000" charset="0"/>
              <a:buChar char="Ø"/>
            </a:pPr>
            <a:r>
              <a:rPr lang="en-US" altLang="zh-CN">
                <a:sym typeface="+mn-ea"/>
              </a:rPr>
              <a:t>Min. latency In theory: </a:t>
            </a:r>
            <a:r>
              <a:rPr lang="en-US" altLang="zh-CN" b="1">
                <a:sym typeface="+mn-ea"/>
              </a:rPr>
              <a:t>1024 ccs</a:t>
            </a:r>
            <a:endParaRPr lang="en-US" altLang="zh-CN">
              <a:sym typeface="+mn-ea"/>
            </a:endParaRPr>
          </a:p>
          <a:p>
            <a:r>
              <a:rPr lang="en-US" altLang="zh-CN" b="1">
                <a:sym typeface="+mn-ea"/>
              </a:rPr>
              <a:t>(3ccs filling pipeline + 3ccs reduction)</a:t>
            </a:r>
          </a:p>
          <a:p>
            <a:endParaRPr lang="en-US" altLang="zh-CN">
              <a:sym typeface="+mn-ea"/>
            </a:endParaRPr>
          </a:p>
          <a:p>
            <a:pPr marL="285750" indent="-285750">
              <a:buFont typeface="Wingdings" panose="05000000000000000000" charset="0"/>
              <a:buChar char="Ø"/>
            </a:pPr>
            <a:r>
              <a:rPr lang="en-US" altLang="zh-CN">
                <a:sym typeface="+mn-ea"/>
              </a:rPr>
              <a:t>In total: 64*16+3+3=</a:t>
            </a:r>
            <a:r>
              <a:rPr lang="en-US" altLang="zh-CN" b="1">
                <a:sym typeface="+mn-ea"/>
              </a:rPr>
              <a:t>1030 ccs</a:t>
            </a:r>
          </a:p>
          <a:p>
            <a:pPr marL="285750" indent="-285750">
              <a:buFont typeface="Wingdings" panose="05000000000000000000" charset="0"/>
              <a:buChar char="Ø"/>
            </a:pPr>
            <a:r>
              <a:rPr lang="en-US" altLang="zh-CN">
                <a:sym typeface="+mn-ea"/>
              </a:rPr>
              <a:t>Bandwidth: </a:t>
            </a:r>
            <a:r>
              <a:rPr lang="en-US" altLang="zh-CN" b="1">
                <a:sym typeface="+mn-ea"/>
              </a:rPr>
              <a:t>64 w/cycle</a:t>
            </a:r>
            <a:endParaRPr lang="en-US" altLang="zh-CN" b="1"/>
          </a:p>
        </p:txBody>
      </p:sp>
      <p:sp>
        <p:nvSpPr>
          <p:cNvPr id="80" name="文本框 79"/>
          <p:cNvSpPr txBox="1"/>
          <p:nvPr/>
        </p:nvSpPr>
        <p:spPr>
          <a:xfrm>
            <a:off x="96520" y="2153920"/>
            <a:ext cx="1313180" cy="368300"/>
          </a:xfrm>
          <a:prstGeom prst="rect">
            <a:avLst/>
          </a:prstGeom>
          <a:noFill/>
        </p:spPr>
        <p:txBody>
          <a:bodyPr wrap="square" rtlCol="0">
            <a:spAutoFit/>
          </a:bodyPr>
          <a:lstStyle/>
          <a:p>
            <a:r>
              <a:rPr lang="en-US" altLang="zh-CN"/>
              <a:t>B: 4*4 block</a:t>
            </a:r>
          </a:p>
        </p:txBody>
      </p:sp>
      <p:cxnSp>
        <p:nvCxnSpPr>
          <p:cNvPr id="6" name="直接连接符 5"/>
          <p:cNvCxnSpPr>
            <a:stCxn id="4" idx="1"/>
            <a:endCxn id="4" idx="3"/>
          </p:cNvCxnSpPr>
          <p:nvPr/>
        </p:nvCxnSpPr>
        <p:spPr>
          <a:xfrm>
            <a:off x="1567180" y="1827530"/>
            <a:ext cx="61785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直接连接符 10"/>
          <p:cNvCxnSpPr/>
          <p:nvPr/>
        </p:nvCxnSpPr>
        <p:spPr>
          <a:xfrm>
            <a:off x="1567180" y="1967865"/>
            <a:ext cx="61785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直接连接符 19"/>
          <p:cNvCxnSpPr/>
          <p:nvPr/>
        </p:nvCxnSpPr>
        <p:spPr>
          <a:xfrm>
            <a:off x="1567180" y="1673860"/>
            <a:ext cx="61785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直接连接符 20"/>
          <p:cNvCxnSpPr>
            <a:stCxn id="4" idx="0"/>
            <a:endCxn id="4" idx="2"/>
          </p:cNvCxnSpPr>
          <p:nvPr/>
        </p:nvCxnSpPr>
        <p:spPr>
          <a:xfrm>
            <a:off x="1876425" y="1543050"/>
            <a:ext cx="0" cy="568325"/>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直接连接符 21"/>
          <p:cNvCxnSpPr/>
          <p:nvPr/>
        </p:nvCxnSpPr>
        <p:spPr>
          <a:xfrm>
            <a:off x="2018665" y="1543050"/>
            <a:ext cx="0" cy="568325"/>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直接连接符 22"/>
          <p:cNvCxnSpPr/>
          <p:nvPr/>
        </p:nvCxnSpPr>
        <p:spPr>
          <a:xfrm>
            <a:off x="1726565" y="1543050"/>
            <a:ext cx="0" cy="568325"/>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直接连接符 23"/>
          <p:cNvCxnSpPr/>
          <p:nvPr/>
        </p:nvCxnSpPr>
        <p:spPr>
          <a:xfrm>
            <a:off x="2638425" y="1827530"/>
            <a:ext cx="61785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直接连接符 24"/>
          <p:cNvCxnSpPr/>
          <p:nvPr/>
        </p:nvCxnSpPr>
        <p:spPr>
          <a:xfrm>
            <a:off x="2638425" y="1967865"/>
            <a:ext cx="61785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直接连接符 25"/>
          <p:cNvCxnSpPr/>
          <p:nvPr/>
        </p:nvCxnSpPr>
        <p:spPr>
          <a:xfrm>
            <a:off x="2638425" y="1673860"/>
            <a:ext cx="61785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直接连接符 26"/>
          <p:cNvCxnSpPr/>
          <p:nvPr/>
        </p:nvCxnSpPr>
        <p:spPr>
          <a:xfrm>
            <a:off x="2947670" y="1543050"/>
            <a:ext cx="0" cy="568325"/>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直接连接符 27"/>
          <p:cNvCxnSpPr/>
          <p:nvPr/>
        </p:nvCxnSpPr>
        <p:spPr>
          <a:xfrm>
            <a:off x="3089910" y="1543050"/>
            <a:ext cx="0" cy="568325"/>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直接连接符 28"/>
          <p:cNvCxnSpPr/>
          <p:nvPr/>
        </p:nvCxnSpPr>
        <p:spPr>
          <a:xfrm>
            <a:off x="2797810" y="1543050"/>
            <a:ext cx="0" cy="568325"/>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直接连接符 29"/>
          <p:cNvCxnSpPr/>
          <p:nvPr/>
        </p:nvCxnSpPr>
        <p:spPr>
          <a:xfrm>
            <a:off x="3843020" y="1827530"/>
            <a:ext cx="61785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直接连接符 30"/>
          <p:cNvCxnSpPr/>
          <p:nvPr/>
        </p:nvCxnSpPr>
        <p:spPr>
          <a:xfrm>
            <a:off x="3843020" y="1967865"/>
            <a:ext cx="61785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直接连接符 31"/>
          <p:cNvCxnSpPr/>
          <p:nvPr/>
        </p:nvCxnSpPr>
        <p:spPr>
          <a:xfrm>
            <a:off x="3843020" y="1673860"/>
            <a:ext cx="61785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直接连接符 32"/>
          <p:cNvCxnSpPr/>
          <p:nvPr/>
        </p:nvCxnSpPr>
        <p:spPr>
          <a:xfrm>
            <a:off x="4152265" y="1543050"/>
            <a:ext cx="0" cy="568325"/>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直接连接符 33"/>
          <p:cNvCxnSpPr/>
          <p:nvPr/>
        </p:nvCxnSpPr>
        <p:spPr>
          <a:xfrm>
            <a:off x="4294505" y="1543050"/>
            <a:ext cx="0" cy="568325"/>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直接连接符 34"/>
          <p:cNvCxnSpPr/>
          <p:nvPr/>
        </p:nvCxnSpPr>
        <p:spPr>
          <a:xfrm>
            <a:off x="4002405" y="1543050"/>
            <a:ext cx="0" cy="568325"/>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直接连接符 35"/>
          <p:cNvCxnSpPr/>
          <p:nvPr/>
        </p:nvCxnSpPr>
        <p:spPr>
          <a:xfrm>
            <a:off x="5047615" y="1827530"/>
            <a:ext cx="61785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直接连接符 36"/>
          <p:cNvCxnSpPr/>
          <p:nvPr/>
        </p:nvCxnSpPr>
        <p:spPr>
          <a:xfrm>
            <a:off x="5047615" y="1967865"/>
            <a:ext cx="61785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直接连接符 37"/>
          <p:cNvCxnSpPr/>
          <p:nvPr/>
        </p:nvCxnSpPr>
        <p:spPr>
          <a:xfrm>
            <a:off x="5047615" y="1673860"/>
            <a:ext cx="61785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直接连接符 38"/>
          <p:cNvCxnSpPr/>
          <p:nvPr/>
        </p:nvCxnSpPr>
        <p:spPr>
          <a:xfrm>
            <a:off x="5356860" y="1543050"/>
            <a:ext cx="0" cy="568325"/>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直接连接符 39"/>
          <p:cNvCxnSpPr/>
          <p:nvPr/>
        </p:nvCxnSpPr>
        <p:spPr>
          <a:xfrm>
            <a:off x="5499100" y="1543050"/>
            <a:ext cx="0" cy="568325"/>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直接连接符 40"/>
          <p:cNvCxnSpPr/>
          <p:nvPr/>
        </p:nvCxnSpPr>
        <p:spPr>
          <a:xfrm>
            <a:off x="5207000" y="1543050"/>
            <a:ext cx="0" cy="568325"/>
          </a:xfrm>
          <a:prstGeom prst="line">
            <a:avLst/>
          </a:prstGeom>
        </p:spPr>
        <p:style>
          <a:lnRef idx="2">
            <a:schemeClr val="accent1"/>
          </a:lnRef>
          <a:fillRef idx="0">
            <a:schemeClr val="accent1"/>
          </a:fillRef>
          <a:effectRef idx="1">
            <a:schemeClr val="accent1"/>
          </a:effectRef>
          <a:fontRef idx="minor">
            <a:schemeClr val="tx1"/>
          </a:fontRef>
        </p:style>
      </p:cxnSp>
      <p:pic>
        <p:nvPicPr>
          <p:cNvPr id="42" name="图片 41"/>
          <p:cNvPicPr>
            <a:picLocks noChangeAspect="1"/>
          </p:cNvPicPr>
          <p:nvPr/>
        </p:nvPicPr>
        <p:blipFill>
          <a:blip r:embed="rId3"/>
          <a:stretch>
            <a:fillRect/>
          </a:stretch>
        </p:blipFill>
        <p:spPr>
          <a:xfrm>
            <a:off x="6638925" y="3712845"/>
            <a:ext cx="1313815" cy="1066800"/>
          </a:xfrm>
          <a:prstGeom prst="rect">
            <a:avLst/>
          </a:prstGeom>
        </p:spPr>
      </p:pic>
      <p:pic>
        <p:nvPicPr>
          <p:cNvPr id="43" name="图片 42"/>
          <p:cNvPicPr>
            <a:picLocks noChangeAspect="1"/>
          </p:cNvPicPr>
          <p:nvPr/>
        </p:nvPicPr>
        <p:blipFill>
          <a:blip r:embed="rId4"/>
          <a:stretch>
            <a:fillRect/>
          </a:stretch>
        </p:blipFill>
        <p:spPr>
          <a:xfrm>
            <a:off x="8323580" y="1445260"/>
            <a:ext cx="3615055" cy="3624580"/>
          </a:xfrm>
          <a:prstGeom prst="rect">
            <a:avLst/>
          </a:prstGeom>
        </p:spPr>
      </p:pic>
      <p:sp>
        <p:nvSpPr>
          <p:cNvPr id="44" name="文本框 43"/>
          <p:cNvSpPr txBox="1"/>
          <p:nvPr/>
        </p:nvSpPr>
        <p:spPr>
          <a:xfrm>
            <a:off x="8394065" y="1076960"/>
            <a:ext cx="3544570" cy="368300"/>
          </a:xfrm>
          <a:prstGeom prst="rect">
            <a:avLst/>
          </a:prstGeom>
          <a:noFill/>
        </p:spPr>
        <p:txBody>
          <a:bodyPr wrap="square" rtlCol="0">
            <a:spAutoFit/>
          </a:bodyPr>
          <a:lstStyle/>
          <a:p>
            <a:r>
              <a:rPr lang="en-US" altLang="zh-CN"/>
              <a:t>Weight Matrix</a:t>
            </a:r>
          </a:p>
        </p:txBody>
      </p:sp>
      <p:sp>
        <p:nvSpPr>
          <p:cNvPr id="45" name="矩形 44"/>
          <p:cNvSpPr/>
          <p:nvPr/>
        </p:nvSpPr>
        <p:spPr>
          <a:xfrm>
            <a:off x="8394065" y="1510665"/>
            <a:ext cx="182880" cy="173355"/>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46" name="矩形 45"/>
          <p:cNvSpPr/>
          <p:nvPr/>
        </p:nvSpPr>
        <p:spPr>
          <a:xfrm>
            <a:off x="1083945" y="2673985"/>
            <a:ext cx="223520" cy="244475"/>
          </a:xfrm>
          <a:prstGeom prst="rect">
            <a:avLst/>
          </a:prstGeom>
          <a:noFill/>
          <a:ln w="19050">
            <a:solidFill>
              <a:srgbClr val="0070C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47" name="矩形 46"/>
          <p:cNvSpPr/>
          <p:nvPr/>
        </p:nvSpPr>
        <p:spPr>
          <a:xfrm>
            <a:off x="9090025" y="1510665"/>
            <a:ext cx="182880" cy="173355"/>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48" name="矩形 47"/>
          <p:cNvSpPr/>
          <p:nvPr/>
        </p:nvSpPr>
        <p:spPr>
          <a:xfrm>
            <a:off x="1083945" y="2918460"/>
            <a:ext cx="223520" cy="244475"/>
          </a:xfrm>
          <a:prstGeom prst="rect">
            <a:avLst/>
          </a:prstGeom>
          <a:noFill/>
          <a:ln w="19050">
            <a:solidFill>
              <a:srgbClr val="0070C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49" name="矩形 48"/>
          <p:cNvSpPr/>
          <p:nvPr/>
        </p:nvSpPr>
        <p:spPr>
          <a:xfrm>
            <a:off x="8576945" y="1510665"/>
            <a:ext cx="182880" cy="173355"/>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50" name="矩形 49"/>
          <p:cNvSpPr/>
          <p:nvPr/>
        </p:nvSpPr>
        <p:spPr>
          <a:xfrm>
            <a:off x="2125345" y="2918460"/>
            <a:ext cx="223520" cy="244475"/>
          </a:xfrm>
          <a:prstGeom prst="rect">
            <a:avLst/>
          </a:prstGeom>
          <a:noFill/>
          <a:ln w="19050">
            <a:solidFill>
              <a:srgbClr val="00B05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51" name="矩形 50"/>
          <p:cNvSpPr/>
          <p:nvPr/>
        </p:nvSpPr>
        <p:spPr>
          <a:xfrm>
            <a:off x="2455545" y="2918460"/>
            <a:ext cx="223520" cy="244475"/>
          </a:xfrm>
          <a:prstGeom prst="rect">
            <a:avLst/>
          </a:prstGeom>
          <a:noFill/>
          <a:ln w="19050">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52" name="矩形 51"/>
          <p:cNvSpPr/>
          <p:nvPr/>
        </p:nvSpPr>
        <p:spPr>
          <a:xfrm>
            <a:off x="1083945" y="2673985"/>
            <a:ext cx="223520" cy="244475"/>
          </a:xfrm>
          <a:prstGeom prst="rect">
            <a:avLst/>
          </a:prstGeom>
          <a:noFill/>
          <a:ln w="19050">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53" name="矩形 52"/>
          <p:cNvSpPr/>
          <p:nvPr/>
        </p:nvSpPr>
        <p:spPr>
          <a:xfrm>
            <a:off x="1083945" y="3162935"/>
            <a:ext cx="223520" cy="244475"/>
          </a:xfrm>
          <a:prstGeom prst="rect">
            <a:avLst/>
          </a:prstGeom>
          <a:noFill/>
          <a:ln w="19050">
            <a:solidFill>
              <a:srgbClr val="0070C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54" name="矩形 53"/>
          <p:cNvSpPr/>
          <p:nvPr/>
        </p:nvSpPr>
        <p:spPr>
          <a:xfrm>
            <a:off x="9801860" y="1510665"/>
            <a:ext cx="182880" cy="173355"/>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55" name="矩形 54"/>
          <p:cNvSpPr/>
          <p:nvPr/>
        </p:nvSpPr>
        <p:spPr>
          <a:xfrm>
            <a:off x="2125345" y="3162935"/>
            <a:ext cx="223520" cy="244475"/>
          </a:xfrm>
          <a:prstGeom prst="rect">
            <a:avLst/>
          </a:prstGeom>
          <a:noFill/>
          <a:ln w="19050">
            <a:solidFill>
              <a:srgbClr val="00B05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56" name="矩形 55"/>
          <p:cNvSpPr/>
          <p:nvPr/>
        </p:nvSpPr>
        <p:spPr>
          <a:xfrm>
            <a:off x="2455545" y="3162935"/>
            <a:ext cx="223520" cy="244475"/>
          </a:xfrm>
          <a:prstGeom prst="rect">
            <a:avLst/>
          </a:prstGeom>
          <a:noFill/>
          <a:ln w="19050">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57" name="矩形 56"/>
          <p:cNvSpPr/>
          <p:nvPr/>
        </p:nvSpPr>
        <p:spPr>
          <a:xfrm>
            <a:off x="1083945" y="2918460"/>
            <a:ext cx="223520" cy="244475"/>
          </a:xfrm>
          <a:prstGeom prst="rect">
            <a:avLst/>
          </a:prstGeom>
          <a:noFill/>
          <a:ln w="19050">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58" name="矩形 57"/>
          <p:cNvSpPr/>
          <p:nvPr/>
        </p:nvSpPr>
        <p:spPr>
          <a:xfrm>
            <a:off x="9272905" y="1510665"/>
            <a:ext cx="182880" cy="173355"/>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59" name="矩形 58"/>
          <p:cNvSpPr/>
          <p:nvPr/>
        </p:nvSpPr>
        <p:spPr>
          <a:xfrm>
            <a:off x="3308985" y="3162935"/>
            <a:ext cx="223520" cy="244475"/>
          </a:xfrm>
          <a:prstGeom prst="rect">
            <a:avLst/>
          </a:prstGeom>
          <a:noFill/>
          <a:ln w="19050">
            <a:solidFill>
              <a:srgbClr val="FFC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60" name="矩形 59"/>
          <p:cNvSpPr/>
          <p:nvPr/>
        </p:nvSpPr>
        <p:spPr>
          <a:xfrm>
            <a:off x="8759825" y="1510665"/>
            <a:ext cx="163830" cy="173355"/>
          </a:xfrm>
          <a:prstGeom prst="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61" name="矩形 60"/>
          <p:cNvSpPr/>
          <p:nvPr/>
        </p:nvSpPr>
        <p:spPr>
          <a:xfrm>
            <a:off x="2112645" y="2918460"/>
            <a:ext cx="565785" cy="244475"/>
          </a:xfrm>
          <a:prstGeom prst="rect">
            <a:avLst/>
          </a:prstGeom>
          <a:ln>
            <a:solidFill>
              <a:srgbClr val="7030A0"/>
            </a:solidFill>
          </a:ln>
        </p:spPr>
        <p:style>
          <a:lnRef idx="2">
            <a:schemeClr val="accent1"/>
          </a:lnRef>
          <a:fillRef idx="0">
            <a:srgbClr val="FFFFFF"/>
          </a:fillRef>
          <a:effectRef idx="0">
            <a:srgbClr val="FFFFFF"/>
          </a:effectRef>
          <a:fontRef idx="minor">
            <a:schemeClr val="tx1"/>
          </a:fontRef>
        </p:style>
        <p:txBody>
          <a:bodyPr/>
          <a:lstStyle/>
          <a:p>
            <a:endParaRPr lang="zh-CN" altLang="en-US"/>
          </a:p>
        </p:txBody>
      </p:sp>
      <p:sp>
        <p:nvSpPr>
          <p:cNvPr id="62" name="矩形 61"/>
          <p:cNvSpPr/>
          <p:nvPr/>
        </p:nvSpPr>
        <p:spPr>
          <a:xfrm>
            <a:off x="3634105" y="3162935"/>
            <a:ext cx="565785" cy="244475"/>
          </a:xfrm>
          <a:prstGeom prst="rect">
            <a:avLst/>
          </a:prstGeom>
          <a:ln>
            <a:solidFill>
              <a:srgbClr val="7030A0"/>
            </a:solidFill>
          </a:ln>
        </p:spPr>
        <p:style>
          <a:lnRef idx="2">
            <a:schemeClr val="accent1"/>
          </a:lnRef>
          <a:fillRef idx="0">
            <a:srgbClr val="FFFFFF"/>
          </a:fillRef>
          <a:effectRef idx="0">
            <a:srgbClr val="FFFFFF"/>
          </a:effectRef>
          <a:fontRef idx="minor">
            <a:schemeClr val="tx1"/>
          </a:fontRef>
        </p:style>
        <p:txBody>
          <a:bodyPr/>
          <a:lstStyle/>
          <a:p>
            <a:endParaRPr lang="zh-CN" altLang="en-US"/>
          </a:p>
        </p:txBody>
      </p:sp>
      <p:sp>
        <p:nvSpPr>
          <p:cNvPr id="63" name="矩形 62"/>
          <p:cNvSpPr/>
          <p:nvPr/>
        </p:nvSpPr>
        <p:spPr>
          <a:xfrm>
            <a:off x="1083945" y="3407410"/>
            <a:ext cx="346710" cy="244475"/>
          </a:xfrm>
          <a:prstGeom prst="rect">
            <a:avLst/>
          </a:prstGeom>
          <a:noFill/>
          <a:ln w="19050">
            <a:solidFill>
              <a:srgbClr val="0070C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64" name="矩形 63"/>
          <p:cNvSpPr/>
          <p:nvPr/>
        </p:nvSpPr>
        <p:spPr>
          <a:xfrm>
            <a:off x="10487025" y="1510665"/>
            <a:ext cx="182880" cy="173355"/>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65" name="矩形 64"/>
          <p:cNvSpPr/>
          <p:nvPr/>
        </p:nvSpPr>
        <p:spPr>
          <a:xfrm>
            <a:off x="2125345" y="3407410"/>
            <a:ext cx="329565" cy="244475"/>
          </a:xfrm>
          <a:prstGeom prst="rect">
            <a:avLst/>
          </a:prstGeom>
          <a:noFill/>
          <a:ln w="19050">
            <a:solidFill>
              <a:srgbClr val="00B05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66" name="矩形 65"/>
          <p:cNvSpPr/>
          <p:nvPr/>
        </p:nvSpPr>
        <p:spPr>
          <a:xfrm>
            <a:off x="9984740" y="1510665"/>
            <a:ext cx="167640" cy="173355"/>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67" name="矩形 66"/>
          <p:cNvSpPr/>
          <p:nvPr/>
        </p:nvSpPr>
        <p:spPr>
          <a:xfrm>
            <a:off x="1083945" y="3162935"/>
            <a:ext cx="223520" cy="244475"/>
          </a:xfrm>
          <a:prstGeom prst="rect">
            <a:avLst/>
          </a:prstGeom>
          <a:noFill/>
          <a:ln w="19050">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68" name="矩形 67"/>
          <p:cNvSpPr/>
          <p:nvPr/>
        </p:nvSpPr>
        <p:spPr>
          <a:xfrm>
            <a:off x="2564765" y="3407410"/>
            <a:ext cx="237490" cy="244475"/>
          </a:xfrm>
          <a:prstGeom prst="rect">
            <a:avLst/>
          </a:prstGeom>
          <a:noFill/>
          <a:ln w="19050">
            <a:solidFill>
              <a:srgbClr val="FF0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69" name="矩形 68"/>
          <p:cNvSpPr/>
          <p:nvPr/>
        </p:nvSpPr>
        <p:spPr>
          <a:xfrm>
            <a:off x="3308985" y="3407410"/>
            <a:ext cx="223520" cy="244475"/>
          </a:xfrm>
          <a:prstGeom prst="rect">
            <a:avLst/>
          </a:prstGeom>
          <a:noFill/>
          <a:ln w="19050">
            <a:solidFill>
              <a:srgbClr val="FFC000"/>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70" name="矩形 69"/>
          <p:cNvSpPr/>
          <p:nvPr/>
        </p:nvSpPr>
        <p:spPr>
          <a:xfrm>
            <a:off x="9455785" y="1510665"/>
            <a:ext cx="182880" cy="173355"/>
          </a:xfrm>
          <a:prstGeom prst="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71" name="矩形 70"/>
          <p:cNvSpPr/>
          <p:nvPr/>
        </p:nvSpPr>
        <p:spPr>
          <a:xfrm>
            <a:off x="3634105" y="3407410"/>
            <a:ext cx="565785" cy="244475"/>
          </a:xfrm>
          <a:prstGeom prst="rect">
            <a:avLst/>
          </a:prstGeom>
          <a:ln>
            <a:solidFill>
              <a:srgbClr val="7030A0"/>
            </a:solidFill>
          </a:ln>
        </p:spPr>
        <p:style>
          <a:lnRef idx="2">
            <a:schemeClr val="accent1"/>
          </a:lnRef>
          <a:fillRef idx="0">
            <a:srgbClr val="FFFFFF"/>
          </a:fillRef>
          <a:effectRef idx="0">
            <a:srgbClr val="FFFFFF"/>
          </a:effectRef>
          <a:fontRef idx="minor">
            <a:schemeClr val="tx1"/>
          </a:fontRef>
        </p:style>
        <p:txBody>
          <a:bodyPr/>
          <a:lstStyle/>
          <a:p>
            <a:endParaRPr lang="zh-CN" altLang="en-US"/>
          </a:p>
        </p:txBody>
      </p:sp>
      <p:sp>
        <p:nvSpPr>
          <p:cNvPr id="75" name="矩形 74"/>
          <p:cNvSpPr/>
          <p:nvPr/>
        </p:nvSpPr>
        <p:spPr>
          <a:xfrm>
            <a:off x="2125345" y="3162935"/>
            <a:ext cx="565785" cy="244475"/>
          </a:xfrm>
          <a:prstGeom prst="rect">
            <a:avLst/>
          </a:prstGeom>
          <a:ln>
            <a:solidFill>
              <a:srgbClr val="7030A0"/>
            </a:solidFill>
          </a:ln>
        </p:spPr>
        <p:style>
          <a:lnRef idx="2">
            <a:schemeClr val="accent1"/>
          </a:lnRef>
          <a:fillRef idx="0">
            <a:srgbClr val="FFFFFF"/>
          </a:fillRef>
          <a:effectRef idx="0">
            <a:srgbClr val="FFFFFF"/>
          </a:effectRef>
          <a:fontRef idx="minor">
            <a:schemeClr val="tx1"/>
          </a:fontRef>
        </p:style>
        <p:txBody>
          <a:bodyPr/>
          <a:lstStyle/>
          <a:p>
            <a:endParaRPr lang="zh-CN" altLang="en-US"/>
          </a:p>
        </p:txBody>
      </p:sp>
      <p:sp>
        <p:nvSpPr>
          <p:cNvPr id="83" name="矩形 82"/>
          <p:cNvSpPr/>
          <p:nvPr/>
        </p:nvSpPr>
        <p:spPr>
          <a:xfrm>
            <a:off x="4601845" y="3407410"/>
            <a:ext cx="223520" cy="244475"/>
          </a:xfrm>
          <a:prstGeom prst="rect">
            <a:avLst/>
          </a:prstGeom>
          <a:noFill/>
          <a:ln w="19050">
            <a:solidFill>
              <a:schemeClr val="accent2">
                <a:lumMod val="60000"/>
                <a:lumOff val="40000"/>
              </a:schemeClr>
            </a:solidFill>
          </a:ln>
          <a:extLst>
            <a:ext uri="{909E8E84-426E-40DD-AFC4-6F175D3DCCD1}">
              <a14:hiddenFill xmlns:a14="http://schemas.microsoft.com/office/drawing/2010/main">
                <a:gradFill rotWithShape="1">
                  <a:gsLst>
                    <a:gs pos="0">
                      <a:schemeClr val="accent1">
                        <a:tint val="100000"/>
                        <a:shade val="100000"/>
                        <a:satMod val="130000"/>
                      </a:schemeClr>
                    </a:gs>
                    <a:gs pos="100000">
                      <a:schemeClr val="accent1">
                        <a:tint val="50000"/>
                        <a:shade val="100000"/>
                        <a:satMod val="350000"/>
                      </a:schemeClr>
                    </a:gs>
                  </a:gsLst>
                  <a:lin ang="16200000" scaled="0"/>
                </a:gradFill>
              </a14:hiddenFill>
            </a:ext>
          </a:ex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84" name="矩形 83"/>
          <p:cNvSpPr/>
          <p:nvPr/>
        </p:nvSpPr>
        <p:spPr>
          <a:xfrm>
            <a:off x="8930640" y="1510665"/>
            <a:ext cx="159385" cy="173355"/>
          </a:xfrm>
          <a:prstGeom prst="rect">
            <a:avLst/>
          </a:prstGeom>
          <a:solidFill>
            <a:schemeClr val="accent2">
              <a:lumMod val="60000"/>
              <a:lumOff val="40000"/>
            </a:schemeClr>
          </a:solidFill>
          <a:ln>
            <a:solidFill>
              <a:schemeClr val="accent2">
                <a:lumMod val="60000"/>
                <a:lumOff val="40000"/>
              </a:schemeClr>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85" name="矩形 84"/>
          <p:cNvSpPr/>
          <p:nvPr/>
        </p:nvSpPr>
        <p:spPr>
          <a:xfrm>
            <a:off x="4933315" y="3407410"/>
            <a:ext cx="883285" cy="244475"/>
          </a:xfrm>
          <a:prstGeom prst="rect">
            <a:avLst/>
          </a:prstGeom>
          <a:ln>
            <a:solidFill>
              <a:schemeClr val="accent6">
                <a:lumMod val="75000"/>
              </a:schemeClr>
            </a:solidFill>
          </a:ln>
        </p:spPr>
        <p:style>
          <a:lnRef idx="2">
            <a:schemeClr val="accent1"/>
          </a:lnRef>
          <a:fillRef idx="0">
            <a:srgbClr val="FFFFFF"/>
          </a:fillRef>
          <a:effectRef idx="0">
            <a:srgbClr val="FFFFFF"/>
          </a:effectRef>
          <a:fontRef idx="minor">
            <a:schemeClr val="tx1"/>
          </a:fontRef>
        </p:style>
        <p:txBody>
          <a:bodyPr/>
          <a:lstStyle/>
          <a:p>
            <a:endParaRPr lang="zh-CN" altLang="en-US"/>
          </a:p>
        </p:txBody>
      </p:sp>
      <p:sp>
        <p:nvSpPr>
          <p:cNvPr id="86" name="矩形 85"/>
          <p:cNvSpPr/>
          <p:nvPr/>
        </p:nvSpPr>
        <p:spPr>
          <a:xfrm>
            <a:off x="3316605" y="3162935"/>
            <a:ext cx="883285" cy="244475"/>
          </a:xfrm>
          <a:prstGeom prst="rect">
            <a:avLst/>
          </a:prstGeom>
          <a:ln>
            <a:solidFill>
              <a:schemeClr val="accent6">
                <a:lumMod val="75000"/>
              </a:schemeClr>
            </a:solidFill>
          </a:ln>
        </p:spPr>
        <p:style>
          <a:lnRef idx="2">
            <a:schemeClr val="accent1"/>
          </a:lnRef>
          <a:fillRef idx="0">
            <a:srgbClr val="FFFFFF"/>
          </a:fillRef>
          <a:effectRef idx="0">
            <a:srgbClr val="FFFFFF"/>
          </a:effectRef>
          <a:fontRef idx="minor">
            <a:schemeClr val="tx1"/>
          </a:fontRef>
        </p:style>
        <p:txBody>
          <a:bodyPr/>
          <a:lstStyle/>
          <a:p>
            <a:endParaRPr lang="zh-CN" altLang="en-US"/>
          </a:p>
        </p:txBody>
      </p:sp>
      <p:sp>
        <p:nvSpPr>
          <p:cNvPr id="87" name="矩形 86"/>
          <p:cNvSpPr/>
          <p:nvPr/>
        </p:nvSpPr>
        <p:spPr>
          <a:xfrm>
            <a:off x="6638290" y="2590165"/>
            <a:ext cx="617855" cy="568325"/>
          </a:xfrm>
          <a:prstGeom prst="rect">
            <a:avLst/>
          </a:prstGeom>
          <a:solidFill>
            <a:schemeClr val="tx1">
              <a:lumMod val="40000"/>
              <a:lumOff val="60000"/>
            </a:schemeClr>
          </a:solidFill>
        </p:spPr>
        <p:style>
          <a:lnRef idx="1">
            <a:schemeClr val="accent1"/>
          </a:lnRef>
          <a:fillRef idx="3">
            <a:schemeClr val="accent1"/>
          </a:fillRef>
          <a:effectRef idx="2">
            <a:schemeClr val="accent1"/>
          </a:effectRef>
          <a:fontRef idx="minor">
            <a:schemeClr val="lt1"/>
          </a:fontRef>
        </p:style>
        <p:txBody>
          <a:bodyPr/>
          <a:lstStyle/>
          <a:p>
            <a:endParaRPr lang="zh-CN" altLang="en-US"/>
          </a:p>
        </p:txBody>
      </p:sp>
      <p:cxnSp>
        <p:nvCxnSpPr>
          <p:cNvPr id="88" name="直接连接符 87"/>
          <p:cNvCxnSpPr/>
          <p:nvPr/>
        </p:nvCxnSpPr>
        <p:spPr>
          <a:xfrm>
            <a:off x="6638290" y="2874645"/>
            <a:ext cx="617855" cy="0"/>
          </a:xfrm>
          <a:prstGeom prst="line">
            <a:avLst/>
          </a:prstGeom>
          <a:solidFill>
            <a:schemeClr val="tx1">
              <a:lumMod val="40000"/>
              <a:lumOff val="60000"/>
            </a:schemeClr>
          </a:solidFill>
        </p:spPr>
        <p:style>
          <a:lnRef idx="2">
            <a:schemeClr val="accent1"/>
          </a:lnRef>
          <a:fillRef idx="0">
            <a:schemeClr val="accent1"/>
          </a:fillRef>
          <a:effectRef idx="1">
            <a:schemeClr val="accent1"/>
          </a:effectRef>
          <a:fontRef idx="minor">
            <a:schemeClr val="tx1"/>
          </a:fontRef>
        </p:style>
      </p:cxnSp>
      <p:cxnSp>
        <p:nvCxnSpPr>
          <p:cNvPr id="89" name="直接连接符 88"/>
          <p:cNvCxnSpPr/>
          <p:nvPr/>
        </p:nvCxnSpPr>
        <p:spPr>
          <a:xfrm>
            <a:off x="6638290" y="3014980"/>
            <a:ext cx="617855" cy="0"/>
          </a:xfrm>
          <a:prstGeom prst="line">
            <a:avLst/>
          </a:prstGeom>
          <a:solidFill>
            <a:schemeClr val="tx1">
              <a:lumMod val="40000"/>
              <a:lumOff val="60000"/>
            </a:schemeClr>
          </a:solidFill>
        </p:spPr>
        <p:style>
          <a:lnRef idx="2">
            <a:schemeClr val="accent1"/>
          </a:lnRef>
          <a:fillRef idx="0">
            <a:schemeClr val="accent1"/>
          </a:fillRef>
          <a:effectRef idx="1">
            <a:schemeClr val="accent1"/>
          </a:effectRef>
          <a:fontRef idx="minor">
            <a:schemeClr val="tx1"/>
          </a:fontRef>
        </p:style>
      </p:cxnSp>
      <p:cxnSp>
        <p:nvCxnSpPr>
          <p:cNvPr id="90" name="直接连接符 89"/>
          <p:cNvCxnSpPr/>
          <p:nvPr/>
        </p:nvCxnSpPr>
        <p:spPr>
          <a:xfrm>
            <a:off x="6638290" y="2720975"/>
            <a:ext cx="617855" cy="0"/>
          </a:xfrm>
          <a:prstGeom prst="line">
            <a:avLst/>
          </a:prstGeom>
          <a:solidFill>
            <a:schemeClr val="tx1">
              <a:lumMod val="40000"/>
              <a:lumOff val="60000"/>
            </a:schemeClr>
          </a:solidFill>
        </p:spPr>
        <p:style>
          <a:lnRef idx="2">
            <a:schemeClr val="accent1"/>
          </a:lnRef>
          <a:fillRef idx="0">
            <a:schemeClr val="accent1"/>
          </a:fillRef>
          <a:effectRef idx="1">
            <a:schemeClr val="accent1"/>
          </a:effectRef>
          <a:fontRef idx="minor">
            <a:schemeClr val="tx1"/>
          </a:fontRef>
        </p:style>
      </p:cxnSp>
      <p:cxnSp>
        <p:nvCxnSpPr>
          <p:cNvPr id="91" name="直接连接符 90"/>
          <p:cNvCxnSpPr/>
          <p:nvPr/>
        </p:nvCxnSpPr>
        <p:spPr>
          <a:xfrm>
            <a:off x="6947535" y="2590165"/>
            <a:ext cx="0" cy="568325"/>
          </a:xfrm>
          <a:prstGeom prst="line">
            <a:avLst/>
          </a:prstGeom>
          <a:solidFill>
            <a:schemeClr val="tx1">
              <a:lumMod val="40000"/>
              <a:lumOff val="60000"/>
            </a:schemeClr>
          </a:solidFill>
        </p:spPr>
        <p:style>
          <a:lnRef idx="2">
            <a:schemeClr val="accent1"/>
          </a:lnRef>
          <a:fillRef idx="0">
            <a:schemeClr val="accent1"/>
          </a:fillRef>
          <a:effectRef idx="1">
            <a:schemeClr val="accent1"/>
          </a:effectRef>
          <a:fontRef idx="minor">
            <a:schemeClr val="tx1"/>
          </a:fontRef>
        </p:style>
      </p:cxnSp>
      <p:cxnSp>
        <p:nvCxnSpPr>
          <p:cNvPr id="92" name="直接连接符 91"/>
          <p:cNvCxnSpPr/>
          <p:nvPr/>
        </p:nvCxnSpPr>
        <p:spPr>
          <a:xfrm>
            <a:off x="7089775" y="2590165"/>
            <a:ext cx="0" cy="568325"/>
          </a:xfrm>
          <a:prstGeom prst="line">
            <a:avLst/>
          </a:prstGeom>
          <a:solidFill>
            <a:schemeClr val="tx1">
              <a:lumMod val="40000"/>
              <a:lumOff val="60000"/>
            </a:schemeClr>
          </a:solidFill>
        </p:spPr>
        <p:style>
          <a:lnRef idx="2">
            <a:schemeClr val="accent1"/>
          </a:lnRef>
          <a:fillRef idx="0">
            <a:schemeClr val="accent1"/>
          </a:fillRef>
          <a:effectRef idx="1">
            <a:schemeClr val="accent1"/>
          </a:effectRef>
          <a:fontRef idx="minor">
            <a:schemeClr val="tx1"/>
          </a:fontRef>
        </p:style>
      </p:cxnSp>
      <p:cxnSp>
        <p:nvCxnSpPr>
          <p:cNvPr id="93" name="直接连接符 92"/>
          <p:cNvCxnSpPr/>
          <p:nvPr/>
        </p:nvCxnSpPr>
        <p:spPr>
          <a:xfrm>
            <a:off x="6797675" y="2590165"/>
            <a:ext cx="0" cy="568325"/>
          </a:xfrm>
          <a:prstGeom prst="line">
            <a:avLst/>
          </a:prstGeom>
          <a:solidFill>
            <a:schemeClr val="tx1">
              <a:lumMod val="40000"/>
              <a:lumOff val="60000"/>
            </a:schemeClr>
          </a:solidFill>
        </p:spPr>
        <p:style>
          <a:lnRef idx="2">
            <a:schemeClr val="accent1"/>
          </a:lnRef>
          <a:fillRef idx="0">
            <a:schemeClr val="accent1"/>
          </a:fillRef>
          <a:effectRef idx="1">
            <a:schemeClr val="accent1"/>
          </a:effectRef>
          <a:fontRef idx="minor">
            <a:schemeClr val="tx1"/>
          </a:fontRef>
        </p:style>
      </p:cxnSp>
      <p:sp>
        <p:nvSpPr>
          <p:cNvPr id="94" name="矩形 93"/>
          <p:cNvSpPr/>
          <p:nvPr/>
        </p:nvSpPr>
        <p:spPr>
          <a:xfrm>
            <a:off x="7757795" y="2585720"/>
            <a:ext cx="200660" cy="572770"/>
          </a:xfrm>
          <a:prstGeom prst="rect">
            <a:avLst/>
          </a:prstGeom>
          <a:solidFill>
            <a:schemeClr val="tx1">
              <a:lumMod val="40000"/>
              <a:lumOff val="60000"/>
            </a:schemeClr>
          </a:solidFill>
        </p:spPr>
        <p:style>
          <a:lnRef idx="1">
            <a:schemeClr val="accent1"/>
          </a:lnRef>
          <a:fillRef idx="3">
            <a:schemeClr val="accent1"/>
          </a:fillRef>
          <a:effectRef idx="2">
            <a:schemeClr val="accent1"/>
          </a:effectRef>
          <a:fontRef idx="minor">
            <a:schemeClr val="lt1"/>
          </a:fontRef>
        </p:style>
        <p:txBody>
          <a:bodyPr/>
          <a:lstStyle/>
          <a:p>
            <a:endParaRPr lang="zh-CN" altLang="en-US"/>
          </a:p>
        </p:txBody>
      </p:sp>
      <p:cxnSp>
        <p:nvCxnSpPr>
          <p:cNvPr id="95" name="直接连接符 94"/>
          <p:cNvCxnSpPr>
            <a:endCxn id="94" idx="3"/>
          </p:cNvCxnSpPr>
          <p:nvPr/>
        </p:nvCxnSpPr>
        <p:spPr>
          <a:xfrm flipV="1">
            <a:off x="7757795" y="2872105"/>
            <a:ext cx="200660" cy="2540"/>
          </a:xfrm>
          <a:prstGeom prst="line">
            <a:avLst/>
          </a:prstGeom>
          <a:solidFill>
            <a:schemeClr val="tx1">
              <a:lumMod val="40000"/>
              <a:lumOff val="60000"/>
            </a:schemeClr>
          </a:solidFill>
        </p:spPr>
        <p:style>
          <a:lnRef idx="2">
            <a:schemeClr val="accent1"/>
          </a:lnRef>
          <a:fillRef idx="0">
            <a:schemeClr val="accent1"/>
          </a:fillRef>
          <a:effectRef idx="1">
            <a:schemeClr val="accent1"/>
          </a:effectRef>
          <a:fontRef idx="minor">
            <a:schemeClr val="tx1"/>
          </a:fontRef>
        </p:style>
      </p:cxnSp>
      <p:cxnSp>
        <p:nvCxnSpPr>
          <p:cNvPr id="96" name="直接连接符 95"/>
          <p:cNvCxnSpPr/>
          <p:nvPr/>
        </p:nvCxnSpPr>
        <p:spPr>
          <a:xfrm>
            <a:off x="7757795" y="3014980"/>
            <a:ext cx="200660" cy="0"/>
          </a:xfrm>
          <a:prstGeom prst="line">
            <a:avLst/>
          </a:prstGeom>
          <a:solidFill>
            <a:schemeClr val="tx1">
              <a:lumMod val="40000"/>
              <a:lumOff val="60000"/>
            </a:schemeClr>
          </a:solidFill>
        </p:spPr>
        <p:style>
          <a:lnRef idx="2">
            <a:schemeClr val="accent1"/>
          </a:lnRef>
          <a:fillRef idx="0">
            <a:schemeClr val="accent1"/>
          </a:fillRef>
          <a:effectRef idx="1">
            <a:schemeClr val="accent1"/>
          </a:effectRef>
          <a:fontRef idx="minor">
            <a:schemeClr val="tx1"/>
          </a:fontRef>
        </p:style>
      </p:cxnSp>
      <p:cxnSp>
        <p:nvCxnSpPr>
          <p:cNvPr id="97" name="直接连接符 96"/>
          <p:cNvCxnSpPr/>
          <p:nvPr/>
        </p:nvCxnSpPr>
        <p:spPr>
          <a:xfrm>
            <a:off x="7757795" y="2720975"/>
            <a:ext cx="200660" cy="0"/>
          </a:xfrm>
          <a:prstGeom prst="line">
            <a:avLst/>
          </a:prstGeom>
          <a:solidFill>
            <a:schemeClr val="tx1">
              <a:lumMod val="40000"/>
              <a:lumOff val="60000"/>
            </a:schemeClr>
          </a:solidFill>
        </p:spPr>
        <p:style>
          <a:lnRef idx="2">
            <a:schemeClr val="accent1"/>
          </a:lnRef>
          <a:fillRef idx="0">
            <a:schemeClr val="accent1"/>
          </a:fillRef>
          <a:effectRef idx="1">
            <a:schemeClr val="accent1"/>
          </a:effectRef>
          <a:fontRef idx="minor">
            <a:schemeClr val="tx1"/>
          </a:fontRef>
        </p:style>
      </p:cxnSp>
      <p:sp>
        <p:nvSpPr>
          <p:cNvPr id="101" name="燕尾形箭头 100"/>
          <p:cNvSpPr/>
          <p:nvPr/>
        </p:nvSpPr>
        <p:spPr>
          <a:xfrm>
            <a:off x="7323455" y="2842895"/>
            <a:ext cx="315595" cy="75565"/>
          </a:xfrm>
          <a:prstGeom prst="notchedRightArrow">
            <a:avLst/>
          </a:prstGeom>
          <a:solidFill>
            <a:schemeClr val="tx1">
              <a:lumMod val="40000"/>
              <a:lumOff val="60000"/>
            </a:schemeClr>
          </a:solidFill>
          <a:ln>
            <a:solidFill>
              <a:schemeClr val="tx1">
                <a:lumMod val="40000"/>
                <a:lumOff val="60000"/>
              </a:schemeClr>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2" name="矩形 101"/>
          <p:cNvSpPr/>
          <p:nvPr/>
        </p:nvSpPr>
        <p:spPr>
          <a:xfrm>
            <a:off x="9642475" y="1510665"/>
            <a:ext cx="159385" cy="173355"/>
          </a:xfrm>
          <a:prstGeom prst="rect">
            <a:avLst/>
          </a:prstGeom>
          <a:solidFill>
            <a:schemeClr val="accent2">
              <a:lumMod val="60000"/>
              <a:lumOff val="40000"/>
            </a:schemeClr>
          </a:solidFill>
          <a:ln>
            <a:solidFill>
              <a:schemeClr val="accent2">
                <a:lumMod val="60000"/>
                <a:lumOff val="40000"/>
              </a:schemeClr>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3" name="矩形 102"/>
          <p:cNvSpPr/>
          <p:nvPr/>
        </p:nvSpPr>
        <p:spPr>
          <a:xfrm>
            <a:off x="10152380" y="1510665"/>
            <a:ext cx="182880" cy="173355"/>
          </a:xfrm>
          <a:prstGeom prst="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4" name="矩形 103"/>
          <p:cNvSpPr/>
          <p:nvPr/>
        </p:nvSpPr>
        <p:spPr>
          <a:xfrm>
            <a:off x="10327640" y="1510665"/>
            <a:ext cx="159385" cy="173355"/>
          </a:xfrm>
          <a:prstGeom prst="rect">
            <a:avLst/>
          </a:prstGeom>
          <a:solidFill>
            <a:schemeClr val="accent2">
              <a:lumMod val="60000"/>
              <a:lumOff val="40000"/>
            </a:schemeClr>
          </a:solidFill>
          <a:ln>
            <a:solidFill>
              <a:schemeClr val="accent2">
                <a:lumMod val="60000"/>
                <a:lumOff val="40000"/>
              </a:schemeClr>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5" name="矩形 104"/>
          <p:cNvSpPr/>
          <p:nvPr/>
        </p:nvSpPr>
        <p:spPr>
          <a:xfrm>
            <a:off x="11193145" y="1510665"/>
            <a:ext cx="182880" cy="173355"/>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6" name="矩形 105"/>
          <p:cNvSpPr/>
          <p:nvPr/>
        </p:nvSpPr>
        <p:spPr>
          <a:xfrm>
            <a:off x="8394065" y="1684020"/>
            <a:ext cx="182880" cy="173355"/>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7" name="矩形 106"/>
          <p:cNvSpPr/>
          <p:nvPr/>
        </p:nvSpPr>
        <p:spPr>
          <a:xfrm>
            <a:off x="9098280" y="1689735"/>
            <a:ext cx="180340" cy="173355"/>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8" name="矩形 107"/>
          <p:cNvSpPr/>
          <p:nvPr/>
        </p:nvSpPr>
        <p:spPr>
          <a:xfrm>
            <a:off x="9801860" y="1684020"/>
            <a:ext cx="182880" cy="173355"/>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9" name="矩形 108"/>
          <p:cNvSpPr/>
          <p:nvPr/>
        </p:nvSpPr>
        <p:spPr>
          <a:xfrm>
            <a:off x="10669905" y="1510665"/>
            <a:ext cx="182880" cy="173355"/>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0" name="矩形 109"/>
          <p:cNvSpPr/>
          <p:nvPr/>
        </p:nvSpPr>
        <p:spPr>
          <a:xfrm>
            <a:off x="11376025" y="1510665"/>
            <a:ext cx="182880" cy="173355"/>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1" name="矩形 110"/>
          <p:cNvSpPr/>
          <p:nvPr/>
        </p:nvSpPr>
        <p:spPr>
          <a:xfrm>
            <a:off x="10852785" y="1510665"/>
            <a:ext cx="163830" cy="173355"/>
          </a:xfrm>
          <a:prstGeom prst="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2" name="矩形 111"/>
          <p:cNvSpPr/>
          <p:nvPr/>
        </p:nvSpPr>
        <p:spPr>
          <a:xfrm>
            <a:off x="11558905" y="1510665"/>
            <a:ext cx="163830" cy="173355"/>
          </a:xfrm>
          <a:prstGeom prst="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4" name="矩形 113"/>
          <p:cNvSpPr/>
          <p:nvPr/>
        </p:nvSpPr>
        <p:spPr>
          <a:xfrm>
            <a:off x="8578215" y="1684020"/>
            <a:ext cx="182880" cy="173355"/>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3" name="矩形 112"/>
          <p:cNvSpPr/>
          <p:nvPr/>
        </p:nvSpPr>
        <p:spPr>
          <a:xfrm>
            <a:off x="8761095" y="1684020"/>
            <a:ext cx="163830" cy="173355"/>
          </a:xfrm>
          <a:prstGeom prst="rect">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5" name="矩形 114"/>
          <p:cNvSpPr/>
          <p:nvPr/>
        </p:nvSpPr>
        <p:spPr>
          <a:xfrm>
            <a:off x="9272905" y="1689735"/>
            <a:ext cx="178435" cy="173355"/>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6" name="矩形 115"/>
          <p:cNvSpPr/>
          <p:nvPr/>
        </p:nvSpPr>
        <p:spPr>
          <a:xfrm>
            <a:off x="11016615" y="1510665"/>
            <a:ext cx="159385" cy="173355"/>
          </a:xfrm>
          <a:prstGeom prst="rect">
            <a:avLst/>
          </a:prstGeom>
          <a:solidFill>
            <a:schemeClr val="accent2">
              <a:lumMod val="60000"/>
              <a:lumOff val="40000"/>
            </a:schemeClr>
          </a:solidFill>
          <a:ln>
            <a:solidFill>
              <a:schemeClr val="accent2">
                <a:lumMod val="60000"/>
                <a:lumOff val="40000"/>
              </a:schemeClr>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7" name="矩形 116"/>
          <p:cNvSpPr/>
          <p:nvPr/>
        </p:nvSpPr>
        <p:spPr>
          <a:xfrm>
            <a:off x="11722735" y="1510665"/>
            <a:ext cx="159385" cy="173355"/>
          </a:xfrm>
          <a:prstGeom prst="rect">
            <a:avLst/>
          </a:prstGeom>
          <a:solidFill>
            <a:schemeClr val="accent2">
              <a:lumMod val="60000"/>
              <a:lumOff val="40000"/>
            </a:schemeClr>
          </a:solidFill>
          <a:ln>
            <a:solidFill>
              <a:schemeClr val="accent2">
                <a:lumMod val="60000"/>
                <a:lumOff val="40000"/>
              </a:schemeClr>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8" name="文本框 117"/>
          <p:cNvSpPr txBox="1"/>
          <p:nvPr/>
        </p:nvSpPr>
        <p:spPr>
          <a:xfrm>
            <a:off x="5887085" y="1510665"/>
            <a:ext cx="2506980" cy="521970"/>
          </a:xfrm>
          <a:prstGeom prst="rect">
            <a:avLst/>
          </a:prstGeom>
          <a:noFill/>
        </p:spPr>
        <p:txBody>
          <a:bodyPr wrap="square" rtlCol="0">
            <a:spAutoFit/>
          </a:bodyPr>
          <a:lstStyle/>
          <a:p>
            <a:r>
              <a:rPr lang="en-US" altLang="zh-CN" sz="1400" b="1">
                <a:solidFill>
                  <a:schemeClr val="tx2"/>
                </a:solidFill>
                <a:sym typeface="+mn-ea"/>
              </a:rPr>
              <a:t>Goal: (256,256) * (256,1) MVM</a:t>
            </a:r>
          </a:p>
          <a:p>
            <a:r>
              <a:rPr lang="en-US" altLang="zh-CN" sz="1400" b="1">
                <a:solidFill>
                  <a:schemeClr val="tx2"/>
                </a:solidFill>
                <a:sym typeface="+mn-ea"/>
              </a:rPr>
              <a:t>Result: (256,1) Vector</a:t>
            </a:r>
            <a:endParaRPr lang="zh-CN" altLang="en-US" sz="1400" b="1">
              <a:solidFill>
                <a:schemeClr val="tx2"/>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blinds(horizontal)">
                                      <p:cBhvr>
                                        <p:cTn id="12" dur="500"/>
                                        <p:tgtEl>
                                          <p:spTgt spid="46"/>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blinds(horizontal)">
                                      <p:cBhvr>
                                        <p:cTn id="15" dur="500"/>
                                        <p:tgtEl>
                                          <p:spTgt spid="4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blinds(horizontal)">
                                      <p:cBhvr>
                                        <p:cTn id="20" dur="500"/>
                                        <p:tgtEl>
                                          <p:spTgt spid="48"/>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blinds(horizontal)">
                                      <p:cBhvr>
                                        <p:cTn id="23" dur="500"/>
                                        <p:tgtEl>
                                          <p:spTgt spid="47"/>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blinds(horizontal)">
                                      <p:cBhvr>
                                        <p:cTn id="28" dur="500"/>
                                        <p:tgtEl>
                                          <p:spTgt spid="50"/>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blinds(horizontal)">
                                      <p:cBhvr>
                                        <p:cTn id="31" dur="500"/>
                                        <p:tgtEl>
                                          <p:spTgt spid="49"/>
                                        </p:tgtEl>
                                      </p:cBhvr>
                                    </p:animEffect>
                                  </p:childTnLst>
                                </p:cTn>
                              </p:par>
                            </p:childTnLst>
                          </p:cTn>
                        </p:par>
                      </p:childTnLst>
                    </p:cTn>
                  </p:par>
                  <p:par>
                    <p:cTn id="32" fill="hold">
                      <p:stCondLst>
                        <p:cond delay="indefinite"/>
                      </p:stCondLst>
                      <p:childTnLst>
                        <p:par>
                          <p:cTn id="33" fill="hold">
                            <p:stCondLst>
                              <p:cond delay="0"/>
                            </p:stCondLst>
                            <p:childTnLst>
                              <p:par>
                                <p:cTn id="34" presetID="11" presetClass="entr" presetSubtype="0" fill="hold" grpId="0" nodeType="clickEffect">
                                  <p:stCondLst>
                                    <p:cond delay="0"/>
                                  </p:stCondLst>
                                  <p:childTnLst>
                                    <p:set>
                                      <p:cBhvr>
                                        <p:cTn id="35" dur="1000">
                                          <p:stCondLst>
                                            <p:cond delay="0"/>
                                          </p:stCondLst>
                                        </p:cTn>
                                        <p:tgtEl>
                                          <p:spTgt spid="52"/>
                                        </p:tgtEl>
                                        <p:attrNameLst>
                                          <p:attrName>style.visibility</p:attrName>
                                        </p:attrNameLst>
                                      </p:cBhvr>
                                      <p:to>
                                        <p:strVal val="visible"/>
                                      </p:to>
                                    </p:set>
                                  </p:childTnLst>
                                </p:cTn>
                              </p:par>
                              <p:par>
                                <p:cTn id="36" presetID="11" presetClass="entr" presetSubtype="0" fill="hold" grpId="0" nodeType="withEffect">
                                  <p:stCondLst>
                                    <p:cond delay="0"/>
                                  </p:stCondLst>
                                  <p:childTnLst>
                                    <p:set>
                                      <p:cBhvr>
                                        <p:cTn id="37" dur="1000">
                                          <p:stCondLst>
                                            <p:cond delay="0"/>
                                          </p:stCondLst>
                                        </p:cTn>
                                        <p:tgtEl>
                                          <p:spTgt spid="5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3"/>
                                        </p:tgtEl>
                                        <p:attrNameLst>
                                          <p:attrName>style.visibility</p:attrName>
                                        </p:attrNameLst>
                                      </p:cBhvr>
                                      <p:to>
                                        <p:strVal val="visible"/>
                                      </p:to>
                                    </p:set>
                                    <p:animEffect transition="in" filter="blinds(horizontal)">
                                      <p:cBhvr>
                                        <p:cTn id="42" dur="500"/>
                                        <p:tgtEl>
                                          <p:spTgt spid="53"/>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54"/>
                                        </p:tgtEl>
                                        <p:attrNameLst>
                                          <p:attrName>style.visibility</p:attrName>
                                        </p:attrNameLst>
                                      </p:cBhvr>
                                      <p:to>
                                        <p:strVal val="visible"/>
                                      </p:to>
                                    </p:set>
                                    <p:animEffect transition="in" filter="blinds(horizontal)">
                                      <p:cBhvr>
                                        <p:cTn id="45" dur="500"/>
                                        <p:tgtEl>
                                          <p:spTgt spid="54"/>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55"/>
                                        </p:tgtEl>
                                        <p:attrNameLst>
                                          <p:attrName>style.visibility</p:attrName>
                                        </p:attrNameLst>
                                      </p:cBhvr>
                                      <p:to>
                                        <p:strVal val="visible"/>
                                      </p:to>
                                    </p:set>
                                    <p:animEffect transition="in" filter="blinds(horizontal)">
                                      <p:cBhvr>
                                        <p:cTn id="50" dur="500"/>
                                        <p:tgtEl>
                                          <p:spTgt spid="55"/>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58"/>
                                        </p:tgtEl>
                                        <p:attrNameLst>
                                          <p:attrName>style.visibility</p:attrName>
                                        </p:attrNameLst>
                                      </p:cBhvr>
                                      <p:to>
                                        <p:strVal val="visible"/>
                                      </p:to>
                                    </p:set>
                                    <p:animEffect transition="in" filter="blinds(horizontal)">
                                      <p:cBhvr>
                                        <p:cTn id="53" dur="500"/>
                                        <p:tgtEl>
                                          <p:spTgt spid="58"/>
                                        </p:tgtEl>
                                      </p:cBhvr>
                                    </p:animEffect>
                                  </p:childTnLst>
                                </p:cTn>
                              </p:par>
                            </p:childTnLst>
                          </p:cTn>
                        </p:par>
                      </p:childTnLst>
                    </p:cTn>
                  </p:par>
                  <p:par>
                    <p:cTn id="54" fill="hold">
                      <p:stCondLst>
                        <p:cond delay="indefinite"/>
                      </p:stCondLst>
                      <p:childTnLst>
                        <p:par>
                          <p:cTn id="55" fill="hold">
                            <p:stCondLst>
                              <p:cond delay="0"/>
                            </p:stCondLst>
                            <p:childTnLst>
                              <p:par>
                                <p:cTn id="56" presetID="11" presetClass="entr" presetSubtype="0" fill="hold" grpId="0" nodeType="clickEffect">
                                  <p:stCondLst>
                                    <p:cond delay="0"/>
                                  </p:stCondLst>
                                  <p:childTnLst>
                                    <p:set>
                                      <p:cBhvr>
                                        <p:cTn id="57" dur="1000">
                                          <p:stCondLst>
                                            <p:cond delay="0"/>
                                          </p:stCondLst>
                                        </p:cTn>
                                        <p:tgtEl>
                                          <p:spTgt spid="56"/>
                                        </p:tgtEl>
                                        <p:attrNameLst>
                                          <p:attrName>style.visibility</p:attrName>
                                        </p:attrNameLst>
                                      </p:cBhvr>
                                      <p:to>
                                        <p:strVal val="visible"/>
                                      </p:to>
                                    </p:set>
                                  </p:childTnLst>
                                </p:cTn>
                              </p:par>
                              <p:par>
                                <p:cTn id="58" presetID="11" presetClass="entr" presetSubtype="0" fill="hold" grpId="0" nodeType="withEffect">
                                  <p:stCondLst>
                                    <p:cond delay="0"/>
                                  </p:stCondLst>
                                  <p:childTnLst>
                                    <p:set>
                                      <p:cBhvr>
                                        <p:cTn id="59" dur="1000">
                                          <p:stCondLst>
                                            <p:cond delay="0"/>
                                          </p:stCondLst>
                                        </p:cTn>
                                        <p:tgtEl>
                                          <p:spTgt spid="57"/>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60"/>
                                        </p:tgtEl>
                                        <p:attrNameLst>
                                          <p:attrName>style.visibility</p:attrName>
                                        </p:attrNameLst>
                                      </p:cBhvr>
                                      <p:to>
                                        <p:strVal val="visible"/>
                                      </p:to>
                                    </p:set>
                                    <p:animEffect transition="in" filter="blinds(horizontal)">
                                      <p:cBhvr>
                                        <p:cTn id="64" dur="500"/>
                                        <p:tgtEl>
                                          <p:spTgt spid="60"/>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59"/>
                                        </p:tgtEl>
                                        <p:attrNameLst>
                                          <p:attrName>style.visibility</p:attrName>
                                        </p:attrNameLst>
                                      </p:cBhvr>
                                      <p:to>
                                        <p:strVal val="visible"/>
                                      </p:to>
                                    </p:set>
                                    <p:animEffect transition="in" filter="blinds(horizontal)">
                                      <p:cBhvr>
                                        <p:cTn id="67" dur="500"/>
                                        <p:tgtEl>
                                          <p:spTgt spid="59"/>
                                        </p:tgtEl>
                                      </p:cBhvr>
                                    </p:animEffect>
                                  </p:childTnLst>
                                </p:cTn>
                              </p:par>
                            </p:childTnLst>
                          </p:cTn>
                        </p:par>
                      </p:childTnLst>
                    </p:cTn>
                  </p:par>
                  <p:par>
                    <p:cTn id="68" fill="hold">
                      <p:stCondLst>
                        <p:cond delay="indefinite"/>
                      </p:stCondLst>
                      <p:childTnLst>
                        <p:par>
                          <p:cTn id="69" fill="hold">
                            <p:stCondLst>
                              <p:cond delay="0"/>
                            </p:stCondLst>
                            <p:childTnLst>
                              <p:par>
                                <p:cTn id="70" presetID="11" presetClass="entr" presetSubtype="0" fill="hold" grpId="0" nodeType="clickEffect">
                                  <p:stCondLst>
                                    <p:cond delay="0"/>
                                  </p:stCondLst>
                                  <p:childTnLst>
                                    <p:set>
                                      <p:cBhvr>
                                        <p:cTn id="71" dur="1000">
                                          <p:stCondLst>
                                            <p:cond delay="0"/>
                                          </p:stCondLst>
                                        </p:cTn>
                                        <p:tgtEl>
                                          <p:spTgt spid="62"/>
                                        </p:tgtEl>
                                        <p:attrNameLst>
                                          <p:attrName>style.visibility</p:attrName>
                                        </p:attrNameLst>
                                      </p:cBhvr>
                                      <p:to>
                                        <p:strVal val="visible"/>
                                      </p:to>
                                    </p:set>
                                  </p:childTnLst>
                                </p:cTn>
                              </p:par>
                              <p:par>
                                <p:cTn id="72" presetID="11" presetClass="entr" presetSubtype="0" fill="hold" grpId="0" nodeType="withEffect">
                                  <p:stCondLst>
                                    <p:cond delay="0"/>
                                  </p:stCondLst>
                                  <p:childTnLst>
                                    <p:set>
                                      <p:cBhvr>
                                        <p:cTn id="73" dur="1000">
                                          <p:stCondLst>
                                            <p:cond delay="0"/>
                                          </p:stCondLst>
                                        </p:cTn>
                                        <p:tgtEl>
                                          <p:spTgt spid="61"/>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64"/>
                                        </p:tgtEl>
                                        <p:attrNameLst>
                                          <p:attrName>style.visibility</p:attrName>
                                        </p:attrNameLst>
                                      </p:cBhvr>
                                      <p:to>
                                        <p:strVal val="visible"/>
                                      </p:to>
                                    </p:set>
                                    <p:animEffect transition="in" filter="blinds(horizontal)">
                                      <p:cBhvr>
                                        <p:cTn id="78" dur="500"/>
                                        <p:tgtEl>
                                          <p:spTgt spid="64"/>
                                        </p:tgtEl>
                                      </p:cBhvr>
                                    </p:animEffect>
                                  </p:childTnLst>
                                </p:cTn>
                              </p:par>
                              <p:par>
                                <p:cTn id="79" presetID="3" presetClass="entr" presetSubtype="10" fill="hold" grpId="0" nodeType="withEffect">
                                  <p:stCondLst>
                                    <p:cond delay="0"/>
                                  </p:stCondLst>
                                  <p:childTnLst>
                                    <p:set>
                                      <p:cBhvr>
                                        <p:cTn id="80" dur="1" fill="hold">
                                          <p:stCondLst>
                                            <p:cond delay="0"/>
                                          </p:stCondLst>
                                        </p:cTn>
                                        <p:tgtEl>
                                          <p:spTgt spid="63"/>
                                        </p:tgtEl>
                                        <p:attrNameLst>
                                          <p:attrName>style.visibility</p:attrName>
                                        </p:attrNameLst>
                                      </p:cBhvr>
                                      <p:to>
                                        <p:strVal val="visible"/>
                                      </p:to>
                                    </p:set>
                                    <p:animEffect transition="in" filter="blinds(horizontal)">
                                      <p:cBhvr>
                                        <p:cTn id="81" dur="500"/>
                                        <p:tgtEl>
                                          <p:spTgt spid="63"/>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66"/>
                                        </p:tgtEl>
                                        <p:attrNameLst>
                                          <p:attrName>style.visibility</p:attrName>
                                        </p:attrNameLst>
                                      </p:cBhvr>
                                      <p:to>
                                        <p:strVal val="visible"/>
                                      </p:to>
                                    </p:set>
                                    <p:animEffect transition="in" filter="blinds(horizontal)">
                                      <p:cBhvr>
                                        <p:cTn id="86" dur="500"/>
                                        <p:tgtEl>
                                          <p:spTgt spid="66"/>
                                        </p:tgtEl>
                                      </p:cBhvr>
                                    </p:animEffect>
                                  </p:childTnLst>
                                </p:cTn>
                              </p:par>
                              <p:par>
                                <p:cTn id="87" presetID="3" presetClass="entr" presetSubtype="10" fill="hold" grpId="0" nodeType="withEffect">
                                  <p:stCondLst>
                                    <p:cond delay="0"/>
                                  </p:stCondLst>
                                  <p:childTnLst>
                                    <p:set>
                                      <p:cBhvr>
                                        <p:cTn id="88" dur="1" fill="hold">
                                          <p:stCondLst>
                                            <p:cond delay="0"/>
                                          </p:stCondLst>
                                        </p:cTn>
                                        <p:tgtEl>
                                          <p:spTgt spid="65"/>
                                        </p:tgtEl>
                                        <p:attrNameLst>
                                          <p:attrName>style.visibility</p:attrName>
                                        </p:attrNameLst>
                                      </p:cBhvr>
                                      <p:to>
                                        <p:strVal val="visible"/>
                                      </p:to>
                                    </p:set>
                                    <p:animEffect transition="in" filter="blinds(horizontal)">
                                      <p:cBhvr>
                                        <p:cTn id="89" dur="500"/>
                                        <p:tgtEl>
                                          <p:spTgt spid="65"/>
                                        </p:tgtEl>
                                      </p:cBhvr>
                                    </p:animEffect>
                                  </p:childTnLst>
                                </p:cTn>
                              </p:par>
                            </p:childTnLst>
                          </p:cTn>
                        </p:par>
                      </p:childTnLst>
                    </p:cTn>
                  </p:par>
                  <p:par>
                    <p:cTn id="90" fill="hold">
                      <p:stCondLst>
                        <p:cond delay="indefinite"/>
                      </p:stCondLst>
                      <p:childTnLst>
                        <p:par>
                          <p:cTn id="91" fill="hold">
                            <p:stCondLst>
                              <p:cond delay="0"/>
                            </p:stCondLst>
                            <p:childTnLst>
                              <p:par>
                                <p:cTn id="92" presetID="11" presetClass="entr" presetSubtype="0" fill="hold" grpId="0" nodeType="clickEffect">
                                  <p:stCondLst>
                                    <p:cond delay="0"/>
                                  </p:stCondLst>
                                  <p:childTnLst>
                                    <p:set>
                                      <p:cBhvr>
                                        <p:cTn id="93" dur="1000">
                                          <p:stCondLst>
                                            <p:cond delay="0"/>
                                          </p:stCondLst>
                                        </p:cTn>
                                        <p:tgtEl>
                                          <p:spTgt spid="68"/>
                                        </p:tgtEl>
                                        <p:attrNameLst>
                                          <p:attrName>style.visibility</p:attrName>
                                        </p:attrNameLst>
                                      </p:cBhvr>
                                      <p:to>
                                        <p:strVal val="visible"/>
                                      </p:to>
                                    </p:set>
                                  </p:childTnLst>
                                </p:cTn>
                              </p:par>
                              <p:par>
                                <p:cTn id="94" presetID="11" presetClass="entr" presetSubtype="0" fill="hold" grpId="0" nodeType="withEffect">
                                  <p:stCondLst>
                                    <p:cond delay="0"/>
                                  </p:stCondLst>
                                  <p:childTnLst>
                                    <p:set>
                                      <p:cBhvr>
                                        <p:cTn id="95" dur="1000">
                                          <p:stCondLst>
                                            <p:cond delay="0"/>
                                          </p:stCondLst>
                                        </p:cTn>
                                        <p:tgtEl>
                                          <p:spTgt spid="67"/>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70"/>
                                        </p:tgtEl>
                                        <p:attrNameLst>
                                          <p:attrName>style.visibility</p:attrName>
                                        </p:attrNameLst>
                                      </p:cBhvr>
                                      <p:to>
                                        <p:strVal val="visible"/>
                                      </p:to>
                                    </p:set>
                                    <p:animEffect transition="in" filter="blinds(horizontal)">
                                      <p:cBhvr>
                                        <p:cTn id="100" dur="500"/>
                                        <p:tgtEl>
                                          <p:spTgt spid="70"/>
                                        </p:tgtEl>
                                      </p:cBhvr>
                                    </p:animEffect>
                                  </p:childTnLst>
                                </p:cTn>
                              </p:par>
                              <p:par>
                                <p:cTn id="101" presetID="3" presetClass="entr" presetSubtype="10" fill="hold" grpId="0" nodeType="withEffect">
                                  <p:stCondLst>
                                    <p:cond delay="0"/>
                                  </p:stCondLst>
                                  <p:childTnLst>
                                    <p:set>
                                      <p:cBhvr>
                                        <p:cTn id="102" dur="1" fill="hold">
                                          <p:stCondLst>
                                            <p:cond delay="0"/>
                                          </p:stCondLst>
                                        </p:cTn>
                                        <p:tgtEl>
                                          <p:spTgt spid="69"/>
                                        </p:tgtEl>
                                        <p:attrNameLst>
                                          <p:attrName>style.visibility</p:attrName>
                                        </p:attrNameLst>
                                      </p:cBhvr>
                                      <p:to>
                                        <p:strVal val="visible"/>
                                      </p:to>
                                    </p:set>
                                    <p:animEffect transition="in" filter="blinds(horizontal)">
                                      <p:cBhvr>
                                        <p:cTn id="103" dur="500"/>
                                        <p:tgtEl>
                                          <p:spTgt spid="69"/>
                                        </p:tgtEl>
                                      </p:cBhvr>
                                    </p:animEffect>
                                  </p:childTnLst>
                                </p:cTn>
                              </p:par>
                            </p:childTnLst>
                          </p:cTn>
                        </p:par>
                      </p:childTnLst>
                    </p:cTn>
                  </p:par>
                  <p:par>
                    <p:cTn id="104" fill="hold">
                      <p:stCondLst>
                        <p:cond delay="indefinite"/>
                      </p:stCondLst>
                      <p:childTnLst>
                        <p:par>
                          <p:cTn id="105" fill="hold">
                            <p:stCondLst>
                              <p:cond delay="0"/>
                            </p:stCondLst>
                            <p:childTnLst>
                              <p:par>
                                <p:cTn id="106" presetID="11" presetClass="entr" presetSubtype="0" fill="hold" grpId="0" nodeType="clickEffect">
                                  <p:stCondLst>
                                    <p:cond delay="0"/>
                                  </p:stCondLst>
                                  <p:childTnLst>
                                    <p:set>
                                      <p:cBhvr>
                                        <p:cTn id="107" dur="1000">
                                          <p:stCondLst>
                                            <p:cond delay="0"/>
                                          </p:stCondLst>
                                        </p:cTn>
                                        <p:tgtEl>
                                          <p:spTgt spid="75"/>
                                        </p:tgtEl>
                                        <p:attrNameLst>
                                          <p:attrName>style.visibility</p:attrName>
                                        </p:attrNameLst>
                                      </p:cBhvr>
                                      <p:to>
                                        <p:strVal val="visible"/>
                                      </p:to>
                                    </p:set>
                                  </p:childTnLst>
                                </p:cTn>
                              </p:par>
                              <p:par>
                                <p:cTn id="108" presetID="11" presetClass="entr" presetSubtype="0" fill="hold" grpId="0" nodeType="withEffect">
                                  <p:stCondLst>
                                    <p:cond delay="0"/>
                                  </p:stCondLst>
                                  <p:childTnLst>
                                    <p:set>
                                      <p:cBhvr>
                                        <p:cTn id="109" dur="1000">
                                          <p:stCondLst>
                                            <p:cond delay="0"/>
                                          </p:stCondLst>
                                        </p:cTn>
                                        <p:tgtEl>
                                          <p:spTgt spid="71"/>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3" presetClass="entr" presetSubtype="10" fill="hold" grpId="0" nodeType="clickEffect">
                                  <p:stCondLst>
                                    <p:cond delay="0"/>
                                  </p:stCondLst>
                                  <p:childTnLst>
                                    <p:set>
                                      <p:cBhvr>
                                        <p:cTn id="113" dur="1" fill="hold">
                                          <p:stCondLst>
                                            <p:cond delay="0"/>
                                          </p:stCondLst>
                                        </p:cTn>
                                        <p:tgtEl>
                                          <p:spTgt spid="84"/>
                                        </p:tgtEl>
                                        <p:attrNameLst>
                                          <p:attrName>style.visibility</p:attrName>
                                        </p:attrNameLst>
                                      </p:cBhvr>
                                      <p:to>
                                        <p:strVal val="visible"/>
                                      </p:to>
                                    </p:set>
                                    <p:animEffect transition="in" filter="blinds(horizontal)">
                                      <p:cBhvr>
                                        <p:cTn id="114" dur="500"/>
                                        <p:tgtEl>
                                          <p:spTgt spid="84"/>
                                        </p:tgtEl>
                                      </p:cBhvr>
                                    </p:animEffect>
                                  </p:childTnLst>
                                </p:cTn>
                              </p:par>
                              <p:par>
                                <p:cTn id="115" presetID="3" presetClass="entr" presetSubtype="10" fill="hold" grpId="0" nodeType="withEffect">
                                  <p:stCondLst>
                                    <p:cond delay="0"/>
                                  </p:stCondLst>
                                  <p:childTnLst>
                                    <p:set>
                                      <p:cBhvr>
                                        <p:cTn id="116" dur="1" fill="hold">
                                          <p:stCondLst>
                                            <p:cond delay="0"/>
                                          </p:stCondLst>
                                        </p:cTn>
                                        <p:tgtEl>
                                          <p:spTgt spid="83"/>
                                        </p:tgtEl>
                                        <p:attrNameLst>
                                          <p:attrName>style.visibility</p:attrName>
                                        </p:attrNameLst>
                                      </p:cBhvr>
                                      <p:to>
                                        <p:strVal val="visible"/>
                                      </p:to>
                                    </p:set>
                                    <p:animEffect transition="in" filter="blinds(horizontal)">
                                      <p:cBhvr>
                                        <p:cTn id="117" dur="500"/>
                                        <p:tgtEl>
                                          <p:spTgt spid="83"/>
                                        </p:tgtEl>
                                      </p:cBhvr>
                                    </p:animEffect>
                                  </p:childTnLst>
                                </p:cTn>
                              </p:par>
                            </p:childTnLst>
                          </p:cTn>
                        </p:par>
                      </p:childTnLst>
                    </p:cTn>
                  </p:par>
                  <p:par>
                    <p:cTn id="118" fill="hold">
                      <p:stCondLst>
                        <p:cond delay="indefinite"/>
                      </p:stCondLst>
                      <p:childTnLst>
                        <p:par>
                          <p:cTn id="119" fill="hold">
                            <p:stCondLst>
                              <p:cond delay="0"/>
                            </p:stCondLst>
                            <p:childTnLst>
                              <p:par>
                                <p:cTn id="120" presetID="11" presetClass="entr" presetSubtype="0" fill="hold" grpId="0" nodeType="clickEffect">
                                  <p:stCondLst>
                                    <p:cond delay="0"/>
                                  </p:stCondLst>
                                  <p:childTnLst>
                                    <p:set>
                                      <p:cBhvr>
                                        <p:cTn id="121" dur="1000">
                                          <p:stCondLst>
                                            <p:cond delay="0"/>
                                          </p:stCondLst>
                                        </p:cTn>
                                        <p:tgtEl>
                                          <p:spTgt spid="86"/>
                                        </p:tgtEl>
                                        <p:attrNameLst>
                                          <p:attrName>style.visibility</p:attrName>
                                        </p:attrNameLst>
                                      </p:cBhvr>
                                      <p:to>
                                        <p:strVal val="visible"/>
                                      </p:to>
                                    </p:set>
                                  </p:childTnLst>
                                </p:cTn>
                              </p:par>
                              <p:par>
                                <p:cTn id="122" presetID="11" presetClass="entr" presetSubtype="0" fill="hold" grpId="0" nodeType="withEffect">
                                  <p:stCondLst>
                                    <p:cond delay="0"/>
                                  </p:stCondLst>
                                  <p:childTnLst>
                                    <p:set>
                                      <p:cBhvr>
                                        <p:cTn id="123" dur="1000">
                                          <p:stCondLst>
                                            <p:cond delay="0"/>
                                          </p:stCondLst>
                                        </p:cTn>
                                        <p:tgtEl>
                                          <p:spTgt spid="85"/>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3" presetClass="entr" presetSubtype="10" fill="hold" grpId="0" nodeType="clickEffect">
                                  <p:stCondLst>
                                    <p:cond delay="0"/>
                                  </p:stCondLst>
                                  <p:childTnLst>
                                    <p:set>
                                      <p:cBhvr>
                                        <p:cTn id="127" dur="1" fill="hold">
                                          <p:stCondLst>
                                            <p:cond delay="0"/>
                                          </p:stCondLst>
                                        </p:cTn>
                                        <p:tgtEl>
                                          <p:spTgt spid="102"/>
                                        </p:tgtEl>
                                        <p:attrNameLst>
                                          <p:attrName>style.visibility</p:attrName>
                                        </p:attrNameLst>
                                      </p:cBhvr>
                                      <p:to>
                                        <p:strVal val="visible"/>
                                      </p:to>
                                    </p:set>
                                    <p:animEffect transition="in" filter="blinds(horizontal)">
                                      <p:cBhvr>
                                        <p:cTn id="128" dur="500"/>
                                        <p:tgtEl>
                                          <p:spTgt spid="102"/>
                                        </p:tgtEl>
                                      </p:cBhvr>
                                    </p:animEffect>
                                  </p:childTnLst>
                                </p:cTn>
                              </p:par>
                              <p:par>
                                <p:cTn id="129" presetID="3" presetClass="entr" presetSubtype="10" fill="hold" grpId="0" nodeType="withEffect">
                                  <p:stCondLst>
                                    <p:cond delay="0"/>
                                  </p:stCondLst>
                                  <p:childTnLst>
                                    <p:set>
                                      <p:cBhvr>
                                        <p:cTn id="130" dur="1" fill="hold">
                                          <p:stCondLst>
                                            <p:cond delay="0"/>
                                          </p:stCondLst>
                                        </p:cTn>
                                        <p:tgtEl>
                                          <p:spTgt spid="117"/>
                                        </p:tgtEl>
                                        <p:attrNameLst>
                                          <p:attrName>style.visibility</p:attrName>
                                        </p:attrNameLst>
                                      </p:cBhvr>
                                      <p:to>
                                        <p:strVal val="visible"/>
                                      </p:to>
                                    </p:set>
                                    <p:animEffect transition="in" filter="blinds(horizontal)">
                                      <p:cBhvr>
                                        <p:cTn id="131" dur="500"/>
                                        <p:tgtEl>
                                          <p:spTgt spid="117"/>
                                        </p:tgtEl>
                                      </p:cBhvr>
                                    </p:animEffect>
                                  </p:childTnLst>
                                </p:cTn>
                              </p:par>
                              <p:par>
                                <p:cTn id="132" presetID="3" presetClass="entr" presetSubtype="10" fill="hold" grpId="0" nodeType="withEffect">
                                  <p:stCondLst>
                                    <p:cond delay="0"/>
                                  </p:stCondLst>
                                  <p:childTnLst>
                                    <p:set>
                                      <p:cBhvr>
                                        <p:cTn id="133" dur="1" fill="hold">
                                          <p:stCondLst>
                                            <p:cond delay="0"/>
                                          </p:stCondLst>
                                        </p:cTn>
                                        <p:tgtEl>
                                          <p:spTgt spid="104"/>
                                        </p:tgtEl>
                                        <p:attrNameLst>
                                          <p:attrName>style.visibility</p:attrName>
                                        </p:attrNameLst>
                                      </p:cBhvr>
                                      <p:to>
                                        <p:strVal val="visible"/>
                                      </p:to>
                                    </p:set>
                                    <p:animEffect transition="in" filter="blinds(horizontal)">
                                      <p:cBhvr>
                                        <p:cTn id="134" dur="500"/>
                                        <p:tgtEl>
                                          <p:spTgt spid="104"/>
                                        </p:tgtEl>
                                      </p:cBhvr>
                                    </p:animEffect>
                                  </p:childTnLst>
                                </p:cTn>
                              </p:par>
                              <p:par>
                                <p:cTn id="135" presetID="3" presetClass="entr" presetSubtype="10" fill="hold" grpId="0" nodeType="withEffect">
                                  <p:stCondLst>
                                    <p:cond delay="0"/>
                                  </p:stCondLst>
                                  <p:childTnLst>
                                    <p:set>
                                      <p:cBhvr>
                                        <p:cTn id="136" dur="1" fill="hold">
                                          <p:stCondLst>
                                            <p:cond delay="0"/>
                                          </p:stCondLst>
                                        </p:cTn>
                                        <p:tgtEl>
                                          <p:spTgt spid="116"/>
                                        </p:tgtEl>
                                        <p:attrNameLst>
                                          <p:attrName>style.visibility</p:attrName>
                                        </p:attrNameLst>
                                      </p:cBhvr>
                                      <p:to>
                                        <p:strVal val="visible"/>
                                      </p:to>
                                    </p:set>
                                    <p:animEffect transition="in" filter="blinds(horizontal)">
                                      <p:cBhvr>
                                        <p:cTn id="137" dur="500"/>
                                        <p:tgtEl>
                                          <p:spTgt spid="116"/>
                                        </p:tgtEl>
                                      </p:cBhvr>
                                    </p:animEffect>
                                  </p:childTnLst>
                                </p:cTn>
                              </p:par>
                              <p:par>
                                <p:cTn id="138" presetID="3" presetClass="entr" presetSubtype="10" fill="hold" grpId="0" nodeType="withEffect">
                                  <p:stCondLst>
                                    <p:cond delay="0"/>
                                  </p:stCondLst>
                                  <p:childTnLst>
                                    <p:set>
                                      <p:cBhvr>
                                        <p:cTn id="139" dur="1" fill="hold">
                                          <p:stCondLst>
                                            <p:cond delay="0"/>
                                          </p:stCondLst>
                                        </p:cTn>
                                        <p:tgtEl>
                                          <p:spTgt spid="112"/>
                                        </p:tgtEl>
                                        <p:attrNameLst>
                                          <p:attrName>style.visibility</p:attrName>
                                        </p:attrNameLst>
                                      </p:cBhvr>
                                      <p:to>
                                        <p:strVal val="visible"/>
                                      </p:to>
                                    </p:set>
                                    <p:animEffect transition="in" filter="blinds(horizontal)">
                                      <p:cBhvr>
                                        <p:cTn id="140" dur="500"/>
                                        <p:tgtEl>
                                          <p:spTgt spid="112"/>
                                        </p:tgtEl>
                                      </p:cBhvr>
                                    </p:animEffect>
                                  </p:childTnLst>
                                </p:cTn>
                              </p:par>
                              <p:par>
                                <p:cTn id="141" presetID="3" presetClass="entr" presetSubtype="10" fill="hold" grpId="0" nodeType="withEffect">
                                  <p:stCondLst>
                                    <p:cond delay="0"/>
                                  </p:stCondLst>
                                  <p:childTnLst>
                                    <p:set>
                                      <p:cBhvr>
                                        <p:cTn id="142" dur="1" fill="hold">
                                          <p:stCondLst>
                                            <p:cond delay="0"/>
                                          </p:stCondLst>
                                        </p:cTn>
                                        <p:tgtEl>
                                          <p:spTgt spid="105"/>
                                        </p:tgtEl>
                                        <p:attrNameLst>
                                          <p:attrName>style.visibility</p:attrName>
                                        </p:attrNameLst>
                                      </p:cBhvr>
                                      <p:to>
                                        <p:strVal val="visible"/>
                                      </p:to>
                                    </p:set>
                                    <p:animEffect transition="in" filter="blinds(horizontal)">
                                      <p:cBhvr>
                                        <p:cTn id="143" dur="500"/>
                                        <p:tgtEl>
                                          <p:spTgt spid="105"/>
                                        </p:tgtEl>
                                      </p:cBhvr>
                                    </p:animEffect>
                                  </p:childTnLst>
                                </p:cTn>
                              </p:par>
                              <p:par>
                                <p:cTn id="144" presetID="3" presetClass="entr" presetSubtype="10" fill="hold" grpId="0" nodeType="withEffect">
                                  <p:stCondLst>
                                    <p:cond delay="0"/>
                                  </p:stCondLst>
                                  <p:childTnLst>
                                    <p:set>
                                      <p:cBhvr>
                                        <p:cTn id="145" dur="1" fill="hold">
                                          <p:stCondLst>
                                            <p:cond delay="0"/>
                                          </p:stCondLst>
                                        </p:cTn>
                                        <p:tgtEl>
                                          <p:spTgt spid="103"/>
                                        </p:tgtEl>
                                        <p:attrNameLst>
                                          <p:attrName>style.visibility</p:attrName>
                                        </p:attrNameLst>
                                      </p:cBhvr>
                                      <p:to>
                                        <p:strVal val="visible"/>
                                      </p:to>
                                    </p:set>
                                    <p:animEffect transition="in" filter="blinds(horizontal)">
                                      <p:cBhvr>
                                        <p:cTn id="146" dur="500"/>
                                        <p:tgtEl>
                                          <p:spTgt spid="103"/>
                                        </p:tgtEl>
                                      </p:cBhvr>
                                    </p:animEffect>
                                  </p:childTnLst>
                                </p:cTn>
                              </p:par>
                              <p:par>
                                <p:cTn id="147" presetID="3" presetClass="entr" presetSubtype="10" fill="hold" grpId="0" nodeType="withEffect">
                                  <p:stCondLst>
                                    <p:cond delay="0"/>
                                  </p:stCondLst>
                                  <p:childTnLst>
                                    <p:set>
                                      <p:cBhvr>
                                        <p:cTn id="148" dur="1" fill="hold">
                                          <p:stCondLst>
                                            <p:cond delay="0"/>
                                          </p:stCondLst>
                                        </p:cTn>
                                        <p:tgtEl>
                                          <p:spTgt spid="109"/>
                                        </p:tgtEl>
                                        <p:attrNameLst>
                                          <p:attrName>style.visibility</p:attrName>
                                        </p:attrNameLst>
                                      </p:cBhvr>
                                      <p:to>
                                        <p:strVal val="visible"/>
                                      </p:to>
                                    </p:set>
                                    <p:animEffect transition="in" filter="blinds(horizontal)">
                                      <p:cBhvr>
                                        <p:cTn id="149" dur="500"/>
                                        <p:tgtEl>
                                          <p:spTgt spid="109"/>
                                        </p:tgtEl>
                                      </p:cBhvr>
                                    </p:animEffect>
                                  </p:childTnLst>
                                </p:cTn>
                              </p:par>
                              <p:par>
                                <p:cTn id="150" presetID="3" presetClass="entr" presetSubtype="10" fill="hold" grpId="0" nodeType="withEffect">
                                  <p:stCondLst>
                                    <p:cond delay="0"/>
                                  </p:stCondLst>
                                  <p:childTnLst>
                                    <p:set>
                                      <p:cBhvr>
                                        <p:cTn id="151" dur="1" fill="hold">
                                          <p:stCondLst>
                                            <p:cond delay="0"/>
                                          </p:stCondLst>
                                        </p:cTn>
                                        <p:tgtEl>
                                          <p:spTgt spid="111"/>
                                        </p:tgtEl>
                                        <p:attrNameLst>
                                          <p:attrName>style.visibility</p:attrName>
                                        </p:attrNameLst>
                                      </p:cBhvr>
                                      <p:to>
                                        <p:strVal val="visible"/>
                                      </p:to>
                                    </p:set>
                                    <p:animEffect transition="in" filter="blinds(horizontal)">
                                      <p:cBhvr>
                                        <p:cTn id="152" dur="500"/>
                                        <p:tgtEl>
                                          <p:spTgt spid="111"/>
                                        </p:tgtEl>
                                      </p:cBhvr>
                                    </p:animEffect>
                                  </p:childTnLst>
                                </p:cTn>
                              </p:par>
                              <p:par>
                                <p:cTn id="153" presetID="3" presetClass="entr" presetSubtype="10" fill="hold" grpId="0" nodeType="withEffect">
                                  <p:stCondLst>
                                    <p:cond delay="0"/>
                                  </p:stCondLst>
                                  <p:childTnLst>
                                    <p:set>
                                      <p:cBhvr>
                                        <p:cTn id="154" dur="1" fill="hold">
                                          <p:stCondLst>
                                            <p:cond delay="0"/>
                                          </p:stCondLst>
                                        </p:cTn>
                                        <p:tgtEl>
                                          <p:spTgt spid="106"/>
                                        </p:tgtEl>
                                        <p:attrNameLst>
                                          <p:attrName>style.visibility</p:attrName>
                                        </p:attrNameLst>
                                      </p:cBhvr>
                                      <p:to>
                                        <p:strVal val="visible"/>
                                      </p:to>
                                    </p:set>
                                    <p:animEffect transition="in" filter="blinds(horizontal)">
                                      <p:cBhvr>
                                        <p:cTn id="155" dur="500"/>
                                        <p:tgtEl>
                                          <p:spTgt spid="106"/>
                                        </p:tgtEl>
                                      </p:cBhvr>
                                    </p:animEffect>
                                  </p:childTnLst>
                                </p:cTn>
                              </p:par>
                              <p:par>
                                <p:cTn id="156" presetID="3" presetClass="entr" presetSubtype="10" fill="hold" grpId="0" nodeType="withEffect">
                                  <p:stCondLst>
                                    <p:cond delay="0"/>
                                  </p:stCondLst>
                                  <p:childTnLst>
                                    <p:set>
                                      <p:cBhvr>
                                        <p:cTn id="157" dur="1" fill="hold">
                                          <p:stCondLst>
                                            <p:cond delay="0"/>
                                          </p:stCondLst>
                                        </p:cTn>
                                        <p:tgtEl>
                                          <p:spTgt spid="114"/>
                                        </p:tgtEl>
                                        <p:attrNameLst>
                                          <p:attrName>style.visibility</p:attrName>
                                        </p:attrNameLst>
                                      </p:cBhvr>
                                      <p:to>
                                        <p:strVal val="visible"/>
                                      </p:to>
                                    </p:set>
                                    <p:animEffect transition="in" filter="blinds(horizontal)">
                                      <p:cBhvr>
                                        <p:cTn id="158" dur="500"/>
                                        <p:tgtEl>
                                          <p:spTgt spid="114"/>
                                        </p:tgtEl>
                                      </p:cBhvr>
                                    </p:animEffect>
                                  </p:childTnLst>
                                </p:cTn>
                              </p:par>
                              <p:par>
                                <p:cTn id="159" presetID="3" presetClass="entr" presetSubtype="10" fill="hold" grpId="0" nodeType="withEffect">
                                  <p:stCondLst>
                                    <p:cond delay="0"/>
                                  </p:stCondLst>
                                  <p:childTnLst>
                                    <p:set>
                                      <p:cBhvr>
                                        <p:cTn id="160" dur="1" fill="hold">
                                          <p:stCondLst>
                                            <p:cond delay="0"/>
                                          </p:stCondLst>
                                        </p:cTn>
                                        <p:tgtEl>
                                          <p:spTgt spid="113"/>
                                        </p:tgtEl>
                                        <p:attrNameLst>
                                          <p:attrName>style.visibility</p:attrName>
                                        </p:attrNameLst>
                                      </p:cBhvr>
                                      <p:to>
                                        <p:strVal val="visible"/>
                                      </p:to>
                                    </p:set>
                                    <p:animEffect transition="in" filter="blinds(horizontal)">
                                      <p:cBhvr>
                                        <p:cTn id="161" dur="500"/>
                                        <p:tgtEl>
                                          <p:spTgt spid="113"/>
                                        </p:tgtEl>
                                      </p:cBhvr>
                                    </p:animEffect>
                                  </p:childTnLst>
                                </p:cTn>
                              </p:par>
                              <p:par>
                                <p:cTn id="162" presetID="3" presetClass="entr" presetSubtype="10" fill="hold" grpId="0" nodeType="withEffect">
                                  <p:stCondLst>
                                    <p:cond delay="0"/>
                                  </p:stCondLst>
                                  <p:childTnLst>
                                    <p:set>
                                      <p:cBhvr>
                                        <p:cTn id="163" dur="1" fill="hold">
                                          <p:stCondLst>
                                            <p:cond delay="0"/>
                                          </p:stCondLst>
                                        </p:cTn>
                                        <p:tgtEl>
                                          <p:spTgt spid="107"/>
                                        </p:tgtEl>
                                        <p:attrNameLst>
                                          <p:attrName>style.visibility</p:attrName>
                                        </p:attrNameLst>
                                      </p:cBhvr>
                                      <p:to>
                                        <p:strVal val="visible"/>
                                      </p:to>
                                    </p:set>
                                    <p:animEffect transition="in" filter="blinds(horizontal)">
                                      <p:cBhvr>
                                        <p:cTn id="164" dur="500"/>
                                        <p:tgtEl>
                                          <p:spTgt spid="107"/>
                                        </p:tgtEl>
                                      </p:cBhvr>
                                    </p:animEffect>
                                  </p:childTnLst>
                                </p:cTn>
                              </p:par>
                              <p:par>
                                <p:cTn id="165" presetID="3" presetClass="entr" presetSubtype="10" fill="hold" grpId="0" nodeType="withEffect">
                                  <p:stCondLst>
                                    <p:cond delay="0"/>
                                  </p:stCondLst>
                                  <p:childTnLst>
                                    <p:set>
                                      <p:cBhvr>
                                        <p:cTn id="166" dur="1" fill="hold">
                                          <p:stCondLst>
                                            <p:cond delay="0"/>
                                          </p:stCondLst>
                                        </p:cTn>
                                        <p:tgtEl>
                                          <p:spTgt spid="115"/>
                                        </p:tgtEl>
                                        <p:attrNameLst>
                                          <p:attrName>style.visibility</p:attrName>
                                        </p:attrNameLst>
                                      </p:cBhvr>
                                      <p:to>
                                        <p:strVal val="visible"/>
                                      </p:to>
                                    </p:set>
                                    <p:animEffect transition="in" filter="blinds(horizontal)">
                                      <p:cBhvr>
                                        <p:cTn id="167" dur="500"/>
                                        <p:tgtEl>
                                          <p:spTgt spid="115"/>
                                        </p:tgtEl>
                                      </p:cBhvr>
                                    </p:animEffect>
                                  </p:childTnLst>
                                </p:cTn>
                              </p:par>
                              <p:par>
                                <p:cTn id="168" presetID="3" presetClass="entr" presetSubtype="10" fill="hold" grpId="0" nodeType="withEffect">
                                  <p:stCondLst>
                                    <p:cond delay="0"/>
                                  </p:stCondLst>
                                  <p:childTnLst>
                                    <p:set>
                                      <p:cBhvr>
                                        <p:cTn id="169" dur="1" fill="hold">
                                          <p:stCondLst>
                                            <p:cond delay="0"/>
                                          </p:stCondLst>
                                        </p:cTn>
                                        <p:tgtEl>
                                          <p:spTgt spid="108"/>
                                        </p:tgtEl>
                                        <p:attrNameLst>
                                          <p:attrName>style.visibility</p:attrName>
                                        </p:attrNameLst>
                                      </p:cBhvr>
                                      <p:to>
                                        <p:strVal val="visible"/>
                                      </p:to>
                                    </p:set>
                                    <p:animEffect transition="in" filter="blinds(horizontal)">
                                      <p:cBhvr>
                                        <p:cTn id="170" dur="500"/>
                                        <p:tgtEl>
                                          <p:spTgt spid="108"/>
                                        </p:tgtEl>
                                      </p:cBhvr>
                                    </p:animEffect>
                                  </p:childTnLst>
                                </p:cTn>
                              </p:par>
                              <p:par>
                                <p:cTn id="171" presetID="3" presetClass="entr" presetSubtype="10" fill="hold" grpId="0" nodeType="withEffect">
                                  <p:stCondLst>
                                    <p:cond delay="0"/>
                                  </p:stCondLst>
                                  <p:childTnLst>
                                    <p:set>
                                      <p:cBhvr>
                                        <p:cTn id="172" dur="1" fill="hold">
                                          <p:stCondLst>
                                            <p:cond delay="0"/>
                                          </p:stCondLst>
                                        </p:cTn>
                                        <p:tgtEl>
                                          <p:spTgt spid="110"/>
                                        </p:tgtEl>
                                        <p:attrNameLst>
                                          <p:attrName>style.visibility</p:attrName>
                                        </p:attrNameLst>
                                      </p:cBhvr>
                                      <p:to>
                                        <p:strVal val="visible"/>
                                      </p:to>
                                    </p:set>
                                    <p:animEffect transition="in" filter="blinds(horizontal)">
                                      <p:cBhvr>
                                        <p:cTn id="173" dur="500"/>
                                        <p:tgtEl>
                                          <p:spTgt spid="110"/>
                                        </p:tgtEl>
                                      </p:cBhvr>
                                    </p:animEffect>
                                  </p:childTnLst>
                                </p:cTn>
                              </p:par>
                              <p:par>
                                <p:cTn id="174" presetID="3" presetClass="entr" presetSubtype="10" fill="hold" grpId="0" nodeType="withEffect">
                                  <p:stCondLst>
                                    <p:cond delay="0"/>
                                  </p:stCondLst>
                                  <p:childTnLst>
                                    <p:set>
                                      <p:cBhvr>
                                        <p:cTn id="175" dur="1" fill="hold">
                                          <p:stCondLst>
                                            <p:cond delay="0"/>
                                          </p:stCondLst>
                                        </p:cTn>
                                        <p:tgtEl>
                                          <p:spTgt spid="12"/>
                                        </p:tgtEl>
                                        <p:attrNameLst>
                                          <p:attrName>style.visibility</p:attrName>
                                        </p:attrNameLst>
                                      </p:cBhvr>
                                      <p:to>
                                        <p:strVal val="visible"/>
                                      </p:to>
                                    </p:set>
                                    <p:animEffect transition="in" filter="blinds(horizontal)">
                                      <p:cBhvr>
                                        <p:cTn id="176" dur="500"/>
                                        <p:tgtEl>
                                          <p:spTgt spid="12"/>
                                        </p:tgtEl>
                                      </p:cBhvr>
                                    </p:animEffect>
                                  </p:childTnLst>
                                </p:cTn>
                              </p:par>
                            </p:childTnLst>
                          </p:cTn>
                        </p:par>
                      </p:childTnLst>
                    </p:cTn>
                  </p:par>
                  <p:par>
                    <p:cTn id="177" fill="hold">
                      <p:stCondLst>
                        <p:cond delay="indefinite"/>
                      </p:stCondLst>
                      <p:childTnLst>
                        <p:par>
                          <p:cTn id="178" fill="hold">
                            <p:stCondLst>
                              <p:cond delay="0"/>
                            </p:stCondLst>
                            <p:childTnLst>
                              <p:par>
                                <p:cTn id="179" presetID="3" presetClass="entr" presetSubtype="10" fill="hold" grpId="0" nodeType="clickEffect">
                                  <p:stCondLst>
                                    <p:cond delay="0"/>
                                  </p:stCondLst>
                                  <p:childTnLst>
                                    <p:set>
                                      <p:cBhvr>
                                        <p:cTn id="180" dur="1" fill="hold">
                                          <p:stCondLst>
                                            <p:cond delay="0"/>
                                          </p:stCondLst>
                                        </p:cTn>
                                        <p:tgtEl>
                                          <p:spTgt spid="87"/>
                                        </p:tgtEl>
                                        <p:attrNameLst>
                                          <p:attrName>style.visibility</p:attrName>
                                        </p:attrNameLst>
                                      </p:cBhvr>
                                      <p:to>
                                        <p:strVal val="visible"/>
                                      </p:to>
                                    </p:set>
                                    <p:animEffect transition="in" filter="blinds(horizontal)">
                                      <p:cBhvr>
                                        <p:cTn id="181" dur="500"/>
                                        <p:tgtEl>
                                          <p:spTgt spid="87"/>
                                        </p:tgtEl>
                                      </p:cBhvr>
                                    </p:animEffect>
                                  </p:childTnLst>
                                </p:cTn>
                              </p:par>
                              <p:par>
                                <p:cTn id="182" presetID="3" presetClass="entr" presetSubtype="10" fill="hold" nodeType="withEffect">
                                  <p:stCondLst>
                                    <p:cond delay="0"/>
                                  </p:stCondLst>
                                  <p:childTnLst>
                                    <p:set>
                                      <p:cBhvr>
                                        <p:cTn id="183" dur="1" fill="hold">
                                          <p:stCondLst>
                                            <p:cond delay="0"/>
                                          </p:stCondLst>
                                        </p:cTn>
                                        <p:tgtEl>
                                          <p:spTgt spid="88"/>
                                        </p:tgtEl>
                                        <p:attrNameLst>
                                          <p:attrName>style.visibility</p:attrName>
                                        </p:attrNameLst>
                                      </p:cBhvr>
                                      <p:to>
                                        <p:strVal val="visible"/>
                                      </p:to>
                                    </p:set>
                                    <p:animEffect transition="in" filter="blinds(horizontal)">
                                      <p:cBhvr>
                                        <p:cTn id="184" dur="500"/>
                                        <p:tgtEl>
                                          <p:spTgt spid="88"/>
                                        </p:tgtEl>
                                      </p:cBhvr>
                                    </p:animEffect>
                                  </p:childTnLst>
                                </p:cTn>
                              </p:par>
                              <p:par>
                                <p:cTn id="185" presetID="3" presetClass="entr" presetSubtype="10" fill="hold" nodeType="withEffect">
                                  <p:stCondLst>
                                    <p:cond delay="0"/>
                                  </p:stCondLst>
                                  <p:childTnLst>
                                    <p:set>
                                      <p:cBhvr>
                                        <p:cTn id="186" dur="1" fill="hold">
                                          <p:stCondLst>
                                            <p:cond delay="0"/>
                                          </p:stCondLst>
                                        </p:cTn>
                                        <p:tgtEl>
                                          <p:spTgt spid="89"/>
                                        </p:tgtEl>
                                        <p:attrNameLst>
                                          <p:attrName>style.visibility</p:attrName>
                                        </p:attrNameLst>
                                      </p:cBhvr>
                                      <p:to>
                                        <p:strVal val="visible"/>
                                      </p:to>
                                    </p:set>
                                    <p:animEffect transition="in" filter="blinds(horizontal)">
                                      <p:cBhvr>
                                        <p:cTn id="187" dur="500"/>
                                        <p:tgtEl>
                                          <p:spTgt spid="89"/>
                                        </p:tgtEl>
                                      </p:cBhvr>
                                    </p:animEffect>
                                  </p:childTnLst>
                                </p:cTn>
                              </p:par>
                              <p:par>
                                <p:cTn id="188" presetID="3" presetClass="entr" presetSubtype="10" fill="hold" nodeType="withEffect">
                                  <p:stCondLst>
                                    <p:cond delay="0"/>
                                  </p:stCondLst>
                                  <p:childTnLst>
                                    <p:set>
                                      <p:cBhvr>
                                        <p:cTn id="189" dur="1" fill="hold">
                                          <p:stCondLst>
                                            <p:cond delay="0"/>
                                          </p:stCondLst>
                                        </p:cTn>
                                        <p:tgtEl>
                                          <p:spTgt spid="90"/>
                                        </p:tgtEl>
                                        <p:attrNameLst>
                                          <p:attrName>style.visibility</p:attrName>
                                        </p:attrNameLst>
                                      </p:cBhvr>
                                      <p:to>
                                        <p:strVal val="visible"/>
                                      </p:to>
                                    </p:set>
                                    <p:animEffect transition="in" filter="blinds(horizontal)">
                                      <p:cBhvr>
                                        <p:cTn id="190" dur="500"/>
                                        <p:tgtEl>
                                          <p:spTgt spid="90"/>
                                        </p:tgtEl>
                                      </p:cBhvr>
                                    </p:animEffect>
                                  </p:childTnLst>
                                </p:cTn>
                              </p:par>
                              <p:par>
                                <p:cTn id="191" presetID="3" presetClass="entr" presetSubtype="10" fill="hold" nodeType="withEffect">
                                  <p:stCondLst>
                                    <p:cond delay="0"/>
                                  </p:stCondLst>
                                  <p:childTnLst>
                                    <p:set>
                                      <p:cBhvr>
                                        <p:cTn id="192" dur="1" fill="hold">
                                          <p:stCondLst>
                                            <p:cond delay="0"/>
                                          </p:stCondLst>
                                        </p:cTn>
                                        <p:tgtEl>
                                          <p:spTgt spid="91"/>
                                        </p:tgtEl>
                                        <p:attrNameLst>
                                          <p:attrName>style.visibility</p:attrName>
                                        </p:attrNameLst>
                                      </p:cBhvr>
                                      <p:to>
                                        <p:strVal val="visible"/>
                                      </p:to>
                                    </p:set>
                                    <p:animEffect transition="in" filter="blinds(horizontal)">
                                      <p:cBhvr>
                                        <p:cTn id="193" dur="500"/>
                                        <p:tgtEl>
                                          <p:spTgt spid="91"/>
                                        </p:tgtEl>
                                      </p:cBhvr>
                                    </p:animEffect>
                                  </p:childTnLst>
                                </p:cTn>
                              </p:par>
                              <p:par>
                                <p:cTn id="194" presetID="3" presetClass="entr" presetSubtype="10" fill="hold" nodeType="withEffect">
                                  <p:stCondLst>
                                    <p:cond delay="0"/>
                                  </p:stCondLst>
                                  <p:childTnLst>
                                    <p:set>
                                      <p:cBhvr>
                                        <p:cTn id="195" dur="1" fill="hold">
                                          <p:stCondLst>
                                            <p:cond delay="0"/>
                                          </p:stCondLst>
                                        </p:cTn>
                                        <p:tgtEl>
                                          <p:spTgt spid="92"/>
                                        </p:tgtEl>
                                        <p:attrNameLst>
                                          <p:attrName>style.visibility</p:attrName>
                                        </p:attrNameLst>
                                      </p:cBhvr>
                                      <p:to>
                                        <p:strVal val="visible"/>
                                      </p:to>
                                    </p:set>
                                    <p:animEffect transition="in" filter="blinds(horizontal)">
                                      <p:cBhvr>
                                        <p:cTn id="196" dur="500"/>
                                        <p:tgtEl>
                                          <p:spTgt spid="92"/>
                                        </p:tgtEl>
                                      </p:cBhvr>
                                    </p:animEffect>
                                  </p:childTnLst>
                                </p:cTn>
                              </p:par>
                              <p:par>
                                <p:cTn id="197" presetID="3" presetClass="entr" presetSubtype="10" fill="hold" nodeType="withEffect">
                                  <p:stCondLst>
                                    <p:cond delay="0"/>
                                  </p:stCondLst>
                                  <p:childTnLst>
                                    <p:set>
                                      <p:cBhvr>
                                        <p:cTn id="198" dur="1" fill="hold">
                                          <p:stCondLst>
                                            <p:cond delay="0"/>
                                          </p:stCondLst>
                                        </p:cTn>
                                        <p:tgtEl>
                                          <p:spTgt spid="93"/>
                                        </p:tgtEl>
                                        <p:attrNameLst>
                                          <p:attrName>style.visibility</p:attrName>
                                        </p:attrNameLst>
                                      </p:cBhvr>
                                      <p:to>
                                        <p:strVal val="visible"/>
                                      </p:to>
                                    </p:set>
                                    <p:animEffect transition="in" filter="blinds(horizontal)">
                                      <p:cBhvr>
                                        <p:cTn id="199" dur="500"/>
                                        <p:tgtEl>
                                          <p:spTgt spid="93"/>
                                        </p:tgtEl>
                                      </p:cBhvr>
                                    </p:animEffect>
                                  </p:childTnLst>
                                </p:cTn>
                              </p:par>
                              <p:par>
                                <p:cTn id="200" presetID="3" presetClass="entr" presetSubtype="10" fill="hold" grpId="0" nodeType="withEffect">
                                  <p:stCondLst>
                                    <p:cond delay="0"/>
                                  </p:stCondLst>
                                  <p:childTnLst>
                                    <p:set>
                                      <p:cBhvr>
                                        <p:cTn id="201" dur="1" fill="hold">
                                          <p:stCondLst>
                                            <p:cond delay="0"/>
                                          </p:stCondLst>
                                        </p:cTn>
                                        <p:tgtEl>
                                          <p:spTgt spid="94"/>
                                        </p:tgtEl>
                                        <p:attrNameLst>
                                          <p:attrName>style.visibility</p:attrName>
                                        </p:attrNameLst>
                                      </p:cBhvr>
                                      <p:to>
                                        <p:strVal val="visible"/>
                                      </p:to>
                                    </p:set>
                                    <p:animEffect transition="in" filter="blinds(horizontal)">
                                      <p:cBhvr>
                                        <p:cTn id="202" dur="500"/>
                                        <p:tgtEl>
                                          <p:spTgt spid="94"/>
                                        </p:tgtEl>
                                      </p:cBhvr>
                                    </p:animEffect>
                                  </p:childTnLst>
                                </p:cTn>
                              </p:par>
                              <p:par>
                                <p:cTn id="203" presetID="3" presetClass="entr" presetSubtype="10" fill="hold" nodeType="withEffect">
                                  <p:stCondLst>
                                    <p:cond delay="0"/>
                                  </p:stCondLst>
                                  <p:childTnLst>
                                    <p:set>
                                      <p:cBhvr>
                                        <p:cTn id="204" dur="1" fill="hold">
                                          <p:stCondLst>
                                            <p:cond delay="0"/>
                                          </p:stCondLst>
                                        </p:cTn>
                                        <p:tgtEl>
                                          <p:spTgt spid="95"/>
                                        </p:tgtEl>
                                        <p:attrNameLst>
                                          <p:attrName>style.visibility</p:attrName>
                                        </p:attrNameLst>
                                      </p:cBhvr>
                                      <p:to>
                                        <p:strVal val="visible"/>
                                      </p:to>
                                    </p:set>
                                    <p:animEffect transition="in" filter="blinds(horizontal)">
                                      <p:cBhvr>
                                        <p:cTn id="205" dur="500"/>
                                        <p:tgtEl>
                                          <p:spTgt spid="95"/>
                                        </p:tgtEl>
                                      </p:cBhvr>
                                    </p:animEffect>
                                  </p:childTnLst>
                                </p:cTn>
                              </p:par>
                              <p:par>
                                <p:cTn id="206" presetID="3" presetClass="entr" presetSubtype="10" fill="hold" nodeType="withEffect">
                                  <p:stCondLst>
                                    <p:cond delay="0"/>
                                  </p:stCondLst>
                                  <p:childTnLst>
                                    <p:set>
                                      <p:cBhvr>
                                        <p:cTn id="207" dur="1" fill="hold">
                                          <p:stCondLst>
                                            <p:cond delay="0"/>
                                          </p:stCondLst>
                                        </p:cTn>
                                        <p:tgtEl>
                                          <p:spTgt spid="96"/>
                                        </p:tgtEl>
                                        <p:attrNameLst>
                                          <p:attrName>style.visibility</p:attrName>
                                        </p:attrNameLst>
                                      </p:cBhvr>
                                      <p:to>
                                        <p:strVal val="visible"/>
                                      </p:to>
                                    </p:set>
                                    <p:animEffect transition="in" filter="blinds(horizontal)">
                                      <p:cBhvr>
                                        <p:cTn id="208" dur="500"/>
                                        <p:tgtEl>
                                          <p:spTgt spid="96"/>
                                        </p:tgtEl>
                                      </p:cBhvr>
                                    </p:animEffect>
                                  </p:childTnLst>
                                </p:cTn>
                              </p:par>
                              <p:par>
                                <p:cTn id="209" presetID="3" presetClass="entr" presetSubtype="10" fill="hold" nodeType="withEffect">
                                  <p:stCondLst>
                                    <p:cond delay="0"/>
                                  </p:stCondLst>
                                  <p:childTnLst>
                                    <p:set>
                                      <p:cBhvr>
                                        <p:cTn id="210" dur="1" fill="hold">
                                          <p:stCondLst>
                                            <p:cond delay="0"/>
                                          </p:stCondLst>
                                        </p:cTn>
                                        <p:tgtEl>
                                          <p:spTgt spid="97"/>
                                        </p:tgtEl>
                                        <p:attrNameLst>
                                          <p:attrName>style.visibility</p:attrName>
                                        </p:attrNameLst>
                                      </p:cBhvr>
                                      <p:to>
                                        <p:strVal val="visible"/>
                                      </p:to>
                                    </p:set>
                                    <p:animEffect transition="in" filter="blinds(horizontal)">
                                      <p:cBhvr>
                                        <p:cTn id="211" dur="500"/>
                                        <p:tgtEl>
                                          <p:spTgt spid="97"/>
                                        </p:tgtEl>
                                      </p:cBhvr>
                                    </p:animEffect>
                                  </p:childTnLst>
                                </p:cTn>
                              </p:par>
                              <p:par>
                                <p:cTn id="212" presetID="3" presetClass="entr" presetSubtype="10" fill="hold" grpId="0" nodeType="withEffect">
                                  <p:stCondLst>
                                    <p:cond delay="0"/>
                                  </p:stCondLst>
                                  <p:childTnLst>
                                    <p:set>
                                      <p:cBhvr>
                                        <p:cTn id="213" dur="1" fill="hold">
                                          <p:stCondLst>
                                            <p:cond delay="0"/>
                                          </p:stCondLst>
                                        </p:cTn>
                                        <p:tgtEl>
                                          <p:spTgt spid="101"/>
                                        </p:tgtEl>
                                        <p:attrNameLst>
                                          <p:attrName>style.visibility</p:attrName>
                                        </p:attrNameLst>
                                      </p:cBhvr>
                                      <p:to>
                                        <p:strVal val="visible"/>
                                      </p:to>
                                    </p:set>
                                    <p:animEffect transition="in" filter="blinds(horizontal)">
                                      <p:cBhvr>
                                        <p:cTn id="214" dur="500"/>
                                        <p:tgtEl>
                                          <p:spTgt spid="101"/>
                                        </p:tgtEl>
                                      </p:cBhvr>
                                    </p:animEffect>
                                  </p:childTnLst>
                                </p:cTn>
                              </p:par>
                              <p:par>
                                <p:cTn id="215" presetID="3" presetClass="entr" presetSubtype="10" fill="hold" grpId="0" nodeType="withEffect">
                                  <p:stCondLst>
                                    <p:cond delay="0"/>
                                  </p:stCondLst>
                                  <p:childTnLst>
                                    <p:set>
                                      <p:cBhvr>
                                        <p:cTn id="216" dur="1" fill="hold">
                                          <p:stCondLst>
                                            <p:cond delay="0"/>
                                          </p:stCondLst>
                                        </p:cTn>
                                        <p:tgtEl>
                                          <p:spTgt spid="74"/>
                                        </p:tgtEl>
                                        <p:attrNameLst>
                                          <p:attrName>style.visibility</p:attrName>
                                        </p:attrNameLst>
                                      </p:cBhvr>
                                      <p:to>
                                        <p:strVal val="visible"/>
                                      </p:to>
                                    </p:set>
                                    <p:animEffect transition="in" filter="blinds(horizontal)">
                                      <p:cBhvr>
                                        <p:cTn id="217" dur="500"/>
                                        <p:tgtEl>
                                          <p:spTgt spid="74"/>
                                        </p:tgtEl>
                                      </p:cBhvr>
                                    </p:animEffect>
                                  </p:childTnLst>
                                </p:cTn>
                              </p:par>
                            </p:childTnLst>
                          </p:cTn>
                        </p:par>
                      </p:childTnLst>
                    </p:cTn>
                  </p:par>
                  <p:par>
                    <p:cTn id="218" fill="hold">
                      <p:stCondLst>
                        <p:cond delay="indefinite"/>
                      </p:stCondLst>
                      <p:childTnLst>
                        <p:par>
                          <p:cTn id="219" fill="hold">
                            <p:stCondLst>
                              <p:cond delay="0"/>
                            </p:stCondLst>
                            <p:childTnLst>
                              <p:par>
                                <p:cTn id="220" presetID="3" presetClass="entr" presetSubtype="10" fill="hold" grpId="0" nodeType="clickEffect">
                                  <p:stCondLst>
                                    <p:cond delay="0"/>
                                  </p:stCondLst>
                                  <p:childTnLst>
                                    <p:set>
                                      <p:cBhvr>
                                        <p:cTn id="221" dur="1" fill="hold">
                                          <p:stCondLst>
                                            <p:cond delay="0"/>
                                          </p:stCondLst>
                                        </p:cTn>
                                        <p:tgtEl>
                                          <p:spTgt spid="76"/>
                                        </p:tgtEl>
                                        <p:attrNameLst>
                                          <p:attrName>style.visibility</p:attrName>
                                        </p:attrNameLst>
                                      </p:cBhvr>
                                      <p:to>
                                        <p:strVal val="visible"/>
                                      </p:to>
                                    </p:set>
                                    <p:animEffect transition="in" filter="blinds(horizontal)">
                                      <p:cBhvr>
                                        <p:cTn id="222" dur="500"/>
                                        <p:tgtEl>
                                          <p:spTgt spid="76"/>
                                        </p:tgtEl>
                                      </p:cBhvr>
                                    </p:animEffect>
                                  </p:childTnLst>
                                </p:cTn>
                              </p:par>
                              <p:par>
                                <p:cTn id="223" presetID="3" presetClass="entr" presetSubtype="10" fill="hold" grpId="0" nodeType="withEffect">
                                  <p:stCondLst>
                                    <p:cond delay="0"/>
                                  </p:stCondLst>
                                  <p:childTnLst>
                                    <p:set>
                                      <p:cBhvr>
                                        <p:cTn id="224" dur="1" fill="hold">
                                          <p:stCondLst>
                                            <p:cond delay="0"/>
                                          </p:stCondLst>
                                        </p:cTn>
                                        <p:tgtEl>
                                          <p:spTgt spid="13"/>
                                        </p:tgtEl>
                                        <p:attrNameLst>
                                          <p:attrName>style.visibility</p:attrName>
                                        </p:attrNameLst>
                                      </p:cBhvr>
                                      <p:to>
                                        <p:strVal val="visible"/>
                                      </p:to>
                                    </p:set>
                                    <p:animEffect transition="in" filter="blinds(horizontal)">
                                      <p:cBhvr>
                                        <p:cTn id="225" dur="500"/>
                                        <p:tgtEl>
                                          <p:spTgt spid="13"/>
                                        </p:tgtEl>
                                      </p:cBhvr>
                                    </p:animEffect>
                                  </p:childTnLst>
                                </p:cTn>
                              </p:par>
                            </p:childTnLst>
                          </p:cTn>
                        </p:par>
                      </p:childTnLst>
                    </p:cTn>
                  </p:par>
                  <p:par>
                    <p:cTn id="226" fill="hold">
                      <p:stCondLst>
                        <p:cond delay="indefinite"/>
                      </p:stCondLst>
                      <p:childTnLst>
                        <p:par>
                          <p:cTn id="227" fill="hold">
                            <p:stCondLst>
                              <p:cond delay="0"/>
                            </p:stCondLst>
                            <p:childTnLst>
                              <p:par>
                                <p:cTn id="228" presetID="3" presetClass="entr" presetSubtype="10" fill="hold" grpId="0" nodeType="clickEffect">
                                  <p:stCondLst>
                                    <p:cond delay="0"/>
                                  </p:stCondLst>
                                  <p:childTnLst>
                                    <p:set>
                                      <p:cBhvr>
                                        <p:cTn id="229" dur="1" fill="hold">
                                          <p:stCondLst>
                                            <p:cond delay="0"/>
                                          </p:stCondLst>
                                        </p:cTn>
                                        <p:tgtEl>
                                          <p:spTgt spid="79"/>
                                        </p:tgtEl>
                                        <p:attrNameLst>
                                          <p:attrName>style.visibility</p:attrName>
                                        </p:attrNameLst>
                                      </p:cBhvr>
                                      <p:to>
                                        <p:strVal val="visible"/>
                                      </p:to>
                                    </p:set>
                                    <p:animEffect transition="in" filter="blinds(horizontal)">
                                      <p:cBhvr>
                                        <p:cTn id="230"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2" grpId="1" animBg="1"/>
      <p:bldP spid="13" grpId="0"/>
      <p:bldP spid="13" grpId="1"/>
      <p:bldP spid="74" grpId="0"/>
      <p:bldP spid="74" grpId="1"/>
      <p:bldP spid="76" grpId="0" bldLvl="0" animBg="1"/>
      <p:bldP spid="76" grpId="1" animBg="1"/>
      <p:bldP spid="79" grpId="0"/>
      <p:bldP spid="79" grpId="1"/>
      <p:bldP spid="45" grpId="0" bldLvl="0" animBg="1"/>
      <p:bldP spid="45" grpId="1" animBg="1"/>
      <p:bldP spid="46" grpId="0" bldLvl="0" animBg="1"/>
      <p:bldP spid="46" grpId="1" animBg="1"/>
      <p:bldP spid="47" grpId="0" bldLvl="0" animBg="1"/>
      <p:bldP spid="47" grpId="1" animBg="1"/>
      <p:bldP spid="48" grpId="0" bldLvl="0" animBg="1"/>
      <p:bldP spid="48" grpId="1" animBg="1"/>
      <p:bldP spid="49" grpId="0" bldLvl="0" animBg="1"/>
      <p:bldP spid="49" grpId="1" animBg="1"/>
      <p:bldP spid="50" grpId="0" bldLvl="0" animBg="1"/>
      <p:bldP spid="50" grpId="1" animBg="1"/>
      <p:bldP spid="51" grpId="0" bldLvl="0" animBg="1"/>
      <p:bldP spid="51" grpId="1" animBg="1"/>
      <p:bldP spid="52" grpId="0" bldLvl="0" animBg="1"/>
      <p:bldP spid="52" grpId="1" animBg="1"/>
      <p:bldP spid="53" grpId="0" bldLvl="0" animBg="1"/>
      <p:bldP spid="53" grpId="1" animBg="1"/>
      <p:bldP spid="54" grpId="0" bldLvl="0" animBg="1"/>
      <p:bldP spid="54" grpId="1" animBg="1"/>
      <p:bldP spid="55" grpId="0" bldLvl="0" animBg="1"/>
      <p:bldP spid="55" grpId="1" animBg="1"/>
      <p:bldP spid="56" grpId="0" bldLvl="0" animBg="1"/>
      <p:bldP spid="56" grpId="1" animBg="1"/>
      <p:bldP spid="57" grpId="0" bldLvl="0" animBg="1"/>
      <p:bldP spid="57" grpId="1" animBg="1"/>
      <p:bldP spid="58" grpId="0" bldLvl="0" animBg="1"/>
      <p:bldP spid="58" grpId="1" animBg="1"/>
      <p:bldP spid="59" grpId="0" bldLvl="0" animBg="1"/>
      <p:bldP spid="59" grpId="1" animBg="1"/>
      <p:bldP spid="60" grpId="0" bldLvl="0" animBg="1"/>
      <p:bldP spid="60" grpId="1" animBg="1"/>
      <p:bldP spid="61" grpId="0" bldLvl="0" animBg="1"/>
      <p:bldP spid="61" grpId="1" animBg="1"/>
      <p:bldP spid="62" grpId="0" bldLvl="0" animBg="1"/>
      <p:bldP spid="62" grpId="1" animBg="1"/>
      <p:bldP spid="63" grpId="0" bldLvl="0" animBg="1"/>
      <p:bldP spid="63" grpId="1" animBg="1"/>
      <p:bldP spid="64" grpId="0" bldLvl="0" animBg="1"/>
      <p:bldP spid="64" grpId="1" animBg="1"/>
      <p:bldP spid="65" grpId="0" bldLvl="0" animBg="1"/>
      <p:bldP spid="65" grpId="1" animBg="1"/>
      <p:bldP spid="66" grpId="0" bldLvl="0" animBg="1"/>
      <p:bldP spid="66" grpId="1" animBg="1"/>
      <p:bldP spid="67" grpId="0" bldLvl="0" animBg="1"/>
      <p:bldP spid="67" grpId="1" animBg="1"/>
      <p:bldP spid="68" grpId="0" bldLvl="0" animBg="1"/>
      <p:bldP spid="68" grpId="1" animBg="1"/>
      <p:bldP spid="69" grpId="0" bldLvl="0" animBg="1"/>
      <p:bldP spid="69" grpId="1" animBg="1"/>
      <p:bldP spid="70" grpId="0" bldLvl="0" animBg="1"/>
      <p:bldP spid="70" grpId="1" animBg="1"/>
      <p:bldP spid="71" grpId="0" bldLvl="0" animBg="1"/>
      <p:bldP spid="71" grpId="1" animBg="1"/>
      <p:bldP spid="75" grpId="0" bldLvl="0" animBg="1"/>
      <p:bldP spid="75" grpId="1" animBg="1"/>
      <p:bldP spid="83" grpId="0" bldLvl="0" animBg="1"/>
      <p:bldP spid="83" grpId="1" animBg="1"/>
      <p:bldP spid="84" grpId="0" bldLvl="0" animBg="1"/>
      <p:bldP spid="84" grpId="1" animBg="1"/>
      <p:bldP spid="85" grpId="0" bldLvl="0" animBg="1"/>
      <p:bldP spid="85" grpId="1" animBg="1"/>
      <p:bldP spid="86" grpId="0" bldLvl="0" animBg="1"/>
      <p:bldP spid="86" grpId="1" animBg="1"/>
      <p:bldP spid="87" grpId="0" bldLvl="0" animBg="1"/>
      <p:bldP spid="87" grpId="1" animBg="1"/>
      <p:bldP spid="94" grpId="0" bldLvl="0" animBg="1"/>
      <p:bldP spid="94" grpId="1" animBg="1"/>
      <p:bldP spid="101" grpId="0" bldLvl="0" animBg="1"/>
      <p:bldP spid="101" grpId="1" animBg="1"/>
      <p:bldP spid="102" grpId="0" bldLvl="0" animBg="1"/>
      <p:bldP spid="102" grpId="1" animBg="1"/>
      <p:bldP spid="103" grpId="0" bldLvl="0" animBg="1"/>
      <p:bldP spid="103" grpId="1" animBg="1"/>
      <p:bldP spid="104" grpId="0" bldLvl="0" animBg="1"/>
      <p:bldP spid="104" grpId="1" animBg="1"/>
      <p:bldP spid="105" grpId="0" bldLvl="0" animBg="1"/>
      <p:bldP spid="105" grpId="1" animBg="1"/>
      <p:bldP spid="106" grpId="0" bldLvl="0" animBg="1"/>
      <p:bldP spid="106" grpId="1" animBg="1"/>
      <p:bldP spid="107" grpId="0" bldLvl="0" animBg="1"/>
      <p:bldP spid="107" grpId="1" animBg="1"/>
      <p:bldP spid="108" grpId="0" bldLvl="0" animBg="1"/>
      <p:bldP spid="108" grpId="1" animBg="1"/>
      <p:bldP spid="109" grpId="0" bldLvl="0" animBg="1"/>
      <p:bldP spid="109" grpId="1" animBg="1"/>
      <p:bldP spid="110" grpId="0" bldLvl="0" animBg="1"/>
      <p:bldP spid="110" grpId="1" animBg="1"/>
      <p:bldP spid="111" grpId="0" bldLvl="0" animBg="1"/>
      <p:bldP spid="111" grpId="1" animBg="1"/>
      <p:bldP spid="112" grpId="0" bldLvl="0" animBg="1"/>
      <p:bldP spid="112" grpId="1" animBg="1"/>
      <p:bldP spid="114" grpId="0" bldLvl="0" animBg="1"/>
      <p:bldP spid="114" grpId="1" animBg="1"/>
      <p:bldP spid="113" grpId="0" bldLvl="0" animBg="1"/>
      <p:bldP spid="113" grpId="1" animBg="1"/>
      <p:bldP spid="115" grpId="0" bldLvl="0" animBg="1"/>
      <p:bldP spid="115" grpId="1" animBg="1"/>
      <p:bldP spid="116" grpId="0" bldLvl="0" animBg="1"/>
      <p:bldP spid="116" grpId="1" animBg="1"/>
      <p:bldP spid="117" grpId="0" bldLvl="0" animBg="1"/>
      <p:bldP spid="117"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Trade Off 1: MAC Architecture Selection </a:t>
            </a:r>
          </a:p>
        </p:txBody>
      </p:sp>
      <p:graphicFrame>
        <p:nvGraphicFramePr>
          <p:cNvPr id="6" name="表格 5"/>
          <p:cNvGraphicFramePr/>
          <p:nvPr/>
        </p:nvGraphicFramePr>
        <p:xfrm>
          <a:off x="1912620" y="1602740"/>
          <a:ext cx="7900670" cy="2423160"/>
        </p:xfrm>
        <a:graphic>
          <a:graphicData uri="http://schemas.openxmlformats.org/drawingml/2006/table">
            <a:tbl>
              <a:tblPr firstRow="1" bandRow="1">
                <a:tableStyleId>{5C22544A-7EE6-4342-B048-85BDC9FD1C3A}</a:tableStyleId>
              </a:tblPr>
              <a:tblGrid>
                <a:gridCol w="1717675">
                  <a:extLst>
                    <a:ext uri="{9D8B030D-6E8A-4147-A177-3AD203B41FA5}">
                      <a16:colId xmlns:a16="http://schemas.microsoft.com/office/drawing/2014/main" val="20000"/>
                    </a:ext>
                  </a:extLst>
                </a:gridCol>
                <a:gridCol w="1945005">
                  <a:extLst>
                    <a:ext uri="{9D8B030D-6E8A-4147-A177-3AD203B41FA5}">
                      <a16:colId xmlns:a16="http://schemas.microsoft.com/office/drawing/2014/main" val="20001"/>
                    </a:ext>
                  </a:extLst>
                </a:gridCol>
                <a:gridCol w="2141220">
                  <a:extLst>
                    <a:ext uri="{9D8B030D-6E8A-4147-A177-3AD203B41FA5}">
                      <a16:colId xmlns:a16="http://schemas.microsoft.com/office/drawing/2014/main" val="20002"/>
                    </a:ext>
                  </a:extLst>
                </a:gridCol>
                <a:gridCol w="2096770">
                  <a:extLst>
                    <a:ext uri="{9D8B030D-6E8A-4147-A177-3AD203B41FA5}">
                      <a16:colId xmlns:a16="http://schemas.microsoft.com/office/drawing/2014/main" val="20003"/>
                    </a:ext>
                  </a:extLst>
                </a:gridCol>
              </a:tblGrid>
              <a:tr h="381000">
                <a:tc>
                  <a:txBody>
                    <a:bodyPr/>
                    <a:lstStyle/>
                    <a:p>
                      <a:pPr>
                        <a:buNone/>
                      </a:pPr>
                      <a:endParaRPr lang="en-US" altLang="zh-CN"/>
                    </a:p>
                  </a:txBody>
                  <a:tcPr/>
                </a:tc>
                <a:tc>
                  <a:txBody>
                    <a:bodyPr/>
                    <a:lstStyle/>
                    <a:p>
                      <a:pPr algn="ctr">
                        <a:buNone/>
                      </a:pPr>
                      <a:r>
                        <a:rPr lang="en-US" altLang="zh-CN"/>
                        <a:t>16*16, Systolic</a:t>
                      </a:r>
                    </a:p>
                  </a:txBody>
                  <a:tcPr/>
                </a:tc>
                <a:tc>
                  <a:txBody>
                    <a:bodyPr/>
                    <a:lstStyle/>
                    <a:p>
                      <a:pPr algn="ctr">
                        <a:buNone/>
                      </a:pPr>
                      <a:r>
                        <a:rPr lang="en-US" altLang="zh-CN" sz="1800">
                          <a:sym typeface="+mn-ea"/>
                        </a:rPr>
                        <a:t>64*1, MV Unit</a:t>
                      </a:r>
                      <a:endParaRPr lang="zh-CN" altLang="en-US"/>
                    </a:p>
                  </a:txBody>
                  <a:tcPr/>
                </a:tc>
                <a:tc>
                  <a:txBody>
                    <a:bodyPr/>
                    <a:lstStyle/>
                    <a:p>
                      <a:pPr algn="ctr">
                        <a:buNone/>
                      </a:pPr>
                      <a:r>
                        <a:rPr lang="en-US" altLang="zh-CN"/>
                        <a:t>4*4*4, pipeline</a:t>
                      </a:r>
                    </a:p>
                  </a:txBody>
                  <a:tcPr/>
                </a:tc>
                <a:extLst>
                  <a:ext uri="{0D108BD9-81ED-4DB2-BD59-A6C34878D82A}">
                    <a16:rowId xmlns:a16="http://schemas.microsoft.com/office/drawing/2014/main" val="10000"/>
                  </a:ext>
                </a:extLst>
              </a:tr>
              <a:tr h="381000">
                <a:tc>
                  <a:txBody>
                    <a:bodyPr/>
                    <a:lstStyle/>
                    <a:p>
                      <a:pPr>
                        <a:buNone/>
                      </a:pPr>
                      <a:r>
                        <a:rPr lang="en-US" altLang="zh-CN">
                          <a:solidFill>
                            <a:srgbClr val="000000"/>
                          </a:solidFill>
                        </a:rPr>
                        <a:t>DSPs</a:t>
                      </a:r>
                    </a:p>
                  </a:txBody>
                  <a:tcPr/>
                </a:tc>
                <a:tc>
                  <a:txBody>
                    <a:bodyPr/>
                    <a:lstStyle/>
                    <a:p>
                      <a:pPr algn="ctr">
                        <a:buClrTx/>
                        <a:buSzTx/>
                        <a:buFontTx/>
                        <a:buNone/>
                      </a:pPr>
                      <a:r>
                        <a:rPr lang="en-US" altLang="zh-CN">
                          <a:solidFill>
                            <a:srgbClr val="000000"/>
                          </a:solidFill>
                        </a:rPr>
                        <a:t>256</a:t>
                      </a:r>
                    </a:p>
                  </a:txBody>
                  <a:tcPr/>
                </a:tc>
                <a:tc>
                  <a:txBody>
                    <a:bodyPr/>
                    <a:lstStyle/>
                    <a:p>
                      <a:pPr algn="ctr">
                        <a:buClrTx/>
                        <a:buSzTx/>
                        <a:buFontTx/>
                        <a:buNone/>
                      </a:pPr>
                      <a:r>
                        <a:rPr lang="en-US" altLang="zh-CN">
                          <a:solidFill>
                            <a:srgbClr val="000000"/>
                          </a:solidFill>
                        </a:rPr>
                        <a:t>64</a:t>
                      </a:r>
                    </a:p>
                  </a:txBody>
                  <a:tcPr/>
                </a:tc>
                <a:tc>
                  <a:txBody>
                    <a:bodyPr/>
                    <a:lstStyle/>
                    <a:p>
                      <a:pPr algn="ctr">
                        <a:buClrTx/>
                        <a:buSzTx/>
                        <a:buFontTx/>
                        <a:buNone/>
                      </a:pPr>
                      <a:r>
                        <a:rPr lang="en-US" altLang="zh-CN">
                          <a:solidFill>
                            <a:srgbClr val="000000"/>
                          </a:solidFill>
                        </a:rPr>
                        <a:t>64</a:t>
                      </a:r>
                    </a:p>
                  </a:txBody>
                  <a:tcPr/>
                </a:tc>
                <a:extLst>
                  <a:ext uri="{0D108BD9-81ED-4DB2-BD59-A6C34878D82A}">
                    <a16:rowId xmlns:a16="http://schemas.microsoft.com/office/drawing/2014/main" val="10001"/>
                  </a:ext>
                </a:extLst>
              </a:tr>
              <a:tr h="381000">
                <a:tc>
                  <a:txBody>
                    <a:bodyPr/>
                    <a:lstStyle/>
                    <a:p>
                      <a:pPr algn="l">
                        <a:buClrTx/>
                        <a:buSzTx/>
                        <a:buFontTx/>
                        <a:buNone/>
                      </a:pPr>
                      <a:r>
                        <a:rPr lang="en-US" altLang="zh-CN">
                          <a:solidFill>
                            <a:srgbClr val="000000"/>
                          </a:solidFill>
                        </a:rPr>
                        <a:t>BW</a:t>
                      </a:r>
                    </a:p>
                    <a:p>
                      <a:pPr algn="l">
                        <a:buClrTx/>
                        <a:buSzTx/>
                        <a:buFontTx/>
                        <a:buNone/>
                      </a:pPr>
                      <a:r>
                        <a:rPr lang="en-US" altLang="zh-CN">
                          <a:solidFill>
                            <a:srgbClr val="000000"/>
                          </a:solidFill>
                        </a:rPr>
                        <a:t>(Weights/cycle)</a:t>
                      </a:r>
                    </a:p>
                  </a:txBody>
                  <a:tcPr/>
                </a:tc>
                <a:tc>
                  <a:txBody>
                    <a:bodyPr/>
                    <a:lstStyle/>
                    <a:p>
                      <a:pPr algn="ctr">
                        <a:buClrTx/>
                        <a:buSzTx/>
                        <a:buFontTx/>
                        <a:buNone/>
                      </a:pPr>
                      <a:r>
                        <a:rPr lang="en-US" altLang="zh-CN">
                          <a:solidFill>
                            <a:srgbClr val="000000"/>
                          </a:solidFill>
                        </a:rPr>
                        <a:t>256</a:t>
                      </a:r>
                    </a:p>
                  </a:txBody>
                  <a:tcPr/>
                </a:tc>
                <a:tc>
                  <a:txBody>
                    <a:bodyPr/>
                    <a:lstStyle/>
                    <a:p>
                      <a:pPr algn="ctr">
                        <a:buClrTx/>
                        <a:buSzTx/>
                        <a:buFontTx/>
                        <a:buNone/>
                      </a:pPr>
                      <a:r>
                        <a:rPr lang="en-US" altLang="zh-CN">
                          <a:solidFill>
                            <a:srgbClr val="000000"/>
                          </a:solidFill>
                        </a:rPr>
                        <a:t>64</a:t>
                      </a:r>
                    </a:p>
                  </a:txBody>
                  <a:tcPr/>
                </a:tc>
                <a:tc>
                  <a:txBody>
                    <a:bodyPr/>
                    <a:lstStyle/>
                    <a:p>
                      <a:pPr algn="ctr">
                        <a:buClrTx/>
                        <a:buSzTx/>
                        <a:buFontTx/>
                        <a:buNone/>
                      </a:pPr>
                      <a:r>
                        <a:rPr lang="en-US" altLang="zh-CN">
                          <a:solidFill>
                            <a:srgbClr val="000000"/>
                          </a:solidFill>
                        </a:rPr>
                        <a:t>64</a:t>
                      </a:r>
                    </a:p>
                  </a:txBody>
                  <a:tcPr/>
                </a:tc>
                <a:extLst>
                  <a:ext uri="{0D108BD9-81ED-4DB2-BD59-A6C34878D82A}">
                    <a16:rowId xmlns:a16="http://schemas.microsoft.com/office/drawing/2014/main" val="10002"/>
                  </a:ext>
                </a:extLst>
              </a:tr>
              <a:tr h="381000">
                <a:tc>
                  <a:txBody>
                    <a:bodyPr/>
                    <a:lstStyle/>
                    <a:p>
                      <a:pPr algn="l">
                        <a:buClrTx/>
                        <a:buSzTx/>
                        <a:buFontTx/>
                        <a:buNone/>
                      </a:pPr>
                      <a:r>
                        <a:rPr lang="en-US" altLang="zh-CN">
                          <a:solidFill>
                            <a:srgbClr val="000000"/>
                          </a:solidFill>
                        </a:rPr>
                        <a:t>Clock Cycles</a:t>
                      </a:r>
                    </a:p>
                    <a:p>
                      <a:pPr algn="l">
                        <a:buClrTx/>
                        <a:buSzTx/>
                        <a:buFontTx/>
                        <a:buNone/>
                      </a:pPr>
                      <a:r>
                        <a:rPr lang="en-US" altLang="zh-CN">
                          <a:solidFill>
                            <a:srgbClr val="000000"/>
                          </a:solidFill>
                        </a:rPr>
                        <a:t>(256,256) MVM</a:t>
                      </a:r>
                    </a:p>
                  </a:txBody>
                  <a:tcPr/>
                </a:tc>
                <a:tc>
                  <a:txBody>
                    <a:bodyPr/>
                    <a:lstStyle/>
                    <a:p>
                      <a:pPr algn="ctr">
                        <a:buClrTx/>
                        <a:buSzTx/>
                        <a:buFontTx/>
                        <a:buNone/>
                      </a:pPr>
                      <a:r>
                        <a:rPr lang="en-US" altLang="zh-CN">
                          <a:solidFill>
                            <a:srgbClr val="000000"/>
                          </a:solidFill>
                        </a:rPr>
                        <a:t>256</a:t>
                      </a:r>
                    </a:p>
                  </a:txBody>
                  <a:tcPr/>
                </a:tc>
                <a:tc>
                  <a:txBody>
                    <a:bodyPr/>
                    <a:lstStyle/>
                    <a:p>
                      <a:pPr algn="ctr">
                        <a:buClrTx/>
                        <a:buSzTx/>
                        <a:buFontTx/>
                        <a:buNone/>
                      </a:pPr>
                      <a:r>
                        <a:rPr lang="en-US" altLang="zh-CN">
                          <a:solidFill>
                            <a:srgbClr val="000000"/>
                          </a:solidFill>
                        </a:rPr>
                        <a:t>1024</a:t>
                      </a:r>
                    </a:p>
                  </a:txBody>
                  <a:tcPr/>
                </a:tc>
                <a:tc>
                  <a:txBody>
                    <a:bodyPr/>
                    <a:lstStyle/>
                    <a:p>
                      <a:pPr algn="ctr">
                        <a:buClrTx/>
                        <a:buSzTx/>
                        <a:buFontTx/>
                        <a:buNone/>
                      </a:pPr>
                      <a:r>
                        <a:rPr lang="en-US" altLang="zh-CN">
                          <a:solidFill>
                            <a:srgbClr val="000000"/>
                          </a:solidFill>
                        </a:rPr>
                        <a:t>1030</a:t>
                      </a:r>
                    </a:p>
                  </a:txBody>
                  <a:tcPr/>
                </a:tc>
                <a:extLst>
                  <a:ext uri="{0D108BD9-81ED-4DB2-BD59-A6C34878D82A}">
                    <a16:rowId xmlns:a16="http://schemas.microsoft.com/office/drawing/2014/main" val="10003"/>
                  </a:ext>
                </a:extLst>
              </a:tr>
              <a:tr h="381000">
                <a:tc>
                  <a:txBody>
                    <a:bodyPr/>
                    <a:lstStyle/>
                    <a:p>
                      <a:pPr algn="l">
                        <a:buClrTx/>
                        <a:buSzTx/>
                        <a:buFontTx/>
                        <a:buNone/>
                      </a:pPr>
                      <a:r>
                        <a:rPr lang="en-US" altLang="zh-CN">
                          <a:solidFill>
                            <a:srgbClr val="000000"/>
                          </a:solidFill>
                        </a:rPr>
                        <a:t>Mem. access</a:t>
                      </a:r>
                    </a:p>
                  </a:txBody>
                  <a:tcPr/>
                </a:tc>
                <a:tc>
                  <a:txBody>
                    <a:bodyPr/>
                    <a:lstStyle/>
                    <a:p>
                      <a:pPr algn="ctr">
                        <a:buClrTx/>
                        <a:buSzTx/>
                        <a:buFontTx/>
                        <a:buNone/>
                      </a:pPr>
                      <a:r>
                        <a:rPr lang="en-US" altLang="zh-CN">
                          <a:solidFill>
                            <a:srgbClr val="000000"/>
                          </a:solidFill>
                        </a:rPr>
                        <a:t>in oder</a:t>
                      </a:r>
                    </a:p>
                  </a:txBody>
                  <a:tcPr/>
                </a:tc>
                <a:tc>
                  <a:txBody>
                    <a:bodyPr/>
                    <a:lstStyle/>
                    <a:p>
                      <a:pPr algn="ctr">
                        <a:buClrTx/>
                        <a:buSzTx/>
                        <a:buFontTx/>
                        <a:buNone/>
                      </a:pPr>
                      <a:r>
                        <a:rPr lang="en-US" altLang="zh-CN">
                          <a:solidFill>
                            <a:srgbClr val="000000"/>
                          </a:solidFill>
                        </a:rPr>
                        <a:t>in oder</a:t>
                      </a:r>
                    </a:p>
                  </a:txBody>
                  <a:tcPr/>
                </a:tc>
                <a:tc>
                  <a:txBody>
                    <a:bodyPr/>
                    <a:lstStyle/>
                    <a:p>
                      <a:pPr algn="ctr">
                        <a:buClrTx/>
                        <a:buSzTx/>
                        <a:buFontTx/>
                        <a:buNone/>
                      </a:pPr>
                      <a:r>
                        <a:rPr lang="en-US" altLang="zh-CN" b="1">
                          <a:solidFill>
                            <a:srgbClr val="C00000"/>
                          </a:solidFill>
                        </a:rPr>
                        <a:t>interleaving</a:t>
                      </a:r>
                    </a:p>
                  </a:txBody>
                  <a:tcPr/>
                </a:tc>
                <a:extLst>
                  <a:ext uri="{0D108BD9-81ED-4DB2-BD59-A6C34878D82A}">
                    <a16:rowId xmlns:a16="http://schemas.microsoft.com/office/drawing/2014/main" val="10004"/>
                  </a:ext>
                </a:extLst>
              </a:tr>
            </a:tbl>
          </a:graphicData>
        </a:graphic>
      </p:graphicFrame>
      <p:sp>
        <p:nvSpPr>
          <p:cNvPr id="4" name="文本框 3"/>
          <p:cNvSpPr txBox="1"/>
          <p:nvPr/>
        </p:nvSpPr>
        <p:spPr>
          <a:xfrm>
            <a:off x="749300" y="4606290"/>
            <a:ext cx="10812145" cy="1476375"/>
          </a:xfrm>
          <a:prstGeom prst="rect">
            <a:avLst/>
          </a:prstGeom>
          <a:noFill/>
        </p:spPr>
        <p:txBody>
          <a:bodyPr wrap="square" rtlCol="0">
            <a:spAutoFit/>
          </a:bodyPr>
          <a:lstStyle/>
          <a:p>
            <a:r>
              <a:rPr lang="en-US" altLang="zh-CN"/>
              <a:t>choose the 4</a:t>
            </a:r>
            <a:r>
              <a:rPr lang="en-US" altLang="en-US"/>
              <a:t>×</a:t>
            </a:r>
            <a:r>
              <a:rPr lang="en-US" altLang="zh-CN"/>
              <a:t>4</a:t>
            </a:r>
            <a:r>
              <a:rPr lang="en-US" altLang="en-US"/>
              <a:t>×</a:t>
            </a:r>
            <a:r>
              <a:rPr lang="en-US" altLang="zh-CN"/>
              <a:t>4 pipelined array because :</a:t>
            </a:r>
          </a:p>
          <a:p>
            <a:pPr marL="285750" indent="-285750">
              <a:buFont typeface="Wingdings" panose="05000000000000000000" charset="0"/>
              <a:buChar char="Ø"/>
            </a:pPr>
            <a:r>
              <a:rPr lang="en-US" altLang="zh-CN"/>
              <a:t>achieves the </a:t>
            </a:r>
            <a:r>
              <a:rPr lang="en-US" altLang="zh-CN" b="1">
                <a:solidFill>
                  <a:srgbClr val="C00000"/>
                </a:solidFill>
              </a:rPr>
              <a:t>same 1024-cycle latency</a:t>
            </a:r>
            <a:r>
              <a:rPr lang="en-US" altLang="zh-CN"/>
              <a:t> and 64 weights/cycle bandwidth as the 64</a:t>
            </a:r>
            <a:r>
              <a:rPr lang="en-US" altLang="en-US"/>
              <a:t>×</a:t>
            </a:r>
            <a:r>
              <a:rPr lang="en-US" altLang="zh-CN"/>
              <a:t>1 GEMV design, while providing much </a:t>
            </a:r>
            <a:r>
              <a:rPr lang="en-US" altLang="zh-CN" b="1">
                <a:solidFill>
                  <a:srgbClr val="C00000"/>
                </a:solidFill>
              </a:rPr>
              <a:t>higher reusability</a:t>
            </a:r>
            <a:r>
              <a:rPr lang="en-US" altLang="zh-CN"/>
              <a:t> across GEMV/GEMM/EW kernels </a:t>
            </a:r>
          </a:p>
          <a:p>
            <a:pPr marL="285750" indent="-285750">
              <a:buFont typeface="Wingdings" panose="05000000000000000000" charset="0"/>
              <a:buChar char="Ø"/>
            </a:pPr>
            <a:r>
              <a:rPr lang="en-US" altLang="zh-CN"/>
              <a:t>better timing/routing scalability than a monolithic 16</a:t>
            </a:r>
            <a:r>
              <a:rPr lang="en-US" altLang="en-US"/>
              <a:t>×</a:t>
            </a:r>
            <a:r>
              <a:rPr lang="en-US" altLang="zh-CN"/>
              <a:t>16 systolic array</a:t>
            </a:r>
          </a:p>
          <a:p>
            <a:pPr marL="285750" indent="-285750">
              <a:buFont typeface="Wingdings" panose="05000000000000000000" charset="0"/>
              <a:buChar char="Ø"/>
            </a:pPr>
            <a:r>
              <a:rPr lang="en-US" altLang="zh-CN" b="1">
                <a:solidFill>
                  <a:srgbClr val="C00000"/>
                </a:solidFill>
              </a:rPr>
              <a:t>Pre-distribute the weight data according to access pattern.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Linear Layers - Control Method</a:t>
            </a:r>
            <a:endParaRPr lang="en-US" dirty="0"/>
          </a:p>
        </p:txBody>
      </p:sp>
      <p:pic>
        <p:nvPicPr>
          <p:cNvPr id="3" name="图片 2" descr="board_level(d)"/>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0995" y="1985010"/>
            <a:ext cx="11651615" cy="2974340"/>
          </a:xfrm>
          <a:prstGeom prst="rect">
            <a:avLst/>
          </a:prstGeom>
        </p:spPr>
      </p:pic>
      <p:sp>
        <p:nvSpPr>
          <p:cNvPr id="5" name="文本框 4"/>
          <p:cNvSpPr txBox="1"/>
          <p:nvPr/>
        </p:nvSpPr>
        <p:spPr>
          <a:xfrm>
            <a:off x="2757170" y="5260975"/>
            <a:ext cx="3625215" cy="645160"/>
          </a:xfrm>
          <a:prstGeom prst="rect">
            <a:avLst/>
          </a:prstGeom>
          <a:noFill/>
        </p:spPr>
        <p:txBody>
          <a:bodyPr wrap="square" rtlCol="0">
            <a:spAutoFit/>
          </a:bodyPr>
          <a:lstStyle/>
          <a:p>
            <a:r>
              <a:rPr lang="en-US" altLang="zh-CN" b="1">
                <a:sym typeface="+mn-ea"/>
              </a:rPr>
              <a:t>dt_proj :</a:t>
            </a:r>
            <a:r>
              <a:rPr lang="en-US" altLang="zh-CN">
                <a:sym typeface="+mn-ea"/>
              </a:rPr>
              <a:t>  </a:t>
            </a:r>
          </a:p>
          <a:p>
            <a:pPr lvl="1"/>
            <a:r>
              <a:rPr lang="en-US" altLang="zh-CN" b="1" i="1">
                <a:sym typeface="+mn-ea"/>
              </a:rPr>
              <a:t>λt = Sigmoid(Wdt · ut + b)</a:t>
            </a:r>
            <a:endParaRPr lang="zh-CN" altLang="en-US"/>
          </a:p>
        </p:txBody>
      </p:sp>
      <p:sp>
        <p:nvSpPr>
          <p:cNvPr id="6" name="文本框 5"/>
          <p:cNvSpPr txBox="1"/>
          <p:nvPr/>
        </p:nvSpPr>
        <p:spPr>
          <a:xfrm>
            <a:off x="7262495" y="5824855"/>
            <a:ext cx="3305175" cy="759460"/>
          </a:xfrm>
          <a:prstGeom prst="rect">
            <a:avLst/>
          </a:prstGeom>
          <a:noFill/>
        </p:spPr>
        <p:txBody>
          <a:bodyPr wrap="square" rtlCol="0">
            <a:noAutofit/>
          </a:bodyPr>
          <a:lstStyle/>
          <a:p>
            <a:r>
              <a:rPr lang="en-US" altLang="zh-CN" b="1">
                <a:sym typeface="+mn-ea"/>
              </a:rPr>
              <a:t>state update</a:t>
            </a:r>
            <a:r>
              <a:rPr lang="zh-CN" altLang="en-US" b="1">
                <a:sym typeface="+mn-ea"/>
              </a:rPr>
              <a:t>：</a:t>
            </a:r>
            <a:endParaRPr lang="zh-CN" altLang="en-US" b="1"/>
          </a:p>
          <a:p>
            <a:pPr lvl="1"/>
            <a:r>
              <a:rPr lang="en-US" altLang="zh-CN" b="1" i="1">
                <a:sym typeface="+mn-ea"/>
              </a:rPr>
              <a:t>st = λt  </a:t>
            </a:r>
            <a:r>
              <a:rPr lang="en-US" altLang="zh-CN" b="1">
                <a:sym typeface="+mn-ea"/>
              </a:rPr>
              <a:t>⊙ </a:t>
            </a:r>
            <a:r>
              <a:rPr lang="en-US" altLang="zh-CN" b="1" i="1">
                <a:sym typeface="+mn-ea"/>
              </a:rPr>
              <a:t>st−1 + (1 − λt)  </a:t>
            </a:r>
            <a:r>
              <a:rPr lang="en-US" altLang="zh-CN" b="1">
                <a:sym typeface="+mn-ea"/>
              </a:rPr>
              <a:t>⊙ </a:t>
            </a:r>
            <a:r>
              <a:rPr lang="en-US" altLang="zh-CN" b="1" i="1">
                <a:sym typeface="+mn-ea"/>
              </a:rPr>
              <a:t>ut</a:t>
            </a:r>
            <a:endParaRPr lang="zh-CN" altLang="en-US"/>
          </a:p>
          <a:p>
            <a:endParaRPr lang="zh-CN" altLang="en-US"/>
          </a:p>
        </p:txBody>
      </p:sp>
      <p:sp>
        <p:nvSpPr>
          <p:cNvPr id="7" name="文本框 6"/>
          <p:cNvSpPr txBox="1"/>
          <p:nvPr/>
        </p:nvSpPr>
        <p:spPr>
          <a:xfrm>
            <a:off x="10025380" y="1576070"/>
            <a:ext cx="1967230" cy="645160"/>
          </a:xfrm>
          <a:prstGeom prst="rect">
            <a:avLst/>
          </a:prstGeom>
          <a:noFill/>
        </p:spPr>
        <p:txBody>
          <a:bodyPr wrap="square" rtlCol="0">
            <a:spAutoFit/>
          </a:bodyPr>
          <a:lstStyle/>
          <a:p>
            <a:r>
              <a:rPr lang="en-US" altLang="zh-CN" b="1">
                <a:sym typeface="+mn-ea"/>
              </a:rPr>
              <a:t>output gating</a:t>
            </a:r>
            <a:r>
              <a:rPr lang="zh-CN" altLang="en-US" b="1">
                <a:sym typeface="+mn-ea"/>
              </a:rPr>
              <a:t>：</a:t>
            </a:r>
          </a:p>
          <a:p>
            <a:pPr lvl="1"/>
            <a:r>
              <a:rPr lang="en-US" altLang="zh-CN" b="1" i="1">
                <a:sym typeface="+mn-ea"/>
              </a:rPr>
              <a:t>yt = st  </a:t>
            </a:r>
            <a:r>
              <a:rPr lang="en-US" altLang="zh-CN" b="1">
                <a:sym typeface="+mn-ea"/>
              </a:rPr>
              <a:t>⊙ </a:t>
            </a:r>
            <a:r>
              <a:rPr lang="en-US" altLang="zh-CN" b="1" i="1">
                <a:sym typeface="+mn-ea"/>
              </a:rPr>
              <a:t>gt</a:t>
            </a:r>
            <a:endParaRPr lang="zh-CN" altLang="en-US"/>
          </a:p>
        </p:txBody>
      </p:sp>
      <p:sp>
        <p:nvSpPr>
          <p:cNvPr id="8" name="左大括号 7"/>
          <p:cNvSpPr/>
          <p:nvPr/>
        </p:nvSpPr>
        <p:spPr>
          <a:xfrm rot="16200000">
            <a:off x="4323715" y="2328545"/>
            <a:ext cx="264160" cy="5316855"/>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9" name="左大括号 8"/>
          <p:cNvSpPr/>
          <p:nvPr/>
        </p:nvSpPr>
        <p:spPr>
          <a:xfrm rot="16200000">
            <a:off x="8412480" y="4094480"/>
            <a:ext cx="354965" cy="2655570"/>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10" name="左大括号 9"/>
          <p:cNvSpPr/>
          <p:nvPr/>
        </p:nvSpPr>
        <p:spPr>
          <a:xfrm rot="5400000">
            <a:off x="10822940" y="1315720"/>
            <a:ext cx="264160" cy="2075180"/>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a:lstStyle/>
          <a:p>
            <a:endParaRPr lang="zh-CN" altLang="en-US"/>
          </a:p>
        </p:txBody>
      </p:sp>
      <p:sp>
        <p:nvSpPr>
          <p:cNvPr id="11" name="文本框 10"/>
          <p:cNvSpPr txBox="1"/>
          <p:nvPr/>
        </p:nvSpPr>
        <p:spPr>
          <a:xfrm>
            <a:off x="510540" y="1153795"/>
            <a:ext cx="3000375" cy="368300"/>
          </a:xfrm>
          <a:prstGeom prst="rect">
            <a:avLst/>
          </a:prstGeom>
          <a:noFill/>
        </p:spPr>
        <p:txBody>
          <a:bodyPr wrap="square" rtlCol="0">
            <a:spAutoFit/>
          </a:bodyPr>
          <a:lstStyle/>
          <a:p>
            <a:pPr marL="285750" indent="-285750">
              <a:buFont typeface="Wingdings" panose="05000000000000000000" charset="0"/>
              <a:buChar char="Ø"/>
            </a:pPr>
            <a:r>
              <a:rPr lang="en-US" altLang="zh-CN" b="1"/>
              <a:t>Take SSM for example:</a:t>
            </a:r>
          </a:p>
        </p:txBody>
      </p:sp>
      <p:sp>
        <p:nvSpPr>
          <p:cNvPr id="12" name="椭圆 11"/>
          <p:cNvSpPr/>
          <p:nvPr/>
        </p:nvSpPr>
        <p:spPr>
          <a:xfrm>
            <a:off x="5511165" y="2779395"/>
            <a:ext cx="619760" cy="1422400"/>
          </a:xfrm>
          <a:prstGeom prst="ellipse">
            <a:avLst/>
          </a:prstGeom>
          <a:ln>
            <a:solidFill>
              <a:srgbClr val="C00000"/>
            </a:solidFill>
            <a:prstDash val="dash"/>
          </a:ln>
        </p:spPr>
        <p:style>
          <a:lnRef idx="2">
            <a:schemeClr val="accent1"/>
          </a:lnRef>
          <a:fillRef idx="0">
            <a:srgbClr val="FFFFFF"/>
          </a:fillRef>
          <a:effectRef idx="0">
            <a:srgbClr val="FFFFFF"/>
          </a:effectRef>
          <a:fontRef idx="minor">
            <a:schemeClr val="tx1"/>
          </a:fontRef>
        </p:style>
        <p:txBody>
          <a:bodyPr/>
          <a:lstStyle/>
          <a:p>
            <a:endParaRPr lang="zh-CN" altLang="en-US"/>
          </a:p>
        </p:txBody>
      </p:sp>
      <p:sp>
        <p:nvSpPr>
          <p:cNvPr id="13" name="椭圆 12"/>
          <p:cNvSpPr/>
          <p:nvPr/>
        </p:nvSpPr>
        <p:spPr>
          <a:xfrm>
            <a:off x="8046085" y="2708275"/>
            <a:ext cx="619760" cy="1422400"/>
          </a:xfrm>
          <a:prstGeom prst="ellipse">
            <a:avLst/>
          </a:prstGeom>
          <a:ln>
            <a:solidFill>
              <a:srgbClr val="C00000"/>
            </a:solidFill>
            <a:prstDash val="dash"/>
          </a:ln>
        </p:spPr>
        <p:style>
          <a:lnRef idx="2">
            <a:schemeClr val="accent1"/>
          </a:lnRef>
          <a:fillRef idx="0">
            <a:srgbClr val="FFFFFF"/>
          </a:fillRef>
          <a:effectRef idx="0">
            <a:srgbClr val="FFFFFF"/>
          </a:effectRef>
          <a:fontRef idx="minor">
            <a:schemeClr val="tx1"/>
          </a:fontRef>
        </p:style>
        <p:txBody>
          <a:bodyPr/>
          <a:lstStyle/>
          <a:p>
            <a:endParaRPr lang="zh-CN" altLang="en-US"/>
          </a:p>
        </p:txBody>
      </p:sp>
      <p:sp>
        <p:nvSpPr>
          <p:cNvPr id="14" name="椭圆 13"/>
          <p:cNvSpPr/>
          <p:nvPr/>
        </p:nvSpPr>
        <p:spPr>
          <a:xfrm>
            <a:off x="10850245" y="2708275"/>
            <a:ext cx="619760" cy="1422400"/>
          </a:xfrm>
          <a:prstGeom prst="ellipse">
            <a:avLst/>
          </a:prstGeom>
          <a:ln>
            <a:solidFill>
              <a:srgbClr val="C00000"/>
            </a:solidFill>
            <a:prstDash val="dash"/>
          </a:ln>
        </p:spPr>
        <p:style>
          <a:lnRef idx="2">
            <a:schemeClr val="accent1"/>
          </a:lnRef>
          <a:fillRef idx="0">
            <a:srgbClr val="FFFFFF"/>
          </a:fillRef>
          <a:effectRef idx="0">
            <a:srgbClr val="FFFFFF"/>
          </a:effectRef>
          <a:fontRef idx="minor">
            <a:schemeClr val="tx1"/>
          </a:fontRef>
        </p:style>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linds(horizontal)">
                                      <p:cBhvr>
                                        <p:cTn id="23" dur="500"/>
                                        <p:tgtEl>
                                          <p:spTgt spid="10"/>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linds(horizontal)">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7" grpId="0"/>
      <p:bldP spid="7" grpId="1"/>
      <p:bldP spid="8" grpId="0" animBg="1"/>
      <p:bldP spid="8" grpId="1" animBg="1"/>
      <p:bldP spid="9" grpId="0" animBg="1"/>
      <p:bldP spid="9" grpId="1" animBg="1"/>
      <p:bldP spid="10" grpId="0" animBg="1"/>
      <p:bldP spid="10" grpId="1" animBg="1"/>
      <p:bldP spid="12" grpId="0" animBg="1"/>
      <p:bldP spid="12" grpId="1" animBg="1"/>
      <p:bldP spid="13" grpId="0" animBg="1"/>
      <p:bldP spid="13" grpId="1" animBg="1"/>
      <p:bldP spid="14" grpId="0" animBg="1"/>
      <p:bldP spid="14"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pipeline_schem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1005" y="1220470"/>
            <a:ext cx="7909560" cy="3427730"/>
          </a:xfrm>
          <a:prstGeom prst="rect">
            <a:avLst/>
          </a:prstGeom>
        </p:spPr>
      </p:pic>
      <p:sp>
        <p:nvSpPr>
          <p:cNvPr id="2" name="标题 1"/>
          <p:cNvSpPr>
            <a:spLocks noGrp="1"/>
          </p:cNvSpPr>
          <p:nvPr>
            <p:ph type="title"/>
          </p:nvPr>
        </p:nvSpPr>
        <p:spPr>
          <a:xfrm>
            <a:off x="510540" y="256540"/>
            <a:ext cx="11385550" cy="674370"/>
          </a:xfrm>
        </p:spPr>
        <p:txBody>
          <a:bodyPr/>
          <a:lstStyle/>
          <a:p>
            <a:r>
              <a:rPr lang="en-US" altLang="zh-CN">
                <a:sym typeface="+mn-ea"/>
              </a:rPr>
              <a:t>Trade Off 2 : Reconfigurable vs. Fine-grained pipeline</a:t>
            </a:r>
            <a:endParaRPr lang="zh-CN" altLang="en-US"/>
          </a:p>
        </p:txBody>
      </p:sp>
      <p:sp>
        <p:nvSpPr>
          <p:cNvPr id="3" name="文本框 2"/>
          <p:cNvSpPr txBox="1"/>
          <p:nvPr/>
        </p:nvSpPr>
        <p:spPr>
          <a:xfrm>
            <a:off x="421005" y="4805680"/>
            <a:ext cx="2562860" cy="983615"/>
          </a:xfrm>
          <a:prstGeom prst="rect">
            <a:avLst/>
          </a:prstGeom>
          <a:noFill/>
        </p:spPr>
        <p:txBody>
          <a:bodyPr wrap="square" rtlCol="0">
            <a:spAutoFit/>
          </a:bodyPr>
          <a:lstStyle/>
          <a:p>
            <a:r>
              <a:rPr lang="en-US" altLang="zh-CN" sz="1600" b="1"/>
              <a:t>mode    Calculation</a:t>
            </a:r>
          </a:p>
          <a:p>
            <a:r>
              <a:rPr lang="en-US" altLang="zh-CN" sz="1400"/>
              <a:t>00             MAC (A*B+acc_in)</a:t>
            </a:r>
          </a:p>
          <a:p>
            <a:r>
              <a:rPr lang="en-US" altLang="zh-CN" sz="1400"/>
              <a:t>01             MUL (A*B)</a:t>
            </a:r>
          </a:p>
          <a:p>
            <a:r>
              <a:rPr lang="en-US" altLang="zh-CN" sz="1400"/>
              <a:t>10             ADD  (A+B)</a:t>
            </a:r>
          </a:p>
        </p:txBody>
      </p:sp>
      <p:sp>
        <p:nvSpPr>
          <p:cNvPr id="10" name="文本框 9"/>
          <p:cNvSpPr txBox="1"/>
          <p:nvPr/>
        </p:nvSpPr>
        <p:spPr>
          <a:xfrm>
            <a:off x="8446135" y="1431925"/>
            <a:ext cx="3037840" cy="2030095"/>
          </a:xfrm>
          <a:prstGeom prst="rect">
            <a:avLst/>
          </a:prstGeom>
          <a:noFill/>
        </p:spPr>
        <p:txBody>
          <a:bodyPr wrap="square" rtlCol="0">
            <a:spAutoFit/>
          </a:bodyPr>
          <a:lstStyle/>
          <a:p>
            <a:r>
              <a:rPr lang="en-US" altLang="zh-CN">
                <a:sym typeface="+mn-ea"/>
              </a:rPr>
              <a:t>Case A: wait for all MAC tiles, then run Sigmoid/EW</a:t>
            </a:r>
          </a:p>
          <a:p>
            <a:r>
              <a:rPr lang="en-US" altLang="zh-CN" b="1">
                <a:solidFill>
                  <a:srgbClr val="FF0000"/>
                </a:solidFill>
              </a:rPr>
              <a:t>T_A = 29N</a:t>
            </a:r>
          </a:p>
          <a:p>
            <a:r>
              <a:rPr lang="en-US" altLang="zh-CN">
                <a:sym typeface="+mn-ea"/>
              </a:rPr>
              <a:t>Case B: stream each tile to Sigmoid/EW as soon as MAC finishes</a:t>
            </a:r>
            <a:endParaRPr lang="en-US" altLang="zh-CN"/>
          </a:p>
          <a:p>
            <a:r>
              <a:rPr lang="en-US" altLang="zh-CN" b="1">
                <a:solidFill>
                  <a:srgbClr val="FF0000"/>
                </a:solidFill>
              </a:rPr>
              <a:t>T_B = 22N + 7</a:t>
            </a:r>
          </a:p>
        </p:txBody>
      </p:sp>
      <p:sp>
        <p:nvSpPr>
          <p:cNvPr id="34" name="文本框 33"/>
          <p:cNvSpPr txBox="1"/>
          <p:nvPr/>
        </p:nvSpPr>
        <p:spPr>
          <a:xfrm>
            <a:off x="8615680" y="3962400"/>
            <a:ext cx="2466975" cy="2030095"/>
          </a:xfrm>
          <a:prstGeom prst="rect">
            <a:avLst/>
          </a:prstGeom>
          <a:noFill/>
        </p:spPr>
        <p:txBody>
          <a:bodyPr wrap="square" rtlCol="0">
            <a:spAutoFit/>
          </a:bodyPr>
          <a:lstStyle/>
          <a:p>
            <a:r>
              <a:rPr lang="en-US" altLang="zh-CN" b="1">
                <a:solidFill>
                  <a:srgbClr val="C00000"/>
                </a:solidFill>
                <a:sym typeface="+mn-ea"/>
              </a:rPr>
              <a:t>Latency saving</a:t>
            </a:r>
            <a:endParaRPr lang="en-US" altLang="zh-CN" b="1">
              <a:solidFill>
                <a:srgbClr val="C00000"/>
              </a:solidFill>
            </a:endParaRPr>
          </a:p>
          <a:p>
            <a:r>
              <a:rPr lang="en-US" altLang="zh-CN" b="1">
                <a:solidFill>
                  <a:schemeClr val="bg2">
                    <a:lumMod val="50000"/>
                  </a:schemeClr>
                </a:solidFill>
                <a:sym typeface="+mn-ea"/>
              </a:rPr>
              <a:t>For N = 64</a:t>
            </a:r>
            <a:endParaRPr lang="en-US" altLang="zh-CN" b="1">
              <a:solidFill>
                <a:schemeClr val="bg2">
                  <a:lumMod val="50000"/>
                </a:schemeClr>
              </a:solidFill>
            </a:endParaRPr>
          </a:p>
          <a:p>
            <a:r>
              <a:rPr lang="en-US" altLang="zh-CN" b="1">
                <a:solidFill>
                  <a:schemeClr val="bg2">
                    <a:lumMod val="50000"/>
                  </a:schemeClr>
                </a:solidFill>
                <a:sym typeface="+mn-ea"/>
              </a:rPr>
              <a:t>T_A = 1856 cycles</a:t>
            </a:r>
            <a:endParaRPr lang="en-US" altLang="zh-CN" b="1">
              <a:solidFill>
                <a:schemeClr val="bg2">
                  <a:lumMod val="50000"/>
                </a:schemeClr>
              </a:solidFill>
            </a:endParaRPr>
          </a:p>
          <a:p>
            <a:r>
              <a:rPr lang="en-US" altLang="zh-CN" b="1">
                <a:solidFill>
                  <a:schemeClr val="bg2">
                    <a:lumMod val="50000"/>
                  </a:schemeClr>
                </a:solidFill>
                <a:sym typeface="+mn-ea"/>
              </a:rPr>
              <a:t>T_B = 1415 cycles</a:t>
            </a:r>
            <a:endParaRPr lang="en-US" altLang="zh-CN" b="1">
              <a:solidFill>
                <a:schemeClr val="bg2">
                  <a:lumMod val="50000"/>
                </a:schemeClr>
              </a:solidFill>
            </a:endParaRPr>
          </a:p>
          <a:p>
            <a:r>
              <a:rPr lang="en-US" altLang="zh-CN" b="1">
                <a:solidFill>
                  <a:schemeClr val="bg2">
                    <a:lumMod val="50000"/>
                  </a:schemeClr>
                </a:solidFill>
                <a:sym typeface="+mn-ea"/>
              </a:rPr>
              <a:t>Saving = 441 cycles</a:t>
            </a:r>
            <a:endParaRPr lang="en-US" altLang="zh-CN" b="1">
              <a:solidFill>
                <a:schemeClr val="bg2">
                  <a:lumMod val="50000"/>
                </a:schemeClr>
              </a:solidFill>
            </a:endParaRPr>
          </a:p>
          <a:p>
            <a:pPr marL="285750" indent="-285750">
              <a:buFont typeface="Wingdings" panose="05000000000000000000" charset="0"/>
              <a:buChar char="Ø"/>
            </a:pPr>
            <a:r>
              <a:rPr lang="en-US" altLang="zh-CN" b="1">
                <a:solidFill>
                  <a:srgbClr val="C00000"/>
                </a:solidFill>
                <a:sym typeface="+mn-ea"/>
              </a:rPr>
              <a:t>Saving ratio ≈ 23.8%</a:t>
            </a:r>
          </a:p>
          <a:p>
            <a:pPr marL="285750" indent="-285750">
              <a:buFont typeface="Wingdings" panose="05000000000000000000" charset="0"/>
              <a:buChar char="Ø"/>
            </a:pPr>
            <a:r>
              <a:rPr lang="en-US" altLang="zh-CN" b="1">
                <a:solidFill>
                  <a:srgbClr val="C00000"/>
                </a:solidFill>
              </a:rPr>
              <a:t>Add 12 DSPs</a:t>
            </a:r>
          </a:p>
        </p:txBody>
      </p:sp>
      <p:sp>
        <p:nvSpPr>
          <p:cNvPr id="6" name="文本框 5"/>
          <p:cNvSpPr txBox="1"/>
          <p:nvPr/>
        </p:nvSpPr>
        <p:spPr>
          <a:xfrm>
            <a:off x="421005" y="6289675"/>
            <a:ext cx="9772650" cy="521970"/>
          </a:xfrm>
          <a:prstGeom prst="rect">
            <a:avLst/>
          </a:prstGeom>
          <a:noFill/>
        </p:spPr>
        <p:txBody>
          <a:bodyPr wrap="square" rtlCol="0">
            <a:spAutoFit/>
          </a:bodyPr>
          <a:lstStyle/>
          <a:p>
            <a:r>
              <a:rPr lang="en-US" altLang="zh-CN" sz="1400" i="1">
                <a:solidFill>
                  <a:schemeClr val="bg1">
                    <a:lumMod val="50000"/>
                  </a:schemeClr>
                </a:solidFill>
              </a:rPr>
              <a:t>R. Wei et al., "LightMamba: Efficient Mamba Acceleration on FPGA with Quantization and Hardware Co-design," 2025 Design, Automation &amp; Test in Europe Conference (DATE), Lyon, France, 2025, pp. 1-7, doi: 10.23919/DATE64628.2025.10993079.</a:t>
            </a:r>
          </a:p>
        </p:txBody>
      </p:sp>
      <p:sp>
        <p:nvSpPr>
          <p:cNvPr id="7" name="文本框 6"/>
          <p:cNvSpPr txBox="1"/>
          <p:nvPr/>
        </p:nvSpPr>
        <p:spPr>
          <a:xfrm>
            <a:off x="2928620" y="4805680"/>
            <a:ext cx="5401945" cy="1198880"/>
          </a:xfrm>
          <a:prstGeom prst="rect">
            <a:avLst/>
          </a:prstGeom>
          <a:noFill/>
        </p:spPr>
        <p:txBody>
          <a:bodyPr wrap="square" rtlCol="0">
            <a:spAutoFit/>
          </a:bodyPr>
          <a:lstStyle/>
          <a:p>
            <a:pPr marL="285750" indent="-285750">
              <a:buFont typeface="Wingdings" panose="05000000000000000000" charset="0"/>
              <a:buChar char="Ø"/>
            </a:pPr>
            <a:r>
              <a:rPr lang="en-US" altLang="zh-CN" b="1" i="1">
                <a:solidFill>
                  <a:srgbClr val="C00000"/>
                </a:solidFill>
              </a:rPr>
              <a:t>use 64 DSPs</a:t>
            </a:r>
          </a:p>
          <a:p>
            <a:pPr marL="285750" indent="-285750">
              <a:buFont typeface="Wingdings" panose="05000000000000000000" charset="0"/>
              <a:buChar char="Ø"/>
            </a:pPr>
            <a:r>
              <a:rPr lang="en-US" altLang="zh-CN" b="1" i="1">
                <a:solidFill>
                  <a:srgbClr val="C00000"/>
                </a:solidFill>
              </a:rPr>
              <a:t>wait for all MACs (64 tiles) to finish and then goes to next layer. </a:t>
            </a:r>
          </a:p>
          <a:p>
            <a:endParaRPr lang="en-US" altLang="zh-CN" b="1" i="1">
              <a:solidFill>
                <a:srgbClr val="C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sym typeface="+mn-ea"/>
              </a:rPr>
              <a:t>Nonlinear layer - RMSNorm</a:t>
            </a:r>
            <a:endParaRPr lang="zh-CN" altLang="en-US"/>
          </a:p>
        </p:txBody>
      </p:sp>
      <p:sp>
        <p:nvSpPr>
          <p:cNvPr id="3" name="文本框 2"/>
          <p:cNvSpPr txBox="1"/>
          <p:nvPr/>
        </p:nvSpPr>
        <p:spPr>
          <a:xfrm>
            <a:off x="567690" y="1184275"/>
            <a:ext cx="4057015" cy="368300"/>
          </a:xfrm>
          <a:prstGeom prst="rect">
            <a:avLst/>
          </a:prstGeom>
          <a:noFill/>
        </p:spPr>
        <p:txBody>
          <a:bodyPr wrap="square" rtlCol="0">
            <a:spAutoFit/>
          </a:bodyPr>
          <a:lstStyle/>
          <a:p>
            <a:r>
              <a:rPr lang="en-US" altLang="zh-CN"/>
              <a:t>RMSNorm: y_i = x_i /  </a:t>
            </a:r>
            <a:r>
              <a:rPr lang="en-US" altLang="zh-CN" b="1">
                <a:solidFill>
                  <a:srgbClr val="C00000"/>
                </a:solidFill>
              </a:rPr>
              <a:t>RMS(x)</a:t>
            </a:r>
            <a:r>
              <a:rPr lang="en-US" altLang="zh-CN"/>
              <a:t> * gamma_i</a:t>
            </a:r>
          </a:p>
        </p:txBody>
      </p:sp>
      <p:sp>
        <p:nvSpPr>
          <p:cNvPr id="6" name="文本框 5"/>
          <p:cNvSpPr txBox="1"/>
          <p:nvPr/>
        </p:nvSpPr>
        <p:spPr>
          <a:xfrm>
            <a:off x="3759200" y="1926590"/>
            <a:ext cx="857250" cy="368300"/>
          </a:xfrm>
          <a:prstGeom prst="rect">
            <a:avLst/>
          </a:prstGeom>
          <a:noFill/>
        </p:spPr>
        <p:txBody>
          <a:bodyPr wrap="square" rtlCol="0">
            <a:spAutoFit/>
          </a:bodyPr>
          <a:lstStyle/>
          <a:p>
            <a:r>
              <a:rPr lang="en-US" altLang="zh-CN" b="1"/>
              <a:t>weight</a:t>
            </a:r>
          </a:p>
        </p:txBody>
      </p:sp>
      <p:sp>
        <p:nvSpPr>
          <p:cNvPr id="7" name="上箭头 6"/>
          <p:cNvSpPr/>
          <p:nvPr/>
        </p:nvSpPr>
        <p:spPr>
          <a:xfrm>
            <a:off x="3028950" y="1613535"/>
            <a:ext cx="76200" cy="257175"/>
          </a:xfrm>
          <a:prstGeom prst="upArrow">
            <a:avLst/>
          </a:prstGeom>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8" name="圆角矩形 7"/>
          <p:cNvSpPr/>
          <p:nvPr/>
        </p:nvSpPr>
        <p:spPr>
          <a:xfrm>
            <a:off x="2497455" y="1184275"/>
            <a:ext cx="170180" cy="368300"/>
          </a:xfrm>
          <a:prstGeom prst="roundRect">
            <a:avLst/>
          </a:prstGeom>
          <a:ln>
            <a:solidFill>
              <a:srgbClr val="C00000"/>
            </a:solidFill>
          </a:ln>
        </p:spPr>
        <p:style>
          <a:lnRef idx="3">
            <a:schemeClr val="accent1"/>
          </a:lnRef>
          <a:fillRef idx="0">
            <a:srgbClr val="FFFFFF"/>
          </a:fillRef>
          <a:effectRef idx="0">
            <a:srgbClr val="FFFFFF"/>
          </a:effectRef>
          <a:fontRef idx="minor">
            <a:schemeClr val="tx1"/>
          </a:fontRef>
        </p:style>
        <p:txBody>
          <a:bodyPr/>
          <a:lstStyle/>
          <a:p>
            <a:endParaRPr lang="zh-CN" altLang="en-US"/>
          </a:p>
        </p:txBody>
      </p:sp>
      <p:sp>
        <p:nvSpPr>
          <p:cNvPr id="9" name="上箭头 8"/>
          <p:cNvSpPr/>
          <p:nvPr/>
        </p:nvSpPr>
        <p:spPr>
          <a:xfrm>
            <a:off x="3991610" y="1610995"/>
            <a:ext cx="76200" cy="257175"/>
          </a:xfrm>
          <a:prstGeom prst="upArrow">
            <a:avLst/>
          </a:prstGeom>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文本框 10"/>
          <p:cNvSpPr txBox="1"/>
          <p:nvPr/>
        </p:nvSpPr>
        <p:spPr>
          <a:xfrm>
            <a:off x="2769235" y="1931670"/>
            <a:ext cx="989965" cy="645160"/>
          </a:xfrm>
          <a:prstGeom prst="rect">
            <a:avLst/>
          </a:prstGeom>
          <a:noFill/>
        </p:spPr>
        <p:txBody>
          <a:bodyPr wrap="square" rtlCol="0">
            <a:spAutoFit/>
          </a:bodyPr>
          <a:lstStyle/>
          <a:p>
            <a:r>
              <a:rPr lang="en-US" altLang="zh-CN" b="1"/>
              <a:t>Iterative</a:t>
            </a:r>
            <a:endParaRPr lang="en-US" altLang="zh-CN"/>
          </a:p>
          <a:p>
            <a:r>
              <a:rPr lang="en-US" altLang="zh-CN" b="1"/>
              <a:t>method</a:t>
            </a:r>
          </a:p>
        </p:txBody>
      </p:sp>
      <p:sp>
        <p:nvSpPr>
          <p:cNvPr id="4" name="上箭头 3"/>
          <p:cNvSpPr/>
          <p:nvPr/>
        </p:nvSpPr>
        <p:spPr>
          <a:xfrm>
            <a:off x="2497455" y="1613535"/>
            <a:ext cx="76200" cy="257175"/>
          </a:xfrm>
          <a:prstGeom prst="upArrow">
            <a:avLst/>
          </a:prstGeom>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5" name="文本框 4"/>
          <p:cNvSpPr txBox="1"/>
          <p:nvPr/>
        </p:nvSpPr>
        <p:spPr>
          <a:xfrm>
            <a:off x="1257935" y="1931670"/>
            <a:ext cx="1511300" cy="645160"/>
          </a:xfrm>
          <a:prstGeom prst="rect">
            <a:avLst/>
          </a:prstGeom>
          <a:noFill/>
        </p:spPr>
        <p:txBody>
          <a:bodyPr wrap="square" rtlCol="0">
            <a:spAutoFit/>
          </a:bodyPr>
          <a:lstStyle/>
          <a:p>
            <a:r>
              <a:rPr lang="en-US" altLang="zh-CN" b="1"/>
              <a:t>Trial-quotient</a:t>
            </a:r>
          </a:p>
          <a:p>
            <a:r>
              <a:rPr lang="en-US" altLang="zh-CN" b="1"/>
              <a:t>method</a:t>
            </a:r>
          </a:p>
        </p:txBody>
      </p:sp>
      <p:sp>
        <p:nvSpPr>
          <p:cNvPr id="12" name="文本框 11"/>
          <p:cNvSpPr txBox="1"/>
          <p:nvPr/>
        </p:nvSpPr>
        <p:spPr>
          <a:xfrm>
            <a:off x="510540" y="2872105"/>
            <a:ext cx="5575935" cy="2861310"/>
          </a:xfrm>
          <a:prstGeom prst="rect">
            <a:avLst/>
          </a:prstGeom>
          <a:noFill/>
        </p:spPr>
        <p:txBody>
          <a:bodyPr wrap="square" rtlCol="0">
            <a:spAutoFit/>
          </a:bodyPr>
          <a:lstStyle/>
          <a:p>
            <a:pPr marL="285750" indent="-285750">
              <a:buFont typeface="Wingdings" panose="05000000000000000000" charset="0"/>
              <a:buChar char="Ø"/>
            </a:pPr>
            <a:r>
              <a:rPr lang="en-US" altLang="zh-CN"/>
              <a:t>Division</a:t>
            </a:r>
            <a:r>
              <a:rPr lang="zh-CN" altLang="en-US"/>
              <a:t>：</a:t>
            </a:r>
          </a:p>
          <a:p>
            <a:pPr marL="742950" lvl="1" indent="-285750">
              <a:buFont typeface="Arial" panose="020B0604020202020204" pitchFamily="34" charset="0"/>
              <a:buChar char="•"/>
            </a:pPr>
            <a:r>
              <a:rPr lang="en-US" altLang="zh-CN"/>
              <a:t>Goal: replace division with one </a:t>
            </a:r>
            <a:r>
              <a:rPr lang="en-US" altLang="zh-CN" b="1">
                <a:solidFill>
                  <a:srgbClr val="C00000"/>
                </a:solidFill>
              </a:rPr>
              <a:t>reciprocal value</a:t>
            </a:r>
            <a:r>
              <a:rPr lang="en-US" altLang="zh-CN"/>
              <a:t>,  recip_q30 = round(</a:t>
            </a:r>
            <a:r>
              <a:rPr lang="en-US" altLang="zh-CN" b="1">
                <a:solidFill>
                  <a:srgbClr val="C00000"/>
                </a:solidFill>
              </a:rPr>
              <a:t>2^30</a:t>
            </a:r>
            <a:r>
              <a:rPr lang="en-US" altLang="zh-CN"/>
              <a:t> / rms_q88)</a:t>
            </a:r>
          </a:p>
          <a:p>
            <a:pPr lvl="1" indent="0">
              <a:buFont typeface="Arial" panose="020B0604020202020204" pitchFamily="34" charset="0"/>
              <a:buNone/>
            </a:pPr>
            <a:endParaRPr lang="en-US" altLang="zh-CN"/>
          </a:p>
          <a:p>
            <a:pPr marL="742950" lvl="1" indent="-285750">
              <a:buFont typeface="Arial" panose="020B0604020202020204" pitchFamily="34" charset="0"/>
              <a:buChar char="•"/>
            </a:pPr>
            <a:r>
              <a:rPr lang="en-US" altLang="zh-CN"/>
              <a:t>2^30 is the scaling factor for the fixed-point reciprocal. recip_q30 stores 1 / rms_q88 with </a:t>
            </a:r>
            <a:r>
              <a:rPr lang="en-US" altLang="zh-CN" b="1">
                <a:solidFill>
                  <a:srgbClr val="C00000"/>
                </a:solidFill>
              </a:rPr>
              <a:t>30 fractional bits.</a:t>
            </a:r>
          </a:p>
          <a:p>
            <a:pPr marL="742950" lvl="1" indent="-285750">
              <a:buFont typeface="Arial" panose="020B0604020202020204" pitchFamily="34" charset="0"/>
              <a:buChar char="•"/>
            </a:pPr>
            <a:endParaRPr lang="en-US" altLang="zh-CN"/>
          </a:p>
          <a:p>
            <a:pPr marL="742950" lvl="1" indent="-285750">
              <a:buFont typeface="Arial" panose="020B0604020202020204" pitchFamily="34" charset="0"/>
              <a:buChar char="•"/>
            </a:pPr>
            <a:r>
              <a:rPr lang="en-US" altLang="zh-CN"/>
              <a:t>More fractional bits give </a:t>
            </a:r>
            <a:r>
              <a:rPr lang="en-US" altLang="zh-CN" b="1">
                <a:solidFill>
                  <a:srgbClr val="C00000"/>
                </a:solidFill>
              </a:rPr>
              <a:t>higher reciprocal precision</a:t>
            </a:r>
            <a:r>
              <a:rPr lang="en-US" altLang="zh-CN"/>
              <a:t>, reducing RMSNorm output error.</a:t>
            </a:r>
          </a:p>
        </p:txBody>
      </p:sp>
      <p:pic>
        <p:nvPicPr>
          <p:cNvPr id="14" name="图片 13" descr="trial_quotient_flow"/>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93230" y="1024255"/>
            <a:ext cx="4306570" cy="56819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sym typeface="+mn-ea"/>
              </a:rPr>
              <a:t>Nonlinear layer - RMSNorm</a:t>
            </a:r>
            <a:endParaRPr lang="zh-CN" altLang="en-US"/>
          </a:p>
        </p:txBody>
      </p:sp>
      <p:sp>
        <p:nvSpPr>
          <p:cNvPr id="3" name="文本框 2"/>
          <p:cNvSpPr txBox="1"/>
          <p:nvPr/>
        </p:nvSpPr>
        <p:spPr>
          <a:xfrm>
            <a:off x="567690" y="1184275"/>
            <a:ext cx="4057015" cy="368300"/>
          </a:xfrm>
          <a:prstGeom prst="rect">
            <a:avLst/>
          </a:prstGeom>
          <a:noFill/>
        </p:spPr>
        <p:txBody>
          <a:bodyPr wrap="square" rtlCol="0">
            <a:spAutoFit/>
          </a:bodyPr>
          <a:lstStyle/>
          <a:p>
            <a:r>
              <a:rPr lang="en-US" altLang="zh-CN"/>
              <a:t>RMSNorm: y_i = x_i /  </a:t>
            </a:r>
            <a:r>
              <a:rPr lang="en-US" altLang="zh-CN" b="1">
                <a:solidFill>
                  <a:srgbClr val="C00000"/>
                </a:solidFill>
              </a:rPr>
              <a:t>RMS(x)</a:t>
            </a:r>
            <a:r>
              <a:rPr lang="en-US" altLang="zh-CN"/>
              <a:t> * gamma_i</a:t>
            </a:r>
          </a:p>
        </p:txBody>
      </p:sp>
      <p:sp>
        <p:nvSpPr>
          <p:cNvPr id="6" name="文本框 5"/>
          <p:cNvSpPr txBox="1"/>
          <p:nvPr/>
        </p:nvSpPr>
        <p:spPr>
          <a:xfrm>
            <a:off x="3759200" y="1926590"/>
            <a:ext cx="857250" cy="368300"/>
          </a:xfrm>
          <a:prstGeom prst="rect">
            <a:avLst/>
          </a:prstGeom>
          <a:noFill/>
        </p:spPr>
        <p:txBody>
          <a:bodyPr wrap="square" rtlCol="0">
            <a:spAutoFit/>
          </a:bodyPr>
          <a:lstStyle/>
          <a:p>
            <a:r>
              <a:rPr lang="en-US" altLang="zh-CN" b="1"/>
              <a:t>weight</a:t>
            </a:r>
          </a:p>
        </p:txBody>
      </p:sp>
      <p:sp>
        <p:nvSpPr>
          <p:cNvPr id="7" name="上箭头 6"/>
          <p:cNvSpPr/>
          <p:nvPr/>
        </p:nvSpPr>
        <p:spPr>
          <a:xfrm>
            <a:off x="3028950" y="1613535"/>
            <a:ext cx="76200" cy="257175"/>
          </a:xfrm>
          <a:prstGeom prst="upArrow">
            <a:avLst/>
          </a:prstGeom>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8" name="圆角矩形 7"/>
          <p:cNvSpPr/>
          <p:nvPr/>
        </p:nvSpPr>
        <p:spPr>
          <a:xfrm>
            <a:off x="2497455" y="1184275"/>
            <a:ext cx="170180" cy="368300"/>
          </a:xfrm>
          <a:prstGeom prst="roundRect">
            <a:avLst/>
          </a:prstGeom>
          <a:ln>
            <a:solidFill>
              <a:srgbClr val="C00000"/>
            </a:solidFill>
          </a:ln>
        </p:spPr>
        <p:style>
          <a:lnRef idx="3">
            <a:schemeClr val="accent1"/>
          </a:lnRef>
          <a:fillRef idx="0">
            <a:srgbClr val="FFFFFF"/>
          </a:fillRef>
          <a:effectRef idx="0">
            <a:srgbClr val="FFFFFF"/>
          </a:effectRef>
          <a:fontRef idx="minor">
            <a:schemeClr val="tx1"/>
          </a:fontRef>
        </p:style>
        <p:txBody>
          <a:bodyPr/>
          <a:lstStyle/>
          <a:p>
            <a:endParaRPr lang="zh-CN" altLang="en-US"/>
          </a:p>
        </p:txBody>
      </p:sp>
      <p:sp>
        <p:nvSpPr>
          <p:cNvPr id="9" name="上箭头 8"/>
          <p:cNvSpPr/>
          <p:nvPr/>
        </p:nvSpPr>
        <p:spPr>
          <a:xfrm>
            <a:off x="3991610" y="1610995"/>
            <a:ext cx="76200" cy="257175"/>
          </a:xfrm>
          <a:prstGeom prst="upArrow">
            <a:avLst/>
          </a:prstGeom>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文本框 10"/>
          <p:cNvSpPr txBox="1"/>
          <p:nvPr/>
        </p:nvSpPr>
        <p:spPr>
          <a:xfrm>
            <a:off x="2769235" y="1931670"/>
            <a:ext cx="989965" cy="645160"/>
          </a:xfrm>
          <a:prstGeom prst="rect">
            <a:avLst/>
          </a:prstGeom>
          <a:noFill/>
        </p:spPr>
        <p:txBody>
          <a:bodyPr wrap="square" rtlCol="0">
            <a:spAutoFit/>
          </a:bodyPr>
          <a:lstStyle/>
          <a:p>
            <a:r>
              <a:rPr lang="en-US" altLang="zh-CN" b="1"/>
              <a:t>Iterative</a:t>
            </a:r>
            <a:endParaRPr lang="en-US" altLang="zh-CN"/>
          </a:p>
          <a:p>
            <a:r>
              <a:rPr lang="en-US" altLang="zh-CN" b="1"/>
              <a:t>method</a:t>
            </a:r>
          </a:p>
        </p:txBody>
      </p:sp>
      <p:sp>
        <p:nvSpPr>
          <p:cNvPr id="4" name="上箭头 3"/>
          <p:cNvSpPr/>
          <p:nvPr/>
        </p:nvSpPr>
        <p:spPr>
          <a:xfrm>
            <a:off x="2497455" y="1613535"/>
            <a:ext cx="76200" cy="257175"/>
          </a:xfrm>
          <a:prstGeom prst="upArrow">
            <a:avLst/>
          </a:prstGeom>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5" name="文本框 4"/>
          <p:cNvSpPr txBox="1"/>
          <p:nvPr/>
        </p:nvSpPr>
        <p:spPr>
          <a:xfrm>
            <a:off x="1257935" y="1931670"/>
            <a:ext cx="1511300" cy="645160"/>
          </a:xfrm>
          <a:prstGeom prst="rect">
            <a:avLst/>
          </a:prstGeom>
          <a:noFill/>
        </p:spPr>
        <p:txBody>
          <a:bodyPr wrap="square" rtlCol="0">
            <a:spAutoFit/>
          </a:bodyPr>
          <a:lstStyle/>
          <a:p>
            <a:r>
              <a:rPr lang="en-US" altLang="zh-CN" b="1"/>
              <a:t>Trial-quotient</a:t>
            </a:r>
          </a:p>
          <a:p>
            <a:r>
              <a:rPr lang="en-US" altLang="zh-CN" b="1"/>
              <a:t>method</a:t>
            </a:r>
          </a:p>
        </p:txBody>
      </p:sp>
      <p:sp>
        <p:nvSpPr>
          <p:cNvPr id="12" name="文本框 11"/>
          <p:cNvSpPr txBox="1"/>
          <p:nvPr/>
        </p:nvSpPr>
        <p:spPr>
          <a:xfrm>
            <a:off x="510540" y="2668905"/>
            <a:ext cx="5575935" cy="3907790"/>
          </a:xfrm>
          <a:prstGeom prst="rect">
            <a:avLst/>
          </a:prstGeom>
          <a:noFill/>
        </p:spPr>
        <p:txBody>
          <a:bodyPr wrap="square" rtlCol="0">
            <a:spAutoFit/>
          </a:bodyPr>
          <a:lstStyle/>
          <a:p>
            <a:pPr marL="285750" indent="-285750">
              <a:buFont typeface="Wingdings" panose="05000000000000000000" charset="0"/>
              <a:buChar char="Ø"/>
            </a:pPr>
            <a:r>
              <a:rPr lang="en-US" altLang="zh-CN"/>
              <a:t>RMS Approximation</a:t>
            </a:r>
            <a:r>
              <a:rPr lang="zh-CN" altLang="en-US"/>
              <a:t>：</a:t>
            </a:r>
          </a:p>
          <a:p>
            <a:pPr marL="742950" lvl="1" indent="-285750">
              <a:buFont typeface="Arial" panose="020B0604020202020204" pitchFamily="34" charset="0"/>
              <a:buChar char="•"/>
            </a:pPr>
            <a:r>
              <a:rPr lang="en-US" altLang="zh-CN"/>
              <a:t> Goal: compute RMS without floating-point sqrt: </a:t>
            </a:r>
            <a:r>
              <a:rPr lang="en-US" altLang="zh-CN" b="1">
                <a:solidFill>
                  <a:srgbClr val="C00000"/>
                </a:solidFill>
              </a:rPr>
              <a:t>rms_q88 = isqrt(mean_sq_q16 + eps)</a:t>
            </a:r>
          </a:p>
          <a:p>
            <a:pPr marL="742950" lvl="1" indent="-285750">
              <a:buFont typeface="Arial" panose="020B0604020202020204" pitchFamily="34" charset="0"/>
              <a:buChar char="•"/>
            </a:pPr>
            <a:endParaRPr lang="en-US" altLang="zh-CN" b="1">
              <a:solidFill>
                <a:srgbClr val="C00000"/>
              </a:solidFill>
            </a:endParaRPr>
          </a:p>
          <a:p>
            <a:pPr marL="742950" lvl="1" indent="-285750">
              <a:buFont typeface="Arial" panose="020B0604020202020204" pitchFamily="34" charset="0"/>
              <a:buChar char="•"/>
            </a:pPr>
            <a:r>
              <a:rPr lang="en-US" altLang="zh-CN"/>
              <a:t>root: current </a:t>
            </a:r>
            <a:r>
              <a:rPr lang="en-US" altLang="zh-CN" b="1">
                <a:solidFill>
                  <a:srgbClr val="C00000"/>
                </a:solidFill>
              </a:rPr>
              <a:t>partial square-root result</a:t>
            </a:r>
            <a:r>
              <a:rPr lang="en-US" altLang="zh-CN"/>
              <a:t>; one new bit is decided each cycle.</a:t>
            </a:r>
          </a:p>
          <a:p>
            <a:pPr marL="742950" lvl="1" indent="-285750">
              <a:buFont typeface="Arial" panose="020B0604020202020204" pitchFamily="34" charset="0"/>
              <a:buChar char="•"/>
            </a:pPr>
            <a:endParaRPr lang="en-US" altLang="zh-CN"/>
          </a:p>
          <a:p>
            <a:pPr marL="742950" lvl="1" indent="-285750">
              <a:buFont typeface="Arial" panose="020B0604020202020204" pitchFamily="34" charset="0"/>
              <a:buChar char="•"/>
            </a:pPr>
            <a:r>
              <a:rPr lang="en-US" altLang="zh-CN"/>
              <a:t>remainder: the </a:t>
            </a:r>
            <a:r>
              <a:rPr lang="en-US" altLang="zh-CN" b="1">
                <a:solidFill>
                  <a:srgbClr val="C00000"/>
                </a:solidFill>
              </a:rPr>
              <a:t>remaining part of the input</a:t>
            </a:r>
            <a:r>
              <a:rPr lang="en-US" altLang="zh-CN"/>
              <a:t> that has not been explained by the current root.</a:t>
            </a:r>
          </a:p>
          <a:p>
            <a:pPr marL="742950" lvl="1" indent="-285750">
              <a:buFont typeface="Arial" panose="020B0604020202020204" pitchFamily="34" charset="0"/>
              <a:buChar char="•"/>
            </a:pPr>
            <a:endParaRPr lang="en-US" altLang="zh-CN"/>
          </a:p>
          <a:p>
            <a:pPr marL="742950" lvl="1" indent="-285750">
              <a:buFont typeface="Arial" panose="020B0604020202020204" pitchFamily="34" charset="0"/>
              <a:buChar char="•"/>
            </a:pPr>
            <a:r>
              <a:rPr lang="en-US" altLang="zh-CN"/>
              <a:t>trial value:  a test value used to check </a:t>
            </a:r>
            <a:r>
              <a:rPr lang="en-US" altLang="zh-CN" b="1">
                <a:solidFill>
                  <a:srgbClr val="C00000"/>
                </a:solidFill>
              </a:rPr>
              <a:t>whether the next root bit can be set to 1.</a:t>
            </a:r>
          </a:p>
          <a:p>
            <a:pPr lvl="2" indent="0">
              <a:buFont typeface="Arial" panose="020B0604020202020204" pitchFamily="34" charset="0"/>
              <a:buNone/>
            </a:pPr>
            <a:r>
              <a:rPr lang="en-US" altLang="zh-CN" sz="1600" b="1" i="1">
                <a:solidFill>
                  <a:schemeClr val="tx2"/>
                </a:solidFill>
              </a:rPr>
              <a:t>root_shift = {isqrt_root, 1'b0};</a:t>
            </a:r>
          </a:p>
          <a:p>
            <a:pPr lvl="2" indent="0">
              <a:buFont typeface="Arial" panose="020B0604020202020204" pitchFamily="34" charset="0"/>
              <a:buNone/>
            </a:pPr>
            <a:r>
              <a:rPr lang="en-US" altLang="zh-CN" sz="1600" b="1" i="1">
                <a:solidFill>
                  <a:schemeClr val="tx2"/>
                </a:solidFill>
              </a:rPr>
              <a:t>trial      = {32'd0, root_shift, 1'b1};</a:t>
            </a:r>
          </a:p>
        </p:txBody>
      </p:sp>
      <p:pic>
        <p:nvPicPr>
          <p:cNvPr id="10" name="图片 9" descr="rms_approximation_flow"/>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74535" y="1071880"/>
            <a:ext cx="3488690" cy="565531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sym typeface="+mn-ea"/>
              </a:rPr>
              <a:t>Nonlinear layer - RMSNorm</a:t>
            </a:r>
            <a:endParaRPr lang="zh-CN" altLang="en-US"/>
          </a:p>
        </p:txBody>
      </p:sp>
      <p:pic>
        <p:nvPicPr>
          <p:cNvPr id="13" name="图片 12" descr="rmsnorm_float_vs_hw"/>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0540" y="1337310"/>
            <a:ext cx="7978140" cy="4496435"/>
          </a:xfrm>
          <a:prstGeom prst="rect">
            <a:avLst/>
          </a:prstGeom>
        </p:spPr>
      </p:pic>
      <p:sp>
        <p:nvSpPr>
          <p:cNvPr id="14" name="文本框 13"/>
          <p:cNvSpPr txBox="1"/>
          <p:nvPr/>
        </p:nvSpPr>
        <p:spPr>
          <a:xfrm>
            <a:off x="8430260" y="2774315"/>
            <a:ext cx="3422015" cy="645160"/>
          </a:xfrm>
          <a:prstGeom prst="rect">
            <a:avLst/>
          </a:prstGeom>
          <a:noFill/>
        </p:spPr>
        <p:txBody>
          <a:bodyPr wrap="square" rtlCol="0">
            <a:spAutoFit/>
          </a:bodyPr>
          <a:lstStyle/>
          <a:p>
            <a:r>
              <a:rPr lang="en-US" altLang="zh-CN" b="1"/>
              <a:t>max abs. error= 0.015625</a:t>
            </a:r>
          </a:p>
          <a:p>
            <a:r>
              <a:rPr lang="en-US" altLang="zh-CN" b="1"/>
              <a:t>mean</a:t>
            </a:r>
            <a:r>
              <a:rPr lang="en-US" altLang="zh-CN" b="1">
                <a:sym typeface="+mn-ea"/>
              </a:rPr>
              <a:t> abs. </a:t>
            </a:r>
            <a:r>
              <a:rPr lang="en-US" altLang="zh-CN" b="1"/>
              <a:t>error = 0.004211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sym typeface="+mn-ea"/>
              </a:rPr>
              <a:t>Nonlinear layer - Sigmoid</a:t>
            </a:r>
            <a:endParaRPr lang="zh-CN" altLang="en-US"/>
          </a:p>
        </p:txBody>
      </p:sp>
      <p:pic>
        <p:nvPicPr>
          <p:cNvPr id="15" name="图片 14"/>
          <p:cNvPicPr>
            <a:picLocks noChangeAspect="1"/>
          </p:cNvPicPr>
          <p:nvPr/>
        </p:nvPicPr>
        <p:blipFill>
          <a:blip r:embed="rId2"/>
          <a:stretch>
            <a:fillRect/>
          </a:stretch>
        </p:blipFill>
        <p:spPr>
          <a:xfrm>
            <a:off x="443865" y="4919345"/>
            <a:ext cx="1676400" cy="657225"/>
          </a:xfrm>
          <a:prstGeom prst="rect">
            <a:avLst/>
          </a:prstGeom>
        </p:spPr>
      </p:pic>
      <p:sp>
        <p:nvSpPr>
          <p:cNvPr id="16" name="右箭头 15"/>
          <p:cNvSpPr/>
          <p:nvPr/>
        </p:nvSpPr>
        <p:spPr>
          <a:xfrm>
            <a:off x="2258060" y="5123815"/>
            <a:ext cx="314960" cy="209550"/>
          </a:xfrm>
          <a:prstGeom prst="rightArrow">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7" name="文本框 16"/>
          <p:cNvSpPr txBox="1"/>
          <p:nvPr/>
        </p:nvSpPr>
        <p:spPr>
          <a:xfrm>
            <a:off x="2711450" y="5044440"/>
            <a:ext cx="1913255" cy="368300"/>
          </a:xfrm>
          <a:prstGeom prst="rect">
            <a:avLst/>
          </a:prstGeom>
          <a:noFill/>
        </p:spPr>
        <p:txBody>
          <a:bodyPr wrap="square" rtlCol="0">
            <a:spAutoFit/>
          </a:bodyPr>
          <a:lstStyle/>
          <a:p>
            <a:r>
              <a:rPr lang="en-US" altLang="zh-CN"/>
              <a:t>clamp x to [-4, +4)</a:t>
            </a:r>
          </a:p>
        </p:txBody>
      </p:sp>
      <p:sp>
        <p:nvSpPr>
          <p:cNvPr id="18" name="右箭头 17"/>
          <p:cNvSpPr/>
          <p:nvPr/>
        </p:nvSpPr>
        <p:spPr>
          <a:xfrm>
            <a:off x="543560" y="5655945"/>
            <a:ext cx="314960" cy="209550"/>
          </a:xfrm>
          <a:prstGeom prst="rightArrow">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pic>
        <p:nvPicPr>
          <p:cNvPr id="19" name="图片 18"/>
          <p:cNvPicPr>
            <a:picLocks noChangeAspect="1"/>
          </p:cNvPicPr>
          <p:nvPr/>
        </p:nvPicPr>
        <p:blipFill>
          <a:blip r:embed="rId3"/>
          <a:stretch>
            <a:fillRect/>
          </a:stretch>
        </p:blipFill>
        <p:spPr>
          <a:xfrm>
            <a:off x="1084580" y="5576570"/>
            <a:ext cx="2495550" cy="361950"/>
          </a:xfrm>
          <a:prstGeom prst="rect">
            <a:avLst/>
          </a:prstGeom>
        </p:spPr>
      </p:pic>
      <p:sp>
        <p:nvSpPr>
          <p:cNvPr id="20" name="右箭头 19"/>
          <p:cNvSpPr/>
          <p:nvPr/>
        </p:nvSpPr>
        <p:spPr>
          <a:xfrm>
            <a:off x="3679190" y="5655945"/>
            <a:ext cx="314960" cy="209550"/>
          </a:xfrm>
          <a:prstGeom prst="rightArrow">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1" name="文本框 20"/>
          <p:cNvSpPr txBox="1"/>
          <p:nvPr/>
        </p:nvSpPr>
        <p:spPr>
          <a:xfrm>
            <a:off x="4154805" y="5576570"/>
            <a:ext cx="3253105" cy="368300"/>
          </a:xfrm>
          <a:prstGeom prst="rect">
            <a:avLst/>
          </a:prstGeom>
          <a:noFill/>
        </p:spPr>
        <p:txBody>
          <a:bodyPr wrap="square" rtlCol="0">
            <a:spAutoFit/>
          </a:bodyPr>
          <a:lstStyle/>
          <a:p>
            <a:r>
              <a:rPr lang="en-US" altLang="zh-CN" b="1"/>
              <a:t>LUT: 2048 sigmoid outputs</a:t>
            </a:r>
          </a:p>
        </p:txBody>
      </p:sp>
      <p:pic>
        <p:nvPicPr>
          <p:cNvPr id="22" name="图片 21"/>
          <p:cNvPicPr>
            <a:picLocks noChangeAspect="1"/>
          </p:cNvPicPr>
          <p:nvPr/>
        </p:nvPicPr>
        <p:blipFill>
          <a:blip r:embed="rId4"/>
          <a:stretch>
            <a:fillRect/>
          </a:stretch>
        </p:blipFill>
        <p:spPr>
          <a:xfrm>
            <a:off x="443865" y="1200150"/>
            <a:ext cx="6667500" cy="3200400"/>
          </a:xfrm>
          <a:prstGeom prst="rect">
            <a:avLst/>
          </a:prstGeom>
        </p:spPr>
      </p:pic>
      <p:pic>
        <p:nvPicPr>
          <p:cNvPr id="23" name="图片 22"/>
          <p:cNvPicPr>
            <a:picLocks noChangeAspect="1"/>
          </p:cNvPicPr>
          <p:nvPr/>
        </p:nvPicPr>
        <p:blipFill>
          <a:blip r:embed="rId5"/>
          <a:srcRect r="41234"/>
          <a:stretch>
            <a:fillRect/>
          </a:stretch>
        </p:blipFill>
        <p:spPr>
          <a:xfrm>
            <a:off x="7485380" y="1085850"/>
            <a:ext cx="3961130" cy="5006340"/>
          </a:xfrm>
          <a:prstGeom prst="rect">
            <a:avLst/>
          </a:prstGeom>
        </p:spPr>
      </p:pic>
      <p:sp>
        <p:nvSpPr>
          <p:cNvPr id="4" name="圆角矩形 3"/>
          <p:cNvSpPr/>
          <p:nvPr/>
        </p:nvSpPr>
        <p:spPr>
          <a:xfrm>
            <a:off x="4472305" y="3284855"/>
            <a:ext cx="795020" cy="238760"/>
          </a:xfrm>
          <a:prstGeom prst="roundRect">
            <a:avLst/>
          </a:prstGeom>
          <a:ln>
            <a:solidFill>
              <a:srgbClr val="FFFF00"/>
            </a:solidFill>
          </a:ln>
        </p:spPr>
        <p:style>
          <a:lnRef idx="2">
            <a:schemeClr val="accent1"/>
          </a:lnRef>
          <a:fillRef idx="0">
            <a:srgbClr val="FFFFFF"/>
          </a:fillRef>
          <a:effectRef idx="0">
            <a:srgbClr val="FFFFFF"/>
          </a:effectRef>
          <a:fontRef idx="minor">
            <a:schemeClr val="tx1"/>
          </a:fontRef>
        </p:style>
        <p:txBody>
          <a:bodyPr/>
          <a:lstStyle/>
          <a:p>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sym typeface="+mn-ea"/>
              </a:rPr>
              <a:t>Nonlinear layer - Sigmoid</a:t>
            </a:r>
            <a:endParaRPr lang="zh-CN" altLang="en-US"/>
          </a:p>
        </p:txBody>
      </p:sp>
      <p:pic>
        <p:nvPicPr>
          <p:cNvPr id="3" name="图片 2"/>
          <p:cNvPicPr>
            <a:picLocks noChangeAspect="1"/>
          </p:cNvPicPr>
          <p:nvPr/>
        </p:nvPicPr>
        <p:blipFill>
          <a:blip r:embed="rId2"/>
          <a:stretch>
            <a:fillRect/>
          </a:stretch>
        </p:blipFill>
        <p:spPr>
          <a:xfrm>
            <a:off x="300990" y="1318895"/>
            <a:ext cx="6732905" cy="3848100"/>
          </a:xfrm>
          <a:prstGeom prst="rect">
            <a:avLst/>
          </a:prstGeom>
        </p:spPr>
      </p:pic>
      <p:pic>
        <p:nvPicPr>
          <p:cNvPr id="4" name="图片 3"/>
          <p:cNvPicPr>
            <a:picLocks noChangeAspect="1"/>
          </p:cNvPicPr>
          <p:nvPr/>
        </p:nvPicPr>
        <p:blipFill>
          <a:blip r:embed="rId3"/>
          <a:stretch>
            <a:fillRect/>
          </a:stretch>
        </p:blipFill>
        <p:spPr>
          <a:xfrm>
            <a:off x="7186295" y="1376045"/>
            <a:ext cx="4572000" cy="4457700"/>
          </a:xfrm>
          <a:prstGeom prst="rect">
            <a:avLst/>
          </a:prstGeom>
        </p:spPr>
      </p:pic>
      <p:sp>
        <p:nvSpPr>
          <p:cNvPr id="5" name="文本框 4"/>
          <p:cNvSpPr txBox="1"/>
          <p:nvPr/>
        </p:nvSpPr>
        <p:spPr>
          <a:xfrm>
            <a:off x="1164590" y="5367020"/>
            <a:ext cx="4057015" cy="368300"/>
          </a:xfrm>
          <a:prstGeom prst="rect">
            <a:avLst/>
          </a:prstGeom>
          <a:noFill/>
        </p:spPr>
        <p:txBody>
          <a:bodyPr wrap="square" rtlCol="0">
            <a:spAutoFit/>
          </a:bodyPr>
          <a:lstStyle/>
          <a:p>
            <a:r>
              <a:rPr lang="en-US" altLang="zh-CN" b="1">
                <a:solidFill>
                  <a:srgbClr val="C00000"/>
                </a:solidFill>
              </a:rPr>
              <a:t>error &lt; 0.02%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Quantisation: Workflow </a:t>
            </a:r>
          </a:p>
        </p:txBody>
      </p:sp>
      <p:sp>
        <p:nvSpPr>
          <p:cNvPr id="5" name="文本框 4"/>
          <p:cNvSpPr txBox="1"/>
          <p:nvPr/>
        </p:nvSpPr>
        <p:spPr>
          <a:xfrm>
            <a:off x="2912745" y="4578350"/>
            <a:ext cx="2054860" cy="1753235"/>
          </a:xfrm>
          <a:prstGeom prst="rect">
            <a:avLst/>
          </a:prstGeom>
          <a:noFill/>
        </p:spPr>
        <p:txBody>
          <a:bodyPr wrap="square" rtlCol="0">
            <a:spAutoFit/>
          </a:bodyPr>
          <a:lstStyle/>
          <a:p>
            <a:pPr indent="0">
              <a:buFont typeface="Wingdings" panose="05000000000000000000" charset="0"/>
              <a:buNone/>
            </a:pPr>
            <a:r>
              <a:rPr lang="en-US" altLang="zh-CN" b="1"/>
              <a:t>Metrics - MAE </a:t>
            </a:r>
            <a:r>
              <a:rPr lang="zh-CN" altLang="en-US" b="1"/>
              <a:t>：</a:t>
            </a:r>
            <a:endParaRPr lang="en-US" altLang="zh-CN" b="1"/>
          </a:p>
          <a:p>
            <a:pPr lvl="0"/>
            <a:r>
              <a:rPr lang="en-US" altLang="zh-CN"/>
              <a:t>cpp vs float         </a:t>
            </a:r>
            <a:r>
              <a:rPr lang="en-US" altLang="zh-CN" b="1">
                <a:solidFill>
                  <a:srgbClr val="C00000"/>
                </a:solidFill>
              </a:rPr>
              <a:t>quantisation loss </a:t>
            </a:r>
            <a:r>
              <a:rPr lang="en-US" altLang="zh-CN"/>
              <a:t>            </a:t>
            </a:r>
          </a:p>
          <a:p>
            <a:pPr lvl="0"/>
            <a:r>
              <a:rPr lang="en-US" altLang="zh-CN"/>
              <a:t>hw vs cpp   </a:t>
            </a:r>
          </a:p>
          <a:p>
            <a:pPr lvl="0"/>
            <a:r>
              <a:rPr lang="en-US" altLang="zh-CN" b="1">
                <a:solidFill>
                  <a:srgbClr val="C00000"/>
                </a:solidFill>
              </a:rPr>
              <a:t>hardware mapping error</a:t>
            </a:r>
          </a:p>
        </p:txBody>
      </p:sp>
      <p:graphicFrame>
        <p:nvGraphicFramePr>
          <p:cNvPr id="7" name="表格 6"/>
          <p:cNvGraphicFramePr/>
          <p:nvPr/>
        </p:nvGraphicFramePr>
        <p:xfrm>
          <a:off x="5106035" y="1847215"/>
          <a:ext cx="6903720" cy="2188210"/>
        </p:xfrm>
        <a:graphic>
          <a:graphicData uri="http://schemas.openxmlformats.org/drawingml/2006/table">
            <a:tbl>
              <a:tblPr firstRow="1" bandRow="1">
                <a:tableStyleId>{5C22544A-7EE6-4342-B048-85BDC9FD1C3A}</a:tableStyleId>
              </a:tblPr>
              <a:tblGrid>
                <a:gridCol w="1652905">
                  <a:extLst>
                    <a:ext uri="{9D8B030D-6E8A-4147-A177-3AD203B41FA5}">
                      <a16:colId xmlns:a16="http://schemas.microsoft.com/office/drawing/2014/main" val="20000"/>
                    </a:ext>
                  </a:extLst>
                </a:gridCol>
                <a:gridCol w="655320">
                  <a:extLst>
                    <a:ext uri="{9D8B030D-6E8A-4147-A177-3AD203B41FA5}">
                      <a16:colId xmlns:a16="http://schemas.microsoft.com/office/drawing/2014/main" val="20001"/>
                    </a:ext>
                  </a:extLst>
                </a:gridCol>
                <a:gridCol w="3219450">
                  <a:extLst>
                    <a:ext uri="{9D8B030D-6E8A-4147-A177-3AD203B41FA5}">
                      <a16:colId xmlns:a16="http://schemas.microsoft.com/office/drawing/2014/main" val="20002"/>
                    </a:ext>
                  </a:extLst>
                </a:gridCol>
                <a:gridCol w="1376045">
                  <a:extLst>
                    <a:ext uri="{9D8B030D-6E8A-4147-A177-3AD203B41FA5}">
                      <a16:colId xmlns:a16="http://schemas.microsoft.com/office/drawing/2014/main" val="20003"/>
                    </a:ext>
                  </a:extLst>
                </a:gridCol>
              </a:tblGrid>
              <a:tr h="363855">
                <a:tc>
                  <a:txBody>
                    <a:bodyPr/>
                    <a:lstStyle/>
                    <a:p>
                      <a:pPr algn="ctr">
                        <a:buNone/>
                      </a:pPr>
                      <a:r>
                        <a:rPr lang="en-US" altLang="zh-CN" sz="1800" b="1">
                          <a:solidFill>
                            <a:srgbClr val="FFFFFF"/>
                          </a:solidFill>
                        </a:rPr>
                        <a:t>label</a:t>
                      </a:r>
                    </a:p>
                  </a:txBody>
                  <a:tcPr marL="45720" marR="45720" marT="22860" marB="22860"/>
                </a:tc>
                <a:tc>
                  <a:txBody>
                    <a:bodyPr/>
                    <a:lstStyle/>
                    <a:p>
                      <a:pPr algn="ctr">
                        <a:buNone/>
                      </a:pPr>
                      <a:r>
                        <a:rPr lang="en-US" altLang="zh-CN" sz="1800" b="1">
                          <a:solidFill>
                            <a:srgbClr val="FFFFFF"/>
                          </a:solidFill>
                        </a:rPr>
                        <a:t>mode</a:t>
                      </a:r>
                    </a:p>
                  </a:txBody>
                  <a:tcPr marL="45720" marR="45720" marT="22860" marB="22860"/>
                </a:tc>
                <a:tc>
                  <a:txBody>
                    <a:bodyPr/>
                    <a:lstStyle/>
                    <a:p>
                      <a:pPr algn="ctr">
                        <a:buNone/>
                      </a:pPr>
                      <a:r>
                        <a:rPr lang="en-US" altLang="zh-CN" sz="1800" b="1">
                          <a:solidFill>
                            <a:srgbClr val="FFFFFF"/>
                          </a:solidFill>
                        </a:rPr>
                        <a:t>overrides</a:t>
                      </a:r>
                    </a:p>
                  </a:txBody>
                  <a:tcPr marL="45720" marR="45720" marT="22860" marB="22860"/>
                </a:tc>
                <a:tc>
                  <a:txBody>
                    <a:bodyPr/>
                    <a:lstStyle/>
                    <a:p>
                      <a:pPr algn="ctr">
                        <a:buNone/>
                      </a:pPr>
                      <a:r>
                        <a:rPr lang="en-US" altLang="zh-CN" sz="1800" b="1">
                          <a:solidFill>
                            <a:srgbClr val="FFFFFF"/>
                          </a:solidFill>
                        </a:rPr>
                        <a:t>mean_err (m)</a:t>
                      </a:r>
                      <a:endParaRPr lang="zh-CN" altLang="en-US" sz="1800" b="1">
                        <a:solidFill>
                          <a:srgbClr val="FFFFFF"/>
                        </a:solidFill>
                      </a:endParaRPr>
                    </a:p>
                  </a:txBody>
                  <a:tcPr marL="45720" marR="45720" marT="22860" marB="22860"/>
                </a:tc>
                <a:extLst>
                  <a:ext uri="{0D108BD9-81ED-4DB2-BD59-A6C34878D82A}">
                    <a16:rowId xmlns:a16="http://schemas.microsoft.com/office/drawing/2014/main" val="10000"/>
                  </a:ext>
                </a:extLst>
              </a:tr>
              <a:tr h="321945">
                <a:tc>
                  <a:txBody>
                    <a:bodyPr/>
                    <a:lstStyle/>
                    <a:p>
                      <a:pPr algn="ctr">
                        <a:buNone/>
                      </a:pPr>
                      <a:r>
                        <a:rPr lang="en-US" altLang="zh-CN" sz="1600">
                          <a:solidFill>
                            <a:srgbClr val="000000"/>
                          </a:solidFill>
                        </a:rPr>
                        <a:t>golden</a:t>
                      </a:r>
                    </a:p>
                  </a:txBody>
                  <a:tcPr marL="45720" marR="45720" marT="22860" marB="22860">
                    <a:solidFill>
                      <a:schemeClr val="accent2">
                        <a:lumMod val="40000"/>
                        <a:lumOff val="60000"/>
                      </a:schemeClr>
                    </a:solidFill>
                  </a:tcPr>
                </a:tc>
                <a:tc>
                  <a:txBody>
                    <a:bodyPr/>
                    <a:lstStyle/>
                    <a:p>
                      <a:pPr algn="ctr">
                        <a:buNone/>
                      </a:pPr>
                      <a:r>
                        <a:rPr lang="en-US" altLang="zh-CN" sz="1600">
                          <a:solidFill>
                            <a:srgbClr val="000000"/>
                          </a:solidFill>
                        </a:rPr>
                        <a:t>-</a:t>
                      </a:r>
                    </a:p>
                  </a:txBody>
                  <a:tcPr marL="45720" marR="45720" marT="22860" marB="22860">
                    <a:solidFill>
                      <a:schemeClr val="accent2">
                        <a:lumMod val="40000"/>
                        <a:lumOff val="60000"/>
                      </a:schemeClr>
                    </a:solidFill>
                  </a:tcPr>
                </a:tc>
                <a:tc>
                  <a:txBody>
                    <a:bodyPr/>
                    <a:lstStyle/>
                    <a:p>
                      <a:pPr algn="ctr">
                        <a:buNone/>
                      </a:pPr>
                      <a:endParaRPr lang="en-US" altLang="zh-CN" sz="1400">
                        <a:solidFill>
                          <a:srgbClr val="000000"/>
                        </a:solidFill>
                      </a:endParaRPr>
                    </a:p>
                  </a:txBody>
                  <a:tcPr marL="45720" marR="45720" marT="22860" marB="22860">
                    <a:solidFill>
                      <a:schemeClr val="accent2">
                        <a:lumMod val="40000"/>
                        <a:lumOff val="60000"/>
                      </a:schemeClr>
                    </a:solidFill>
                  </a:tcPr>
                </a:tc>
                <a:tc>
                  <a:txBody>
                    <a:bodyPr/>
                    <a:lstStyle/>
                    <a:p>
                      <a:pPr algn="ctr">
                        <a:buNone/>
                      </a:pPr>
                      <a:r>
                        <a:rPr lang="en-US" altLang="zh-CN" sz="1600" b="1">
                          <a:solidFill>
                            <a:srgbClr val="C00000"/>
                          </a:solidFill>
                        </a:rPr>
                        <a:t>0.13695</a:t>
                      </a:r>
                    </a:p>
                  </a:txBody>
                  <a:tcPr marL="45720" marR="45720" marT="22860" marB="22860">
                    <a:solidFill>
                      <a:schemeClr val="accent2">
                        <a:lumMod val="40000"/>
                        <a:lumOff val="60000"/>
                      </a:schemeClr>
                    </a:solidFill>
                  </a:tcPr>
                </a:tc>
                <a:extLst>
                  <a:ext uri="{0D108BD9-81ED-4DB2-BD59-A6C34878D82A}">
                    <a16:rowId xmlns:a16="http://schemas.microsoft.com/office/drawing/2014/main" val="10001"/>
                  </a:ext>
                </a:extLst>
              </a:tr>
              <a:tr h="325755">
                <a:tc>
                  <a:txBody>
                    <a:bodyPr/>
                    <a:lstStyle/>
                    <a:p>
                      <a:pPr algn="ctr">
                        <a:buNone/>
                      </a:pPr>
                      <a:r>
                        <a:rPr lang="en-US" altLang="zh-CN" sz="1600">
                          <a:solidFill>
                            <a:srgbClr val="000000"/>
                          </a:solidFill>
                        </a:rPr>
                        <a:t>all_int16</a:t>
                      </a:r>
                    </a:p>
                  </a:txBody>
                  <a:tcPr marL="45720" marR="45720" marT="22860" marB="22860"/>
                </a:tc>
                <a:tc>
                  <a:txBody>
                    <a:bodyPr/>
                    <a:lstStyle/>
                    <a:p>
                      <a:pPr algn="ctr">
                        <a:buNone/>
                      </a:pPr>
                      <a:r>
                        <a:rPr lang="en-US" altLang="zh-CN" sz="1600">
                          <a:solidFill>
                            <a:srgbClr val="000000"/>
                          </a:solidFill>
                        </a:rPr>
                        <a:t>int16</a:t>
                      </a:r>
                    </a:p>
                  </a:txBody>
                  <a:tcPr marL="45720" marR="45720" marT="22860" marB="22860"/>
                </a:tc>
                <a:tc>
                  <a:txBody>
                    <a:bodyPr/>
                    <a:lstStyle/>
                    <a:p>
                      <a:pPr algn="ctr">
                        <a:buNone/>
                      </a:pPr>
                      <a:r>
                        <a:rPr lang="en-US" altLang="zh-CN" sz="1400">
                          <a:solidFill>
                            <a:srgbClr val="000000"/>
                          </a:solidFill>
                        </a:rPr>
                        <a:t>ssm_state=int16, gate=int16</a:t>
                      </a:r>
                    </a:p>
                  </a:txBody>
                  <a:tcPr marL="45720" marR="45720" marT="22860" marB="22860"/>
                </a:tc>
                <a:tc>
                  <a:txBody>
                    <a:bodyPr/>
                    <a:lstStyle/>
                    <a:p>
                      <a:pPr algn="ctr">
                        <a:buNone/>
                      </a:pPr>
                      <a:r>
                        <a:rPr lang="en-US" altLang="zh-CN" sz="1600" b="1">
                          <a:solidFill>
                            <a:srgbClr val="C00000"/>
                          </a:solidFill>
                        </a:rPr>
                        <a:t>0.13520</a:t>
                      </a:r>
                    </a:p>
                  </a:txBody>
                  <a:tcPr marL="45720" marR="45720" marT="22860" marB="22860"/>
                </a:tc>
                <a:extLst>
                  <a:ext uri="{0D108BD9-81ED-4DB2-BD59-A6C34878D82A}">
                    <a16:rowId xmlns:a16="http://schemas.microsoft.com/office/drawing/2014/main" val="10002"/>
                  </a:ext>
                </a:extLst>
              </a:tr>
              <a:tr h="341630">
                <a:tc>
                  <a:txBody>
                    <a:bodyPr/>
                    <a:lstStyle/>
                    <a:p>
                      <a:pPr algn="ctr">
                        <a:buNone/>
                      </a:pPr>
                      <a:r>
                        <a:rPr lang="en-US" altLang="zh-CN" sz="1600">
                          <a:solidFill>
                            <a:srgbClr val="000000"/>
                          </a:solidFill>
                        </a:rPr>
                        <a:t>mixed_candidate</a:t>
                      </a:r>
                    </a:p>
                  </a:txBody>
                  <a:tcPr marL="45720" marR="45720" marT="22860" marB="22860"/>
                </a:tc>
                <a:tc>
                  <a:txBody>
                    <a:bodyPr/>
                    <a:lstStyle/>
                    <a:p>
                      <a:pPr algn="ctr">
                        <a:buNone/>
                      </a:pPr>
                      <a:r>
                        <a:rPr lang="en-US" altLang="zh-CN" sz="1600">
                          <a:solidFill>
                            <a:srgbClr val="000000"/>
                          </a:solidFill>
                        </a:rPr>
                        <a:t>int16</a:t>
                      </a:r>
                    </a:p>
                  </a:txBody>
                  <a:tcPr marL="45720" marR="45720" marT="22860" marB="22860"/>
                </a:tc>
                <a:tc>
                  <a:txBody>
                    <a:bodyPr/>
                    <a:lstStyle/>
                    <a:p>
                      <a:pPr algn="ctr">
                        <a:buNone/>
                      </a:pPr>
                      <a:r>
                        <a:rPr lang="en-US" altLang="zh-CN" sz="1400">
                          <a:solidFill>
                            <a:srgbClr val="000000"/>
                          </a:solidFill>
                        </a:rPr>
                        <a:t>dt_proj=int8, ssm_state=int8, gate=int8</a:t>
                      </a:r>
                    </a:p>
                  </a:txBody>
                  <a:tcPr marL="45720" marR="45720" marT="22860" marB="22860"/>
                </a:tc>
                <a:tc>
                  <a:txBody>
                    <a:bodyPr/>
                    <a:lstStyle/>
                    <a:p>
                      <a:pPr algn="ctr">
                        <a:buNone/>
                      </a:pPr>
                      <a:r>
                        <a:rPr lang="en-US" altLang="zh-CN" sz="1600" b="1">
                          <a:solidFill>
                            <a:srgbClr val="C00000"/>
                          </a:solidFill>
                        </a:rPr>
                        <a:t>0.13519</a:t>
                      </a:r>
                    </a:p>
                  </a:txBody>
                  <a:tcPr marL="45720" marR="45720" marT="22860" marB="22860"/>
                </a:tc>
                <a:extLst>
                  <a:ext uri="{0D108BD9-81ED-4DB2-BD59-A6C34878D82A}">
                    <a16:rowId xmlns:a16="http://schemas.microsoft.com/office/drawing/2014/main" val="10003"/>
                  </a:ext>
                </a:extLst>
              </a:tr>
              <a:tr h="362585">
                <a:tc>
                  <a:txBody>
                    <a:bodyPr/>
                    <a:lstStyle/>
                    <a:p>
                      <a:pPr algn="ctr">
                        <a:buNone/>
                      </a:pPr>
                      <a:r>
                        <a:rPr lang="en-US" altLang="zh-CN" sz="1600">
                          <a:solidFill>
                            <a:srgbClr val="000000"/>
                          </a:solidFill>
                        </a:rPr>
                        <a:t>inproj_i8_on_i16</a:t>
                      </a:r>
                    </a:p>
                  </a:txBody>
                  <a:tcPr marL="45720" marR="45720" marT="22860" marB="22860"/>
                </a:tc>
                <a:tc>
                  <a:txBody>
                    <a:bodyPr/>
                    <a:lstStyle/>
                    <a:p>
                      <a:pPr algn="ctr">
                        <a:buNone/>
                      </a:pPr>
                      <a:r>
                        <a:rPr lang="en-US" altLang="zh-CN" sz="1600">
                          <a:solidFill>
                            <a:srgbClr val="000000"/>
                          </a:solidFill>
                        </a:rPr>
                        <a:t>int16</a:t>
                      </a:r>
                    </a:p>
                  </a:txBody>
                  <a:tcPr marL="45720" marR="45720" marT="22860" marB="22860"/>
                </a:tc>
                <a:tc>
                  <a:txBody>
                    <a:bodyPr/>
                    <a:lstStyle/>
                    <a:p>
                      <a:pPr algn="ctr">
                        <a:buNone/>
                      </a:pPr>
                      <a:r>
                        <a:rPr lang="en-US" altLang="zh-CN" sz="1400">
                          <a:solidFill>
                            <a:srgbClr val="000000"/>
                          </a:solidFill>
                        </a:rPr>
                        <a:t>in_proj=int8, ssm_state=int16, gate=int16</a:t>
                      </a:r>
                    </a:p>
                  </a:txBody>
                  <a:tcPr marL="45720" marR="45720" marT="22860" marB="22860"/>
                </a:tc>
                <a:tc>
                  <a:txBody>
                    <a:bodyPr/>
                    <a:lstStyle/>
                    <a:p>
                      <a:pPr algn="ctr">
                        <a:buNone/>
                      </a:pPr>
                      <a:r>
                        <a:rPr lang="en-US" altLang="zh-CN" sz="1600">
                          <a:solidFill>
                            <a:srgbClr val="000000"/>
                          </a:solidFill>
                        </a:rPr>
                        <a:t>0.76520</a:t>
                      </a:r>
                    </a:p>
                  </a:txBody>
                  <a:tcPr marL="45720" marR="45720" marT="22860" marB="22860"/>
                </a:tc>
                <a:extLst>
                  <a:ext uri="{0D108BD9-81ED-4DB2-BD59-A6C34878D82A}">
                    <a16:rowId xmlns:a16="http://schemas.microsoft.com/office/drawing/2014/main" val="10004"/>
                  </a:ext>
                </a:extLst>
              </a:tr>
              <a:tr h="340995">
                <a:tc>
                  <a:txBody>
                    <a:bodyPr/>
                    <a:lstStyle/>
                    <a:p>
                      <a:pPr algn="ctr">
                        <a:buNone/>
                      </a:pPr>
                      <a:r>
                        <a:rPr lang="en-US" altLang="zh-CN" sz="1600">
                          <a:solidFill>
                            <a:srgbClr val="000000"/>
                          </a:solidFill>
                        </a:rPr>
                        <a:t>outproj_i8_on_i16</a:t>
                      </a:r>
                    </a:p>
                  </a:txBody>
                  <a:tcPr marL="45720" marR="45720" marT="22860" marB="22860"/>
                </a:tc>
                <a:tc>
                  <a:txBody>
                    <a:bodyPr/>
                    <a:lstStyle/>
                    <a:p>
                      <a:pPr algn="ctr">
                        <a:buNone/>
                      </a:pPr>
                      <a:r>
                        <a:rPr lang="en-US" altLang="zh-CN" sz="1600">
                          <a:solidFill>
                            <a:srgbClr val="000000"/>
                          </a:solidFill>
                        </a:rPr>
                        <a:t>int16</a:t>
                      </a:r>
                    </a:p>
                  </a:txBody>
                  <a:tcPr marL="45720" marR="45720" marT="22860" marB="22860"/>
                </a:tc>
                <a:tc>
                  <a:txBody>
                    <a:bodyPr/>
                    <a:lstStyle/>
                    <a:p>
                      <a:pPr algn="ctr">
                        <a:buNone/>
                      </a:pPr>
                      <a:r>
                        <a:rPr lang="en-US" altLang="zh-CN" sz="1400">
                          <a:solidFill>
                            <a:srgbClr val="000000"/>
                          </a:solidFill>
                        </a:rPr>
                        <a:t>out_proj=int8, ssm_state=int16, gate=int16</a:t>
                      </a:r>
                    </a:p>
                  </a:txBody>
                  <a:tcPr marL="45720" marR="45720" marT="22860" marB="22860"/>
                </a:tc>
                <a:tc>
                  <a:txBody>
                    <a:bodyPr/>
                    <a:lstStyle/>
                    <a:p>
                      <a:pPr algn="ctr">
                        <a:buNone/>
                      </a:pPr>
                      <a:r>
                        <a:rPr lang="en-US" altLang="zh-CN" sz="1600">
                          <a:solidFill>
                            <a:srgbClr val="000000"/>
                          </a:solidFill>
                        </a:rPr>
                        <a:t>0.24352</a:t>
                      </a:r>
                    </a:p>
                  </a:txBody>
                  <a:tcPr marL="45720" marR="45720" marT="22860" marB="22860"/>
                </a:tc>
                <a:extLst>
                  <a:ext uri="{0D108BD9-81ED-4DB2-BD59-A6C34878D82A}">
                    <a16:rowId xmlns:a16="http://schemas.microsoft.com/office/drawing/2014/main" val="10005"/>
                  </a:ext>
                </a:extLst>
              </a:tr>
            </a:tbl>
          </a:graphicData>
        </a:graphic>
      </p:graphicFrame>
      <p:sp>
        <p:nvSpPr>
          <p:cNvPr id="8" name="文本框 7"/>
          <p:cNvSpPr txBox="1"/>
          <p:nvPr/>
        </p:nvSpPr>
        <p:spPr>
          <a:xfrm>
            <a:off x="5016500" y="1189990"/>
            <a:ext cx="4057015" cy="398780"/>
          </a:xfrm>
          <a:prstGeom prst="rect">
            <a:avLst/>
          </a:prstGeom>
          <a:noFill/>
        </p:spPr>
        <p:txBody>
          <a:bodyPr wrap="square" rtlCol="0">
            <a:spAutoFit/>
          </a:bodyPr>
          <a:lstStyle/>
          <a:p>
            <a:pPr marL="342900" indent="-342900">
              <a:buFont typeface="Wingdings" panose="05000000000000000000" charset="0"/>
              <a:buChar char="Ø"/>
            </a:pPr>
            <a:r>
              <a:rPr lang="en-US" altLang="zh-CN" sz="2000" b="1"/>
              <a:t>Layer-wise Precision Sweep</a:t>
            </a:r>
          </a:p>
        </p:txBody>
      </p:sp>
      <p:sp>
        <p:nvSpPr>
          <p:cNvPr id="9" name="文本框 8"/>
          <p:cNvSpPr txBox="1"/>
          <p:nvPr/>
        </p:nvSpPr>
        <p:spPr>
          <a:xfrm>
            <a:off x="5106035" y="4229100"/>
            <a:ext cx="6781800" cy="1476375"/>
          </a:xfrm>
          <a:prstGeom prst="rect">
            <a:avLst/>
          </a:prstGeom>
          <a:noFill/>
        </p:spPr>
        <p:txBody>
          <a:bodyPr wrap="square" rtlCol="0">
            <a:spAutoFit/>
          </a:bodyPr>
          <a:lstStyle/>
          <a:p>
            <a:pPr marL="285750" indent="-285750">
              <a:buFont typeface="Arial" panose="020B0604020202020204" pitchFamily="34" charset="0"/>
              <a:buChar char="•"/>
            </a:pPr>
            <a:r>
              <a:rPr lang="en-US" altLang="zh-CN"/>
              <a:t>int16 quantisation is safe.</a:t>
            </a:r>
          </a:p>
          <a:p>
            <a:pPr marL="285750" indent="-285750">
              <a:buFont typeface="Arial" panose="020B0604020202020204" pitchFamily="34" charset="0"/>
              <a:buChar char="•"/>
            </a:pPr>
            <a:r>
              <a:rPr lang="en-US" altLang="zh-CN" b="1">
                <a:solidFill>
                  <a:srgbClr val="C00000"/>
                </a:solidFill>
              </a:rPr>
              <a:t>dt_proj, ssm_state, and gate</a:t>
            </a:r>
            <a:r>
              <a:rPr lang="en-US" altLang="zh-CN"/>
              <a:t> can be reduced to </a:t>
            </a:r>
            <a:r>
              <a:rPr lang="en-US" altLang="zh-CN" b="1">
                <a:solidFill>
                  <a:srgbClr val="C00000"/>
                </a:solidFill>
              </a:rPr>
              <a:t>int8</a:t>
            </a:r>
            <a:r>
              <a:rPr lang="en-US" altLang="zh-CN"/>
              <a:t> with negligible accuracy loss.</a:t>
            </a:r>
          </a:p>
          <a:p>
            <a:pPr marL="285750" indent="-285750">
              <a:buFont typeface="Arial" panose="020B0604020202020204" pitchFamily="34" charset="0"/>
              <a:buChar char="•"/>
            </a:pPr>
            <a:r>
              <a:rPr lang="en-US" altLang="zh-CN" b="1">
                <a:solidFill>
                  <a:srgbClr val="C00000"/>
                </a:solidFill>
              </a:rPr>
              <a:t>in_proj and out_proj are precision-sensitive </a:t>
            </a:r>
            <a:r>
              <a:rPr lang="en-US" altLang="zh-CN"/>
              <a:t>and should remain at higher precision.</a:t>
            </a:r>
          </a:p>
        </p:txBody>
      </p:sp>
      <p:cxnSp>
        <p:nvCxnSpPr>
          <p:cNvPr id="14" name="直接连接符 13"/>
          <p:cNvCxnSpPr/>
          <p:nvPr/>
        </p:nvCxnSpPr>
        <p:spPr>
          <a:xfrm flipH="1">
            <a:off x="4972685" y="1083945"/>
            <a:ext cx="20955" cy="5421630"/>
          </a:xfrm>
          <a:prstGeom prst="line">
            <a:avLst/>
          </a:prstGeom>
          <a:ln w="9525" cap="flat" cmpd="sng" algn="ctr">
            <a:solidFill>
              <a:schemeClr val="tx1"/>
            </a:solidFill>
            <a:prstDash val="dash"/>
          </a:ln>
        </p:spPr>
        <p:style>
          <a:lnRef idx="0">
            <a:schemeClr val="accent1"/>
          </a:lnRef>
          <a:fillRef idx="0">
            <a:srgbClr val="FFFFFF"/>
          </a:fillRef>
          <a:effectRef idx="0">
            <a:srgbClr val="FFFFFF"/>
          </a:effectRef>
          <a:fontRef idx="minor">
            <a:schemeClr val="tx1"/>
          </a:fontRef>
        </p:style>
      </p:cxnSp>
      <p:pic>
        <p:nvPicPr>
          <p:cNvPr id="17" name="图片 16" descr="float_cpp_rtl_flow"/>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94330" y="1083945"/>
            <a:ext cx="2000885" cy="3341370"/>
          </a:xfrm>
          <a:prstGeom prst="rect">
            <a:avLst/>
          </a:prstGeom>
        </p:spPr>
      </p:pic>
      <p:pic>
        <p:nvPicPr>
          <p:cNvPr id="2" name="图片 1" descr="quantization_flow"/>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8130" y="1083945"/>
            <a:ext cx="2495550" cy="49911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MAMBAFlow"/>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0540" y="1596390"/>
            <a:ext cx="5079365" cy="4782820"/>
          </a:xfrm>
          <a:prstGeom prst="rect">
            <a:avLst/>
          </a:prstGeom>
        </p:spPr>
      </p:pic>
      <p:sp>
        <p:nvSpPr>
          <p:cNvPr id="3" name="标题 2"/>
          <p:cNvSpPr>
            <a:spLocks noGrp="1"/>
          </p:cNvSpPr>
          <p:nvPr>
            <p:ph type="title"/>
          </p:nvPr>
        </p:nvSpPr>
        <p:spPr/>
        <p:txBody>
          <a:bodyPr/>
          <a:lstStyle/>
          <a:p>
            <a:r>
              <a:rPr lang="en-US" altLang="zh-CN"/>
              <a:t>Quantisation: Workflow </a:t>
            </a:r>
          </a:p>
        </p:txBody>
      </p:sp>
      <p:sp>
        <p:nvSpPr>
          <p:cNvPr id="8" name="文本框 7"/>
          <p:cNvSpPr txBox="1"/>
          <p:nvPr/>
        </p:nvSpPr>
        <p:spPr>
          <a:xfrm>
            <a:off x="510540" y="1064260"/>
            <a:ext cx="4845685" cy="398780"/>
          </a:xfrm>
          <a:prstGeom prst="rect">
            <a:avLst/>
          </a:prstGeom>
          <a:noFill/>
        </p:spPr>
        <p:txBody>
          <a:bodyPr wrap="square" rtlCol="0">
            <a:spAutoFit/>
          </a:bodyPr>
          <a:lstStyle/>
          <a:p>
            <a:pPr marL="342900" indent="-342900">
              <a:buFont typeface="Wingdings" panose="05000000000000000000" charset="0"/>
              <a:buChar char="Ø"/>
            </a:pPr>
            <a:r>
              <a:rPr lang="en-US" altLang="zh-CN" sz="2000" b="1"/>
              <a:t>Analyse per-layer quantisation error</a:t>
            </a:r>
          </a:p>
        </p:txBody>
      </p:sp>
      <p:graphicFrame>
        <p:nvGraphicFramePr>
          <p:cNvPr id="6" name="Table 0"/>
          <p:cNvGraphicFramePr>
            <a:graphicFrameLocks noGrp="1"/>
          </p:cNvGraphicFramePr>
          <p:nvPr>
            <p:custDataLst>
              <p:tags r:id="rId1"/>
            </p:custDataLst>
          </p:nvPr>
        </p:nvGraphicFramePr>
        <p:xfrm>
          <a:off x="6013450" y="1372870"/>
          <a:ext cx="5593080" cy="1109472"/>
        </p:xfrm>
        <a:graphic>
          <a:graphicData uri="http://schemas.openxmlformats.org/drawingml/2006/table">
            <a:tbl>
              <a:tblPr/>
              <a:tblGrid>
                <a:gridCol w="1158240">
                  <a:extLst>
                    <a:ext uri="{9D8B030D-6E8A-4147-A177-3AD203B41FA5}">
                      <a16:colId xmlns:a16="http://schemas.microsoft.com/office/drawing/2014/main" val="20000"/>
                    </a:ext>
                  </a:extLst>
                </a:gridCol>
                <a:gridCol w="1806575">
                  <a:extLst>
                    <a:ext uri="{9D8B030D-6E8A-4147-A177-3AD203B41FA5}">
                      <a16:colId xmlns:a16="http://schemas.microsoft.com/office/drawing/2014/main" val="20001"/>
                    </a:ext>
                  </a:extLst>
                </a:gridCol>
                <a:gridCol w="2628265">
                  <a:extLst>
                    <a:ext uri="{9D8B030D-6E8A-4147-A177-3AD203B41FA5}">
                      <a16:colId xmlns:a16="http://schemas.microsoft.com/office/drawing/2014/main" val="20002"/>
                    </a:ext>
                  </a:extLst>
                </a:gridCol>
              </a:tblGrid>
              <a:tr h="359410">
                <a:tc>
                  <a:txBody>
                    <a:bodyPr/>
                    <a:lstStyle/>
                    <a:p>
                      <a:pPr marL="0" indent="0" algn="ctr">
                        <a:buNone/>
                      </a:pPr>
                      <a:r>
                        <a:rPr lang="en-US" sz="1600" b="1" dirty="0">
                          <a:solidFill>
                            <a:srgbClr val="FFFFFF"/>
                          </a:solidFill>
                          <a:latin typeface="Calibri" panose="020F0502020204030204" charset="0"/>
                          <a:ea typeface="Times New Roman" panose="02020603050405020304" pitchFamily="34" charset="-122"/>
                          <a:cs typeface="Calibri" panose="020F0502020204030204" charset="0"/>
                        </a:rPr>
                        <a:t>Evaluation</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4F80BD"/>
                    </a:solidFill>
                  </a:tcPr>
                </a:tc>
                <a:tc>
                  <a:txBody>
                    <a:bodyPr/>
                    <a:lstStyle/>
                    <a:p>
                      <a:pPr marL="0" indent="0" algn="ctr">
                        <a:buNone/>
                      </a:pPr>
                      <a:r>
                        <a:rPr lang="en-US" altLang="zh-CN" sz="1600" b="1" dirty="0">
                          <a:solidFill>
                            <a:srgbClr val="FFFFFF"/>
                          </a:solidFill>
                          <a:latin typeface="Calibri" panose="020F0502020204030204" charset="0"/>
                          <a:ea typeface="Times New Roman" panose="02020603050405020304" pitchFamily="34" charset="-122"/>
                          <a:cs typeface="Calibri" panose="020F0502020204030204" charset="0"/>
                        </a:rPr>
                        <a:t>HW vs. float MAE</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4F80BD"/>
                    </a:solidFill>
                  </a:tcPr>
                </a:tc>
                <a:tc>
                  <a:txBody>
                    <a:bodyPr/>
                    <a:lstStyle/>
                    <a:p>
                      <a:pPr marL="0" indent="0" algn="ctr">
                        <a:buNone/>
                      </a:pPr>
                      <a:r>
                        <a:rPr lang="en-US" altLang="zh-CN" sz="1600" b="1" dirty="0">
                          <a:solidFill>
                            <a:srgbClr val="FFFFFF"/>
                          </a:solidFill>
                          <a:latin typeface="Calibri" panose="020F0502020204030204" charset="0"/>
                          <a:ea typeface="Times New Roman" panose="02020603050405020304" pitchFamily="34" charset="-122"/>
                          <a:cs typeface="Calibri" panose="020F0502020204030204" charset="0"/>
                        </a:rPr>
                        <a:t>Mean localization error (m)</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4F80BD"/>
                    </a:solidFill>
                  </a:tcPr>
                </a:tc>
                <a:extLst>
                  <a:ext uri="{0D108BD9-81ED-4DB2-BD59-A6C34878D82A}">
                    <a16:rowId xmlns:a16="http://schemas.microsoft.com/office/drawing/2014/main" val="10000"/>
                  </a:ext>
                </a:extLst>
              </a:tr>
              <a:tr h="359410">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sym typeface="+mn-ea"/>
                        </a:rPr>
                        <a:t>unified</a:t>
                      </a:r>
                      <a:endParaRPr lang="en-US" sz="1400" dirty="0">
                        <a:solidFill>
                          <a:srgbClr val="1F2933"/>
                        </a:solidFill>
                        <a:latin typeface="Calibri" panose="020F0502020204030204" charset="0"/>
                        <a:ea typeface="Times New Roman" panose="02020603050405020304" pitchFamily="34" charset="-122"/>
                        <a:cs typeface="Calibri" panose="020F0502020204030204" charset="0"/>
                      </a:endParaRP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FFFFF"/>
                    </a:solidFill>
                  </a:tcPr>
                </a:tc>
                <a:tc>
                  <a:txBody>
                    <a:bodyPr/>
                    <a:lstStyle/>
                    <a:p>
                      <a:pPr marL="0" indent="0" algn="ctr">
                        <a:buNone/>
                      </a:pPr>
                      <a:r>
                        <a:rPr lang="en-US" altLang="zh-CN" sz="1400" dirty="0">
                          <a:solidFill>
                            <a:srgbClr val="1F2933"/>
                          </a:solidFill>
                          <a:latin typeface="Calibri" panose="020F0502020204030204" charset="0"/>
                          <a:ea typeface="Times New Roman" panose="02020603050405020304" pitchFamily="34" charset="-122"/>
                          <a:cs typeface="Calibri" panose="020F0502020204030204" charset="0"/>
                        </a:rPr>
                        <a:t>0.17987</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FFFFF"/>
                    </a:solidFill>
                  </a:tcPr>
                </a:tc>
                <a:tc>
                  <a:txBody>
                    <a:bodyPr/>
                    <a:lstStyle/>
                    <a:p>
                      <a:pPr marL="0" indent="0" algn="ctr">
                        <a:buNone/>
                      </a:pPr>
                      <a:r>
                        <a:rPr lang="en-US" altLang="zh-CN" sz="1400" b="1" dirty="0">
                          <a:solidFill>
                            <a:srgbClr val="FF0000"/>
                          </a:solidFill>
                          <a:latin typeface="Calibri" panose="020F0502020204030204" charset="0"/>
                          <a:ea typeface="Times New Roman" panose="02020603050405020304" pitchFamily="34" charset="-122"/>
                          <a:cs typeface="Calibri" panose="020F0502020204030204" charset="0"/>
                        </a:rPr>
                        <a:t>0.35543</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9410">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sym typeface="+mn-ea"/>
                        </a:rPr>
                        <a:t>golden</a:t>
                      </a:r>
                      <a:endParaRPr lang="en-US" sz="1400" dirty="0">
                        <a:solidFill>
                          <a:srgbClr val="1F2933"/>
                        </a:solidFill>
                        <a:latin typeface="Calibri" panose="020F0502020204030204" charset="0"/>
                        <a:ea typeface="Times New Roman" panose="02020603050405020304" pitchFamily="34" charset="-122"/>
                        <a:cs typeface="Calibri" panose="020F0502020204030204" charset="0"/>
                      </a:endParaRP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7FBFF"/>
                    </a:solidFill>
                  </a:tcPr>
                </a:tc>
                <a:tc>
                  <a:txBody>
                    <a:bodyPr/>
                    <a:lstStyle/>
                    <a:p>
                      <a:pPr marL="0" indent="0" algn="ctr">
                        <a:buNone/>
                      </a:pPr>
                      <a:r>
                        <a:rPr lang="en-US" altLang="zh-CN" sz="1400" dirty="0">
                          <a:solidFill>
                            <a:srgbClr val="1F2933"/>
                          </a:solidFill>
                          <a:latin typeface="Calibri" panose="020F0502020204030204" charset="0"/>
                          <a:ea typeface="Times New Roman" panose="02020603050405020304" pitchFamily="34" charset="-122"/>
                          <a:cs typeface="Calibri" panose="020F0502020204030204" charset="0"/>
                        </a:rPr>
                        <a:t>-</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7FBFF"/>
                    </a:solidFill>
                  </a:tcPr>
                </a:tc>
                <a:tc>
                  <a:txBody>
                    <a:bodyPr/>
                    <a:lstStyle/>
                    <a:p>
                      <a:pPr marL="0" indent="0" algn="ctr">
                        <a:buNone/>
                      </a:pPr>
                      <a:r>
                        <a:rPr lang="en-US" altLang="zh-CN" sz="1400" dirty="0">
                          <a:solidFill>
                            <a:srgbClr val="1F2933"/>
                          </a:solidFill>
                          <a:latin typeface="Calibri" panose="020F0502020204030204" charset="0"/>
                          <a:ea typeface="Times New Roman" panose="02020603050405020304" pitchFamily="34" charset="-122"/>
                          <a:cs typeface="Calibri" panose="020F0502020204030204" charset="0"/>
                        </a:rPr>
                        <a:t>0.13695</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7FBFF"/>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10" name="文本框 9"/>
              <p:cNvSpPr txBox="1"/>
              <p:nvPr/>
            </p:nvSpPr>
            <p:spPr>
              <a:xfrm>
                <a:off x="5732145" y="2649220"/>
                <a:ext cx="6878955" cy="3150235"/>
              </a:xfrm>
              <a:prstGeom prst="rect">
                <a:avLst/>
              </a:prstGeom>
              <a:noFill/>
            </p:spPr>
            <p:txBody>
              <a:bodyPr wrap="square" rtlCol="0">
                <a:spAutoFit/>
              </a:bodyPr>
              <a:lstStyle/>
              <a:p>
                <a:pPr indent="0">
                  <a:buFont typeface="Wingdings" panose="05000000000000000000" charset="0"/>
                  <a:buNone/>
                </a:pPr>
                <a:r>
                  <a:rPr lang="en-US" altLang="zh-CN" b="1"/>
                  <a:t>Initial Quantization Strategy:</a:t>
                </a:r>
              </a:p>
              <a:p>
                <a:pPr marL="285750" indent="-285750">
                  <a:buFont typeface="Wingdings" panose="05000000000000000000" charset="0"/>
                  <a:buChar char="Ø"/>
                </a:pPr>
                <a:r>
                  <a:rPr lang="en-US" altLang="zh-CN" b="1"/>
                  <a:t>Scale</a:t>
                </a:r>
              </a:p>
              <a:p>
                <a:pPr marL="742950" lvl="1" indent="-285750">
                  <a:buFont typeface="Arial" panose="020B0604020202020204" pitchFamily="34" charset="0"/>
                  <a:buChar char="•"/>
                </a:pPr>
                <a:r>
                  <a:rPr lang="en-US" altLang="zh-CN"/>
                  <a:t>Main datapath uses signed Q8.8 with a </a:t>
                </a:r>
                <a:r>
                  <a:rPr lang="en-US" altLang="zh-CN" b="1">
                    <a:solidFill>
                      <a:srgbClr val="FF0000"/>
                    </a:solidFill>
                  </a:rPr>
                  <a:t>fixed scale</a:t>
                </a:r>
                <a:r>
                  <a:rPr lang="en-US" altLang="zh-CN"/>
                  <a:t> 1/256</a:t>
                </a:r>
              </a:p>
              <a:p>
                <a:pPr marL="742950" lvl="1" indent="-285750">
                  <a:buFont typeface="Arial" panose="020B0604020202020204" pitchFamily="34" charset="0"/>
                  <a:buChar char="•"/>
                </a:pPr>
                <a:r>
                  <a:rPr lang="en-US" altLang="zh-CN"/>
                  <a:t>Sigmoid-related: Q0.16, scale 1/65536</a:t>
                </a:r>
              </a:p>
              <a:p>
                <a:pPr marL="742950" lvl="1" indent="-285750">
                  <a:buFont typeface="Arial" panose="020B0604020202020204" pitchFamily="34" charset="0"/>
                  <a:buChar char="•"/>
                </a:pPr>
                <a:r>
                  <a:rPr lang="en-US" altLang="zh-CN"/>
                  <a:t>RMSNorm reciprocal: Q30, scale 1/</a:t>
                </a:r>
                <a14:m>
                  <m:oMath xmlns:m="http://schemas.openxmlformats.org/officeDocument/2006/math">
                    <m:sSup>
                      <m:sSupPr>
                        <m:ctrlPr>
                          <a:rPr lang="en-US" altLang="zh-CN" i="1">
                            <a:latin typeface="Cambria Math" panose="02040503050406030204" pitchFamily="18" charset="0"/>
                            <a:cs typeface="Cambria Math" panose="02040503050406030204" charset="0"/>
                          </a:rPr>
                        </m:ctrlPr>
                      </m:sSupPr>
                      <m:e>
                        <m:r>
                          <a:rPr lang="en-US" altLang="zh-CN" i="1">
                            <a:latin typeface="Cambria Math" panose="02040503050406030204" charset="0"/>
                            <a:cs typeface="Cambria Math" panose="02040503050406030204" charset="0"/>
                          </a:rPr>
                          <m:t>2</m:t>
                        </m:r>
                      </m:e>
                      <m:sup>
                        <m:r>
                          <a:rPr lang="en-US" altLang="zh-CN" i="1">
                            <a:latin typeface="Cambria Math" panose="02040503050406030204" charset="0"/>
                            <a:cs typeface="Cambria Math" panose="02040503050406030204" charset="0"/>
                          </a:rPr>
                          <m:t>−30</m:t>
                        </m:r>
                      </m:sup>
                    </m:sSup>
                  </m:oMath>
                </a14:m>
                <a:endParaRPr lang="en-US" altLang="zh-CN"/>
              </a:p>
              <a:p>
                <a:pPr marL="285750" lvl="0" indent="-285750">
                  <a:buFont typeface="Wingdings" panose="05000000000000000000" charset="0"/>
                  <a:buChar char="Ø"/>
                </a:pPr>
                <a:r>
                  <a:rPr lang="en-US" altLang="zh-CN" b="1"/>
                  <a:t>Rounding</a:t>
                </a:r>
              </a:p>
              <a:p>
                <a:pPr marL="742950" lvl="1" indent="-285750">
                  <a:buFont typeface="Arial" panose="020B0604020202020204" pitchFamily="34" charset="0"/>
                  <a:buChar char="•"/>
                </a:pPr>
                <a:r>
                  <a:rPr lang="en-US" altLang="zh-CN"/>
                  <a:t>MAC / Q-format conversions: </a:t>
                </a:r>
                <a:r>
                  <a:rPr lang="en-US" altLang="zh-CN" b="1">
                    <a:solidFill>
                      <a:srgbClr val="FF0000"/>
                    </a:solidFill>
                  </a:rPr>
                  <a:t>round-to-nearest-even (RNE).</a:t>
                </a:r>
                <a:endParaRPr lang="en-US" altLang="zh-CN"/>
              </a:p>
              <a:p>
                <a:pPr marL="742950" lvl="1" indent="-285750">
                  <a:buFont typeface="Arial" panose="020B0604020202020204" pitchFamily="34" charset="0"/>
                  <a:buChar char="•"/>
                </a:pPr>
                <a:r>
                  <a:rPr lang="en-US" altLang="zh-CN"/>
                  <a:t>Sigmoid LUT / </a:t>
                </a:r>
                <a:r>
                  <a:rPr lang="en-US" altLang="zh-CN">
                    <a:sym typeface="+mn-ea"/>
                  </a:rPr>
                  <a:t>RMSNorm reciprocal</a:t>
                </a:r>
                <a:r>
                  <a:rPr lang="en-US" altLang="zh-CN"/>
                  <a:t>: </a:t>
                </a:r>
                <a:r>
                  <a:rPr lang="en-US" altLang="zh-CN" b="1">
                    <a:solidFill>
                      <a:srgbClr val="FF0000"/>
                    </a:solidFill>
                  </a:rPr>
                  <a:t>nearest rounding.</a:t>
                </a:r>
                <a:endParaRPr lang="en-US" altLang="zh-CN" b="1"/>
              </a:p>
              <a:p>
                <a:pPr marL="285750" indent="-285750">
                  <a:buFont typeface="Wingdings" panose="05000000000000000000" charset="0"/>
                  <a:buChar char="Ø"/>
                </a:pPr>
                <a:r>
                  <a:rPr lang="en-US" altLang="zh-CN" b="1"/>
                  <a:t>Saturation</a:t>
                </a:r>
                <a:endParaRPr lang="en-US" altLang="zh-CN"/>
              </a:p>
              <a:p>
                <a:pPr marL="742950" lvl="1" indent="-285750">
                  <a:buFont typeface="Arial" panose="020B0604020202020204" pitchFamily="34" charset="0"/>
                  <a:buChar char="•"/>
                </a:pPr>
                <a:r>
                  <a:rPr lang="en-US" altLang="zh-CN"/>
                  <a:t>Q8.8: clamp to [-32768,32767]</a:t>
                </a:r>
              </a:p>
              <a:p>
                <a:pPr marL="742950" lvl="1" indent="-285750">
                  <a:buFont typeface="Arial" panose="020B0604020202020204" pitchFamily="34" charset="0"/>
                  <a:buChar char="•"/>
                </a:pPr>
                <a:r>
                  <a:rPr lang="en-US" altLang="zh-CN"/>
                  <a:t>Q0.16: clamp to [0,65535].</a:t>
                </a:r>
              </a:p>
            </p:txBody>
          </p:sp>
        </mc:Choice>
        <mc:Fallback xmlns="">
          <p:sp>
            <p:nvSpPr>
              <p:cNvPr id="10" name="文本框 9"/>
              <p:cNvSpPr txBox="1">
                <a:spLocks noRot="1" noChangeAspect="1" noMove="1" noResize="1" noEditPoints="1" noAdjustHandles="1" noChangeArrowheads="1" noChangeShapeType="1" noTextEdit="1"/>
              </p:cNvSpPr>
              <p:nvPr/>
            </p:nvSpPr>
            <p:spPr>
              <a:xfrm>
                <a:off x="5732145" y="2649220"/>
                <a:ext cx="6878955" cy="3150235"/>
              </a:xfrm>
              <a:prstGeom prst="rect">
                <a:avLst/>
              </a:prstGeom>
              <a:blipFill rotWithShape="1">
                <a:blip r:embed="rId6"/>
                <a:stretch>
                  <a:fillRect/>
                </a:stretch>
              </a:blipFill>
            </p:spPr>
            <p:txBody>
              <a:bodyPr/>
              <a:lstStyle/>
              <a:p>
                <a:r>
                  <a:rPr lang="zh-CN" altLang="en-US">
                    <a:noFill/>
                  </a:rPr>
                  <a:t> </a:t>
                </a:r>
              </a:p>
            </p:txBody>
          </p:sp>
        </mc:Fallback>
      </mc:AlternateContent>
      <p:sp>
        <p:nvSpPr>
          <p:cNvPr id="4" name="文本框 3"/>
          <p:cNvSpPr txBox="1"/>
          <p:nvPr/>
        </p:nvSpPr>
        <p:spPr>
          <a:xfrm>
            <a:off x="9344660" y="1004570"/>
            <a:ext cx="1831975" cy="368300"/>
          </a:xfrm>
          <a:prstGeom prst="rect">
            <a:avLst/>
          </a:prstGeom>
          <a:noFill/>
        </p:spPr>
        <p:txBody>
          <a:bodyPr wrap="square" rtlCol="0">
            <a:spAutoFit/>
          </a:bodyPr>
          <a:lstStyle/>
          <a:p>
            <a:pPr indent="457200"/>
            <a:r>
              <a:rPr lang="en-US" altLang="zh-CN" b="1">
                <a:solidFill>
                  <a:srgbClr val="FF0000"/>
                </a:solidFill>
              </a:rPr>
              <a:t>Mismatch!</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Quantisation: Workflow </a:t>
            </a:r>
          </a:p>
        </p:txBody>
      </p:sp>
      <p:sp>
        <p:nvSpPr>
          <p:cNvPr id="8" name="文本框 7"/>
          <p:cNvSpPr txBox="1"/>
          <p:nvPr/>
        </p:nvSpPr>
        <p:spPr>
          <a:xfrm>
            <a:off x="510540" y="1064260"/>
            <a:ext cx="4845685" cy="398780"/>
          </a:xfrm>
          <a:prstGeom prst="rect">
            <a:avLst/>
          </a:prstGeom>
          <a:noFill/>
        </p:spPr>
        <p:txBody>
          <a:bodyPr wrap="square" rtlCol="0">
            <a:spAutoFit/>
          </a:bodyPr>
          <a:lstStyle/>
          <a:p>
            <a:pPr marL="342900" indent="-342900">
              <a:buFont typeface="Wingdings" panose="05000000000000000000" charset="0"/>
              <a:buChar char="Ø"/>
            </a:pPr>
            <a:r>
              <a:rPr lang="en-US" altLang="zh-CN" sz="2000" b="1"/>
              <a:t>Analyse per-layer quantisation error</a:t>
            </a:r>
          </a:p>
        </p:txBody>
      </p:sp>
      <p:graphicFrame>
        <p:nvGraphicFramePr>
          <p:cNvPr id="6" name="Table 0"/>
          <p:cNvGraphicFramePr>
            <a:graphicFrameLocks noGrp="1"/>
          </p:cNvGraphicFramePr>
          <p:nvPr>
            <p:custDataLst>
              <p:tags r:id="rId1"/>
            </p:custDataLst>
          </p:nvPr>
        </p:nvGraphicFramePr>
        <p:xfrm>
          <a:off x="6013450" y="1169670"/>
          <a:ext cx="4970145" cy="4346448"/>
        </p:xfrm>
        <a:graphic>
          <a:graphicData uri="http://schemas.openxmlformats.org/drawingml/2006/table">
            <a:tbl>
              <a:tblPr/>
              <a:tblGrid>
                <a:gridCol w="1329690">
                  <a:extLst>
                    <a:ext uri="{9D8B030D-6E8A-4147-A177-3AD203B41FA5}">
                      <a16:colId xmlns:a16="http://schemas.microsoft.com/office/drawing/2014/main" val="20000"/>
                    </a:ext>
                  </a:extLst>
                </a:gridCol>
                <a:gridCol w="1614170">
                  <a:extLst>
                    <a:ext uri="{9D8B030D-6E8A-4147-A177-3AD203B41FA5}">
                      <a16:colId xmlns:a16="http://schemas.microsoft.com/office/drawing/2014/main" val="20001"/>
                    </a:ext>
                  </a:extLst>
                </a:gridCol>
                <a:gridCol w="2026285">
                  <a:extLst>
                    <a:ext uri="{9D8B030D-6E8A-4147-A177-3AD203B41FA5}">
                      <a16:colId xmlns:a16="http://schemas.microsoft.com/office/drawing/2014/main" val="20002"/>
                    </a:ext>
                  </a:extLst>
                </a:gridCol>
              </a:tblGrid>
              <a:tr h="359410">
                <a:tc>
                  <a:txBody>
                    <a:bodyPr/>
                    <a:lstStyle/>
                    <a:p>
                      <a:pPr marL="0" indent="0" algn="ctr">
                        <a:buNone/>
                      </a:pPr>
                      <a:r>
                        <a:rPr lang="en-US" sz="1600" b="1" dirty="0">
                          <a:solidFill>
                            <a:srgbClr val="FFFFFF"/>
                          </a:solidFill>
                          <a:latin typeface="Calibri" panose="020F0502020204030204" charset="0"/>
                          <a:ea typeface="Times New Roman" panose="02020603050405020304" pitchFamily="34" charset="-122"/>
                          <a:cs typeface="Calibri" panose="020F0502020204030204" charset="0"/>
                        </a:rPr>
                        <a:t>Stage</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4F80BD"/>
                    </a:solidFill>
                  </a:tcPr>
                </a:tc>
                <a:tc>
                  <a:txBody>
                    <a:bodyPr/>
                    <a:lstStyle/>
                    <a:p>
                      <a:pPr marL="0" indent="0" algn="ctr">
                        <a:buNone/>
                      </a:pPr>
                      <a:r>
                        <a:rPr lang="en-US" sz="1600" b="1" dirty="0">
                          <a:solidFill>
                            <a:srgbClr val="FFFFFF"/>
                          </a:solidFill>
                          <a:latin typeface="Calibri" panose="020F0502020204030204" charset="0"/>
                          <a:ea typeface="Times New Roman" panose="02020603050405020304" pitchFamily="34" charset="-122"/>
                          <a:cs typeface="Calibri" panose="020F0502020204030204" charset="0"/>
                        </a:rPr>
                        <a:t>Fixed scale MAE</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4F80BD"/>
                    </a:solidFill>
                  </a:tcPr>
                </a:tc>
                <a:tc>
                  <a:txBody>
                    <a:bodyPr/>
                    <a:lstStyle/>
                    <a:p>
                      <a:pPr marL="0" indent="0" algn="ctr">
                        <a:buNone/>
                      </a:pPr>
                      <a:r>
                        <a:rPr lang="en-US" sz="1600" b="1" dirty="0">
                          <a:solidFill>
                            <a:srgbClr val="FFFFFF"/>
                          </a:solidFill>
                          <a:latin typeface="Calibri" panose="020F0502020204030204" charset="0"/>
                          <a:ea typeface="Times New Roman" panose="02020603050405020304" pitchFamily="34" charset="-122"/>
                          <a:cs typeface="Calibri" panose="020F0502020204030204" charset="0"/>
                        </a:rPr>
                        <a:t>Dynamic Scale MAE</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4F80BD"/>
                    </a:solidFill>
                  </a:tcPr>
                </a:tc>
                <a:extLst>
                  <a:ext uri="{0D108BD9-81ED-4DB2-BD59-A6C34878D82A}">
                    <a16:rowId xmlns:a16="http://schemas.microsoft.com/office/drawing/2014/main" val="10000"/>
                  </a:ext>
                </a:extLst>
              </a:tr>
              <a:tr h="359410">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norm</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0.004498</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0.004498</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9410">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inproj_u</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7FBFF"/>
                    </a:solidFill>
                  </a:tcPr>
                </a:tc>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0.010917</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7FBFF"/>
                    </a:solidFill>
                  </a:tcPr>
                </a:tc>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0.010917</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7FBFF"/>
                    </a:solidFill>
                  </a:tcPr>
                </a:tc>
                <a:extLst>
                  <a:ext uri="{0D108BD9-81ED-4DB2-BD59-A6C34878D82A}">
                    <a16:rowId xmlns:a16="http://schemas.microsoft.com/office/drawing/2014/main" val="10002"/>
                  </a:ext>
                </a:extLst>
              </a:tr>
              <a:tr h="359410">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inproj_z</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0.011069</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0.011069</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9410">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silu_u</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7FBFF"/>
                    </a:solidFill>
                  </a:tcPr>
                </a:tc>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0.006183</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7FBFF"/>
                    </a:solidFill>
                  </a:tcPr>
                </a:tc>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0.006183</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7FBFF"/>
                    </a:solidFill>
                  </a:tcPr>
                </a:tc>
                <a:extLst>
                  <a:ext uri="{0D108BD9-81ED-4DB2-BD59-A6C34878D82A}">
                    <a16:rowId xmlns:a16="http://schemas.microsoft.com/office/drawing/2014/main" val="10004"/>
                  </a:ext>
                </a:extLst>
              </a:tr>
              <a:tr h="359410">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silu_gate</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0.005931</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0.005931</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9410">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dtproj</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7FBFF"/>
                    </a:solidFill>
                  </a:tcPr>
                </a:tc>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0.010139</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7FBFF"/>
                    </a:solidFill>
                  </a:tcPr>
                </a:tc>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0.010139</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7FBFF"/>
                    </a:solidFill>
                  </a:tcPr>
                </a:tc>
                <a:extLst>
                  <a:ext uri="{0D108BD9-81ED-4DB2-BD59-A6C34878D82A}">
                    <a16:rowId xmlns:a16="http://schemas.microsoft.com/office/drawing/2014/main" val="10006"/>
                  </a:ext>
                </a:extLst>
              </a:tr>
              <a:tr h="359410">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dt_sigmoid</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0.002118</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0.002118</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59410">
                <a:tc>
                  <a:txBody>
                    <a:bodyPr/>
                    <a:lstStyle/>
                    <a:p>
                      <a:pPr marL="0" indent="0" algn="ctr">
                        <a:buNone/>
                      </a:pPr>
                      <a:r>
                        <a:rPr lang="en-US" sz="1400" b="1" dirty="0">
                          <a:solidFill>
                            <a:srgbClr val="C00000"/>
                          </a:solidFill>
                          <a:latin typeface="Calibri" panose="020F0502020204030204" charset="0"/>
                          <a:ea typeface="Times New Roman" panose="02020603050405020304" pitchFamily="34" charset="-122"/>
                          <a:cs typeface="Calibri" panose="020F0502020204030204" charset="0"/>
                        </a:rPr>
                        <a:t>selective_scan</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chemeClr val="accent2">
                        <a:lumMod val="40000"/>
                        <a:lumOff val="60000"/>
                      </a:schemeClr>
                    </a:solidFill>
                  </a:tcPr>
                </a:tc>
                <a:tc>
                  <a:txBody>
                    <a:bodyPr/>
                    <a:lstStyle/>
                    <a:p>
                      <a:pPr marL="0" indent="0" algn="ctr">
                        <a:buNone/>
                      </a:pPr>
                      <a:r>
                        <a:rPr lang="en-US" sz="1400" b="1" dirty="0">
                          <a:solidFill>
                            <a:srgbClr val="C00000"/>
                          </a:solidFill>
                          <a:latin typeface="Calibri" panose="020F0502020204030204" charset="0"/>
                          <a:ea typeface="Times New Roman" panose="02020603050405020304" pitchFamily="34" charset="-122"/>
                          <a:cs typeface="Calibri" panose="020F0502020204030204" charset="0"/>
                        </a:rPr>
                        <a:t>0.127090</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chemeClr val="accent2">
                        <a:lumMod val="40000"/>
                        <a:lumOff val="60000"/>
                      </a:schemeClr>
                    </a:solidFill>
                  </a:tcPr>
                </a:tc>
                <a:tc>
                  <a:txBody>
                    <a:bodyPr/>
                    <a:lstStyle/>
                    <a:p>
                      <a:pPr marL="0" indent="0" algn="ctr">
                        <a:buNone/>
                      </a:pPr>
                      <a:r>
                        <a:rPr lang="en-US" sz="1400" b="1" dirty="0">
                          <a:solidFill>
                            <a:srgbClr val="C00000"/>
                          </a:solidFill>
                          <a:latin typeface="Calibri" panose="020F0502020204030204" charset="0"/>
                          <a:ea typeface="Times New Roman" panose="02020603050405020304" pitchFamily="34" charset="-122"/>
                          <a:cs typeface="Calibri" panose="020F0502020204030204" charset="0"/>
                        </a:rPr>
                        <a:t>0.085484</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8"/>
                  </a:ext>
                </a:extLst>
              </a:tr>
              <a:tr h="316865">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ewm_gating</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0.033001</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0.029827</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59410">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outproj</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7FBFF"/>
                    </a:solidFill>
                  </a:tcPr>
                </a:tc>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0.032225</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7FBFF"/>
                    </a:solidFill>
                  </a:tcPr>
                </a:tc>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0.031243</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7FBFF"/>
                    </a:solidFill>
                  </a:tcPr>
                </a:tc>
                <a:extLst>
                  <a:ext uri="{0D108BD9-81ED-4DB2-BD59-A6C34878D82A}">
                    <a16:rowId xmlns:a16="http://schemas.microsoft.com/office/drawing/2014/main" val="10010"/>
                  </a:ext>
                </a:extLst>
              </a:tr>
              <a:tr h="359410">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block_output</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0.032426</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933"/>
                          </a:solidFill>
                          <a:latin typeface="Calibri" panose="020F0502020204030204" charset="0"/>
                          <a:ea typeface="Times New Roman" panose="02020603050405020304" pitchFamily="34" charset="-122"/>
                          <a:cs typeface="Calibri" panose="020F0502020204030204" charset="0"/>
                        </a:rPr>
                        <a:t>0.031332</a:t>
                      </a:r>
                    </a:p>
                  </a:txBody>
                  <a:tcPr marL="73152" marR="73152" marT="73152" marB="73152" anchor="ctr">
                    <a:lnL w="6350" cap="flat" cmpd="sng" algn="ctr">
                      <a:solidFill>
                        <a:srgbClr val="B8C7DC"/>
                      </a:solidFill>
                      <a:prstDash val="solid"/>
                      <a:round/>
                      <a:headEnd type="none" w="med" len="med"/>
                      <a:tailEnd type="none" w="med" len="med"/>
                    </a:lnL>
                    <a:lnR w="6350" cap="flat" cmpd="sng" algn="ctr">
                      <a:solidFill>
                        <a:srgbClr val="B8C7DC"/>
                      </a:solidFill>
                      <a:prstDash val="solid"/>
                      <a:round/>
                      <a:headEnd type="none" w="med" len="med"/>
                      <a:tailEnd type="none" w="med" len="med"/>
                    </a:lnR>
                    <a:lnT w="6350" cap="flat" cmpd="sng" algn="ctr">
                      <a:solidFill>
                        <a:srgbClr val="B8C7DC"/>
                      </a:solidFill>
                      <a:prstDash val="solid"/>
                      <a:round/>
                      <a:headEnd type="none" w="med" len="med"/>
                      <a:tailEnd type="none" w="med" len="med"/>
                    </a:lnT>
                    <a:lnB w="6350" cap="flat" cmpd="sng" algn="ctr">
                      <a:solidFill>
                        <a:srgbClr val="B8C7D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10" name="文本框 9"/>
          <p:cNvSpPr txBox="1"/>
          <p:nvPr/>
        </p:nvSpPr>
        <p:spPr>
          <a:xfrm>
            <a:off x="5899785" y="5553710"/>
            <a:ext cx="5481320" cy="1198880"/>
          </a:xfrm>
          <a:prstGeom prst="rect">
            <a:avLst/>
          </a:prstGeom>
          <a:noFill/>
        </p:spPr>
        <p:txBody>
          <a:bodyPr wrap="square" rtlCol="0">
            <a:spAutoFit/>
          </a:bodyPr>
          <a:lstStyle/>
          <a:p>
            <a:pPr marL="285750" indent="-285750">
              <a:buFont typeface="Arial" panose="020B0604020202020204" pitchFamily="34" charset="0"/>
              <a:buChar char="•"/>
            </a:pPr>
            <a:r>
              <a:rPr lang="en-US" altLang="zh-CN" b="1"/>
              <a:t>Fixed scale:</a:t>
            </a:r>
            <a:r>
              <a:rPr lang="en-US" altLang="zh-CN"/>
              <a:t> for Q8.8, every value uses the </a:t>
            </a:r>
            <a:r>
              <a:rPr lang="en-US" altLang="zh-CN" b="1">
                <a:solidFill>
                  <a:srgbClr val="C00000"/>
                </a:solidFill>
              </a:rPr>
              <a:t>same scale</a:t>
            </a:r>
            <a:r>
              <a:rPr lang="en-US" altLang="zh-CN"/>
              <a:t> 1/256, so real value = int16 / 256.</a:t>
            </a:r>
          </a:p>
          <a:p>
            <a:pPr marL="285750" indent="-285750">
              <a:buFont typeface="Arial" panose="020B0604020202020204" pitchFamily="34" charset="0"/>
              <a:buChar char="•"/>
            </a:pPr>
            <a:r>
              <a:rPr lang="en-US" altLang="zh-CN" b="1"/>
              <a:t>Dynamic scale:</a:t>
            </a:r>
            <a:r>
              <a:rPr lang="en-US" altLang="zh-CN"/>
              <a:t> scale is computed from the </a:t>
            </a:r>
            <a:r>
              <a:rPr lang="en-US" altLang="zh-CN" b="1">
                <a:solidFill>
                  <a:srgbClr val="C00000"/>
                </a:solidFill>
              </a:rPr>
              <a:t>channel range</a:t>
            </a:r>
            <a:r>
              <a:rPr lang="en-US" altLang="zh-CN"/>
              <a:t>, so real value = int16 × scale.</a:t>
            </a:r>
          </a:p>
        </p:txBody>
      </p:sp>
      <p:pic>
        <p:nvPicPr>
          <p:cNvPr id="2" name="图片 1" descr="MAMBAFlow"/>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0540" y="1596390"/>
            <a:ext cx="5079365" cy="478282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en-US" altLang="en-US"/>
              <a:t>Quantisation: Workflow</a:t>
            </a:r>
          </a:p>
        </p:txBody>
      </p:sp>
      <p:sp>
        <p:nvSpPr>
          <p:cNvPr id="39" name="文本框 38"/>
          <p:cNvSpPr txBox="1"/>
          <p:nvPr>
            <p:custDataLst>
              <p:tags r:id="rId3"/>
            </p:custDataLst>
          </p:nvPr>
        </p:nvSpPr>
        <p:spPr>
          <a:xfrm>
            <a:off x="613410" y="1107440"/>
            <a:ext cx="5168900" cy="476250"/>
          </a:xfrm>
          <a:prstGeom prst="rect">
            <a:avLst/>
          </a:prstGeom>
          <a:noFill/>
        </p:spPr>
        <p:txBody>
          <a:bodyPr wrap="square" lIns="0" tIns="0" rIns="0" bIns="0" rtlCol="0">
            <a:normAutofit/>
          </a:bodyPr>
          <a:lstStyle/>
          <a:p>
            <a:pPr marL="342900" indent="-342900" fontAlgn="auto">
              <a:lnSpc>
                <a:spcPct val="150000"/>
              </a:lnSpc>
              <a:buFont typeface="Wingdings" panose="05000000000000000000" charset="0"/>
              <a:buChar char="Ø"/>
            </a:pPr>
            <a:r>
              <a:rPr lang="en-US" altLang="zh-CN" sz="2000" b="1">
                <a:sym typeface="+mn-ea"/>
              </a:rPr>
              <a:t>Per-layer quantisation strategy</a:t>
            </a:r>
          </a:p>
        </p:txBody>
      </p:sp>
      <p:sp>
        <p:nvSpPr>
          <p:cNvPr id="7" name="灯片编号占位符 6"/>
          <p:cNvSpPr>
            <a:spLocks noGrp="1"/>
          </p:cNvSpPr>
          <p:nvPr>
            <p:ph type="sldNum" sz="quarter" idx="12"/>
          </p:nvPr>
        </p:nvSpPr>
        <p:spPr/>
        <p:txBody>
          <a:bodyPr/>
          <a:lstStyle/>
          <a:p>
            <a:fld id="{9D1B9D8C-A161-4084-924B-59152344AFCF}" type="slidenum">
              <a:rPr lang="ko-KR" altLang="en-US" smtClean="0"/>
              <a:t>27</a:t>
            </a:fld>
            <a:endParaRPr lang="ko-KR" altLang="en-US"/>
          </a:p>
        </p:txBody>
      </p:sp>
      <p:sp>
        <p:nvSpPr>
          <p:cNvPr id="8" name="文本框 7"/>
          <p:cNvSpPr txBox="1"/>
          <p:nvPr/>
        </p:nvSpPr>
        <p:spPr>
          <a:xfrm>
            <a:off x="7062470" y="1614805"/>
            <a:ext cx="4882515" cy="3415030"/>
          </a:xfrm>
          <a:prstGeom prst="rect">
            <a:avLst/>
          </a:prstGeom>
          <a:noFill/>
        </p:spPr>
        <p:txBody>
          <a:bodyPr wrap="square" rtlCol="0">
            <a:spAutoFit/>
          </a:bodyPr>
          <a:lstStyle/>
          <a:p>
            <a:r>
              <a:rPr lang="en-US" altLang="zh-CN" b="1">
                <a:solidFill>
                  <a:schemeClr val="tx1"/>
                </a:solidFill>
              </a:rPr>
              <a:t>Rounding</a:t>
            </a:r>
            <a:endParaRPr lang="en-US" altLang="zh-CN">
              <a:solidFill>
                <a:schemeClr val="tx1"/>
              </a:solidFill>
            </a:endParaRPr>
          </a:p>
          <a:p>
            <a:pPr marL="285750" indent="-285750">
              <a:buFont typeface="Arial" panose="020B0604020202020204" pitchFamily="34" charset="0"/>
              <a:buChar char="•"/>
            </a:pPr>
            <a:r>
              <a:rPr lang="en-US" altLang="zh-CN" b="1" i="1">
                <a:solidFill>
                  <a:srgbClr val="C00000"/>
                </a:solidFill>
              </a:rPr>
              <a:t>Main rule: round-to-nearest-even.</a:t>
            </a:r>
          </a:p>
          <a:p>
            <a:pPr marL="285750" indent="-285750">
              <a:buFont typeface="Arial" panose="020B0604020202020204" pitchFamily="34" charset="0"/>
              <a:buChar char="•"/>
            </a:pPr>
            <a:r>
              <a:rPr lang="en-US" altLang="zh-CN">
                <a:solidFill>
                  <a:schemeClr val="tx1"/>
                </a:solidFill>
              </a:rPr>
              <a:t>Used after MAC, Q-format conversion, state update, and scale multiplication.</a:t>
            </a:r>
          </a:p>
          <a:p>
            <a:pPr marL="285750" indent="-285750">
              <a:buFont typeface="Arial" panose="020B0604020202020204" pitchFamily="34" charset="0"/>
              <a:buChar char="•"/>
            </a:pPr>
            <a:r>
              <a:rPr lang="en-US" altLang="zh-CN" b="1">
                <a:solidFill>
                  <a:srgbClr val="C00000"/>
                </a:solidFill>
              </a:rPr>
              <a:t>Reduces long-term bias</a:t>
            </a:r>
            <a:r>
              <a:rPr lang="en-US" altLang="zh-CN">
                <a:solidFill>
                  <a:schemeClr val="tx1"/>
                </a:solidFill>
              </a:rPr>
              <a:t> compared with truncation.</a:t>
            </a:r>
          </a:p>
          <a:p>
            <a:endParaRPr lang="en-US" altLang="zh-CN">
              <a:solidFill>
                <a:schemeClr val="tx1"/>
              </a:solidFill>
            </a:endParaRPr>
          </a:p>
          <a:p>
            <a:r>
              <a:rPr lang="en-US" altLang="zh-CN" b="1">
                <a:solidFill>
                  <a:schemeClr val="tx1"/>
                </a:solidFill>
              </a:rPr>
              <a:t>Saturation / Clamp</a:t>
            </a:r>
            <a:endParaRPr lang="en-US" altLang="zh-CN">
              <a:solidFill>
                <a:schemeClr val="tx1"/>
              </a:solidFill>
            </a:endParaRPr>
          </a:p>
          <a:p>
            <a:pPr marL="285750" indent="-285750">
              <a:buFont typeface="Arial" panose="020B0604020202020204" pitchFamily="34" charset="0"/>
              <a:buChar char="•"/>
            </a:pPr>
            <a:r>
              <a:rPr lang="en-US" altLang="zh-CN">
                <a:solidFill>
                  <a:schemeClr val="tx1"/>
                </a:solidFill>
              </a:rPr>
              <a:t>Final Q8.8 values are </a:t>
            </a:r>
            <a:r>
              <a:rPr lang="en-US" altLang="zh-CN" b="1">
                <a:solidFill>
                  <a:srgbClr val="C00000"/>
                </a:solidFill>
              </a:rPr>
              <a:t>clamped to signed int16:</a:t>
            </a:r>
          </a:p>
          <a:p>
            <a:pPr marL="285750" indent="-285750">
              <a:buFont typeface="Arial" panose="020B0604020202020204" pitchFamily="34" charset="0"/>
              <a:buChar char="•"/>
            </a:pPr>
            <a:r>
              <a:rPr lang="en-US" altLang="zh-CN">
                <a:solidFill>
                  <a:schemeClr val="tx1"/>
                </a:solidFill>
              </a:rPr>
              <a:t>[-32768, 32767]</a:t>
            </a:r>
          </a:p>
          <a:p>
            <a:pPr marL="285750" indent="-285750">
              <a:buFont typeface="Arial" panose="020B0604020202020204" pitchFamily="34" charset="0"/>
              <a:buChar char="•"/>
            </a:pPr>
            <a:r>
              <a:rPr lang="en-US" altLang="zh-CN" b="1">
                <a:solidFill>
                  <a:srgbClr val="C00000"/>
                </a:solidFill>
              </a:rPr>
              <a:t>Prevents overflow and wrong sign</a:t>
            </a:r>
            <a:r>
              <a:rPr lang="en-US" altLang="zh-CN">
                <a:solidFill>
                  <a:schemeClr val="tx1"/>
                </a:solidFill>
              </a:rPr>
              <a:t> after multiplication, accumulation, or residual add.</a:t>
            </a:r>
          </a:p>
        </p:txBody>
      </p:sp>
      <p:sp>
        <p:nvSpPr>
          <p:cNvPr id="9" name="文本框 8"/>
          <p:cNvSpPr txBox="1"/>
          <p:nvPr/>
        </p:nvSpPr>
        <p:spPr>
          <a:xfrm>
            <a:off x="510540" y="1583690"/>
            <a:ext cx="4057015" cy="368300"/>
          </a:xfrm>
          <a:prstGeom prst="rect">
            <a:avLst/>
          </a:prstGeom>
          <a:noFill/>
        </p:spPr>
        <p:txBody>
          <a:bodyPr wrap="square" rtlCol="0">
            <a:spAutoFit/>
          </a:bodyPr>
          <a:lstStyle/>
          <a:p>
            <a:pPr indent="0">
              <a:buFont typeface="Arial" panose="020B0604020202020204" pitchFamily="34" charset="0"/>
              <a:buNone/>
            </a:pPr>
            <a:r>
              <a:rPr lang="en-US" altLang="zh-CN" b="1">
                <a:solidFill>
                  <a:schemeClr val="tx1"/>
                </a:solidFill>
              </a:rPr>
              <a:t>Scale and Q-Format</a:t>
            </a:r>
          </a:p>
        </p:txBody>
      </p:sp>
      <p:sp>
        <p:nvSpPr>
          <p:cNvPr id="4" name="文本框 3"/>
          <p:cNvSpPr txBox="1"/>
          <p:nvPr>
            <p:custDataLst>
              <p:tags r:id="rId4"/>
            </p:custDataLst>
          </p:nvPr>
        </p:nvSpPr>
        <p:spPr>
          <a:xfrm>
            <a:off x="6788150" y="4989830"/>
            <a:ext cx="5382895" cy="476250"/>
          </a:xfrm>
          <a:prstGeom prst="rect">
            <a:avLst/>
          </a:prstGeom>
          <a:noFill/>
        </p:spPr>
        <p:txBody>
          <a:bodyPr wrap="square" lIns="0" tIns="0" rIns="0" bIns="0" rtlCol="0">
            <a:normAutofit/>
          </a:bodyPr>
          <a:lstStyle/>
          <a:p>
            <a:pPr marL="342900" indent="-342900" fontAlgn="auto">
              <a:lnSpc>
                <a:spcPct val="150000"/>
              </a:lnSpc>
              <a:buFont typeface="Wingdings" panose="05000000000000000000" charset="0"/>
              <a:buChar char="Ø"/>
            </a:pPr>
            <a:r>
              <a:rPr lang="en-US" altLang="zh-CN" sz="2000" b="1">
                <a:sym typeface="+mn-ea"/>
              </a:rPr>
              <a:t>Final quantisation evaluation (34,505 samples)</a:t>
            </a:r>
          </a:p>
        </p:txBody>
      </p:sp>
      <p:sp>
        <p:nvSpPr>
          <p:cNvPr id="11" name="文本框 10"/>
          <p:cNvSpPr txBox="1"/>
          <p:nvPr/>
        </p:nvSpPr>
        <p:spPr>
          <a:xfrm>
            <a:off x="7089775" y="5455285"/>
            <a:ext cx="5066030" cy="645160"/>
          </a:xfrm>
          <a:prstGeom prst="rect">
            <a:avLst/>
          </a:prstGeom>
          <a:noFill/>
        </p:spPr>
        <p:txBody>
          <a:bodyPr wrap="square" rtlCol="0">
            <a:spAutoFit/>
          </a:bodyPr>
          <a:lstStyle/>
          <a:p>
            <a:pPr marL="285750" indent="-285750">
              <a:buFont typeface="Arial" panose="020B0604020202020204" pitchFamily="34" charset="0"/>
              <a:buChar char="•"/>
            </a:pPr>
            <a:r>
              <a:rPr lang="en-US" altLang="zh-CN" b="1">
                <a:solidFill>
                  <a:srgbClr val="C00000"/>
                </a:solidFill>
              </a:rPr>
              <a:t>hw vs. float mae = 0.02081</a:t>
            </a:r>
          </a:p>
          <a:p>
            <a:pPr marL="285750" indent="-285750">
              <a:buFont typeface="Arial" panose="020B0604020202020204" pitchFamily="34" charset="0"/>
              <a:buChar char="•"/>
            </a:pPr>
            <a:r>
              <a:rPr lang="en-US" altLang="zh-CN" b="1">
                <a:solidFill>
                  <a:srgbClr val="C00000"/>
                </a:solidFill>
              </a:rPr>
              <a:t>Mean error = 0.14103m  (float=0.13695m)</a:t>
            </a:r>
          </a:p>
        </p:txBody>
      </p:sp>
      <p:graphicFrame>
        <p:nvGraphicFramePr>
          <p:cNvPr id="3" name="表格 3"/>
          <p:cNvGraphicFramePr/>
          <p:nvPr>
            <p:custDataLst>
              <p:tags r:id="rId5"/>
            </p:custDataLst>
          </p:nvPr>
        </p:nvGraphicFramePr>
        <p:xfrm>
          <a:off x="428976" y="2037200"/>
          <a:ext cx="6223635" cy="3746440"/>
        </p:xfrm>
        <a:graphic>
          <a:graphicData uri="http://schemas.openxmlformats.org/drawingml/2006/table">
            <a:tbl>
              <a:tblPr firstRow="1" bandRow="1">
                <a:tableStyleId>{5C22544A-7EE6-4342-B048-85BDC9FD1C3A}</a:tableStyleId>
              </a:tblPr>
              <a:tblGrid>
                <a:gridCol w="1880000">
                  <a:extLst>
                    <a:ext uri="{9D8B030D-6E8A-4147-A177-3AD203B41FA5}">
                      <a16:colId xmlns:a16="http://schemas.microsoft.com/office/drawing/2014/main" val="20000"/>
                    </a:ext>
                  </a:extLst>
                </a:gridCol>
                <a:gridCol w="800000">
                  <a:extLst>
                    <a:ext uri="{9D8B030D-6E8A-4147-A177-3AD203B41FA5}">
                      <a16:colId xmlns:a16="http://schemas.microsoft.com/office/drawing/2014/main" val="20001"/>
                    </a:ext>
                  </a:extLst>
                </a:gridCol>
                <a:gridCol w="953135">
                  <a:extLst>
                    <a:ext uri="{9D8B030D-6E8A-4147-A177-3AD203B41FA5}">
                      <a16:colId xmlns:a16="http://schemas.microsoft.com/office/drawing/2014/main" val="20002"/>
                    </a:ext>
                  </a:extLst>
                </a:gridCol>
                <a:gridCol w="1271270">
                  <a:extLst>
                    <a:ext uri="{9D8B030D-6E8A-4147-A177-3AD203B41FA5}">
                      <a16:colId xmlns:a16="http://schemas.microsoft.com/office/drawing/2014/main" val="20003"/>
                    </a:ext>
                  </a:extLst>
                </a:gridCol>
                <a:gridCol w="1319230">
                  <a:extLst>
                    <a:ext uri="{9D8B030D-6E8A-4147-A177-3AD203B41FA5}">
                      <a16:colId xmlns:a16="http://schemas.microsoft.com/office/drawing/2014/main" val="20004"/>
                    </a:ext>
                  </a:extLst>
                </a:gridCol>
              </a:tblGrid>
              <a:tr h="300000">
                <a:tc>
                  <a:txBody>
                    <a:bodyPr/>
                    <a:lstStyle/>
                    <a:p>
                      <a:pPr algn="l"/>
                      <a:r>
                        <a:rPr lang="en-US" sz="1600" b="1">
                          <a:solidFill>
                            <a:srgbClr val="000000"/>
                          </a:solidFill>
                        </a:rPr>
                        <a:t>Stage</a:t>
                      </a:r>
                    </a:p>
                  </a:txBody>
                  <a:tcPr marL="30000" marR="30000" marT="10000" marB="10000" anchor="ctr">
                    <a:lnL w="0">
                      <a:noFill/>
                    </a:lnL>
                    <a:lnR w="0">
                      <a:noFill/>
                    </a:lnR>
                    <a:lnT w="12700">
                      <a:solidFill>
                        <a:srgbClr val="7F7F7F"/>
                      </a:solidFill>
                    </a:lnT>
                    <a:lnB w="12700">
                      <a:solidFill>
                        <a:srgbClr val="7F7F7F"/>
                      </a:solidFill>
                    </a:lnB>
                    <a:noFill/>
                  </a:tcPr>
                </a:tc>
                <a:tc>
                  <a:txBody>
                    <a:bodyPr/>
                    <a:lstStyle/>
                    <a:p>
                      <a:pPr algn="l"/>
                      <a:r>
                        <a:rPr lang="en-US" sz="1600" b="1">
                          <a:solidFill>
                            <a:srgbClr val="000000"/>
                          </a:solidFill>
                        </a:rPr>
                        <a:t>Scale</a:t>
                      </a:r>
                    </a:p>
                  </a:txBody>
                  <a:tcPr marL="30000" marR="30000" marT="10000" marB="10000" anchor="ctr">
                    <a:lnL w="0">
                      <a:noFill/>
                    </a:lnL>
                    <a:lnR w="0">
                      <a:noFill/>
                    </a:lnR>
                    <a:lnT w="12700">
                      <a:solidFill>
                        <a:srgbClr val="7F7F7F"/>
                      </a:solidFill>
                    </a:lnT>
                    <a:lnB w="12700">
                      <a:solidFill>
                        <a:srgbClr val="7F7F7F"/>
                      </a:solidFill>
                    </a:lnB>
                    <a:noFill/>
                  </a:tcPr>
                </a:tc>
                <a:tc>
                  <a:txBody>
                    <a:bodyPr/>
                    <a:lstStyle/>
                    <a:p>
                      <a:pPr algn="l"/>
                      <a:r>
                        <a:rPr lang="en-US" sz="1600" b="1">
                          <a:solidFill>
                            <a:srgbClr val="000000"/>
                          </a:solidFill>
                        </a:rPr>
                        <a:t>Q format</a:t>
                      </a:r>
                    </a:p>
                  </a:txBody>
                  <a:tcPr marL="30000" marR="30000" marT="10000" marB="10000" anchor="ctr">
                    <a:lnL w="0">
                      <a:noFill/>
                    </a:lnL>
                    <a:lnR w="0">
                      <a:noFill/>
                    </a:lnR>
                    <a:lnT w="12700">
                      <a:solidFill>
                        <a:srgbClr val="7F7F7F"/>
                      </a:solidFill>
                    </a:lnT>
                    <a:lnB w="12700">
                      <a:solidFill>
                        <a:srgbClr val="7F7F7F"/>
                      </a:solidFill>
                    </a:lnB>
                    <a:noFill/>
                  </a:tcPr>
                </a:tc>
                <a:tc>
                  <a:txBody>
                    <a:bodyPr/>
                    <a:lstStyle/>
                    <a:p>
                      <a:pPr algn="l"/>
                      <a:r>
                        <a:rPr lang="en-US" sz="1600" b="1">
                          <a:solidFill>
                            <a:srgbClr val="000000"/>
                          </a:solidFill>
                        </a:rPr>
                        <a:t>Rounding</a:t>
                      </a:r>
                    </a:p>
                  </a:txBody>
                  <a:tcPr marL="30000" marR="30000" marT="10000" marB="10000" anchor="ctr">
                    <a:lnL w="0">
                      <a:noFill/>
                    </a:lnL>
                    <a:lnR w="0">
                      <a:noFill/>
                    </a:lnR>
                    <a:lnT w="12700">
                      <a:solidFill>
                        <a:srgbClr val="7F7F7F"/>
                      </a:solidFill>
                    </a:lnT>
                    <a:lnB w="12700">
                      <a:solidFill>
                        <a:srgbClr val="7F7F7F"/>
                      </a:solidFill>
                    </a:lnB>
                    <a:noFill/>
                  </a:tcPr>
                </a:tc>
                <a:tc>
                  <a:txBody>
                    <a:bodyPr/>
                    <a:lstStyle/>
                    <a:p>
                      <a:pPr algn="l"/>
                      <a:r>
                        <a:rPr lang="en-US" sz="1600" b="1">
                          <a:solidFill>
                            <a:srgbClr val="000000"/>
                          </a:solidFill>
                        </a:rPr>
                        <a:t>Saturation</a:t>
                      </a:r>
                    </a:p>
                  </a:txBody>
                  <a:tcPr marL="30000" marR="30000" marT="10000" marB="10000" anchor="ctr">
                    <a:lnL w="0">
                      <a:noFill/>
                    </a:lnL>
                    <a:lnR w="0">
                      <a:noFill/>
                    </a:lnR>
                    <a:lnT w="12700">
                      <a:solidFill>
                        <a:srgbClr val="7F7F7F"/>
                      </a:solidFill>
                    </a:lnT>
                    <a:lnB w="12700">
                      <a:solidFill>
                        <a:srgbClr val="7F7F7F"/>
                      </a:solidFill>
                    </a:lnB>
                    <a:noFill/>
                  </a:tcPr>
                </a:tc>
                <a:extLst>
                  <a:ext uri="{0D108BD9-81ED-4DB2-BD59-A6C34878D82A}">
                    <a16:rowId xmlns:a16="http://schemas.microsoft.com/office/drawing/2014/main" val="10000"/>
                  </a:ext>
                </a:extLst>
              </a:tr>
              <a:tr h="300000">
                <a:tc>
                  <a:txBody>
                    <a:bodyPr/>
                    <a:lstStyle/>
                    <a:p>
                      <a:pPr algn="l"/>
                      <a:r>
                        <a:rPr lang="en-US" sz="1400" b="1">
                          <a:solidFill>
                            <a:srgbClr val="000000"/>
                          </a:solidFill>
                        </a:rPr>
                        <a:t>RMSNorm output</a:t>
                      </a:r>
                    </a:p>
                  </a:txBody>
                  <a:tcPr marL="30000" marR="30000" marT="10000" marB="10000" anchor="ctr">
                    <a:lnL w="0">
                      <a:noFill/>
                    </a:lnL>
                    <a:lnR w="0">
                      <a:noFill/>
                    </a:lnR>
                    <a:lnT w="12700" cap="flat" cmpd="sng" algn="ctr">
                      <a:solidFill>
                        <a:srgbClr val="7F7F7F"/>
                      </a:solidFill>
                      <a:prstDash val="solid"/>
                      <a:round/>
                      <a:headEnd type="none" w="med" len="med"/>
                      <a:tailEnd type="none" w="med" len="med"/>
                    </a:lnT>
                    <a:lnB w="0">
                      <a:noFill/>
                    </a:lnB>
                    <a:noFill/>
                  </a:tcPr>
                </a:tc>
                <a:tc>
                  <a:txBody>
                    <a:bodyPr/>
                    <a:lstStyle/>
                    <a:p>
                      <a:pPr algn="l"/>
                      <a:r>
                        <a:rPr lang="en-US" sz="1400">
                          <a:solidFill>
                            <a:srgbClr val="000000"/>
                          </a:solidFill>
                        </a:rPr>
                        <a:t>1/256</a:t>
                      </a:r>
                    </a:p>
                  </a:txBody>
                  <a:tcPr marL="30000" marR="30000" marT="10000" marB="10000" anchor="ctr">
                    <a:lnL w="0">
                      <a:noFill/>
                    </a:lnL>
                    <a:lnR w="0">
                      <a:noFill/>
                    </a:lnR>
                    <a:lnT w="12700" cap="flat" cmpd="sng" algn="ctr">
                      <a:solidFill>
                        <a:srgbClr val="7F7F7F"/>
                      </a:solidFill>
                      <a:prstDash val="solid"/>
                      <a:round/>
                      <a:headEnd type="none" w="med" len="med"/>
                      <a:tailEnd type="none" w="med" len="med"/>
                    </a:lnT>
                    <a:lnB w="0">
                      <a:noFill/>
                    </a:lnB>
                    <a:noFill/>
                  </a:tcPr>
                </a:tc>
                <a:tc>
                  <a:txBody>
                    <a:bodyPr/>
                    <a:lstStyle/>
                    <a:p>
                      <a:pPr algn="l"/>
                      <a:r>
                        <a:rPr lang="en-US" sz="1400">
                          <a:solidFill>
                            <a:srgbClr val="000000"/>
                          </a:solidFill>
                        </a:rPr>
                        <a:t>Q8.8</a:t>
                      </a:r>
                    </a:p>
                  </a:txBody>
                  <a:tcPr marL="30000" marR="30000" marT="10000" marB="10000" anchor="ctr">
                    <a:lnL w="0">
                      <a:noFill/>
                    </a:lnL>
                    <a:lnR w="0">
                      <a:noFill/>
                    </a:lnR>
                    <a:lnT w="12700" cap="flat" cmpd="sng" algn="ctr">
                      <a:solidFill>
                        <a:srgbClr val="7F7F7F"/>
                      </a:solidFill>
                      <a:prstDash val="solid"/>
                      <a:round/>
                      <a:headEnd type="none" w="med" len="med"/>
                      <a:tailEnd type="none" w="med" len="med"/>
                    </a:lnT>
                    <a:lnB w="0">
                      <a:noFill/>
                    </a:lnB>
                    <a:noFill/>
                  </a:tcPr>
                </a:tc>
                <a:tc>
                  <a:txBody>
                    <a:bodyPr/>
                    <a:lstStyle/>
                    <a:p>
                      <a:pPr algn="l"/>
                      <a:r>
                        <a:rPr lang="en-US" sz="1400">
                          <a:solidFill>
                            <a:srgbClr val="000000"/>
                          </a:solidFill>
                        </a:rPr>
                        <a:t>RNE</a:t>
                      </a:r>
                    </a:p>
                  </a:txBody>
                  <a:tcPr marL="30000" marR="30000" marT="10000" marB="10000" anchor="ctr">
                    <a:lnL w="0">
                      <a:noFill/>
                    </a:lnL>
                    <a:lnR w="0">
                      <a:noFill/>
                    </a:lnR>
                    <a:lnT w="12700" cap="flat" cmpd="sng" algn="ctr">
                      <a:solidFill>
                        <a:srgbClr val="7F7F7F"/>
                      </a:solidFill>
                      <a:prstDash val="solid"/>
                      <a:round/>
                      <a:headEnd type="none" w="med" len="med"/>
                      <a:tailEnd type="none" w="med" len="med"/>
                    </a:lnT>
                    <a:lnB w="0">
                      <a:noFill/>
                    </a:lnB>
                    <a:noFill/>
                  </a:tcPr>
                </a:tc>
                <a:tc>
                  <a:txBody>
                    <a:bodyPr/>
                    <a:lstStyle/>
                    <a:p>
                      <a:pPr algn="l"/>
                      <a:r>
                        <a:rPr lang="en-US" sz="1400">
                          <a:solidFill>
                            <a:srgbClr val="000000"/>
                          </a:solidFill>
                        </a:rPr>
                        <a:t>[-32768, 32767]</a:t>
                      </a:r>
                    </a:p>
                  </a:txBody>
                  <a:tcPr marL="30000" marR="30000" marT="10000" marB="10000" anchor="ctr">
                    <a:lnL w="0">
                      <a:noFill/>
                    </a:lnL>
                    <a:lnR w="0">
                      <a:noFill/>
                    </a:lnR>
                    <a:lnT w="12700" cap="flat" cmpd="sng" algn="ctr">
                      <a:solidFill>
                        <a:srgbClr val="7F7F7F"/>
                      </a:solidFill>
                      <a:prstDash val="solid"/>
                      <a:round/>
                      <a:headEnd type="none" w="med" len="med"/>
                      <a:tailEnd type="none" w="med" len="med"/>
                    </a:lnT>
                    <a:lnB w="0">
                      <a:noFill/>
                    </a:lnB>
                    <a:noFill/>
                  </a:tcPr>
                </a:tc>
                <a:extLst>
                  <a:ext uri="{0D108BD9-81ED-4DB2-BD59-A6C34878D82A}">
                    <a16:rowId xmlns:a16="http://schemas.microsoft.com/office/drawing/2014/main" val="10001"/>
                  </a:ext>
                </a:extLst>
              </a:tr>
              <a:tr h="300000">
                <a:tc>
                  <a:txBody>
                    <a:bodyPr/>
                    <a:lstStyle/>
                    <a:p>
                      <a:pPr algn="l"/>
                      <a:r>
                        <a:rPr lang="en-US" sz="1400" b="1">
                          <a:solidFill>
                            <a:srgbClr val="000000"/>
                          </a:solidFill>
                        </a:rPr>
                        <a:t>RMSNorm reciprocal</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1/2^30</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Q30</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NR</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[-32768, 32767]</a:t>
                      </a:r>
                    </a:p>
                  </a:txBody>
                  <a:tcPr marL="30000" marR="30000" marT="10000" marB="10000" anchor="ctr">
                    <a:lnL w="0">
                      <a:noFill/>
                    </a:lnL>
                    <a:lnR w="0">
                      <a:noFill/>
                    </a:lnR>
                    <a:lnT w="0">
                      <a:noFill/>
                    </a:lnT>
                    <a:lnB w="0">
                      <a:noFill/>
                    </a:lnB>
                    <a:noFill/>
                  </a:tcPr>
                </a:tc>
                <a:extLst>
                  <a:ext uri="{0D108BD9-81ED-4DB2-BD59-A6C34878D82A}">
                    <a16:rowId xmlns:a16="http://schemas.microsoft.com/office/drawing/2014/main" val="10002"/>
                  </a:ext>
                </a:extLst>
              </a:tr>
              <a:tr h="300000">
                <a:tc>
                  <a:txBody>
                    <a:bodyPr/>
                    <a:lstStyle/>
                    <a:p>
                      <a:pPr algn="l"/>
                      <a:r>
                        <a:rPr lang="en-US" sz="1400">
                          <a:solidFill>
                            <a:srgbClr val="000000"/>
                          </a:solidFill>
                        </a:rPr>
                        <a:t>in_proj</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1/256</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Q8.8</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RNE</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[-32768, 32767]</a:t>
                      </a:r>
                    </a:p>
                  </a:txBody>
                  <a:tcPr marL="30000" marR="30000" marT="10000" marB="10000" anchor="ctr">
                    <a:lnL w="0">
                      <a:noFill/>
                    </a:lnL>
                    <a:lnR w="0">
                      <a:noFill/>
                    </a:lnR>
                    <a:lnT w="0">
                      <a:noFill/>
                    </a:lnT>
                    <a:lnB w="0">
                      <a:noFill/>
                    </a:lnB>
                    <a:noFill/>
                  </a:tcPr>
                </a:tc>
                <a:extLst>
                  <a:ext uri="{0D108BD9-81ED-4DB2-BD59-A6C34878D82A}">
                    <a16:rowId xmlns:a16="http://schemas.microsoft.com/office/drawing/2014/main" val="10003"/>
                  </a:ext>
                </a:extLst>
              </a:tr>
              <a:tr h="300000">
                <a:tc>
                  <a:txBody>
                    <a:bodyPr/>
                    <a:lstStyle/>
                    <a:p>
                      <a:pPr algn="l"/>
                      <a:r>
                        <a:rPr lang="en-US" sz="1400">
                          <a:solidFill>
                            <a:srgbClr val="000000"/>
                          </a:solidFill>
                        </a:rPr>
                        <a:t>dt_proj</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1/256</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Q8.8</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RNE</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[-32768, 32767]</a:t>
                      </a:r>
                    </a:p>
                  </a:txBody>
                  <a:tcPr marL="30000" marR="30000" marT="10000" marB="10000" anchor="ctr">
                    <a:lnL w="0">
                      <a:noFill/>
                    </a:lnL>
                    <a:lnR w="0">
                      <a:noFill/>
                    </a:lnR>
                    <a:lnT w="0">
                      <a:noFill/>
                    </a:lnT>
                    <a:lnB w="0">
                      <a:noFill/>
                    </a:lnB>
                    <a:noFill/>
                  </a:tcPr>
                </a:tc>
                <a:extLst>
                  <a:ext uri="{0D108BD9-81ED-4DB2-BD59-A6C34878D82A}">
                    <a16:rowId xmlns:a16="http://schemas.microsoft.com/office/drawing/2014/main" val="10004"/>
                  </a:ext>
                </a:extLst>
              </a:tr>
              <a:tr h="300000">
                <a:tc>
                  <a:txBody>
                    <a:bodyPr/>
                    <a:lstStyle/>
                    <a:p>
                      <a:pPr algn="l"/>
                      <a:r>
                        <a:rPr lang="en-US" sz="1400">
                          <a:solidFill>
                            <a:srgbClr val="000000"/>
                          </a:solidFill>
                        </a:rPr>
                        <a:t>out_proj</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1/256</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Q8.8</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RNE</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[-32768, 32767]</a:t>
                      </a:r>
                    </a:p>
                  </a:txBody>
                  <a:tcPr marL="30000" marR="30000" marT="10000" marB="10000" anchor="ctr">
                    <a:lnL w="0">
                      <a:noFill/>
                    </a:lnL>
                    <a:lnR w="0">
                      <a:noFill/>
                    </a:lnR>
                    <a:lnT w="0">
                      <a:noFill/>
                    </a:lnT>
                    <a:lnB w="0">
                      <a:noFill/>
                    </a:lnB>
                    <a:noFill/>
                  </a:tcPr>
                </a:tc>
                <a:extLst>
                  <a:ext uri="{0D108BD9-81ED-4DB2-BD59-A6C34878D82A}">
                    <a16:rowId xmlns:a16="http://schemas.microsoft.com/office/drawing/2014/main" val="10005"/>
                  </a:ext>
                </a:extLst>
              </a:tr>
              <a:tr h="300000">
                <a:tc>
                  <a:txBody>
                    <a:bodyPr/>
                    <a:lstStyle/>
                    <a:p>
                      <a:pPr algn="l"/>
                      <a:r>
                        <a:rPr lang="en-US" sz="1400">
                          <a:solidFill>
                            <a:srgbClr val="000000"/>
                          </a:solidFill>
                        </a:rPr>
                        <a:t>gate_y</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1/256</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Q8.8</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RNE</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[-32768, 32767]</a:t>
                      </a:r>
                    </a:p>
                  </a:txBody>
                  <a:tcPr marL="30000" marR="30000" marT="10000" marB="10000" anchor="ctr">
                    <a:lnL w="0">
                      <a:noFill/>
                    </a:lnL>
                    <a:lnR w="0">
                      <a:noFill/>
                    </a:lnR>
                    <a:lnT w="0">
                      <a:noFill/>
                    </a:lnT>
                    <a:lnB w="0">
                      <a:noFill/>
                    </a:lnB>
                    <a:noFill/>
                  </a:tcPr>
                </a:tc>
                <a:extLst>
                  <a:ext uri="{0D108BD9-81ED-4DB2-BD59-A6C34878D82A}">
                    <a16:rowId xmlns:a16="http://schemas.microsoft.com/office/drawing/2014/main" val="10006"/>
                  </a:ext>
                </a:extLst>
              </a:tr>
              <a:tr h="300000">
                <a:tc>
                  <a:txBody>
                    <a:bodyPr/>
                    <a:lstStyle/>
                    <a:p>
                      <a:pPr algn="l"/>
                      <a:r>
                        <a:rPr lang="en-US" sz="1400">
                          <a:solidFill>
                            <a:srgbClr val="000000"/>
                          </a:solidFill>
                        </a:rPr>
                        <a:t>Sigmoid LUT output</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1/65536</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Q0.16</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NR</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[0, 65535]</a:t>
                      </a:r>
                    </a:p>
                  </a:txBody>
                  <a:tcPr marL="30000" marR="30000" marT="10000" marB="10000" anchor="ctr">
                    <a:lnL w="0">
                      <a:noFill/>
                    </a:lnL>
                    <a:lnR w="0">
                      <a:noFill/>
                    </a:lnR>
                    <a:lnT w="0">
                      <a:noFill/>
                    </a:lnT>
                    <a:lnB w="0">
                      <a:noFill/>
                    </a:lnB>
                    <a:noFill/>
                  </a:tcPr>
                </a:tc>
                <a:extLst>
                  <a:ext uri="{0D108BD9-81ED-4DB2-BD59-A6C34878D82A}">
                    <a16:rowId xmlns:a16="http://schemas.microsoft.com/office/drawing/2014/main" val="10007"/>
                  </a:ext>
                </a:extLst>
              </a:tr>
              <a:tr h="299720">
                <a:tc>
                  <a:txBody>
                    <a:bodyPr/>
                    <a:lstStyle/>
                    <a:p>
                      <a:pPr algn="l"/>
                      <a:r>
                        <a:rPr lang="en-US" sz="1400">
                          <a:solidFill>
                            <a:srgbClr val="000000"/>
                          </a:solidFill>
                        </a:rPr>
                        <a:t>SiLU sigmoid path</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1/65536</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Q0.16</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NR</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[0, 65535]</a:t>
                      </a:r>
                    </a:p>
                  </a:txBody>
                  <a:tcPr marL="30000" marR="30000" marT="10000" marB="10000" anchor="ctr">
                    <a:lnL w="0">
                      <a:noFill/>
                    </a:lnL>
                    <a:lnR w="0">
                      <a:noFill/>
                    </a:lnR>
                    <a:lnT w="0">
                      <a:noFill/>
                    </a:lnT>
                    <a:lnB w="0">
                      <a:noFill/>
                    </a:lnB>
                    <a:noFill/>
                  </a:tcPr>
                </a:tc>
                <a:extLst>
                  <a:ext uri="{0D108BD9-81ED-4DB2-BD59-A6C34878D82A}">
                    <a16:rowId xmlns:a16="http://schemas.microsoft.com/office/drawing/2014/main" val="10008"/>
                  </a:ext>
                </a:extLst>
              </a:tr>
              <a:tr h="300000">
                <a:tc>
                  <a:txBody>
                    <a:bodyPr/>
                    <a:lstStyle/>
                    <a:p>
                      <a:pPr algn="l"/>
                      <a:r>
                        <a:rPr lang="en-US" sz="1400">
                          <a:solidFill>
                            <a:srgbClr val="000000"/>
                          </a:solidFill>
                        </a:rPr>
                        <a:t>dt_lambda</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1/65536</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Q0.16</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NR</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[0, 65535]</a:t>
                      </a:r>
                    </a:p>
                  </a:txBody>
                  <a:tcPr marL="30000" marR="30000" marT="10000" marB="10000" anchor="ctr">
                    <a:lnL w="0">
                      <a:noFill/>
                    </a:lnL>
                    <a:lnR w="0">
                      <a:noFill/>
                    </a:lnR>
                    <a:lnT w="0">
                      <a:noFill/>
                    </a:lnT>
                    <a:lnB w="0">
                      <a:noFill/>
                    </a:lnB>
                    <a:noFill/>
                  </a:tcPr>
                </a:tc>
                <a:extLst>
                  <a:ext uri="{0D108BD9-81ED-4DB2-BD59-A6C34878D82A}">
                    <a16:rowId xmlns:a16="http://schemas.microsoft.com/office/drawing/2014/main" val="10009"/>
                  </a:ext>
                </a:extLst>
              </a:tr>
              <a:tr h="300000">
                <a:tc>
                  <a:txBody>
                    <a:bodyPr/>
                    <a:lstStyle/>
                    <a:p>
                      <a:pPr algn="l"/>
                      <a:r>
                        <a:rPr lang="en-US" sz="1400" b="1">
                          <a:solidFill>
                            <a:srgbClr val="000000"/>
                          </a:solidFill>
                        </a:rPr>
                        <a:t>Selective-scan lambda</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1/32768</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Q1.15</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No rounding, Shift</a:t>
                      </a:r>
                    </a:p>
                  </a:txBody>
                  <a:tcPr marL="30000" marR="30000" marT="10000" marB="10000" anchor="ctr">
                    <a:lnL w="0">
                      <a:noFill/>
                    </a:lnL>
                    <a:lnR w="0">
                      <a:noFill/>
                    </a:lnR>
                    <a:lnT w="0">
                      <a:noFill/>
                    </a:lnT>
                    <a:lnB w="0">
                      <a:noFill/>
                    </a:lnB>
                    <a:noFill/>
                  </a:tcPr>
                </a:tc>
                <a:tc>
                  <a:txBody>
                    <a:bodyPr/>
                    <a:lstStyle/>
                    <a:p>
                      <a:pPr algn="l"/>
                      <a:r>
                        <a:rPr lang="en-US" sz="1400">
                          <a:solidFill>
                            <a:srgbClr val="000000"/>
                          </a:solidFill>
                        </a:rPr>
                        <a:t>[0, 1]</a:t>
                      </a:r>
                    </a:p>
                  </a:txBody>
                  <a:tcPr marL="30000" marR="30000" marT="10000" marB="10000" anchor="ctr">
                    <a:lnL w="0">
                      <a:noFill/>
                    </a:lnL>
                    <a:lnR w="0">
                      <a:noFill/>
                    </a:lnR>
                    <a:lnT w="0">
                      <a:noFill/>
                    </a:lnT>
                    <a:lnB w="0">
                      <a:noFill/>
                    </a:lnB>
                    <a:noFill/>
                  </a:tcPr>
                </a:tc>
                <a:extLst>
                  <a:ext uri="{0D108BD9-81ED-4DB2-BD59-A6C34878D82A}">
                    <a16:rowId xmlns:a16="http://schemas.microsoft.com/office/drawing/2014/main" val="10010"/>
                  </a:ext>
                </a:extLst>
              </a:tr>
              <a:tr h="300000">
                <a:tc>
                  <a:txBody>
                    <a:bodyPr/>
                    <a:lstStyle/>
                    <a:p>
                      <a:pPr algn="l"/>
                      <a:r>
                        <a:rPr lang="en-US" sz="1400" b="1">
                          <a:solidFill>
                            <a:srgbClr val="000000"/>
                          </a:solidFill>
                        </a:rPr>
                        <a:t>Selective-scan state</a:t>
                      </a:r>
                    </a:p>
                  </a:txBody>
                  <a:tcPr marL="30000" marR="30000" marT="10000" marB="10000" anchor="ctr">
                    <a:lnL w="0">
                      <a:noFill/>
                    </a:lnL>
                    <a:lnR w="0">
                      <a:noFill/>
                    </a:lnR>
                    <a:lnT w="0">
                      <a:noFill/>
                    </a:lnT>
                    <a:lnB w="12700">
                      <a:solidFill>
                        <a:srgbClr val="7F7F7F"/>
                      </a:solidFill>
                    </a:lnB>
                    <a:noFill/>
                  </a:tcPr>
                </a:tc>
                <a:tc>
                  <a:txBody>
                    <a:bodyPr/>
                    <a:lstStyle/>
                    <a:p>
                      <a:pPr algn="l"/>
                      <a:r>
                        <a:rPr lang="en-US" sz="1400" b="1">
                          <a:solidFill>
                            <a:srgbClr val="C00000"/>
                          </a:solidFill>
                        </a:rPr>
                        <a:t>Dynamic</a:t>
                      </a:r>
                    </a:p>
                  </a:txBody>
                  <a:tcPr marL="30000" marR="30000" marT="10000" marB="10000" anchor="ctr">
                    <a:lnL w="0">
                      <a:noFill/>
                    </a:lnL>
                    <a:lnR w="0">
                      <a:noFill/>
                    </a:lnR>
                    <a:lnT w="0">
                      <a:noFill/>
                    </a:lnT>
                    <a:lnB w="12700">
                      <a:solidFill>
                        <a:srgbClr val="7F7F7F"/>
                      </a:solidFill>
                    </a:lnB>
                    <a:noFill/>
                  </a:tcPr>
                </a:tc>
                <a:tc>
                  <a:txBody>
                    <a:bodyPr/>
                    <a:lstStyle/>
                    <a:p>
                      <a:pPr algn="l"/>
                      <a:r>
                        <a:rPr lang="en-US" sz="1400">
                          <a:solidFill>
                            <a:srgbClr val="000000"/>
                          </a:solidFill>
                        </a:rPr>
                        <a:t>Q8.8</a:t>
                      </a:r>
                    </a:p>
                  </a:txBody>
                  <a:tcPr marL="30000" marR="30000" marT="10000" marB="10000" anchor="ctr">
                    <a:lnL w="0">
                      <a:noFill/>
                    </a:lnL>
                    <a:lnR w="0">
                      <a:noFill/>
                    </a:lnR>
                    <a:lnT w="0">
                      <a:noFill/>
                    </a:lnT>
                    <a:lnB w="12700">
                      <a:solidFill>
                        <a:srgbClr val="7F7F7F"/>
                      </a:solidFill>
                    </a:lnB>
                    <a:noFill/>
                  </a:tcPr>
                </a:tc>
                <a:tc>
                  <a:txBody>
                    <a:bodyPr/>
                    <a:lstStyle/>
                    <a:p>
                      <a:pPr algn="l"/>
                      <a:r>
                        <a:rPr lang="en-US" sz="1400">
                          <a:solidFill>
                            <a:srgbClr val="000000"/>
                          </a:solidFill>
                        </a:rPr>
                        <a:t>RNE</a:t>
                      </a:r>
                    </a:p>
                  </a:txBody>
                  <a:tcPr marL="30000" marR="30000" marT="10000" marB="10000" anchor="ctr">
                    <a:lnL w="0">
                      <a:noFill/>
                    </a:lnL>
                    <a:lnR w="0">
                      <a:noFill/>
                    </a:lnR>
                    <a:lnT w="0">
                      <a:noFill/>
                    </a:lnT>
                    <a:lnB w="12700">
                      <a:solidFill>
                        <a:srgbClr val="7F7F7F"/>
                      </a:solidFill>
                    </a:lnB>
                    <a:noFill/>
                  </a:tcPr>
                </a:tc>
                <a:tc>
                  <a:txBody>
                    <a:bodyPr/>
                    <a:lstStyle/>
                    <a:p>
                      <a:pPr algn="l"/>
                      <a:r>
                        <a:rPr lang="en-US" sz="1400">
                          <a:solidFill>
                            <a:srgbClr val="000000"/>
                          </a:solidFill>
                        </a:rPr>
                        <a:t>[-32768, 32767]</a:t>
                      </a:r>
                    </a:p>
                  </a:txBody>
                  <a:tcPr marL="30000" marR="30000" marT="10000" marB="10000" anchor="ctr">
                    <a:lnL w="0">
                      <a:noFill/>
                    </a:lnL>
                    <a:lnR w="0">
                      <a:noFill/>
                    </a:lnR>
                    <a:lnT w="0">
                      <a:noFill/>
                    </a:lnT>
                    <a:lnB w="12700">
                      <a:solidFill>
                        <a:srgbClr val="7F7F7F"/>
                      </a:solidFill>
                    </a:lnB>
                    <a:noFill/>
                  </a:tcPr>
                </a:tc>
                <a:extLst>
                  <a:ext uri="{0D108BD9-81ED-4DB2-BD59-A6C34878D82A}">
                    <a16:rowId xmlns:a16="http://schemas.microsoft.com/office/drawing/2014/main" val="10011"/>
                  </a:ext>
                </a:extLst>
              </a:tr>
            </a:tbl>
          </a:graphicData>
        </a:graphic>
      </p:graphicFrame>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linds(horizontal)">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11" grpId="0"/>
      <p:bldP spid="11"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fixed_point_vector_lane"/>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3045" y="1503045"/>
            <a:ext cx="11746865" cy="3483610"/>
          </a:xfrm>
          <a:prstGeom prst="rect">
            <a:avLst/>
          </a:prstGeom>
        </p:spPr>
      </p:pic>
      <p:sp>
        <p:nvSpPr>
          <p:cNvPr id="2" name="标题 1"/>
          <p:cNvSpPr>
            <a:spLocks noGrp="1"/>
          </p:cNvSpPr>
          <p:nvPr>
            <p:ph type="title"/>
            <p:custDataLst>
              <p:tags r:id="rId2"/>
            </p:custDataLst>
          </p:nvPr>
        </p:nvSpPr>
        <p:spPr/>
        <p:txBody>
          <a:bodyPr/>
          <a:lstStyle/>
          <a:p>
            <a:r>
              <a:rPr lang="en-US" altLang="en-US"/>
              <a:t>Quantisation: Hardware implemetation</a:t>
            </a:r>
          </a:p>
        </p:txBody>
      </p:sp>
      <p:sp>
        <p:nvSpPr>
          <p:cNvPr id="7" name="灯片编号占位符 6"/>
          <p:cNvSpPr>
            <a:spLocks noGrp="1"/>
          </p:cNvSpPr>
          <p:nvPr>
            <p:ph type="sldNum" sz="quarter" idx="12"/>
          </p:nvPr>
        </p:nvSpPr>
        <p:spPr/>
        <p:txBody>
          <a:bodyPr/>
          <a:lstStyle/>
          <a:p>
            <a:fld id="{9D1B9D8C-A161-4084-924B-59152344AFCF}" type="slidenum">
              <a:rPr lang="ko-KR" altLang="en-US" smtClean="0"/>
              <a:t>28</a:t>
            </a:fld>
            <a:endParaRPr lang="ko-KR" altLang="en-US"/>
          </a:p>
        </p:txBody>
      </p:sp>
      <p:sp>
        <p:nvSpPr>
          <p:cNvPr id="3" name="文本框 2"/>
          <p:cNvSpPr txBox="1"/>
          <p:nvPr/>
        </p:nvSpPr>
        <p:spPr>
          <a:xfrm>
            <a:off x="510540" y="1108710"/>
            <a:ext cx="7907020" cy="398780"/>
          </a:xfrm>
          <a:prstGeom prst="rect">
            <a:avLst/>
          </a:prstGeom>
          <a:noFill/>
        </p:spPr>
        <p:txBody>
          <a:bodyPr wrap="square" rtlCol="0">
            <a:spAutoFit/>
          </a:bodyPr>
          <a:lstStyle/>
          <a:p>
            <a:pPr marL="342900" indent="-342900">
              <a:buFont typeface="Wingdings" panose="05000000000000000000" charset="0"/>
              <a:buChar char="Ø"/>
            </a:pPr>
            <a:r>
              <a:rPr lang="en-US" altLang="zh-CN" sz="2000" b="1"/>
              <a:t>A</a:t>
            </a:r>
            <a:r>
              <a:rPr lang="en-US" altLang="zh-CN" sz="2000" b="1">
                <a:solidFill>
                  <a:srgbClr val="C00000"/>
                </a:solidFill>
              </a:rPr>
              <a:t> Configurable</a:t>
            </a:r>
            <a:r>
              <a:rPr lang="en-US" altLang="zh-CN" sz="2000" b="1"/>
              <a:t> Quantisation Module - </a:t>
            </a:r>
            <a:r>
              <a:rPr lang="en-US" altLang="zh-CN" sz="2000" b="1" i="1">
                <a:solidFill>
                  <a:schemeClr val="tx2"/>
                </a:solidFill>
              </a:rPr>
              <a:t>requant_round_sat_engine</a:t>
            </a:r>
          </a:p>
        </p:txBody>
      </p:sp>
      <p:sp>
        <p:nvSpPr>
          <p:cNvPr id="13" name="文本框 12"/>
          <p:cNvSpPr txBox="1"/>
          <p:nvPr/>
        </p:nvSpPr>
        <p:spPr>
          <a:xfrm>
            <a:off x="510540" y="5158105"/>
            <a:ext cx="6306185" cy="368300"/>
          </a:xfrm>
          <a:prstGeom prst="rect">
            <a:avLst/>
          </a:prstGeom>
          <a:noFill/>
        </p:spPr>
        <p:txBody>
          <a:bodyPr wrap="square" rtlCol="0">
            <a:spAutoFit/>
          </a:bodyPr>
          <a:lstStyle/>
          <a:p>
            <a:r>
              <a:rPr lang="en-US" altLang="zh-CN"/>
              <a:t>• </a:t>
            </a:r>
            <a:r>
              <a:rPr lang="en-US" altLang="zh-CN" b="1">
                <a:solidFill>
                  <a:srgbClr val="C00000"/>
                </a:solidFill>
              </a:rPr>
              <a:t>USE_SCALE</a:t>
            </a:r>
            <a:r>
              <a:rPr lang="en-US" altLang="zh-CN"/>
              <a:t> selects fixed identity scale or external per-lane scale.</a:t>
            </a:r>
          </a:p>
        </p:txBody>
      </p:sp>
      <p:sp>
        <p:nvSpPr>
          <p:cNvPr id="5" name="文本框 4"/>
          <p:cNvSpPr txBox="1"/>
          <p:nvPr/>
        </p:nvSpPr>
        <p:spPr>
          <a:xfrm>
            <a:off x="510540" y="5559425"/>
            <a:ext cx="6584950" cy="368300"/>
          </a:xfrm>
          <a:prstGeom prst="rect">
            <a:avLst/>
          </a:prstGeom>
          <a:noFill/>
        </p:spPr>
        <p:txBody>
          <a:bodyPr wrap="square" rtlCol="0">
            <a:spAutoFit/>
          </a:bodyPr>
          <a:lstStyle/>
          <a:p>
            <a:r>
              <a:rPr lang="en-US" altLang="zh-CN">
                <a:sym typeface="+mn-ea"/>
              </a:rPr>
              <a:t>• </a:t>
            </a:r>
            <a:r>
              <a:rPr lang="en-US" altLang="zh-CN" b="1">
                <a:solidFill>
                  <a:srgbClr val="C00000"/>
                </a:solidFill>
                <a:sym typeface="+mn-ea"/>
              </a:rPr>
              <a:t>ROUND_MODE</a:t>
            </a:r>
            <a:r>
              <a:rPr lang="en-US" altLang="zh-CN">
                <a:sym typeface="+mn-ea"/>
              </a:rPr>
              <a:t> selects truncation or round-to-nearest-even.</a:t>
            </a:r>
            <a:endParaRPr lang="zh-CN" altLang="en-US"/>
          </a:p>
        </p:txBody>
      </p:sp>
      <p:sp>
        <p:nvSpPr>
          <p:cNvPr id="6" name="文本框 5"/>
          <p:cNvSpPr txBox="1"/>
          <p:nvPr/>
        </p:nvSpPr>
        <p:spPr>
          <a:xfrm>
            <a:off x="505460" y="5928995"/>
            <a:ext cx="6607175" cy="368300"/>
          </a:xfrm>
          <a:prstGeom prst="rect">
            <a:avLst/>
          </a:prstGeom>
          <a:noFill/>
        </p:spPr>
        <p:txBody>
          <a:bodyPr wrap="square" rtlCol="0">
            <a:spAutoFit/>
          </a:bodyPr>
          <a:lstStyle/>
          <a:p>
            <a:r>
              <a:rPr lang="en-US" altLang="zh-CN">
                <a:sym typeface="+mn-ea"/>
              </a:rPr>
              <a:t>• </a:t>
            </a:r>
            <a:r>
              <a:rPr lang="en-US" altLang="zh-CN" b="1">
                <a:solidFill>
                  <a:srgbClr val="C00000"/>
                </a:solidFill>
                <a:sym typeface="+mn-ea"/>
              </a:rPr>
              <a:t>SAT_MODE</a:t>
            </a:r>
            <a:r>
              <a:rPr lang="en-US" altLang="zh-CN">
                <a:sym typeface="+mn-ea"/>
              </a:rPr>
              <a:t> selects wrap cast or clamp to the target output range.</a:t>
            </a:r>
            <a:endParaRPr lang="zh-CN" altLang="en-US"/>
          </a:p>
        </p:txBody>
      </p:sp>
      <p:sp>
        <p:nvSpPr>
          <p:cNvPr id="8" name="椭圆 7"/>
          <p:cNvSpPr/>
          <p:nvPr/>
        </p:nvSpPr>
        <p:spPr>
          <a:xfrm>
            <a:off x="2120900" y="3155315"/>
            <a:ext cx="629920" cy="1422400"/>
          </a:xfrm>
          <a:prstGeom prst="ellipse">
            <a:avLst/>
          </a:prstGeom>
          <a:ln>
            <a:solidFill>
              <a:srgbClr val="C00000"/>
            </a:solidFill>
            <a:prstDash val="sysDash"/>
          </a:ln>
        </p:spPr>
        <p:style>
          <a:lnRef idx="2">
            <a:schemeClr val="accent1"/>
          </a:lnRef>
          <a:fillRef idx="0">
            <a:srgbClr val="FFFFFF"/>
          </a:fillRef>
          <a:effectRef idx="0">
            <a:srgbClr val="FFFFFF"/>
          </a:effectRef>
          <a:fontRef idx="minor">
            <a:schemeClr val="tx1"/>
          </a:fontRef>
        </p:style>
        <p:txBody>
          <a:bodyPr/>
          <a:lstStyle/>
          <a:p>
            <a:endParaRPr lang="zh-CN" altLang="en-US"/>
          </a:p>
        </p:txBody>
      </p:sp>
      <p:sp>
        <p:nvSpPr>
          <p:cNvPr id="9" name="椭圆 8"/>
          <p:cNvSpPr/>
          <p:nvPr/>
        </p:nvSpPr>
        <p:spPr>
          <a:xfrm>
            <a:off x="6951980" y="1859915"/>
            <a:ext cx="629920" cy="1422400"/>
          </a:xfrm>
          <a:prstGeom prst="ellipse">
            <a:avLst/>
          </a:prstGeom>
          <a:ln>
            <a:solidFill>
              <a:srgbClr val="C00000"/>
            </a:solidFill>
            <a:prstDash val="sysDash"/>
          </a:ln>
        </p:spPr>
        <p:style>
          <a:lnRef idx="2">
            <a:schemeClr val="accent1"/>
          </a:lnRef>
          <a:fillRef idx="0">
            <a:srgbClr val="FFFFFF"/>
          </a:fillRef>
          <a:effectRef idx="0">
            <a:srgbClr val="FFFFFF"/>
          </a:effectRef>
          <a:fontRef idx="minor">
            <a:schemeClr val="tx1"/>
          </a:fontRef>
        </p:style>
        <p:txBody>
          <a:bodyPr/>
          <a:lstStyle/>
          <a:p>
            <a:endParaRPr lang="zh-CN" altLang="en-US"/>
          </a:p>
        </p:txBody>
      </p:sp>
      <p:sp>
        <p:nvSpPr>
          <p:cNvPr id="10" name="椭圆 9"/>
          <p:cNvSpPr/>
          <p:nvPr/>
        </p:nvSpPr>
        <p:spPr>
          <a:xfrm>
            <a:off x="10370820" y="2281555"/>
            <a:ext cx="629920" cy="1422400"/>
          </a:xfrm>
          <a:prstGeom prst="ellipse">
            <a:avLst/>
          </a:prstGeom>
          <a:ln>
            <a:solidFill>
              <a:srgbClr val="C00000"/>
            </a:solidFill>
            <a:prstDash val="sysDash"/>
          </a:ln>
        </p:spPr>
        <p:style>
          <a:lnRef idx="2">
            <a:schemeClr val="accent1"/>
          </a:lnRef>
          <a:fillRef idx="0">
            <a:srgbClr val="FFFFFF"/>
          </a:fillRef>
          <a:effectRef idx="0">
            <a:srgbClr val="FFFFFF"/>
          </a:effectRef>
          <a:fontRef idx="minor">
            <a:schemeClr val="tx1"/>
          </a:fontRef>
        </p:style>
        <p:txBody>
          <a:bodyPr/>
          <a:lstStyle/>
          <a:p>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linds(horizontal)">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linds(horizontal)">
                                      <p:cBhvr>
                                        <p:cTn id="23" dur="500"/>
                                        <p:tgtEl>
                                          <p:spTgt spid="10"/>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blinds(horizontal)">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P spid="5" grpId="0"/>
      <p:bldP spid="5" grpId="1"/>
      <p:bldP spid="6" grpId="0"/>
      <p:bldP spid="6" grpId="1"/>
      <p:bldP spid="8" grpId="0" animBg="1"/>
      <p:bldP spid="8" grpId="1" animBg="1"/>
      <p:bldP spid="9" grpId="0" animBg="1"/>
      <p:bldP spid="9" grpId="1" animBg="1"/>
      <p:bldP spid="10" grpId="0" animBg="1"/>
      <p:bldP spid="10"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ping_pong_scale_alignment"/>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23745" y="1391285"/>
            <a:ext cx="7663180" cy="4056380"/>
          </a:xfrm>
          <a:prstGeom prst="rect">
            <a:avLst/>
          </a:prstGeom>
        </p:spPr>
      </p:pic>
      <p:sp>
        <p:nvSpPr>
          <p:cNvPr id="2" name="标题 1"/>
          <p:cNvSpPr>
            <a:spLocks noGrp="1"/>
          </p:cNvSpPr>
          <p:nvPr>
            <p:ph type="title"/>
            <p:custDataLst>
              <p:tags r:id="rId2"/>
            </p:custDataLst>
          </p:nvPr>
        </p:nvSpPr>
        <p:spPr/>
        <p:txBody>
          <a:bodyPr/>
          <a:lstStyle/>
          <a:p>
            <a:r>
              <a:rPr lang="en-US" altLang="en-US"/>
              <a:t>Quantisation: Hardware implemetation</a:t>
            </a:r>
          </a:p>
        </p:txBody>
      </p:sp>
      <p:sp>
        <p:nvSpPr>
          <p:cNvPr id="7" name="灯片编号占位符 6"/>
          <p:cNvSpPr>
            <a:spLocks noGrp="1"/>
          </p:cNvSpPr>
          <p:nvPr>
            <p:ph type="sldNum" sz="quarter" idx="12"/>
          </p:nvPr>
        </p:nvSpPr>
        <p:spPr>
          <a:xfrm>
            <a:off x="109426" y="6357296"/>
            <a:ext cx="2743200" cy="365125"/>
          </a:xfrm>
        </p:spPr>
        <p:txBody>
          <a:bodyPr/>
          <a:lstStyle/>
          <a:p>
            <a:fld id="{9D1B9D8C-A161-4084-924B-59152344AFCF}" type="slidenum">
              <a:rPr lang="ko-KR" altLang="en-US" smtClean="0"/>
              <a:t>29</a:t>
            </a:fld>
            <a:endParaRPr lang="ko-KR" altLang="en-US"/>
          </a:p>
        </p:txBody>
      </p:sp>
      <p:sp>
        <p:nvSpPr>
          <p:cNvPr id="3" name="文本框 2"/>
          <p:cNvSpPr txBox="1"/>
          <p:nvPr/>
        </p:nvSpPr>
        <p:spPr>
          <a:xfrm>
            <a:off x="510540" y="1108710"/>
            <a:ext cx="4034155" cy="398780"/>
          </a:xfrm>
          <a:prstGeom prst="rect">
            <a:avLst/>
          </a:prstGeom>
          <a:noFill/>
        </p:spPr>
        <p:txBody>
          <a:bodyPr wrap="square" rtlCol="0">
            <a:spAutoFit/>
          </a:bodyPr>
          <a:lstStyle/>
          <a:p>
            <a:pPr marL="342900" indent="-342900">
              <a:buFont typeface="Wingdings" panose="05000000000000000000" charset="0"/>
              <a:buChar char="Ø"/>
            </a:pPr>
            <a:r>
              <a:rPr lang="en-US" altLang="zh-CN" sz="2000" b="1"/>
              <a:t>Dynamic scale for selective scan</a:t>
            </a:r>
            <a:endParaRPr lang="en-US" altLang="zh-CN" sz="2000" b="1" i="1">
              <a:solidFill>
                <a:schemeClr val="tx2"/>
              </a:solidFill>
            </a:endParaRPr>
          </a:p>
        </p:txBody>
      </p:sp>
      <p:sp>
        <p:nvSpPr>
          <p:cNvPr id="5" name="文本框 4"/>
          <p:cNvSpPr txBox="1"/>
          <p:nvPr/>
        </p:nvSpPr>
        <p:spPr>
          <a:xfrm>
            <a:off x="908050" y="5640070"/>
            <a:ext cx="9893935" cy="1198880"/>
          </a:xfrm>
          <a:prstGeom prst="rect">
            <a:avLst/>
          </a:prstGeom>
          <a:noFill/>
        </p:spPr>
        <p:txBody>
          <a:bodyPr wrap="square" rtlCol="0">
            <a:spAutoFit/>
          </a:bodyPr>
          <a:lstStyle/>
          <a:p>
            <a:pPr marL="285750" indent="-285750">
              <a:buFont typeface="Arial" panose="020B0604020202020204" pitchFamily="34" charset="0"/>
              <a:buChar char="•"/>
            </a:pPr>
            <a:r>
              <a:rPr lang="en-US" altLang="zh-CN"/>
              <a:t>While </a:t>
            </a:r>
            <a:r>
              <a:rPr lang="en-US" altLang="zh-CN" b="1">
                <a:solidFill>
                  <a:srgbClr val="C00000"/>
                </a:solidFill>
              </a:rPr>
              <a:t>one bank</a:t>
            </a:r>
            <a:r>
              <a:rPr lang="en-US" altLang="zh-CN"/>
              <a:t> feeds downstream, </a:t>
            </a:r>
            <a:r>
              <a:rPr lang="en-US" altLang="zh-CN" b="1">
                <a:solidFill>
                  <a:srgbClr val="C00000"/>
                </a:solidFill>
              </a:rPr>
              <a:t>the other bank</a:t>
            </a:r>
            <a:r>
              <a:rPr lang="en-US" altLang="zh-CN"/>
              <a:t> can prepare the next toke, keeps </a:t>
            </a:r>
            <a:r>
              <a:rPr lang="en-US" altLang="zh-CN" b="1">
                <a:solidFill>
                  <a:srgbClr val="C00000"/>
                </a:solidFill>
              </a:rPr>
              <a:t>data and scale values aligned</a:t>
            </a:r>
            <a:r>
              <a:rPr lang="en-US" altLang="zh-CN"/>
              <a:t> before the state update.</a:t>
            </a:r>
          </a:p>
          <a:p>
            <a:pPr marL="285750" indent="-285750">
              <a:buFont typeface="Arial" panose="020B0604020202020204" pitchFamily="34" charset="0"/>
              <a:buChar char="•"/>
            </a:pPr>
            <a:r>
              <a:rPr lang="en-US" altLang="zh-CN" b="1"/>
              <a:t>Scale generator</a:t>
            </a:r>
            <a:r>
              <a:rPr lang="en-US" altLang="zh-CN"/>
              <a:t> computes per-lane scales from actual input.</a:t>
            </a:r>
          </a:p>
          <a:p>
            <a:pPr marL="285750" indent="-285750">
              <a:buFont typeface="Arial" panose="020B0604020202020204" pitchFamily="34" charset="0"/>
              <a:buChar char="•"/>
            </a:pPr>
            <a:endParaRPr lang="en-US" altLang="zh-CN"/>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Shape 54"/>
          <p:cNvSpPr/>
          <p:nvPr/>
        </p:nvSpPr>
        <p:spPr>
          <a:xfrm>
            <a:off x="6571848" y="2684704"/>
            <a:ext cx="5045321" cy="3237103"/>
          </a:xfrm>
          <a:prstGeom prst="rect">
            <a:avLst/>
          </a:prstGeom>
          <a:solidFill>
            <a:srgbClr val="FFFFFF"/>
          </a:solidFill>
          <a:ln w="12700">
            <a:solidFill>
              <a:srgbClr val="D9D9D9"/>
            </a:solidFill>
            <a:prstDash val="solid"/>
          </a:ln>
          <a:effectLst>
            <a:outerShdw blurRad="38100" dist="19050" dir="2700000" algn="bl" rotWithShape="0">
              <a:srgbClr val="000000">
                <a:alpha val="12000"/>
              </a:srgbClr>
            </a:outerShdw>
          </a:effectLst>
        </p:spPr>
      </p:sp>
      <p:sp>
        <p:nvSpPr>
          <p:cNvPr id="62" name="Shape 60"/>
          <p:cNvSpPr/>
          <p:nvPr/>
        </p:nvSpPr>
        <p:spPr>
          <a:xfrm>
            <a:off x="6735983" y="3608288"/>
            <a:ext cx="4717052" cy="349113"/>
          </a:xfrm>
          <a:prstGeom prst="rect">
            <a:avLst/>
          </a:prstGeom>
          <a:solidFill>
            <a:srgbClr val="FFFFFF"/>
          </a:solidFill>
          <a:ln w="12700">
            <a:solidFill>
              <a:srgbClr val="D9D9D9"/>
            </a:solidFill>
            <a:prstDash val="solid"/>
          </a:ln>
        </p:spPr>
        <p:txBody>
          <a:bodyPr/>
          <a:lstStyle/>
          <a:p>
            <a:endParaRPr lang="zh-CN" altLang="en-US" dirty="0"/>
          </a:p>
        </p:txBody>
      </p:sp>
      <p:sp>
        <p:nvSpPr>
          <p:cNvPr id="2" name="Text 0"/>
          <p:cNvSpPr/>
          <p:nvPr/>
        </p:nvSpPr>
        <p:spPr>
          <a:xfrm>
            <a:off x="553572" y="227965"/>
            <a:ext cx="11124692" cy="638302"/>
          </a:xfrm>
          <a:prstGeom prst="rect">
            <a:avLst/>
          </a:prstGeom>
          <a:noFill/>
        </p:spPr>
        <p:txBody>
          <a:bodyPr wrap="square" rtlCol="0" anchor="ctr"/>
          <a:lstStyle/>
          <a:p>
            <a:pPr marL="0" indent="0">
              <a:buNone/>
            </a:pPr>
            <a:r>
              <a:rPr lang="en-US" sz="4190" dirty="0">
                <a:solidFill>
                  <a:srgbClr val="8A5A2B"/>
                </a:solidFill>
                <a:latin typeface="Georgia" panose="02040502050405020303" pitchFamily="34" charset="0"/>
                <a:ea typeface="Georgia" panose="02040502050405020303" pitchFamily="34" charset="-122"/>
                <a:cs typeface="Georgia" panose="02040502050405020303" pitchFamily="34" charset="-120"/>
              </a:rPr>
              <a:t>Results</a:t>
            </a:r>
            <a:endParaRPr lang="en-US" sz="4190" dirty="0"/>
          </a:p>
        </p:txBody>
      </p:sp>
      <p:sp>
        <p:nvSpPr>
          <p:cNvPr id="4" name="Shape 2"/>
          <p:cNvSpPr/>
          <p:nvPr/>
        </p:nvSpPr>
        <p:spPr>
          <a:xfrm>
            <a:off x="553572" y="1139825"/>
            <a:ext cx="5699125" cy="1413383"/>
          </a:xfrm>
          <a:prstGeom prst="rect">
            <a:avLst/>
          </a:prstGeom>
          <a:solidFill>
            <a:srgbClr val="FFFFFF"/>
          </a:solidFill>
          <a:ln w="12700">
            <a:solidFill>
              <a:srgbClr val="D9D9D9"/>
            </a:solidFill>
            <a:prstDash val="solid"/>
          </a:ln>
          <a:effectLst>
            <a:outerShdw blurRad="38100" dist="19050" dir="2700000" algn="bl" rotWithShape="0">
              <a:srgbClr val="000000">
                <a:alpha val="12000"/>
              </a:srgbClr>
            </a:outerShdw>
          </a:effectLst>
        </p:spPr>
      </p:sp>
      <p:sp>
        <p:nvSpPr>
          <p:cNvPr id="5" name="Text 3"/>
          <p:cNvSpPr/>
          <p:nvPr/>
        </p:nvSpPr>
        <p:spPr>
          <a:xfrm>
            <a:off x="717707" y="1249248"/>
            <a:ext cx="5370855" cy="273558"/>
          </a:xfrm>
          <a:prstGeom prst="rect">
            <a:avLst/>
          </a:prstGeom>
          <a:noFill/>
        </p:spPr>
        <p:txBody>
          <a:bodyPr wrap="square" rtlCol="0" anchor="ctr"/>
          <a:lstStyle/>
          <a:p>
            <a:pPr marL="0" indent="0">
              <a:buNone/>
            </a:pPr>
            <a:r>
              <a:rPr lang="en-US" sz="1595" b="1" dirty="0">
                <a:solidFill>
                  <a:srgbClr val="B35C1E"/>
                </a:solidFill>
                <a:latin typeface="Calibri" panose="020F0502020204030204" charset="0"/>
                <a:ea typeface="Calibri" panose="020F0502020204030204" pitchFamily="34" charset="-122"/>
                <a:cs typeface="Calibri" panose="020F0502020204030204" pitchFamily="34" charset="-120"/>
              </a:rPr>
              <a:t>Key takeaways</a:t>
            </a:r>
            <a:endParaRPr lang="en-US" sz="1595" dirty="0"/>
          </a:p>
        </p:txBody>
      </p:sp>
      <p:sp>
        <p:nvSpPr>
          <p:cNvPr id="6" name="Shape 4"/>
          <p:cNvSpPr/>
          <p:nvPr/>
        </p:nvSpPr>
        <p:spPr>
          <a:xfrm>
            <a:off x="3833495" y="1759585"/>
            <a:ext cx="2254885" cy="300990"/>
          </a:xfrm>
          <a:prstGeom prst="rect">
            <a:avLst/>
          </a:prstGeom>
          <a:solidFill>
            <a:srgbClr val="FDECEA"/>
          </a:solidFill>
          <a:ln w="12700">
            <a:solidFill>
              <a:srgbClr val="F5C2C7"/>
            </a:solidFill>
            <a:prstDash val="solid"/>
          </a:ln>
        </p:spPr>
        <p:txBody>
          <a:bodyPr/>
          <a:lstStyle/>
          <a:p>
            <a:endParaRPr lang="zh-CN" altLang="en-US" dirty="0"/>
          </a:p>
        </p:txBody>
      </p:sp>
      <p:sp>
        <p:nvSpPr>
          <p:cNvPr id="7" name="Text 5"/>
          <p:cNvSpPr/>
          <p:nvPr/>
        </p:nvSpPr>
        <p:spPr>
          <a:xfrm>
            <a:off x="3728720" y="1795145"/>
            <a:ext cx="2463800" cy="227965"/>
          </a:xfrm>
          <a:prstGeom prst="rect">
            <a:avLst/>
          </a:prstGeom>
          <a:noFill/>
        </p:spPr>
        <p:txBody>
          <a:bodyPr wrap="square" rtlCol="0" anchor="ctr"/>
          <a:lstStyle/>
          <a:p>
            <a:pPr marL="0" indent="0" algn="ctr">
              <a:buNone/>
            </a:pPr>
            <a:r>
              <a:rPr lang="en-US" sz="1395" b="1" dirty="0">
                <a:solidFill>
                  <a:srgbClr val="B00020"/>
                </a:solidFill>
                <a:latin typeface="Calibri" panose="020F0502020204030204" charset="0"/>
                <a:ea typeface="Calibri" panose="020F0502020204030204" pitchFamily="34" charset="-122"/>
                <a:cs typeface="Calibri" panose="020F0502020204030204" pitchFamily="34" charset="-120"/>
              </a:rPr>
              <a:t>Freq. using 100 MHz on Board</a:t>
            </a:r>
            <a:endParaRPr lang="en-US" sz="1395" dirty="0"/>
          </a:p>
        </p:txBody>
      </p:sp>
      <p:sp>
        <p:nvSpPr>
          <p:cNvPr id="8" name="Text 6"/>
          <p:cNvSpPr/>
          <p:nvPr/>
        </p:nvSpPr>
        <p:spPr>
          <a:xfrm>
            <a:off x="717707" y="1622806"/>
            <a:ext cx="5370855" cy="793318"/>
          </a:xfrm>
          <a:prstGeom prst="rect">
            <a:avLst/>
          </a:prstGeom>
          <a:noFill/>
        </p:spPr>
        <p:txBody>
          <a:bodyPr wrap="square" rtlCol="0" anchor="ctr"/>
          <a:lstStyle/>
          <a:p>
            <a:pPr marL="254000" indent="-254000">
              <a:spcAft>
                <a:spcPts val="1000"/>
              </a:spcAft>
              <a:buSzPct val="100000"/>
              <a:buChar char="•"/>
            </a:pPr>
            <a:r>
              <a:rPr lang="en-US" sz="1795" dirty="0">
                <a:solidFill>
                  <a:srgbClr val="2B2B2B"/>
                </a:solidFill>
                <a:latin typeface="Calibri" panose="020F0502020204030204" charset="0"/>
                <a:ea typeface="Calibri" panose="020F0502020204030204" pitchFamily="34" charset="-122"/>
                <a:cs typeface="Calibri" panose="020F0502020204030204" pitchFamily="34" charset="-120"/>
              </a:rPr>
              <a:t>Timing closed @ 100 MHz</a:t>
            </a:r>
            <a:endParaRPr lang="en-US" sz="1795" dirty="0"/>
          </a:p>
          <a:p>
            <a:pPr marL="254000" indent="-254000">
              <a:spcAft>
                <a:spcPts val="1000"/>
              </a:spcAft>
              <a:buSzPct val="100000"/>
              <a:buChar char="•"/>
            </a:pPr>
            <a:r>
              <a:rPr lang="en-US" sz="1795" dirty="0">
                <a:solidFill>
                  <a:srgbClr val="2B2B2B"/>
                </a:solidFill>
                <a:latin typeface="Calibri" panose="020F0502020204030204" charset="0"/>
                <a:ea typeface="Calibri" panose="020F0502020204030204" pitchFamily="34" charset="-122"/>
                <a:cs typeface="Calibri" panose="020F0502020204030204" pitchFamily="34" charset="-120"/>
              </a:rPr>
              <a:t>Low utilization</a:t>
            </a:r>
            <a:endParaRPr lang="en-US" sz="1795" dirty="0"/>
          </a:p>
        </p:txBody>
      </p:sp>
      <p:sp>
        <p:nvSpPr>
          <p:cNvPr id="9" name="Shape 7"/>
          <p:cNvSpPr/>
          <p:nvPr/>
        </p:nvSpPr>
        <p:spPr>
          <a:xfrm>
            <a:off x="6571848" y="1139825"/>
            <a:ext cx="5045321" cy="1413383"/>
          </a:xfrm>
          <a:prstGeom prst="rect">
            <a:avLst/>
          </a:prstGeom>
          <a:solidFill>
            <a:srgbClr val="FFFFFF"/>
          </a:solidFill>
          <a:ln w="12700">
            <a:solidFill>
              <a:srgbClr val="D9D9D9"/>
            </a:solidFill>
            <a:prstDash val="solid"/>
          </a:ln>
          <a:effectLst>
            <a:outerShdw blurRad="38100" dist="19050" dir="2700000" algn="bl" rotWithShape="0">
              <a:srgbClr val="000000">
                <a:alpha val="12000"/>
              </a:srgbClr>
            </a:outerShdw>
          </a:effectLst>
        </p:spPr>
      </p:sp>
      <p:sp>
        <p:nvSpPr>
          <p:cNvPr id="10" name="Text 8"/>
          <p:cNvSpPr/>
          <p:nvPr/>
        </p:nvSpPr>
        <p:spPr>
          <a:xfrm>
            <a:off x="6735983" y="1249248"/>
            <a:ext cx="4717052" cy="273558"/>
          </a:xfrm>
          <a:prstGeom prst="rect">
            <a:avLst/>
          </a:prstGeom>
          <a:noFill/>
        </p:spPr>
        <p:txBody>
          <a:bodyPr wrap="square" rtlCol="0" anchor="ctr"/>
          <a:lstStyle/>
          <a:p>
            <a:pPr marL="0" indent="0">
              <a:buNone/>
            </a:pPr>
            <a:r>
              <a:rPr lang="en-US" sz="1595" b="1" dirty="0">
                <a:solidFill>
                  <a:srgbClr val="B35C1E"/>
                </a:solidFill>
                <a:latin typeface="Calibri" panose="020F0502020204030204" charset="0"/>
                <a:ea typeface="Calibri" panose="020F0502020204030204" pitchFamily="34" charset="-122"/>
                <a:cs typeface="Calibri" panose="020F0502020204030204" pitchFamily="34" charset="-120"/>
              </a:rPr>
              <a:t>Power (On-chip)</a:t>
            </a:r>
            <a:endParaRPr lang="en-US" sz="1595" dirty="0"/>
          </a:p>
        </p:txBody>
      </p:sp>
      <p:sp>
        <p:nvSpPr>
          <p:cNvPr id="11" name="Shape 9"/>
          <p:cNvSpPr/>
          <p:nvPr/>
        </p:nvSpPr>
        <p:spPr>
          <a:xfrm>
            <a:off x="6735983" y="1559281"/>
            <a:ext cx="1462927" cy="747725"/>
          </a:xfrm>
          <a:prstGeom prst="rect">
            <a:avLst/>
          </a:prstGeom>
          <a:solidFill>
            <a:srgbClr val="FFFFFF"/>
          </a:solidFill>
          <a:ln w="12700">
            <a:solidFill>
              <a:srgbClr val="D9D9D9"/>
            </a:solidFill>
            <a:prstDash val="solid"/>
          </a:ln>
        </p:spPr>
      </p:sp>
      <p:sp>
        <p:nvSpPr>
          <p:cNvPr id="12" name="Text 10"/>
          <p:cNvSpPr/>
          <p:nvPr/>
        </p:nvSpPr>
        <p:spPr>
          <a:xfrm>
            <a:off x="6845406" y="1623111"/>
            <a:ext cx="1244081" cy="182372"/>
          </a:xfrm>
          <a:prstGeom prst="rect">
            <a:avLst/>
          </a:prstGeom>
          <a:noFill/>
        </p:spPr>
        <p:txBody>
          <a:bodyPr wrap="square" rtlCol="0" anchor="ctr"/>
          <a:lstStyle/>
          <a:p>
            <a:pPr marL="0" indent="0">
              <a:buNone/>
            </a:pPr>
            <a:r>
              <a:rPr lang="en-US" sz="1195" dirty="0">
                <a:solidFill>
                  <a:srgbClr val="6B6B6B"/>
                </a:solidFill>
                <a:latin typeface="Calibri" panose="020F0502020204030204" charset="0"/>
                <a:ea typeface="Calibri" panose="020F0502020204030204" pitchFamily="34" charset="-122"/>
                <a:cs typeface="Calibri" panose="020F0502020204030204" pitchFamily="34" charset="-120"/>
              </a:rPr>
              <a:t>Total Power</a:t>
            </a:r>
            <a:endParaRPr lang="en-US" sz="1195" dirty="0"/>
          </a:p>
        </p:txBody>
      </p:sp>
      <p:sp>
        <p:nvSpPr>
          <p:cNvPr id="13" name="Text 11"/>
          <p:cNvSpPr/>
          <p:nvPr/>
        </p:nvSpPr>
        <p:spPr>
          <a:xfrm>
            <a:off x="6845406" y="1823720"/>
            <a:ext cx="1244081" cy="291795"/>
          </a:xfrm>
          <a:prstGeom prst="rect">
            <a:avLst/>
          </a:prstGeom>
          <a:noFill/>
        </p:spPr>
        <p:txBody>
          <a:bodyPr wrap="square" rtlCol="0" anchor="ctr"/>
          <a:lstStyle/>
          <a:p>
            <a:pPr marL="0" indent="0">
              <a:buNone/>
            </a:pPr>
            <a:r>
              <a:rPr lang="en-US" sz="1995" b="1" dirty="0">
                <a:solidFill>
                  <a:srgbClr val="2B2B2B"/>
                </a:solidFill>
                <a:latin typeface="Calibri" panose="020F0502020204030204" charset="0"/>
                <a:ea typeface="Calibri" panose="020F0502020204030204" pitchFamily="34" charset="-122"/>
                <a:cs typeface="Calibri" panose="020F0502020204030204" pitchFamily="34" charset="-120"/>
              </a:rPr>
              <a:t>4.292 W</a:t>
            </a:r>
            <a:endParaRPr lang="en-US" sz="1995" dirty="0"/>
          </a:p>
        </p:txBody>
      </p:sp>
      <p:sp>
        <p:nvSpPr>
          <p:cNvPr id="14" name="Text 12"/>
          <p:cNvSpPr/>
          <p:nvPr/>
        </p:nvSpPr>
        <p:spPr>
          <a:xfrm>
            <a:off x="6845406" y="2124634"/>
            <a:ext cx="1244081" cy="145898"/>
          </a:xfrm>
          <a:prstGeom prst="rect">
            <a:avLst/>
          </a:prstGeom>
          <a:noFill/>
        </p:spPr>
        <p:txBody>
          <a:bodyPr wrap="square" rtlCol="0" anchor="ctr"/>
          <a:lstStyle/>
          <a:p>
            <a:pPr marL="0" indent="0">
              <a:buNone/>
            </a:pPr>
            <a:r>
              <a:rPr lang="en-US" sz="1195" dirty="0">
                <a:solidFill>
                  <a:srgbClr val="6B6B6B"/>
                </a:solidFill>
                <a:latin typeface="Calibri" panose="020F0502020204030204" charset="0"/>
                <a:ea typeface="Calibri" panose="020F0502020204030204" pitchFamily="34" charset="-122"/>
                <a:cs typeface="Calibri" panose="020F0502020204030204" pitchFamily="34" charset="-120"/>
              </a:rPr>
              <a:t>On-chip</a:t>
            </a:r>
            <a:endParaRPr lang="en-US" sz="1195" dirty="0"/>
          </a:p>
        </p:txBody>
      </p:sp>
      <p:sp>
        <p:nvSpPr>
          <p:cNvPr id="15" name="Shape 13"/>
          <p:cNvSpPr/>
          <p:nvPr/>
        </p:nvSpPr>
        <p:spPr>
          <a:xfrm>
            <a:off x="8363044" y="1559281"/>
            <a:ext cx="1462927" cy="747725"/>
          </a:xfrm>
          <a:prstGeom prst="rect">
            <a:avLst/>
          </a:prstGeom>
          <a:solidFill>
            <a:srgbClr val="FFFFFF"/>
          </a:solidFill>
          <a:ln w="12700">
            <a:solidFill>
              <a:srgbClr val="D9D9D9"/>
            </a:solidFill>
            <a:prstDash val="solid"/>
          </a:ln>
        </p:spPr>
      </p:sp>
      <p:sp>
        <p:nvSpPr>
          <p:cNvPr id="16" name="Text 14"/>
          <p:cNvSpPr/>
          <p:nvPr/>
        </p:nvSpPr>
        <p:spPr>
          <a:xfrm>
            <a:off x="8472468" y="1623111"/>
            <a:ext cx="1244081" cy="182372"/>
          </a:xfrm>
          <a:prstGeom prst="rect">
            <a:avLst/>
          </a:prstGeom>
          <a:noFill/>
        </p:spPr>
        <p:txBody>
          <a:bodyPr wrap="square" rtlCol="0" anchor="ctr"/>
          <a:lstStyle/>
          <a:p>
            <a:pPr marL="0" indent="0">
              <a:buNone/>
            </a:pPr>
            <a:r>
              <a:rPr lang="en-US" sz="1195" dirty="0">
                <a:solidFill>
                  <a:srgbClr val="6B6B6B"/>
                </a:solidFill>
                <a:latin typeface="Calibri" panose="020F0502020204030204" charset="0"/>
                <a:ea typeface="Calibri" panose="020F0502020204030204" pitchFamily="34" charset="-122"/>
                <a:cs typeface="Calibri" panose="020F0502020204030204" pitchFamily="34" charset="-120"/>
              </a:rPr>
              <a:t>Dynamic</a:t>
            </a:r>
            <a:endParaRPr lang="en-US" sz="1195" dirty="0"/>
          </a:p>
        </p:txBody>
      </p:sp>
      <p:sp>
        <p:nvSpPr>
          <p:cNvPr id="17" name="Text 15"/>
          <p:cNvSpPr/>
          <p:nvPr/>
        </p:nvSpPr>
        <p:spPr>
          <a:xfrm>
            <a:off x="8472468" y="1823720"/>
            <a:ext cx="1244081" cy="291795"/>
          </a:xfrm>
          <a:prstGeom prst="rect">
            <a:avLst/>
          </a:prstGeom>
          <a:noFill/>
        </p:spPr>
        <p:txBody>
          <a:bodyPr wrap="square" rtlCol="0" anchor="ctr"/>
          <a:lstStyle/>
          <a:p>
            <a:pPr marL="0" indent="0">
              <a:buNone/>
            </a:pPr>
            <a:r>
              <a:rPr lang="en-US" sz="1995" b="1" dirty="0">
                <a:solidFill>
                  <a:srgbClr val="2B2B2B"/>
                </a:solidFill>
                <a:latin typeface="Calibri" panose="020F0502020204030204" charset="0"/>
                <a:ea typeface="Calibri" panose="020F0502020204030204" pitchFamily="34" charset="-122"/>
                <a:cs typeface="Calibri" panose="020F0502020204030204" pitchFamily="34" charset="-120"/>
              </a:rPr>
              <a:t>3.562 W</a:t>
            </a:r>
            <a:endParaRPr lang="en-US" sz="1995" dirty="0"/>
          </a:p>
        </p:txBody>
      </p:sp>
      <p:sp>
        <p:nvSpPr>
          <p:cNvPr id="18" name="Text 16"/>
          <p:cNvSpPr/>
          <p:nvPr/>
        </p:nvSpPr>
        <p:spPr>
          <a:xfrm>
            <a:off x="8472468" y="2124634"/>
            <a:ext cx="1244081" cy="145898"/>
          </a:xfrm>
          <a:prstGeom prst="rect">
            <a:avLst/>
          </a:prstGeom>
          <a:noFill/>
        </p:spPr>
        <p:txBody>
          <a:bodyPr wrap="square" rtlCol="0" anchor="ctr"/>
          <a:lstStyle/>
          <a:p>
            <a:pPr marL="0" indent="0">
              <a:buNone/>
            </a:pPr>
            <a:r>
              <a:rPr lang="en-US" sz="1195" dirty="0">
                <a:solidFill>
                  <a:srgbClr val="6B6B6B"/>
                </a:solidFill>
                <a:latin typeface="Calibri" panose="020F0502020204030204" charset="0"/>
                <a:ea typeface="Calibri" panose="020F0502020204030204" pitchFamily="34" charset="-122"/>
                <a:cs typeface="Calibri" panose="020F0502020204030204" pitchFamily="34" charset="-120"/>
              </a:rPr>
              <a:t>83%</a:t>
            </a:r>
            <a:endParaRPr lang="en-US" sz="1195" dirty="0"/>
          </a:p>
        </p:txBody>
      </p:sp>
      <p:sp>
        <p:nvSpPr>
          <p:cNvPr id="19" name="Shape 17"/>
          <p:cNvSpPr/>
          <p:nvPr/>
        </p:nvSpPr>
        <p:spPr>
          <a:xfrm>
            <a:off x="9990107" y="1559281"/>
            <a:ext cx="1462927" cy="747725"/>
          </a:xfrm>
          <a:prstGeom prst="rect">
            <a:avLst/>
          </a:prstGeom>
          <a:solidFill>
            <a:srgbClr val="FFFFFF"/>
          </a:solidFill>
          <a:ln w="12700">
            <a:solidFill>
              <a:srgbClr val="D9D9D9"/>
            </a:solidFill>
            <a:prstDash val="solid"/>
          </a:ln>
        </p:spPr>
      </p:sp>
      <p:sp>
        <p:nvSpPr>
          <p:cNvPr id="20" name="Text 18"/>
          <p:cNvSpPr/>
          <p:nvPr/>
        </p:nvSpPr>
        <p:spPr>
          <a:xfrm>
            <a:off x="10099530" y="1623111"/>
            <a:ext cx="1244081" cy="182372"/>
          </a:xfrm>
          <a:prstGeom prst="rect">
            <a:avLst/>
          </a:prstGeom>
          <a:noFill/>
        </p:spPr>
        <p:txBody>
          <a:bodyPr wrap="square" rtlCol="0" anchor="ctr"/>
          <a:lstStyle/>
          <a:p>
            <a:pPr marL="0" indent="0">
              <a:buNone/>
            </a:pPr>
            <a:r>
              <a:rPr lang="en-US" sz="1195" dirty="0">
                <a:solidFill>
                  <a:srgbClr val="6B6B6B"/>
                </a:solidFill>
                <a:latin typeface="Calibri" panose="020F0502020204030204" charset="0"/>
                <a:ea typeface="Calibri" panose="020F0502020204030204" pitchFamily="34" charset="-122"/>
                <a:cs typeface="Calibri" panose="020F0502020204030204" pitchFamily="34" charset="-120"/>
              </a:rPr>
              <a:t>Static</a:t>
            </a:r>
            <a:endParaRPr lang="en-US" sz="1195" dirty="0"/>
          </a:p>
        </p:txBody>
      </p:sp>
      <p:sp>
        <p:nvSpPr>
          <p:cNvPr id="21" name="Text 19"/>
          <p:cNvSpPr/>
          <p:nvPr/>
        </p:nvSpPr>
        <p:spPr>
          <a:xfrm>
            <a:off x="10099530" y="1823720"/>
            <a:ext cx="1244081" cy="291795"/>
          </a:xfrm>
          <a:prstGeom prst="rect">
            <a:avLst/>
          </a:prstGeom>
          <a:noFill/>
        </p:spPr>
        <p:txBody>
          <a:bodyPr wrap="square" rtlCol="0" anchor="ctr"/>
          <a:lstStyle/>
          <a:p>
            <a:pPr marL="0" indent="0">
              <a:buNone/>
            </a:pPr>
            <a:r>
              <a:rPr lang="en-US" sz="1995" b="1" dirty="0">
                <a:solidFill>
                  <a:srgbClr val="2B2B2B"/>
                </a:solidFill>
                <a:latin typeface="Calibri" panose="020F0502020204030204" charset="0"/>
                <a:ea typeface="Calibri" panose="020F0502020204030204" pitchFamily="34" charset="-122"/>
                <a:cs typeface="Calibri" panose="020F0502020204030204" pitchFamily="34" charset="-120"/>
              </a:rPr>
              <a:t>0.729 W</a:t>
            </a:r>
            <a:endParaRPr lang="en-US" sz="1995" dirty="0"/>
          </a:p>
        </p:txBody>
      </p:sp>
      <p:sp>
        <p:nvSpPr>
          <p:cNvPr id="22" name="Text 20"/>
          <p:cNvSpPr/>
          <p:nvPr/>
        </p:nvSpPr>
        <p:spPr>
          <a:xfrm>
            <a:off x="10099530" y="2124634"/>
            <a:ext cx="1244081" cy="145898"/>
          </a:xfrm>
          <a:prstGeom prst="rect">
            <a:avLst/>
          </a:prstGeom>
          <a:noFill/>
        </p:spPr>
        <p:txBody>
          <a:bodyPr wrap="square" rtlCol="0" anchor="ctr"/>
          <a:lstStyle/>
          <a:p>
            <a:pPr marL="0" indent="0">
              <a:buNone/>
            </a:pPr>
            <a:r>
              <a:rPr lang="en-US" sz="1195" dirty="0">
                <a:solidFill>
                  <a:srgbClr val="6B6B6B"/>
                </a:solidFill>
                <a:latin typeface="Calibri" panose="020F0502020204030204" charset="0"/>
                <a:ea typeface="Calibri" panose="020F0502020204030204" pitchFamily="34" charset="-122"/>
                <a:cs typeface="Calibri" panose="020F0502020204030204" pitchFamily="34" charset="-120"/>
              </a:rPr>
              <a:t>17%</a:t>
            </a:r>
            <a:endParaRPr lang="en-US" sz="1195" dirty="0"/>
          </a:p>
        </p:txBody>
      </p:sp>
      <p:sp>
        <p:nvSpPr>
          <p:cNvPr id="23" name="Text 21"/>
          <p:cNvSpPr/>
          <p:nvPr/>
        </p:nvSpPr>
        <p:spPr>
          <a:xfrm>
            <a:off x="6735983" y="2361717"/>
            <a:ext cx="4717052" cy="164135"/>
          </a:xfrm>
          <a:prstGeom prst="rect">
            <a:avLst/>
          </a:prstGeom>
          <a:noFill/>
        </p:spPr>
        <p:txBody>
          <a:bodyPr wrap="square" rtlCol="0" anchor="ctr"/>
          <a:lstStyle/>
          <a:p>
            <a:pPr marL="0" indent="0">
              <a:buNone/>
            </a:pPr>
            <a:r>
              <a:rPr lang="en-US" sz="1195" b="1" dirty="0">
                <a:solidFill>
                  <a:srgbClr val="B35C1E"/>
                </a:solidFill>
                <a:latin typeface="Calibri" panose="020F0502020204030204" charset="0"/>
                <a:ea typeface="Calibri" panose="020F0502020204030204" pitchFamily="34" charset="-122"/>
                <a:cs typeface="Calibri" panose="020F0502020204030204" pitchFamily="34" charset="-120"/>
              </a:rPr>
              <a:t>Key driver: </a:t>
            </a:r>
            <a:r>
              <a:rPr lang="en-US" altLang="zh-CN" sz="1195" b="1" dirty="0">
                <a:solidFill>
                  <a:srgbClr val="B35C1E"/>
                </a:solidFill>
                <a:latin typeface="Calibri" panose="020F0502020204030204" charset="0"/>
                <a:ea typeface="Calibri" panose="020F0502020204030204" pitchFamily="34" charset="-122"/>
                <a:cs typeface="Calibri" panose="020F0502020204030204" pitchFamily="34" charset="-120"/>
              </a:rPr>
              <a:t>PS</a:t>
            </a:r>
            <a:r>
              <a:rPr lang="en-US" sz="1195" b="1" dirty="0">
                <a:solidFill>
                  <a:srgbClr val="B35C1E"/>
                </a:solidFill>
                <a:latin typeface="Calibri" panose="020F0502020204030204" charset="0"/>
                <a:ea typeface="Calibri" panose="020F0502020204030204" pitchFamily="34" charset="-122"/>
                <a:cs typeface="Calibri" panose="020F0502020204030204" pitchFamily="34" charset="-120"/>
              </a:rPr>
              <a:t>= 2.622 W (74% of Dynamic)</a:t>
            </a:r>
            <a:endParaRPr lang="en-US" sz="1195" dirty="0"/>
          </a:p>
        </p:txBody>
      </p:sp>
      <p:sp>
        <p:nvSpPr>
          <p:cNvPr id="24" name="Shape 22"/>
          <p:cNvSpPr/>
          <p:nvPr/>
        </p:nvSpPr>
        <p:spPr>
          <a:xfrm>
            <a:off x="553720" y="2684780"/>
            <a:ext cx="5699125" cy="3228340"/>
          </a:xfrm>
          <a:prstGeom prst="rect">
            <a:avLst/>
          </a:prstGeom>
          <a:solidFill>
            <a:srgbClr val="FFFFFF"/>
          </a:solidFill>
          <a:ln w="12700">
            <a:solidFill>
              <a:srgbClr val="D9D9D9"/>
            </a:solidFill>
            <a:prstDash val="solid"/>
          </a:ln>
          <a:effectLst>
            <a:outerShdw blurRad="38100" dist="19050" dir="2700000" algn="bl" rotWithShape="0">
              <a:srgbClr val="000000">
                <a:alpha val="12000"/>
              </a:srgbClr>
            </a:outerShdw>
          </a:effectLst>
        </p:spPr>
      </p:sp>
      <p:sp>
        <p:nvSpPr>
          <p:cNvPr id="25" name="Text 23"/>
          <p:cNvSpPr/>
          <p:nvPr/>
        </p:nvSpPr>
        <p:spPr>
          <a:xfrm>
            <a:off x="717707" y="2794127"/>
            <a:ext cx="5370855" cy="273558"/>
          </a:xfrm>
          <a:prstGeom prst="rect">
            <a:avLst/>
          </a:prstGeom>
          <a:noFill/>
        </p:spPr>
        <p:txBody>
          <a:bodyPr wrap="square" rtlCol="0" anchor="ctr"/>
          <a:lstStyle/>
          <a:p>
            <a:pPr marL="0" indent="0">
              <a:buNone/>
            </a:pPr>
            <a:r>
              <a:rPr lang="en-US" sz="1595" b="1" dirty="0">
                <a:solidFill>
                  <a:srgbClr val="B35C1E"/>
                </a:solidFill>
                <a:latin typeface="Calibri" panose="020F0502020204030204" charset="0"/>
                <a:ea typeface="Calibri" panose="020F0502020204030204" pitchFamily="34" charset="-122"/>
                <a:cs typeface="Calibri" panose="020F0502020204030204" pitchFamily="34" charset="-120"/>
              </a:rPr>
              <a:t>Resource utilization (Post-synth @ 100 MHz)</a:t>
            </a:r>
            <a:endParaRPr lang="en-US" sz="1595" dirty="0"/>
          </a:p>
        </p:txBody>
      </p:sp>
      <p:sp>
        <p:nvSpPr>
          <p:cNvPr id="26" name="Shape 24"/>
          <p:cNvSpPr/>
          <p:nvPr/>
        </p:nvSpPr>
        <p:spPr>
          <a:xfrm>
            <a:off x="717707" y="3259176"/>
            <a:ext cx="5370855" cy="407297"/>
          </a:xfrm>
          <a:prstGeom prst="rect">
            <a:avLst/>
          </a:prstGeom>
          <a:solidFill>
            <a:srgbClr val="F7F1EA"/>
          </a:solidFill>
          <a:ln w="12700">
            <a:solidFill>
              <a:srgbClr val="D9D9D9"/>
            </a:solidFill>
            <a:prstDash val="solid"/>
          </a:ln>
        </p:spPr>
      </p:sp>
      <p:sp>
        <p:nvSpPr>
          <p:cNvPr id="27" name="Text 25"/>
          <p:cNvSpPr/>
          <p:nvPr/>
        </p:nvSpPr>
        <p:spPr>
          <a:xfrm>
            <a:off x="790655" y="3332124"/>
            <a:ext cx="2083514" cy="261400"/>
          </a:xfrm>
          <a:prstGeom prst="rect">
            <a:avLst/>
          </a:prstGeom>
          <a:noFill/>
        </p:spPr>
        <p:txBody>
          <a:bodyPr wrap="square" rtlCol="0" anchor="ctr"/>
          <a:lstStyle/>
          <a:p>
            <a:pPr marL="0" indent="0" algn="l">
              <a:buNone/>
            </a:pPr>
            <a:r>
              <a:rPr lang="en-US" sz="1295" b="1" dirty="0">
                <a:solidFill>
                  <a:srgbClr val="2B2B2B"/>
                </a:solidFill>
                <a:latin typeface="Calibri" panose="020F0502020204030204" charset="0"/>
                <a:ea typeface="Calibri" panose="020F0502020204030204" pitchFamily="34" charset="-122"/>
                <a:cs typeface="Calibri" panose="020F0502020204030204" pitchFamily="34" charset="-120"/>
              </a:rPr>
              <a:t>Resource</a:t>
            </a:r>
            <a:endParaRPr lang="en-US" sz="1295" dirty="0"/>
          </a:p>
        </p:txBody>
      </p:sp>
      <p:sp>
        <p:nvSpPr>
          <p:cNvPr id="28" name="Text 26"/>
          <p:cNvSpPr/>
          <p:nvPr/>
        </p:nvSpPr>
        <p:spPr>
          <a:xfrm>
            <a:off x="3020067" y="3332124"/>
            <a:ext cx="867472" cy="261400"/>
          </a:xfrm>
          <a:prstGeom prst="rect">
            <a:avLst/>
          </a:prstGeom>
          <a:noFill/>
        </p:spPr>
        <p:txBody>
          <a:bodyPr wrap="square" rtlCol="0" anchor="ctr"/>
          <a:lstStyle/>
          <a:p>
            <a:pPr marL="0" indent="0" algn="r">
              <a:buNone/>
            </a:pPr>
            <a:r>
              <a:rPr lang="en-US" sz="1295" b="1" dirty="0">
                <a:solidFill>
                  <a:srgbClr val="2B2B2B"/>
                </a:solidFill>
                <a:latin typeface="Calibri" panose="020F0502020204030204" charset="0"/>
                <a:ea typeface="Calibri" panose="020F0502020204030204" pitchFamily="34" charset="-122"/>
                <a:cs typeface="Calibri" panose="020F0502020204030204" pitchFamily="34" charset="-120"/>
              </a:rPr>
              <a:t>Used</a:t>
            </a:r>
            <a:endParaRPr lang="en-US" sz="1295" dirty="0"/>
          </a:p>
        </p:txBody>
      </p:sp>
      <p:sp>
        <p:nvSpPr>
          <p:cNvPr id="29" name="Text 27"/>
          <p:cNvSpPr/>
          <p:nvPr/>
        </p:nvSpPr>
        <p:spPr>
          <a:xfrm>
            <a:off x="4033436" y="3332124"/>
            <a:ext cx="1070145" cy="261400"/>
          </a:xfrm>
          <a:prstGeom prst="rect">
            <a:avLst/>
          </a:prstGeom>
          <a:noFill/>
        </p:spPr>
        <p:txBody>
          <a:bodyPr wrap="square" rtlCol="0" anchor="ctr"/>
          <a:lstStyle/>
          <a:p>
            <a:pPr marL="0" indent="0" algn="r">
              <a:buNone/>
            </a:pPr>
            <a:r>
              <a:rPr lang="en-US" sz="1295" b="1" dirty="0">
                <a:solidFill>
                  <a:srgbClr val="2B2B2B"/>
                </a:solidFill>
                <a:latin typeface="Calibri" panose="020F0502020204030204" charset="0"/>
                <a:ea typeface="Calibri" panose="020F0502020204030204" pitchFamily="34" charset="-122"/>
                <a:cs typeface="Calibri" panose="020F0502020204030204" pitchFamily="34" charset="-120"/>
              </a:rPr>
              <a:t>Available</a:t>
            </a:r>
            <a:endParaRPr lang="en-US" sz="1295" dirty="0"/>
          </a:p>
        </p:txBody>
      </p:sp>
      <p:sp>
        <p:nvSpPr>
          <p:cNvPr id="30" name="Text 28"/>
          <p:cNvSpPr/>
          <p:nvPr/>
        </p:nvSpPr>
        <p:spPr>
          <a:xfrm>
            <a:off x="5249478" y="3332124"/>
            <a:ext cx="766135" cy="261400"/>
          </a:xfrm>
          <a:prstGeom prst="rect">
            <a:avLst/>
          </a:prstGeom>
          <a:noFill/>
        </p:spPr>
        <p:txBody>
          <a:bodyPr wrap="square" rtlCol="0" anchor="ctr"/>
          <a:lstStyle/>
          <a:p>
            <a:pPr marL="0" indent="0" algn="r">
              <a:buNone/>
            </a:pPr>
            <a:r>
              <a:rPr lang="en-US" sz="1295" b="1" dirty="0">
                <a:solidFill>
                  <a:srgbClr val="2B2B2B"/>
                </a:solidFill>
                <a:latin typeface="Calibri" panose="020F0502020204030204" charset="0"/>
                <a:ea typeface="Calibri" panose="020F0502020204030204" pitchFamily="34" charset="-122"/>
                <a:cs typeface="Calibri" panose="020F0502020204030204" pitchFamily="34" charset="-120"/>
              </a:rPr>
              <a:t>Util.</a:t>
            </a:r>
            <a:endParaRPr lang="en-US" sz="1295" dirty="0"/>
          </a:p>
        </p:txBody>
      </p:sp>
      <p:sp>
        <p:nvSpPr>
          <p:cNvPr id="31" name="Shape 29"/>
          <p:cNvSpPr/>
          <p:nvPr/>
        </p:nvSpPr>
        <p:spPr>
          <a:xfrm>
            <a:off x="717707" y="3666473"/>
            <a:ext cx="5370855" cy="407297"/>
          </a:xfrm>
          <a:prstGeom prst="rect">
            <a:avLst/>
          </a:prstGeom>
          <a:solidFill>
            <a:srgbClr val="FFFFFF"/>
          </a:solidFill>
          <a:ln w="12700">
            <a:solidFill>
              <a:srgbClr val="D9D9D9"/>
            </a:solidFill>
            <a:prstDash val="solid"/>
          </a:ln>
        </p:spPr>
      </p:sp>
      <p:sp>
        <p:nvSpPr>
          <p:cNvPr id="32" name="Text 30"/>
          <p:cNvSpPr/>
          <p:nvPr/>
        </p:nvSpPr>
        <p:spPr>
          <a:xfrm>
            <a:off x="790655" y="3739422"/>
            <a:ext cx="2083514" cy="261400"/>
          </a:xfrm>
          <a:prstGeom prst="rect">
            <a:avLst/>
          </a:prstGeom>
          <a:noFill/>
        </p:spPr>
        <p:txBody>
          <a:bodyPr wrap="square" rtlCol="0" anchor="ctr"/>
          <a:lstStyle/>
          <a:p>
            <a:pPr marL="0" indent="0" algn="l">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LUT</a:t>
            </a:r>
            <a:endParaRPr lang="en-US" sz="1295" dirty="0"/>
          </a:p>
        </p:txBody>
      </p:sp>
      <p:sp>
        <p:nvSpPr>
          <p:cNvPr id="33" name="Text 31"/>
          <p:cNvSpPr/>
          <p:nvPr/>
        </p:nvSpPr>
        <p:spPr>
          <a:xfrm>
            <a:off x="3020067" y="3739422"/>
            <a:ext cx="867472" cy="261400"/>
          </a:xfrm>
          <a:prstGeom prst="rect">
            <a:avLst/>
          </a:prstGeom>
          <a:noFill/>
        </p:spPr>
        <p:txBody>
          <a:bodyPr wrap="square" rtlCol="0" anchor="ctr"/>
          <a:lstStyle/>
          <a:p>
            <a:pPr marL="0" indent="0" algn="r">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60868</a:t>
            </a:r>
            <a:endParaRPr lang="en-US" sz="1295" dirty="0"/>
          </a:p>
        </p:txBody>
      </p:sp>
      <p:sp>
        <p:nvSpPr>
          <p:cNvPr id="34" name="Text 32"/>
          <p:cNvSpPr/>
          <p:nvPr/>
        </p:nvSpPr>
        <p:spPr>
          <a:xfrm>
            <a:off x="4033436" y="3739422"/>
            <a:ext cx="1070145" cy="261400"/>
          </a:xfrm>
          <a:prstGeom prst="rect">
            <a:avLst/>
          </a:prstGeom>
          <a:noFill/>
        </p:spPr>
        <p:txBody>
          <a:bodyPr wrap="square" rtlCol="0" anchor="ctr"/>
          <a:lstStyle/>
          <a:p>
            <a:pPr marL="0" indent="0" algn="r">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274080</a:t>
            </a:r>
            <a:endParaRPr lang="en-US" sz="1295" dirty="0"/>
          </a:p>
        </p:txBody>
      </p:sp>
      <p:sp>
        <p:nvSpPr>
          <p:cNvPr id="35" name="Text 33"/>
          <p:cNvSpPr/>
          <p:nvPr/>
        </p:nvSpPr>
        <p:spPr>
          <a:xfrm>
            <a:off x="5249478" y="3739422"/>
            <a:ext cx="766135" cy="261400"/>
          </a:xfrm>
          <a:prstGeom prst="rect">
            <a:avLst/>
          </a:prstGeom>
          <a:noFill/>
        </p:spPr>
        <p:txBody>
          <a:bodyPr wrap="square" rtlCol="0" anchor="ctr"/>
          <a:lstStyle/>
          <a:p>
            <a:pPr marL="0" indent="0" algn="r">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22.21%</a:t>
            </a:r>
            <a:endParaRPr lang="en-US" sz="1295" dirty="0"/>
          </a:p>
        </p:txBody>
      </p:sp>
      <p:sp>
        <p:nvSpPr>
          <p:cNvPr id="36" name="Shape 34"/>
          <p:cNvSpPr/>
          <p:nvPr/>
        </p:nvSpPr>
        <p:spPr>
          <a:xfrm>
            <a:off x="717707" y="4073771"/>
            <a:ext cx="5370855" cy="407297"/>
          </a:xfrm>
          <a:prstGeom prst="rect">
            <a:avLst/>
          </a:prstGeom>
          <a:solidFill>
            <a:srgbClr val="FBFBFB"/>
          </a:solidFill>
          <a:ln w="12700">
            <a:solidFill>
              <a:srgbClr val="D9D9D9"/>
            </a:solidFill>
            <a:prstDash val="solid"/>
          </a:ln>
        </p:spPr>
      </p:sp>
      <p:sp>
        <p:nvSpPr>
          <p:cNvPr id="37" name="Text 35"/>
          <p:cNvSpPr/>
          <p:nvPr/>
        </p:nvSpPr>
        <p:spPr>
          <a:xfrm>
            <a:off x="790655" y="4146719"/>
            <a:ext cx="2083514" cy="261400"/>
          </a:xfrm>
          <a:prstGeom prst="rect">
            <a:avLst/>
          </a:prstGeom>
          <a:noFill/>
        </p:spPr>
        <p:txBody>
          <a:bodyPr wrap="square" rtlCol="0" anchor="ctr"/>
          <a:lstStyle/>
          <a:p>
            <a:pPr marL="0" indent="0" algn="l">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FF</a:t>
            </a:r>
            <a:endParaRPr lang="en-US" sz="1295" dirty="0"/>
          </a:p>
        </p:txBody>
      </p:sp>
      <p:sp>
        <p:nvSpPr>
          <p:cNvPr id="38" name="Text 36"/>
          <p:cNvSpPr/>
          <p:nvPr/>
        </p:nvSpPr>
        <p:spPr>
          <a:xfrm>
            <a:off x="3020067" y="4146719"/>
            <a:ext cx="867472" cy="261400"/>
          </a:xfrm>
          <a:prstGeom prst="rect">
            <a:avLst/>
          </a:prstGeom>
          <a:noFill/>
        </p:spPr>
        <p:txBody>
          <a:bodyPr wrap="square" rtlCol="0" anchor="ctr"/>
          <a:lstStyle/>
          <a:p>
            <a:pPr marL="0" indent="0" algn="r">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77345</a:t>
            </a:r>
            <a:endParaRPr lang="en-US" sz="1295" dirty="0"/>
          </a:p>
        </p:txBody>
      </p:sp>
      <p:sp>
        <p:nvSpPr>
          <p:cNvPr id="39" name="Text 37"/>
          <p:cNvSpPr/>
          <p:nvPr/>
        </p:nvSpPr>
        <p:spPr>
          <a:xfrm>
            <a:off x="4033436" y="4146719"/>
            <a:ext cx="1070145" cy="261400"/>
          </a:xfrm>
          <a:prstGeom prst="rect">
            <a:avLst/>
          </a:prstGeom>
          <a:noFill/>
        </p:spPr>
        <p:txBody>
          <a:bodyPr wrap="square" rtlCol="0" anchor="ctr"/>
          <a:lstStyle/>
          <a:p>
            <a:pPr marL="0" indent="0" algn="r">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548160</a:t>
            </a:r>
            <a:endParaRPr lang="en-US" sz="1295" dirty="0"/>
          </a:p>
        </p:txBody>
      </p:sp>
      <p:sp>
        <p:nvSpPr>
          <p:cNvPr id="40" name="Text 38"/>
          <p:cNvSpPr/>
          <p:nvPr/>
        </p:nvSpPr>
        <p:spPr>
          <a:xfrm>
            <a:off x="5249478" y="4146719"/>
            <a:ext cx="766135" cy="261400"/>
          </a:xfrm>
          <a:prstGeom prst="rect">
            <a:avLst/>
          </a:prstGeom>
          <a:noFill/>
        </p:spPr>
        <p:txBody>
          <a:bodyPr wrap="square" rtlCol="0" anchor="ctr"/>
          <a:lstStyle/>
          <a:p>
            <a:pPr marL="0" indent="0" algn="r">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14.11%</a:t>
            </a:r>
            <a:endParaRPr lang="en-US" sz="1295" dirty="0"/>
          </a:p>
        </p:txBody>
      </p:sp>
      <p:sp>
        <p:nvSpPr>
          <p:cNvPr id="41" name="Shape 39"/>
          <p:cNvSpPr/>
          <p:nvPr/>
        </p:nvSpPr>
        <p:spPr>
          <a:xfrm>
            <a:off x="717707" y="4481068"/>
            <a:ext cx="5370855" cy="407297"/>
          </a:xfrm>
          <a:prstGeom prst="rect">
            <a:avLst/>
          </a:prstGeom>
          <a:solidFill>
            <a:srgbClr val="FFFFFF"/>
          </a:solidFill>
          <a:ln w="12700">
            <a:solidFill>
              <a:srgbClr val="D9D9D9"/>
            </a:solidFill>
            <a:prstDash val="solid"/>
          </a:ln>
        </p:spPr>
      </p:sp>
      <p:sp>
        <p:nvSpPr>
          <p:cNvPr id="42" name="Text 40"/>
          <p:cNvSpPr/>
          <p:nvPr/>
        </p:nvSpPr>
        <p:spPr>
          <a:xfrm>
            <a:off x="790655" y="4554017"/>
            <a:ext cx="2083514" cy="261400"/>
          </a:xfrm>
          <a:prstGeom prst="rect">
            <a:avLst/>
          </a:prstGeom>
          <a:noFill/>
        </p:spPr>
        <p:txBody>
          <a:bodyPr wrap="square" rtlCol="0" anchor="ctr"/>
          <a:lstStyle/>
          <a:p>
            <a:pPr marL="0" indent="0" algn="l">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BRAM (Tiles)</a:t>
            </a:r>
            <a:endParaRPr lang="en-US" sz="1295" dirty="0"/>
          </a:p>
        </p:txBody>
      </p:sp>
      <p:sp>
        <p:nvSpPr>
          <p:cNvPr id="43" name="Text 41"/>
          <p:cNvSpPr/>
          <p:nvPr/>
        </p:nvSpPr>
        <p:spPr>
          <a:xfrm>
            <a:off x="3020067" y="4554017"/>
            <a:ext cx="867472" cy="261400"/>
          </a:xfrm>
          <a:prstGeom prst="rect">
            <a:avLst/>
          </a:prstGeom>
          <a:noFill/>
        </p:spPr>
        <p:txBody>
          <a:bodyPr wrap="square" rtlCol="0" anchor="ctr"/>
          <a:lstStyle/>
          <a:p>
            <a:pPr marL="0" indent="0" algn="r">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279</a:t>
            </a:r>
            <a:endParaRPr lang="en-US" sz="1295" dirty="0"/>
          </a:p>
        </p:txBody>
      </p:sp>
      <p:sp>
        <p:nvSpPr>
          <p:cNvPr id="44" name="Text 42"/>
          <p:cNvSpPr/>
          <p:nvPr/>
        </p:nvSpPr>
        <p:spPr>
          <a:xfrm>
            <a:off x="4033436" y="4554017"/>
            <a:ext cx="1070145" cy="261400"/>
          </a:xfrm>
          <a:prstGeom prst="rect">
            <a:avLst/>
          </a:prstGeom>
          <a:noFill/>
        </p:spPr>
        <p:txBody>
          <a:bodyPr wrap="square" rtlCol="0" anchor="ctr"/>
          <a:lstStyle/>
          <a:p>
            <a:pPr marL="0" indent="0" algn="r">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912</a:t>
            </a:r>
            <a:endParaRPr lang="en-US" sz="1295" dirty="0"/>
          </a:p>
        </p:txBody>
      </p:sp>
      <p:sp>
        <p:nvSpPr>
          <p:cNvPr id="45" name="Text 43"/>
          <p:cNvSpPr/>
          <p:nvPr/>
        </p:nvSpPr>
        <p:spPr>
          <a:xfrm>
            <a:off x="5249478" y="4554017"/>
            <a:ext cx="766135" cy="261400"/>
          </a:xfrm>
          <a:prstGeom prst="rect">
            <a:avLst/>
          </a:prstGeom>
          <a:noFill/>
        </p:spPr>
        <p:txBody>
          <a:bodyPr wrap="square" rtlCol="0" anchor="ctr"/>
          <a:lstStyle/>
          <a:p>
            <a:pPr marL="0" indent="0" algn="r">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30.59%</a:t>
            </a:r>
            <a:endParaRPr lang="en-US" sz="1295" dirty="0"/>
          </a:p>
        </p:txBody>
      </p:sp>
      <p:sp>
        <p:nvSpPr>
          <p:cNvPr id="46" name="Shape 44"/>
          <p:cNvSpPr/>
          <p:nvPr/>
        </p:nvSpPr>
        <p:spPr>
          <a:xfrm>
            <a:off x="717707" y="4888365"/>
            <a:ext cx="5370855" cy="407297"/>
          </a:xfrm>
          <a:prstGeom prst="rect">
            <a:avLst/>
          </a:prstGeom>
          <a:solidFill>
            <a:srgbClr val="FBFBFB"/>
          </a:solidFill>
          <a:ln w="12700">
            <a:solidFill>
              <a:srgbClr val="D9D9D9"/>
            </a:solidFill>
            <a:prstDash val="solid"/>
          </a:ln>
        </p:spPr>
      </p:sp>
      <p:sp>
        <p:nvSpPr>
          <p:cNvPr id="47" name="Text 45"/>
          <p:cNvSpPr/>
          <p:nvPr/>
        </p:nvSpPr>
        <p:spPr>
          <a:xfrm>
            <a:off x="790655" y="4961314"/>
            <a:ext cx="2083514" cy="261400"/>
          </a:xfrm>
          <a:prstGeom prst="rect">
            <a:avLst/>
          </a:prstGeom>
          <a:noFill/>
        </p:spPr>
        <p:txBody>
          <a:bodyPr wrap="square" rtlCol="0" anchor="ctr"/>
          <a:lstStyle/>
          <a:p>
            <a:pPr marL="0" indent="0" algn="l">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DSP</a:t>
            </a:r>
            <a:endParaRPr lang="en-US" sz="1295" dirty="0"/>
          </a:p>
        </p:txBody>
      </p:sp>
      <p:sp>
        <p:nvSpPr>
          <p:cNvPr id="48" name="Text 46"/>
          <p:cNvSpPr/>
          <p:nvPr/>
        </p:nvSpPr>
        <p:spPr>
          <a:xfrm>
            <a:off x="3020067" y="4961314"/>
            <a:ext cx="867472" cy="261400"/>
          </a:xfrm>
          <a:prstGeom prst="rect">
            <a:avLst/>
          </a:prstGeom>
          <a:noFill/>
        </p:spPr>
        <p:txBody>
          <a:bodyPr wrap="square" rtlCol="0" anchor="ctr"/>
          <a:lstStyle/>
          <a:p>
            <a:pPr marL="0" indent="0" algn="r">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496</a:t>
            </a:r>
          </a:p>
        </p:txBody>
      </p:sp>
      <p:sp>
        <p:nvSpPr>
          <p:cNvPr id="49" name="Text 47"/>
          <p:cNvSpPr/>
          <p:nvPr/>
        </p:nvSpPr>
        <p:spPr>
          <a:xfrm>
            <a:off x="4033436" y="4961314"/>
            <a:ext cx="1070145" cy="261400"/>
          </a:xfrm>
          <a:prstGeom prst="rect">
            <a:avLst/>
          </a:prstGeom>
          <a:noFill/>
        </p:spPr>
        <p:txBody>
          <a:bodyPr wrap="square" rtlCol="0" anchor="ctr"/>
          <a:lstStyle/>
          <a:p>
            <a:pPr marL="0" indent="0" algn="r">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2520</a:t>
            </a:r>
            <a:endParaRPr lang="en-US" sz="1295" dirty="0"/>
          </a:p>
        </p:txBody>
      </p:sp>
      <p:sp>
        <p:nvSpPr>
          <p:cNvPr id="50" name="Text 48"/>
          <p:cNvSpPr/>
          <p:nvPr/>
        </p:nvSpPr>
        <p:spPr>
          <a:xfrm>
            <a:off x="5249478" y="4961314"/>
            <a:ext cx="766135" cy="261400"/>
          </a:xfrm>
          <a:prstGeom prst="rect">
            <a:avLst/>
          </a:prstGeom>
          <a:noFill/>
        </p:spPr>
        <p:txBody>
          <a:bodyPr wrap="square" rtlCol="0" anchor="ctr"/>
          <a:lstStyle/>
          <a:p>
            <a:pPr marL="0" indent="0" algn="r">
              <a:buNone/>
            </a:pPr>
            <a:r>
              <a:rPr lang="en-US" sz="1295" b="1" dirty="0">
                <a:solidFill>
                  <a:srgbClr val="C00000"/>
                </a:solidFill>
                <a:latin typeface="Calibri" panose="020F0502020204030204" charset="0"/>
                <a:ea typeface="Calibri" panose="020F0502020204030204" pitchFamily="34" charset="-122"/>
                <a:cs typeface="Calibri" panose="020F0502020204030204" pitchFamily="34" charset="-120"/>
              </a:rPr>
              <a:t>19.68%</a:t>
            </a:r>
          </a:p>
        </p:txBody>
      </p:sp>
      <p:sp>
        <p:nvSpPr>
          <p:cNvPr id="51" name="Shape 49"/>
          <p:cNvSpPr/>
          <p:nvPr/>
        </p:nvSpPr>
        <p:spPr>
          <a:xfrm>
            <a:off x="717707" y="5295663"/>
            <a:ext cx="5370855" cy="407297"/>
          </a:xfrm>
          <a:prstGeom prst="rect">
            <a:avLst/>
          </a:prstGeom>
          <a:solidFill>
            <a:srgbClr val="FFFFFF"/>
          </a:solidFill>
          <a:ln w="12700">
            <a:solidFill>
              <a:srgbClr val="D9D9D9"/>
            </a:solidFill>
            <a:prstDash val="solid"/>
          </a:ln>
        </p:spPr>
      </p:sp>
      <p:sp>
        <p:nvSpPr>
          <p:cNvPr id="52" name="Text 50"/>
          <p:cNvSpPr/>
          <p:nvPr/>
        </p:nvSpPr>
        <p:spPr>
          <a:xfrm>
            <a:off x="790655" y="5368612"/>
            <a:ext cx="2083514" cy="261400"/>
          </a:xfrm>
          <a:prstGeom prst="rect">
            <a:avLst/>
          </a:prstGeom>
          <a:noFill/>
        </p:spPr>
        <p:txBody>
          <a:bodyPr wrap="square" rtlCol="0" anchor="ctr"/>
          <a:lstStyle/>
          <a:p>
            <a:pPr marL="0" indent="0" algn="l">
              <a:buNone/>
            </a:pPr>
            <a:r>
              <a:rPr lang="en-US" sz="1295" dirty="0">
                <a:solidFill>
                  <a:schemeClr val="tx2"/>
                </a:solidFill>
                <a:latin typeface="Calibri" panose="020F0502020204030204" charset="0"/>
                <a:ea typeface="Calibri" panose="020F0502020204030204" pitchFamily="34" charset="-122"/>
                <a:cs typeface="Calibri" panose="020F0502020204030204" pitchFamily="34" charset="-120"/>
              </a:rPr>
              <a:t>I/O (Bonded IOB)</a:t>
            </a:r>
          </a:p>
        </p:txBody>
      </p:sp>
      <p:sp>
        <p:nvSpPr>
          <p:cNvPr id="53" name="Text 51"/>
          <p:cNvSpPr/>
          <p:nvPr/>
        </p:nvSpPr>
        <p:spPr>
          <a:xfrm>
            <a:off x="3020067" y="5368612"/>
            <a:ext cx="867472" cy="261400"/>
          </a:xfrm>
          <a:prstGeom prst="rect">
            <a:avLst/>
          </a:prstGeom>
          <a:noFill/>
        </p:spPr>
        <p:txBody>
          <a:bodyPr wrap="square" rtlCol="0" anchor="ctr"/>
          <a:lstStyle/>
          <a:p>
            <a:pPr marL="0" indent="0" algn="r">
              <a:buNone/>
            </a:pPr>
            <a:r>
              <a:rPr lang="en-US" sz="1295" dirty="0">
                <a:solidFill>
                  <a:schemeClr val="tx2"/>
                </a:solidFill>
                <a:latin typeface="Calibri" panose="020F0502020204030204" charset="0"/>
                <a:ea typeface="Calibri" panose="020F0502020204030204" pitchFamily="34" charset="-122"/>
                <a:cs typeface="Calibri" panose="020F0502020204030204" pitchFamily="34" charset="-120"/>
              </a:rPr>
              <a:t>0</a:t>
            </a:r>
          </a:p>
        </p:txBody>
      </p:sp>
      <p:sp>
        <p:nvSpPr>
          <p:cNvPr id="54" name="Text 52"/>
          <p:cNvSpPr/>
          <p:nvPr/>
        </p:nvSpPr>
        <p:spPr>
          <a:xfrm>
            <a:off x="4033436" y="5368612"/>
            <a:ext cx="1070145" cy="261400"/>
          </a:xfrm>
          <a:prstGeom prst="rect">
            <a:avLst/>
          </a:prstGeom>
          <a:noFill/>
        </p:spPr>
        <p:txBody>
          <a:bodyPr wrap="square" rtlCol="0" anchor="ctr"/>
          <a:lstStyle/>
          <a:p>
            <a:pPr marL="0" indent="0" algn="r">
              <a:buNone/>
            </a:pPr>
            <a:r>
              <a:rPr lang="en-US" sz="1295" dirty="0">
                <a:solidFill>
                  <a:schemeClr val="tx2"/>
                </a:solidFill>
                <a:latin typeface="Calibri" panose="020F0502020204030204" charset="0"/>
                <a:ea typeface="Calibri" panose="020F0502020204030204" pitchFamily="34" charset="-122"/>
                <a:cs typeface="Calibri" panose="020F0502020204030204" pitchFamily="34" charset="-120"/>
              </a:rPr>
              <a:t>328</a:t>
            </a:r>
          </a:p>
        </p:txBody>
      </p:sp>
      <p:sp>
        <p:nvSpPr>
          <p:cNvPr id="55" name="Text 53"/>
          <p:cNvSpPr/>
          <p:nvPr/>
        </p:nvSpPr>
        <p:spPr>
          <a:xfrm>
            <a:off x="5249478" y="5368612"/>
            <a:ext cx="766135" cy="261400"/>
          </a:xfrm>
          <a:prstGeom prst="rect">
            <a:avLst/>
          </a:prstGeom>
          <a:noFill/>
        </p:spPr>
        <p:txBody>
          <a:bodyPr wrap="square" rtlCol="0" anchor="ctr"/>
          <a:lstStyle/>
          <a:p>
            <a:pPr marL="0" indent="0" algn="r">
              <a:buNone/>
            </a:pPr>
            <a:r>
              <a:rPr lang="en-US" sz="1295" dirty="0">
                <a:solidFill>
                  <a:schemeClr val="tx2"/>
                </a:solidFill>
                <a:latin typeface="Calibri" panose="020F0502020204030204" charset="0"/>
                <a:ea typeface="Calibri" panose="020F0502020204030204" pitchFamily="34" charset="-122"/>
                <a:cs typeface="Calibri" panose="020F0502020204030204" pitchFamily="34" charset="-120"/>
              </a:rPr>
              <a:t>0%</a:t>
            </a:r>
          </a:p>
        </p:txBody>
      </p:sp>
      <p:sp>
        <p:nvSpPr>
          <p:cNvPr id="57" name="Text 55"/>
          <p:cNvSpPr/>
          <p:nvPr/>
        </p:nvSpPr>
        <p:spPr>
          <a:xfrm>
            <a:off x="6735983" y="2794127"/>
            <a:ext cx="4717052" cy="273558"/>
          </a:xfrm>
          <a:prstGeom prst="rect">
            <a:avLst/>
          </a:prstGeom>
          <a:noFill/>
        </p:spPr>
        <p:txBody>
          <a:bodyPr wrap="square" rtlCol="0" anchor="ctr"/>
          <a:lstStyle/>
          <a:p>
            <a:pPr marL="0" indent="0">
              <a:buNone/>
            </a:pPr>
            <a:r>
              <a:rPr lang="en-US" sz="1595" b="1" dirty="0">
                <a:solidFill>
                  <a:srgbClr val="B35C1E"/>
                </a:solidFill>
                <a:latin typeface="Calibri" panose="020F0502020204030204" charset="0"/>
                <a:ea typeface="Calibri" panose="020F0502020204030204" pitchFamily="34" charset="-122"/>
                <a:cs typeface="Calibri" panose="020F0502020204030204" pitchFamily="34" charset="-120"/>
              </a:rPr>
              <a:t>Latency(per block)</a:t>
            </a:r>
            <a:endParaRPr lang="en-US" sz="1595" dirty="0"/>
          </a:p>
        </p:txBody>
      </p:sp>
      <p:sp>
        <p:nvSpPr>
          <p:cNvPr id="58" name="Shape 56"/>
          <p:cNvSpPr/>
          <p:nvPr/>
        </p:nvSpPr>
        <p:spPr>
          <a:xfrm>
            <a:off x="6735983" y="3259176"/>
            <a:ext cx="4717052" cy="349113"/>
          </a:xfrm>
          <a:prstGeom prst="rect">
            <a:avLst/>
          </a:prstGeom>
          <a:solidFill>
            <a:srgbClr val="F7F1EA"/>
          </a:solidFill>
          <a:ln w="12700">
            <a:solidFill>
              <a:srgbClr val="D9D9D9"/>
            </a:solidFill>
            <a:prstDash val="solid"/>
          </a:ln>
        </p:spPr>
      </p:sp>
      <p:sp>
        <p:nvSpPr>
          <p:cNvPr id="60" name="Text 58"/>
          <p:cNvSpPr/>
          <p:nvPr/>
        </p:nvSpPr>
        <p:spPr>
          <a:xfrm>
            <a:off x="8643341" y="3332124"/>
            <a:ext cx="1164395" cy="203215"/>
          </a:xfrm>
          <a:prstGeom prst="rect">
            <a:avLst/>
          </a:prstGeom>
          <a:noFill/>
        </p:spPr>
        <p:txBody>
          <a:bodyPr wrap="square" rtlCol="0" anchor="ctr"/>
          <a:lstStyle/>
          <a:p>
            <a:pPr marL="0" indent="0" algn="r">
              <a:buNone/>
            </a:pPr>
            <a:r>
              <a:rPr lang="en-US" sz="1295" b="1" dirty="0">
                <a:solidFill>
                  <a:srgbClr val="2B2B2B"/>
                </a:solidFill>
                <a:latin typeface="Calibri" panose="020F0502020204030204" charset="0"/>
                <a:ea typeface="Calibri" panose="020F0502020204030204" pitchFamily="34" charset="-122"/>
                <a:cs typeface="Calibri" panose="020F0502020204030204" pitchFamily="34" charset="-120"/>
              </a:rPr>
              <a:t>Clcck Cycles</a:t>
            </a:r>
            <a:endParaRPr lang="en-US" sz="1295" dirty="0"/>
          </a:p>
        </p:txBody>
      </p:sp>
      <p:sp>
        <p:nvSpPr>
          <p:cNvPr id="61" name="Text 59"/>
          <p:cNvSpPr/>
          <p:nvPr/>
        </p:nvSpPr>
        <p:spPr>
          <a:xfrm>
            <a:off x="9953633" y="3332124"/>
            <a:ext cx="1426453" cy="203215"/>
          </a:xfrm>
          <a:prstGeom prst="rect">
            <a:avLst/>
          </a:prstGeom>
          <a:noFill/>
        </p:spPr>
        <p:txBody>
          <a:bodyPr wrap="square" rtlCol="0" anchor="ctr"/>
          <a:lstStyle/>
          <a:p>
            <a:pPr marL="0" indent="0" algn="r">
              <a:buNone/>
            </a:pPr>
            <a:r>
              <a:rPr lang="en-US" sz="1295" b="1" dirty="0">
                <a:solidFill>
                  <a:srgbClr val="2B2B2B"/>
                </a:solidFill>
                <a:latin typeface="Calibri" panose="020F0502020204030204" charset="0"/>
                <a:ea typeface="Calibri" panose="020F0502020204030204" pitchFamily="34" charset="-122"/>
                <a:cs typeface="Calibri" panose="020F0502020204030204" pitchFamily="34" charset="-120"/>
              </a:rPr>
              <a:t>Share</a:t>
            </a:r>
            <a:endParaRPr lang="en-US" sz="1295" dirty="0"/>
          </a:p>
        </p:txBody>
      </p:sp>
      <p:sp>
        <p:nvSpPr>
          <p:cNvPr id="63" name="Text 61"/>
          <p:cNvSpPr/>
          <p:nvPr/>
        </p:nvSpPr>
        <p:spPr>
          <a:xfrm>
            <a:off x="6808931" y="3681237"/>
            <a:ext cx="1688512" cy="203215"/>
          </a:xfrm>
          <a:prstGeom prst="rect">
            <a:avLst/>
          </a:prstGeom>
          <a:noFill/>
        </p:spPr>
        <p:txBody>
          <a:bodyPr wrap="square" rtlCol="0" anchor="ctr"/>
          <a:lstStyle/>
          <a:p>
            <a:pPr marL="0" indent="0" algn="l">
              <a:buNone/>
            </a:pPr>
            <a:r>
              <a:rPr lang="en-US" sz="1295" dirty="0">
                <a:solidFill>
                  <a:schemeClr val="tx2"/>
                </a:solidFill>
                <a:latin typeface="Calibri" panose="020F0502020204030204" charset="0"/>
                <a:ea typeface="Calibri" panose="020F0502020204030204" pitchFamily="34" charset="-122"/>
                <a:cs typeface="Calibri" panose="020F0502020204030204" pitchFamily="34" charset="-120"/>
              </a:rPr>
              <a:t>RMSNorm</a:t>
            </a:r>
          </a:p>
        </p:txBody>
      </p:sp>
      <p:sp>
        <p:nvSpPr>
          <p:cNvPr id="64" name="Text 62"/>
          <p:cNvSpPr/>
          <p:nvPr/>
        </p:nvSpPr>
        <p:spPr>
          <a:xfrm>
            <a:off x="8643341" y="3681237"/>
            <a:ext cx="1164395" cy="203215"/>
          </a:xfrm>
          <a:prstGeom prst="rect">
            <a:avLst/>
          </a:prstGeom>
          <a:noFill/>
        </p:spPr>
        <p:txBody>
          <a:bodyPr wrap="square" rtlCol="0" anchor="ctr"/>
          <a:lstStyle/>
          <a:p>
            <a:pPr marL="0" indent="0" algn="r">
              <a:buNone/>
            </a:pPr>
            <a:r>
              <a:rPr lang="en-US" sz="1295" dirty="0">
                <a:solidFill>
                  <a:schemeClr val="tx2"/>
                </a:solidFill>
                <a:latin typeface="Calibri" panose="020F0502020204030204" charset="0"/>
                <a:ea typeface="Calibri" panose="020F0502020204030204" pitchFamily="34" charset="-122"/>
                <a:cs typeface="Calibri" panose="020F0502020204030204" pitchFamily="34" charset="-120"/>
              </a:rPr>
              <a:t> 134cc</a:t>
            </a:r>
          </a:p>
        </p:txBody>
      </p:sp>
      <p:sp>
        <p:nvSpPr>
          <p:cNvPr id="65" name="Text 63"/>
          <p:cNvSpPr/>
          <p:nvPr/>
        </p:nvSpPr>
        <p:spPr>
          <a:xfrm>
            <a:off x="9953633" y="3681237"/>
            <a:ext cx="1426453" cy="203215"/>
          </a:xfrm>
          <a:prstGeom prst="rect">
            <a:avLst/>
          </a:prstGeom>
          <a:noFill/>
        </p:spPr>
        <p:txBody>
          <a:bodyPr wrap="square" rtlCol="0" anchor="ctr"/>
          <a:lstStyle/>
          <a:p>
            <a:pPr marL="0" indent="0" algn="r">
              <a:buNone/>
            </a:pPr>
            <a:r>
              <a:rPr lang="en-US" sz="1295" dirty="0">
                <a:solidFill>
                  <a:schemeClr val="tx2"/>
                </a:solidFill>
                <a:latin typeface="Calibri" panose="020F0502020204030204" charset="0"/>
                <a:ea typeface="Calibri" panose="020F0502020204030204" pitchFamily="34" charset="-122"/>
                <a:cs typeface="Calibri" panose="020F0502020204030204" pitchFamily="34" charset="-120"/>
              </a:rPr>
              <a:t>2.5%</a:t>
            </a:r>
          </a:p>
        </p:txBody>
      </p:sp>
      <p:sp>
        <p:nvSpPr>
          <p:cNvPr id="83" name="Shape 60"/>
          <p:cNvSpPr/>
          <p:nvPr/>
        </p:nvSpPr>
        <p:spPr>
          <a:xfrm>
            <a:off x="6735981" y="4301201"/>
            <a:ext cx="4717052" cy="349113"/>
          </a:xfrm>
          <a:prstGeom prst="rect">
            <a:avLst/>
          </a:prstGeom>
          <a:solidFill>
            <a:srgbClr val="FFFFFF"/>
          </a:solidFill>
          <a:ln w="12700">
            <a:solidFill>
              <a:srgbClr val="D9D9D9"/>
            </a:solidFill>
            <a:prstDash val="solid"/>
          </a:ln>
        </p:spPr>
        <p:txBody>
          <a:bodyPr/>
          <a:lstStyle/>
          <a:p>
            <a:endParaRPr lang="zh-CN" altLang="en-US" dirty="0"/>
          </a:p>
        </p:txBody>
      </p:sp>
      <p:sp>
        <p:nvSpPr>
          <p:cNvPr id="84" name="Shape 64"/>
          <p:cNvSpPr/>
          <p:nvPr/>
        </p:nvSpPr>
        <p:spPr>
          <a:xfrm>
            <a:off x="6735979" y="4645001"/>
            <a:ext cx="4717052" cy="349113"/>
          </a:xfrm>
          <a:prstGeom prst="rect">
            <a:avLst/>
          </a:prstGeom>
          <a:solidFill>
            <a:srgbClr val="FBFBFB"/>
          </a:solidFill>
          <a:ln w="12700">
            <a:solidFill>
              <a:srgbClr val="D9D9D9"/>
            </a:solidFill>
            <a:prstDash val="solid"/>
          </a:ln>
        </p:spPr>
        <p:txBody>
          <a:bodyPr/>
          <a:lstStyle/>
          <a:p>
            <a:endParaRPr lang="zh-CN" altLang="en-US" dirty="0"/>
          </a:p>
        </p:txBody>
      </p:sp>
      <p:sp>
        <p:nvSpPr>
          <p:cNvPr id="85" name="Shape 60"/>
          <p:cNvSpPr/>
          <p:nvPr/>
        </p:nvSpPr>
        <p:spPr>
          <a:xfrm>
            <a:off x="6735983" y="4990530"/>
            <a:ext cx="4717052" cy="349113"/>
          </a:xfrm>
          <a:prstGeom prst="rect">
            <a:avLst/>
          </a:prstGeom>
          <a:solidFill>
            <a:srgbClr val="FFFFFF"/>
          </a:solidFill>
          <a:ln w="12700">
            <a:solidFill>
              <a:srgbClr val="D9D9D9"/>
            </a:solidFill>
            <a:prstDash val="solid"/>
          </a:ln>
        </p:spPr>
        <p:txBody>
          <a:bodyPr/>
          <a:lstStyle/>
          <a:p>
            <a:endParaRPr lang="zh-CN" altLang="en-US" dirty="0"/>
          </a:p>
        </p:txBody>
      </p:sp>
      <p:sp>
        <p:nvSpPr>
          <p:cNvPr id="86" name="Shape 64"/>
          <p:cNvSpPr/>
          <p:nvPr/>
        </p:nvSpPr>
        <p:spPr>
          <a:xfrm>
            <a:off x="6735983" y="5340916"/>
            <a:ext cx="4717052" cy="349113"/>
          </a:xfrm>
          <a:prstGeom prst="rect">
            <a:avLst/>
          </a:prstGeom>
          <a:solidFill>
            <a:srgbClr val="FBFBFB"/>
          </a:solidFill>
          <a:ln w="12700">
            <a:solidFill>
              <a:srgbClr val="D9D9D9"/>
            </a:solidFill>
            <a:prstDash val="solid"/>
          </a:ln>
        </p:spPr>
        <p:txBody>
          <a:bodyPr/>
          <a:lstStyle/>
          <a:p>
            <a:endParaRPr lang="zh-CN" altLang="en-US" dirty="0"/>
          </a:p>
        </p:txBody>
      </p:sp>
      <p:sp>
        <p:nvSpPr>
          <p:cNvPr id="59" name="Text 57"/>
          <p:cNvSpPr/>
          <p:nvPr/>
        </p:nvSpPr>
        <p:spPr>
          <a:xfrm>
            <a:off x="6808931" y="3332124"/>
            <a:ext cx="1688512" cy="203215"/>
          </a:xfrm>
          <a:prstGeom prst="rect">
            <a:avLst/>
          </a:prstGeom>
          <a:noFill/>
        </p:spPr>
        <p:txBody>
          <a:bodyPr wrap="square" rtlCol="0" anchor="ctr"/>
          <a:lstStyle/>
          <a:p>
            <a:pPr marL="0" indent="0" algn="l">
              <a:buNone/>
            </a:pPr>
            <a:r>
              <a:rPr lang="en-US" sz="1295" b="1" dirty="0">
                <a:solidFill>
                  <a:srgbClr val="2B2B2B"/>
                </a:solidFill>
                <a:latin typeface="Calibri" panose="020F0502020204030204" charset="0"/>
                <a:ea typeface="Calibri" panose="020F0502020204030204" pitchFamily="34" charset="-122"/>
                <a:cs typeface="Calibri" panose="020F0502020204030204" pitchFamily="34" charset="-120"/>
              </a:rPr>
              <a:t>Category</a:t>
            </a:r>
            <a:endParaRPr lang="en-US" sz="1295" dirty="0"/>
          </a:p>
        </p:txBody>
      </p:sp>
      <p:sp>
        <p:nvSpPr>
          <p:cNvPr id="66" name="Shape 64"/>
          <p:cNvSpPr/>
          <p:nvPr/>
        </p:nvSpPr>
        <p:spPr>
          <a:xfrm>
            <a:off x="6735983" y="3957400"/>
            <a:ext cx="4717052" cy="349113"/>
          </a:xfrm>
          <a:prstGeom prst="rect">
            <a:avLst/>
          </a:prstGeom>
          <a:solidFill>
            <a:srgbClr val="FBFBFB"/>
          </a:solidFill>
          <a:ln w="12700">
            <a:solidFill>
              <a:srgbClr val="D9D9D9"/>
            </a:solidFill>
            <a:prstDash val="solid"/>
          </a:ln>
        </p:spPr>
        <p:txBody>
          <a:bodyPr/>
          <a:lstStyle/>
          <a:p>
            <a:endParaRPr lang="zh-CN" altLang="en-US" dirty="0"/>
          </a:p>
        </p:txBody>
      </p:sp>
      <p:sp>
        <p:nvSpPr>
          <p:cNvPr id="67" name="Text 65"/>
          <p:cNvSpPr/>
          <p:nvPr/>
        </p:nvSpPr>
        <p:spPr>
          <a:xfrm>
            <a:off x="6808931" y="4030348"/>
            <a:ext cx="1688512" cy="203215"/>
          </a:xfrm>
          <a:prstGeom prst="rect">
            <a:avLst/>
          </a:prstGeom>
          <a:noFill/>
        </p:spPr>
        <p:txBody>
          <a:bodyPr wrap="square" rtlCol="0" anchor="ctr"/>
          <a:lstStyle/>
          <a:p>
            <a:pPr marL="0" indent="0" algn="l">
              <a:buNone/>
            </a:pPr>
            <a:r>
              <a:rPr lang="en-US" sz="1295" b="1" dirty="0">
                <a:solidFill>
                  <a:srgbClr val="C00000"/>
                </a:solidFill>
                <a:latin typeface="Calibri" panose="020F0502020204030204" charset="0"/>
                <a:ea typeface="Calibri" panose="020F0502020204030204" pitchFamily="34" charset="-122"/>
                <a:cs typeface="Calibri" panose="020F0502020204030204" pitchFamily="34" charset="-120"/>
              </a:rPr>
              <a:t>In_projection</a:t>
            </a:r>
          </a:p>
        </p:txBody>
      </p:sp>
      <p:sp>
        <p:nvSpPr>
          <p:cNvPr id="68" name="Text 66"/>
          <p:cNvSpPr/>
          <p:nvPr/>
        </p:nvSpPr>
        <p:spPr>
          <a:xfrm>
            <a:off x="8643341" y="4030348"/>
            <a:ext cx="1164395" cy="203215"/>
          </a:xfrm>
          <a:prstGeom prst="rect">
            <a:avLst/>
          </a:prstGeom>
          <a:noFill/>
        </p:spPr>
        <p:txBody>
          <a:bodyPr wrap="square" rtlCol="0" anchor="ctr"/>
          <a:lstStyle/>
          <a:p>
            <a:pPr marL="0" indent="0" algn="r">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 2305cc</a:t>
            </a:r>
            <a:endParaRPr lang="en-US" sz="1295" dirty="0"/>
          </a:p>
        </p:txBody>
      </p:sp>
      <p:sp>
        <p:nvSpPr>
          <p:cNvPr id="69" name="Text 67"/>
          <p:cNvSpPr/>
          <p:nvPr/>
        </p:nvSpPr>
        <p:spPr>
          <a:xfrm>
            <a:off x="9953633" y="4030348"/>
            <a:ext cx="1426453" cy="203215"/>
          </a:xfrm>
          <a:prstGeom prst="rect">
            <a:avLst/>
          </a:prstGeom>
          <a:noFill/>
        </p:spPr>
        <p:txBody>
          <a:bodyPr wrap="square" rtlCol="0" anchor="ctr"/>
          <a:lstStyle/>
          <a:p>
            <a:pPr marL="0" indent="0" algn="r">
              <a:buNone/>
            </a:pPr>
            <a:r>
              <a:rPr lang="en-US" sz="1295" b="1" dirty="0">
                <a:solidFill>
                  <a:srgbClr val="C00000"/>
                </a:solidFill>
                <a:latin typeface="Calibri" panose="020F0502020204030204" charset="0"/>
                <a:ea typeface="Calibri" panose="020F0502020204030204" pitchFamily="34" charset="-122"/>
                <a:cs typeface="Calibri" panose="020F0502020204030204" pitchFamily="34" charset="-120"/>
              </a:rPr>
              <a:t>47.25%</a:t>
            </a:r>
          </a:p>
        </p:txBody>
      </p:sp>
      <p:sp>
        <p:nvSpPr>
          <p:cNvPr id="71" name="Text 69"/>
          <p:cNvSpPr/>
          <p:nvPr/>
        </p:nvSpPr>
        <p:spPr>
          <a:xfrm>
            <a:off x="6808930" y="4717954"/>
            <a:ext cx="1688512" cy="203215"/>
          </a:xfrm>
          <a:prstGeom prst="rect">
            <a:avLst/>
          </a:prstGeom>
          <a:noFill/>
        </p:spPr>
        <p:txBody>
          <a:bodyPr wrap="square" rtlCol="0" anchor="ctr"/>
          <a:lstStyle/>
          <a:p>
            <a:pPr marL="0" indent="0" algn="l">
              <a:buNone/>
            </a:pPr>
            <a:r>
              <a:rPr lang="en-US" sz="1295" b="1" dirty="0">
                <a:solidFill>
                  <a:srgbClr val="C00000"/>
                </a:solidFill>
                <a:latin typeface="Calibri" panose="020F0502020204030204" charset="0"/>
                <a:ea typeface="Calibri" panose="020F0502020204030204" pitchFamily="34" charset="-122"/>
                <a:cs typeface="Calibri" panose="020F0502020204030204" pitchFamily="34" charset="-120"/>
              </a:rPr>
              <a:t>ssm</a:t>
            </a:r>
          </a:p>
        </p:txBody>
      </p:sp>
      <p:sp>
        <p:nvSpPr>
          <p:cNvPr id="72" name="Text 70"/>
          <p:cNvSpPr/>
          <p:nvPr/>
        </p:nvSpPr>
        <p:spPr>
          <a:xfrm>
            <a:off x="8643340" y="4717954"/>
            <a:ext cx="1164395" cy="203215"/>
          </a:xfrm>
          <a:prstGeom prst="rect">
            <a:avLst/>
          </a:prstGeom>
          <a:noFill/>
        </p:spPr>
        <p:txBody>
          <a:bodyPr wrap="square" rtlCol="0" anchor="ctr"/>
          <a:lstStyle/>
          <a:p>
            <a:pPr marL="0" indent="0" algn="r">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1828 cc</a:t>
            </a:r>
            <a:endParaRPr lang="en-US" sz="1295" dirty="0"/>
          </a:p>
        </p:txBody>
      </p:sp>
      <p:sp>
        <p:nvSpPr>
          <p:cNvPr id="73" name="Text 71"/>
          <p:cNvSpPr/>
          <p:nvPr/>
        </p:nvSpPr>
        <p:spPr>
          <a:xfrm>
            <a:off x="9953632" y="4717954"/>
            <a:ext cx="1426453" cy="203215"/>
          </a:xfrm>
          <a:prstGeom prst="rect">
            <a:avLst/>
          </a:prstGeom>
          <a:noFill/>
        </p:spPr>
        <p:txBody>
          <a:bodyPr wrap="square" rtlCol="0" anchor="ctr"/>
          <a:lstStyle/>
          <a:p>
            <a:pPr marL="0" indent="0" algn="r">
              <a:buNone/>
            </a:pPr>
            <a:r>
              <a:rPr lang="en-US" sz="1295" b="1" dirty="0">
                <a:solidFill>
                  <a:srgbClr val="C00000"/>
                </a:solidFill>
                <a:latin typeface="Calibri" panose="020F0502020204030204" charset="0"/>
                <a:ea typeface="Calibri" panose="020F0502020204030204" pitchFamily="34" charset="-122"/>
                <a:cs typeface="Calibri" panose="020F0502020204030204" pitchFamily="34" charset="-120"/>
              </a:rPr>
              <a:t>34.48%</a:t>
            </a:r>
          </a:p>
        </p:txBody>
      </p:sp>
      <p:sp>
        <p:nvSpPr>
          <p:cNvPr id="75" name="Text 73"/>
          <p:cNvSpPr/>
          <p:nvPr/>
        </p:nvSpPr>
        <p:spPr>
          <a:xfrm>
            <a:off x="6808930" y="5067066"/>
            <a:ext cx="1688512" cy="203215"/>
          </a:xfrm>
          <a:prstGeom prst="rect">
            <a:avLst/>
          </a:prstGeom>
          <a:noFill/>
        </p:spPr>
        <p:txBody>
          <a:bodyPr wrap="square" rtlCol="0" anchor="ctr"/>
          <a:lstStyle/>
          <a:p>
            <a:pPr marL="0" indent="0" algn="l">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out_projection</a:t>
            </a:r>
            <a:endParaRPr lang="en-US" sz="1295" dirty="0"/>
          </a:p>
        </p:txBody>
      </p:sp>
      <p:sp>
        <p:nvSpPr>
          <p:cNvPr id="76" name="Text 74"/>
          <p:cNvSpPr/>
          <p:nvPr/>
        </p:nvSpPr>
        <p:spPr>
          <a:xfrm>
            <a:off x="8643340" y="5067066"/>
            <a:ext cx="1164395" cy="203215"/>
          </a:xfrm>
          <a:prstGeom prst="rect">
            <a:avLst/>
          </a:prstGeom>
          <a:noFill/>
        </p:spPr>
        <p:txBody>
          <a:bodyPr wrap="square" rtlCol="0" anchor="ctr"/>
          <a:lstStyle/>
          <a:p>
            <a:pPr marL="0" indent="0" algn="r">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833 cc</a:t>
            </a:r>
            <a:endParaRPr lang="en-US" sz="1295" dirty="0"/>
          </a:p>
        </p:txBody>
      </p:sp>
      <p:sp>
        <p:nvSpPr>
          <p:cNvPr id="77" name="Text 75"/>
          <p:cNvSpPr/>
          <p:nvPr/>
        </p:nvSpPr>
        <p:spPr>
          <a:xfrm>
            <a:off x="9953632" y="5067066"/>
            <a:ext cx="1426453" cy="203215"/>
          </a:xfrm>
          <a:prstGeom prst="rect">
            <a:avLst/>
          </a:prstGeom>
          <a:noFill/>
        </p:spPr>
        <p:txBody>
          <a:bodyPr wrap="square" rtlCol="0" anchor="ctr"/>
          <a:lstStyle/>
          <a:p>
            <a:pPr marL="0" indent="0" algn="r">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15.71%</a:t>
            </a:r>
            <a:endParaRPr lang="en-US" sz="1295" dirty="0"/>
          </a:p>
        </p:txBody>
      </p:sp>
      <p:sp>
        <p:nvSpPr>
          <p:cNvPr id="79" name="Text 77"/>
          <p:cNvSpPr/>
          <p:nvPr/>
        </p:nvSpPr>
        <p:spPr>
          <a:xfrm>
            <a:off x="6808930" y="5416178"/>
            <a:ext cx="1688512" cy="203215"/>
          </a:xfrm>
          <a:prstGeom prst="rect">
            <a:avLst/>
          </a:prstGeom>
          <a:noFill/>
        </p:spPr>
        <p:txBody>
          <a:bodyPr wrap="square" rtlCol="0" anchor="ctr"/>
          <a:lstStyle/>
          <a:p>
            <a:pPr marL="0" indent="0" algn="l">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total</a:t>
            </a:r>
            <a:endParaRPr lang="en-US" sz="1295" dirty="0"/>
          </a:p>
        </p:txBody>
      </p:sp>
      <p:sp>
        <p:nvSpPr>
          <p:cNvPr id="80" name="Text 78"/>
          <p:cNvSpPr/>
          <p:nvPr/>
        </p:nvSpPr>
        <p:spPr>
          <a:xfrm>
            <a:off x="8643340" y="5416178"/>
            <a:ext cx="1164395" cy="203215"/>
          </a:xfrm>
          <a:prstGeom prst="rect">
            <a:avLst/>
          </a:prstGeom>
          <a:noFill/>
        </p:spPr>
        <p:txBody>
          <a:bodyPr wrap="square" rtlCol="0" anchor="ctr"/>
          <a:lstStyle/>
          <a:p>
            <a:pPr marL="0" indent="0" algn="r">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 5301cc</a:t>
            </a:r>
            <a:endParaRPr lang="en-US" sz="1295" dirty="0"/>
          </a:p>
        </p:txBody>
      </p:sp>
      <p:sp>
        <p:nvSpPr>
          <p:cNvPr id="81" name="Text 79"/>
          <p:cNvSpPr/>
          <p:nvPr/>
        </p:nvSpPr>
        <p:spPr>
          <a:xfrm>
            <a:off x="9953632" y="5416178"/>
            <a:ext cx="1426453" cy="203215"/>
          </a:xfrm>
          <a:prstGeom prst="rect">
            <a:avLst/>
          </a:prstGeom>
          <a:noFill/>
        </p:spPr>
        <p:txBody>
          <a:bodyPr wrap="square" rtlCol="0" anchor="ctr"/>
          <a:lstStyle/>
          <a:p>
            <a:pPr marL="0" indent="0" algn="r">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100%</a:t>
            </a:r>
            <a:endParaRPr lang="en-US" sz="1295" dirty="0"/>
          </a:p>
        </p:txBody>
      </p:sp>
      <p:sp>
        <p:nvSpPr>
          <p:cNvPr id="3" name="文本框 2"/>
          <p:cNvSpPr txBox="1"/>
          <p:nvPr/>
        </p:nvSpPr>
        <p:spPr>
          <a:xfrm>
            <a:off x="3084195" y="1101090"/>
            <a:ext cx="3168650" cy="521970"/>
          </a:xfrm>
          <a:prstGeom prst="rect">
            <a:avLst/>
          </a:prstGeom>
          <a:noFill/>
        </p:spPr>
        <p:txBody>
          <a:bodyPr wrap="square" rtlCol="0">
            <a:spAutoFit/>
          </a:bodyPr>
          <a:lstStyle/>
          <a:p>
            <a:r>
              <a:rPr lang="en-US" sz="1400" b="1" i="1" dirty="0">
                <a:solidFill>
                  <a:srgbClr val="C00000"/>
                </a:solidFill>
                <a:latin typeface="Calibri" panose="020F0502020204030204" charset="0"/>
                <a:ea typeface="Calibri" panose="020F0502020204030204" pitchFamily="34" charset="-122"/>
                <a:cs typeface="Calibri" panose="020F0502020204030204" pitchFamily="34" charset="-120"/>
              </a:rPr>
              <a:t>Requirement :             100</a:t>
            </a:r>
            <a:r>
              <a:rPr lang="en-US" altLang="zh-CN" sz="1400" b="1" i="1" dirty="0">
                <a:solidFill>
                  <a:srgbClr val="C00000"/>
                </a:solidFill>
                <a:latin typeface="Calibri" panose="020F0502020204030204" charset="0"/>
                <a:ea typeface="Calibri" panose="020F0502020204030204" pitchFamily="34" charset="-122"/>
                <a:cs typeface="Calibri" panose="020F0502020204030204" pitchFamily="34" charset="-120"/>
              </a:rPr>
              <a:t> frames per sec</a:t>
            </a:r>
          </a:p>
          <a:p>
            <a:r>
              <a:rPr lang="en-US" altLang="zh-CN" sz="1400" b="1" i="1" dirty="0">
                <a:solidFill>
                  <a:srgbClr val="C00000"/>
                </a:solidFill>
                <a:latin typeface="Calibri" panose="020F0502020204030204" charset="0"/>
                <a:ea typeface="Calibri" panose="020F0502020204030204" pitchFamily="34" charset="-122"/>
                <a:cs typeface="Calibri" panose="020F0502020204030204" pitchFamily="34" charset="-120"/>
              </a:rPr>
              <a:t>Achieved(100MHz):   471 frames per sec</a:t>
            </a:r>
            <a:endParaRPr lang="en-US" sz="1400" b="1" i="1" dirty="0">
              <a:solidFill>
                <a:srgbClr val="C00000"/>
              </a:solidFill>
              <a:latin typeface="Calibri" panose="020F0502020204030204" charset="0"/>
              <a:ea typeface="Calibri" panose="020F0502020204030204" pitchFamily="34" charset="-122"/>
              <a:cs typeface="Calibri" panose="020F0502020204030204" pitchFamily="34" charset="-120"/>
            </a:endParaRPr>
          </a:p>
        </p:txBody>
      </p:sp>
      <p:sp>
        <p:nvSpPr>
          <p:cNvPr id="88" name="Text 69"/>
          <p:cNvSpPr/>
          <p:nvPr/>
        </p:nvSpPr>
        <p:spPr>
          <a:xfrm>
            <a:off x="6814716" y="4364056"/>
            <a:ext cx="1688512" cy="203215"/>
          </a:xfrm>
          <a:prstGeom prst="rect">
            <a:avLst/>
          </a:prstGeom>
          <a:noFill/>
        </p:spPr>
        <p:txBody>
          <a:bodyPr wrap="square" rtlCol="0" anchor="ctr"/>
          <a:lstStyle/>
          <a:p>
            <a:pPr marL="0" indent="0" algn="l">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Ping-pong buffer</a:t>
            </a:r>
            <a:endParaRPr lang="en-US" sz="1295" dirty="0"/>
          </a:p>
        </p:txBody>
      </p:sp>
      <p:sp>
        <p:nvSpPr>
          <p:cNvPr id="89" name="Text 70"/>
          <p:cNvSpPr/>
          <p:nvPr/>
        </p:nvSpPr>
        <p:spPr>
          <a:xfrm>
            <a:off x="8649126" y="4364056"/>
            <a:ext cx="1164395" cy="203215"/>
          </a:xfrm>
          <a:prstGeom prst="rect">
            <a:avLst/>
          </a:prstGeom>
          <a:noFill/>
        </p:spPr>
        <p:txBody>
          <a:bodyPr wrap="square" rtlCol="0" anchor="ctr"/>
          <a:lstStyle/>
          <a:p>
            <a:pPr marL="0" indent="0" algn="r">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199 cc</a:t>
            </a:r>
            <a:endParaRPr lang="en-US" sz="1295" dirty="0"/>
          </a:p>
        </p:txBody>
      </p:sp>
      <p:sp>
        <p:nvSpPr>
          <p:cNvPr id="90" name="Text 71"/>
          <p:cNvSpPr/>
          <p:nvPr/>
        </p:nvSpPr>
        <p:spPr>
          <a:xfrm>
            <a:off x="9959418" y="4364056"/>
            <a:ext cx="1426453" cy="203215"/>
          </a:xfrm>
          <a:prstGeom prst="rect">
            <a:avLst/>
          </a:prstGeom>
          <a:noFill/>
        </p:spPr>
        <p:txBody>
          <a:bodyPr wrap="square" rtlCol="0" anchor="ctr"/>
          <a:lstStyle/>
          <a:p>
            <a:pPr marL="0" indent="0" algn="r">
              <a:buNone/>
            </a:pPr>
            <a:r>
              <a:rPr lang="en-US" sz="1295" dirty="0">
                <a:solidFill>
                  <a:srgbClr val="2B2B2B"/>
                </a:solidFill>
                <a:latin typeface="Calibri" panose="020F0502020204030204" charset="0"/>
                <a:ea typeface="Calibri" panose="020F0502020204030204" pitchFamily="34" charset="-122"/>
                <a:cs typeface="Calibri" panose="020F0502020204030204" pitchFamily="34" charset="-120"/>
              </a:rPr>
              <a:t>3.75%</a:t>
            </a:r>
            <a:endParaRPr lang="en-US" sz="1295"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4" presetClass="entr" presetSubtype="16"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box(in)">
                                      <p:cBhvr>
                                        <p:cTn id="11"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3" grpId="1"/>
      <p:bldP spid="52" grpId="0"/>
      <p:bldP spid="52" grpId="1"/>
      <p:bldP spid="53" grpId="0"/>
      <p:bldP spid="53" grpId="1"/>
      <p:bldP spid="54" grpId="0"/>
      <p:bldP spid="54" grpId="1"/>
      <p:bldP spid="55" grpId="0"/>
      <p:bldP spid="55" grpId="1"/>
      <p:bldP spid="63" grpId="0"/>
      <p:bldP spid="63" grpId="1"/>
      <p:bldP spid="64" grpId="0"/>
      <p:bldP spid="64" grpId="1"/>
      <p:bldP spid="65" grpId="0"/>
      <p:bldP spid="65" grpId="1"/>
      <p:bldP spid="3" grpId="0"/>
      <p:bldP spid="3" grpId="1"/>
    </p:bldLst>
  </p:timing>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29&quot;:[50053024]}"/>
</p:tagLst>
</file>

<file path=ppt/tags/tag2.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3.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4.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094473b828724a65fb090fa1836cb64d31dad0ac"/>
  <p:tag name="KSO_WM_NEWLAYOUT_ID" val="slide_a81418525f254632"/>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SYNC_SLIDE_TEXT" val="1"/>
  <p:tag name="KSO_WM_UNIT_INDEX" val="1_1_3"/>
  <p:tag name="KSO_WM_UNIT_SUBTYPE" val="d"/>
  <p:tag name="KSO_WM_UNIT_TYPE" val="l_h_i"/>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8.xml><?xml version="1.0" encoding="utf-8"?>
<p:tagLst xmlns:a="http://schemas.openxmlformats.org/drawingml/2006/main" xmlns:r="http://schemas.openxmlformats.org/officeDocument/2006/relationships"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SYNC_SLIDE_TEXT" val="1"/>
  <p:tag name="KSO_WM_UNIT_INDEX" val="1_2_3"/>
  <p:tag name="KSO_WM_UNIT_SUBTYPE" val="d"/>
  <p:tag name="KSO_WM_UNIT_TYPE" val="l_h_i"/>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2_1"/>
  <p:tag name="KSO_WM_UNIT_TYPE" val="l_h_f"/>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SYNC_SLIDE_TEXT" val="1"/>
  <p:tag name="KSO_WM_UNIT_INDEX" val="1_3_3"/>
  <p:tag name="KSO_WM_UNIT_SUBTYPE" val="d"/>
  <p:tag name="KSO_WM_UNIT_TYPE" val="l_h_i"/>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SYNC_SLIDE_TEXT" val="1"/>
  <p:tag name="KSO_WM_UNIT_INDEX" val="1_3_3"/>
  <p:tag name="KSO_WM_UNIT_SUBTYPE" val="d"/>
  <p:tag name="KSO_WM_UNIT_TYPE" val="l_h_i"/>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3_1"/>
  <p:tag name="KSO_WM_UNIT_TYPE" val="l_h_f"/>
</p:tagLst>
</file>

<file path=ppt/tags/tag15.xml><?xml version="1.0" encoding="utf-8"?>
<p:tagLst xmlns:a="http://schemas.openxmlformats.org/drawingml/2006/main" xmlns:r="http://schemas.openxmlformats.org/officeDocument/2006/relationships" xmlns:p="http://schemas.openxmlformats.org/presentationml/2006/main">
  <p:tag name="KSO_WM_SLIDE_CONTENT_ORIENTATION" val=""/>
  <p:tag name="KSO_WM_SLIDE_HAS_MASK" val="0"/>
  <p:tag name="KSO_WM_SLIDE_ITEM_CNT" val="3"/>
  <p:tag name="KSO_WM_SLIDE_TYPE" val="text"/>
  <p:tag name="KSO_WM_TEMPLATE_SUBCATEGORY" val="29"/>
  <p:tag name="KSO_WM_BEAUTIFY_FLAG" val="#wm#"/>
  <p:tag name="KSO_WM_TEMPLATE_SLIDE_ID" val="slide_a81418525f254632"/>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fgm#"/>
  <p:tag name="KSO_WM_FIGMA_FLAG" val="#fgm#"/>
  <p:tag name="KSO_WM_UNIT_INDEX" val="1"/>
  <p:tag name="KSO_WM_UNIT_TYPE" val="a"/>
  <p:tag name="KSO_WM_LAYOUT_CHECK_HASH" val="094473b828724a65fb090fa1836cb64d31dad0ac"/>
  <p:tag name="KSO_WM_NEWLAYOUT_ID" val="slide_a81418525f254632"/>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fgm#"/>
  <p:tag name="KSO_WM_DIAGRAM_GROUP_CODE" val="1"/>
  <p:tag name="KSO_WM_FIGMA_FLAG" val="#fgm#"/>
  <p:tag name="KSO_WM_UNIT_INDEX" val="1_1_1"/>
  <p:tag name="KSO_WM_UNIT_TYPE" val="l_h_f"/>
</p:tagLst>
</file>

<file path=ppt/tags/tag18.xml><?xml version="1.0" encoding="utf-8"?>
<p:tagLst xmlns:a="http://schemas.openxmlformats.org/drawingml/2006/main" xmlns:r="http://schemas.openxmlformats.org/officeDocument/2006/relationships" xmlns:p="http://schemas.openxmlformats.org/presentationml/2006/main">
  <p:tag name="TABLE_ENDDRAG_ORIGIN_RECT" val="464*246"/>
  <p:tag name="TABLE_ENDDRAG_RECT" val="25*214*464*246"/>
</p:tagLst>
</file>

<file path=ppt/tags/tag19.xml><?xml version="1.0" encoding="utf-8"?>
<p:tagLst xmlns:a="http://schemas.openxmlformats.org/drawingml/2006/main" xmlns:r="http://schemas.openxmlformats.org/officeDocument/2006/relationships" xmlns:p="http://schemas.openxmlformats.org/presentationml/2006/main">
  <p:tag name="TABLE_ENDDRAG_ORIGIN_RECT" val="367*328"/>
  <p:tag name="TABLE_ENDDRAG_RECT" val="485*113*367*328"/>
</p:tagLst>
</file>

<file path=ppt/tags/tag20.xml><?xml version="1.0" encoding="utf-8"?>
<p:tagLst xmlns:a="http://schemas.openxmlformats.org/drawingml/2006/main" xmlns:r="http://schemas.openxmlformats.org/officeDocument/2006/relationships" xmlns:p="http://schemas.openxmlformats.org/presentationml/2006/main">
  <p:tag name="TABLE_ENDDRAG_ORIGIN_RECT" val="367*328"/>
  <p:tag name="TABLE_ENDDRAG_RECT" val="485*113*367*328"/>
</p:tagLst>
</file>

<file path=ppt/tags/tag21.xml><?xml version="1.0" encoding="utf-8"?>
<p:tagLst xmlns:a="http://schemas.openxmlformats.org/drawingml/2006/main" xmlns:r="http://schemas.openxmlformats.org/officeDocument/2006/relationships" xmlns:p="http://schemas.openxmlformats.org/presentationml/2006/main">
  <p:tag name="KSO_WM_SLIDE_ID" val="custom20235033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5033"/>
  <p:tag name="KSO_WM_SLIDE_TYPE" val="text"/>
  <p:tag name="KSO_WM_SLIDE_SUBTYPE" val="picTxt"/>
  <p:tag name="KSO_WM_SLIDE_SIZE" val="408.225*360.15"/>
  <p:tag name="KSO_WM_SLIDE_POSITION" val="504.075*131.75"/>
  <p:tag name="KSO_WM_SLIDE_LAYOUT" val="a_f_β_l"/>
  <p:tag name="KSO_WM_SLIDE_LAYOUT_CNT" val="1_1_1_1"/>
  <p:tag name="KSO_WM_SPECIAL_SOURCE" val="bdnull"/>
  <p:tag name="KSO_WM_DIAGRAM_GROUP_CODE" val="l1-1"/>
  <p:tag name="KSO_WM_SLIDE_DIAGTYPE" val="l"/>
</p:tagLst>
</file>

<file path=ppt/tags/tag2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033_1*a*1"/>
  <p:tag name="KSO_WM_TEMPLATE_CATEGORY" val="custom"/>
  <p:tag name="KSO_WM_TEMPLATE_INDEX" val="20235033"/>
  <p:tag name="KSO_WM_UNIT_LAYERLEVEL" val="1"/>
  <p:tag name="KSO_WM_TAG_VERSION" val="3.0"/>
  <p:tag name="KSO_WM_BEAUTIFY_FLAG" val="#wm#"/>
  <p:tag name="KSO_WM_UNIT_VALUE" val="30"/>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1"/>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5033_1*f*1"/>
  <p:tag name="KSO_WM_TEMPLATE_CATEGORY" val="custom"/>
  <p:tag name="KSO_WM_TEMPLATE_INDEX" val="20235033"/>
  <p:tag name="KSO_WM_UNIT_LAYERLEVEL" val="1"/>
  <p:tag name="KSO_WM_TAG_VERSION" val="3.0"/>
  <p:tag name="KSO_WM_BEAUTIFY_FLAG" val="#wm#"/>
  <p:tag name="KSO_WM_UNIT_SUBTYPE" val="a"/>
  <p:tag name="KSO_WM_UNIT_NOCLEAR" val="0"/>
  <p:tag name="KSO_WM_UNIT_TYPE" val="f"/>
  <p:tag name="KSO_WM_UNIT_INDEX" val="1"/>
  <p:tag name="KSO_WM_UNIT_TEXT_TYPE" val="1"/>
  <p:tag name="KSO_WM_UNIT_TEXT_LAYER_COUNT" val="1"/>
  <p:tag name="KSO_WM_UNIT_VALUE" val="50"/>
  <p:tag name="KSO_WM_UNIT_PRESET_TEXT" val="单击此处输入正文，文字是您思想的提炼，为了最终演示发布的良好效果，请言简的阐述观点。"/>
  <p:tag name="KSO_WM_UNIT_TEXT_FILL_FORE_SCHEMECOLOR_INDEX" val="13"/>
  <p:tag name="KSO_WM_UNIT_TEXT_FILL_TYPE" val="1"/>
  <p:tag name="KSO_WM_UNIT_USESOURCEFORMAT_APPLY" val="1"/>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5033_1*f*1"/>
  <p:tag name="KSO_WM_TEMPLATE_CATEGORY" val="custom"/>
  <p:tag name="KSO_WM_TEMPLATE_INDEX" val="20235033"/>
  <p:tag name="KSO_WM_UNIT_LAYERLEVEL" val="1"/>
  <p:tag name="KSO_WM_TAG_VERSION" val="3.0"/>
  <p:tag name="KSO_WM_UNIT_SUBTYPE" val="a"/>
  <p:tag name="KSO_WM_UNIT_NOCLEAR" val="0"/>
  <p:tag name="KSO_WM_UNIT_TEXT_TYPE" val="1"/>
  <p:tag name="KSO_WM_UNIT_TEXT_LAYER_COUNT" val="1"/>
  <p:tag name="KSO_WM_UNIT_VALUE" val="50"/>
  <p:tag name="KSO_WM_UNIT_PRESET_TEXT" val="单击此处输入正文，文字是您思想的提炼，为了最终演示发布的良好效果，请言简的阐述观点。"/>
  <p:tag name="KSO_WM_UNIT_TEXT_FILL_FORE_SCHEMECOLOR_INDEX" val="13"/>
  <p:tag name="KSO_WM_UNIT_TEXT_FILL_TYPE" val="1"/>
  <p:tag name="KSO_WM_UNIT_USESOURCEFORMAT_APPLY" val="1"/>
</p:tagLst>
</file>

<file path=ppt/tags/tag25.xml><?xml version="1.0" encoding="utf-8"?>
<p:tagLst xmlns:a="http://schemas.openxmlformats.org/drawingml/2006/main" xmlns:r="http://schemas.openxmlformats.org/officeDocument/2006/relationships" xmlns:p="http://schemas.openxmlformats.org/presentationml/2006/main">
  <p:tag name="TABLE_ENDDRAG_ORIGIN_RECT" val="604*288"/>
  <p:tag name="TABLE_ENDDRAG_RECT" val="81*165*604*288"/>
</p:tagLst>
</file>

<file path=ppt/tags/tag26.xml><?xml version="1.0" encoding="utf-8"?>
<p:tagLst xmlns:a="http://schemas.openxmlformats.org/drawingml/2006/main" xmlns:r="http://schemas.openxmlformats.org/officeDocument/2006/relationships" xmlns:p="http://schemas.openxmlformats.org/presentationml/2006/main">
  <p:tag name="KSO_WM_SLIDE_ID" val="custom20235033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5033"/>
  <p:tag name="KSO_WM_SLIDE_TYPE" val="text"/>
  <p:tag name="KSO_WM_SLIDE_SUBTYPE" val="picTxt"/>
  <p:tag name="KSO_WM_SLIDE_SIZE" val="408.225*360.15"/>
  <p:tag name="KSO_WM_SLIDE_POSITION" val="504.075*131.75"/>
  <p:tag name="KSO_WM_SLIDE_LAYOUT" val="a_f_β_l"/>
  <p:tag name="KSO_WM_SLIDE_LAYOUT_CNT" val="1_1_1_1"/>
  <p:tag name="KSO_WM_SPECIAL_SOURCE" val="bdnull"/>
  <p:tag name="KSO_WM_DIAGRAM_GROUP_CODE" val="l1-1"/>
  <p:tag name="KSO_WM_SLIDE_DIAGTYPE" val="l"/>
</p:tagLst>
</file>

<file path=ppt/tags/tag2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033_1*a*1"/>
  <p:tag name="KSO_WM_TEMPLATE_CATEGORY" val="custom"/>
  <p:tag name="KSO_WM_TEMPLATE_INDEX" val="20235033"/>
  <p:tag name="KSO_WM_UNIT_LAYERLEVEL" val="1"/>
  <p:tag name="KSO_WM_TAG_VERSION" val="3.0"/>
  <p:tag name="KSO_WM_BEAUTIFY_FLAG" val="#wm#"/>
  <p:tag name="KSO_WM_UNIT_VALUE" val="30"/>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1"/>
</p:tagLst>
</file>

<file path=ppt/tags/tag28.xml><?xml version="1.0" encoding="utf-8"?>
<p:tagLst xmlns:a="http://schemas.openxmlformats.org/drawingml/2006/main" xmlns:r="http://schemas.openxmlformats.org/officeDocument/2006/relationships" xmlns:p="http://schemas.openxmlformats.org/presentationml/2006/main">
  <p:tag name="KSO_WM_SLIDE_ID" val="custom20235033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5033"/>
  <p:tag name="KSO_WM_SLIDE_TYPE" val="text"/>
  <p:tag name="KSO_WM_SLIDE_SUBTYPE" val="picTxt"/>
  <p:tag name="KSO_WM_SLIDE_SIZE" val="408.225*360.15"/>
  <p:tag name="KSO_WM_SLIDE_POSITION" val="504.075*131.75"/>
  <p:tag name="KSO_WM_SLIDE_LAYOUT" val="a_f_β_l"/>
  <p:tag name="KSO_WM_SLIDE_LAYOUT_CNT" val="1_1_1_1"/>
  <p:tag name="KSO_WM_SPECIAL_SOURCE" val="bdnull"/>
  <p:tag name="KSO_WM_DIAGRAM_GROUP_CODE" val="l1-1"/>
  <p:tag name="KSO_WM_SLIDE_DIAGTYPE" val="l"/>
</p:tagLst>
</file>

<file path=ppt/tags/tag2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033_1*a*1"/>
  <p:tag name="KSO_WM_TEMPLATE_CATEGORY" val="custom"/>
  <p:tag name="KSO_WM_TEMPLATE_INDEX" val="20235033"/>
  <p:tag name="KSO_WM_UNIT_LAYERLEVEL" val="1"/>
  <p:tag name="KSO_WM_TAG_VERSION" val="3.0"/>
  <p:tag name="KSO_WM_BEAUTIFY_FLAG" val="#wm#"/>
  <p:tag name="KSO_WM_UNIT_VALUE" val="30"/>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1"/>
</p:tagLst>
</file>

<file path=ppt/theme/theme1.xml><?xml version="1.0" encoding="utf-8"?>
<a:theme xmlns:a="http://schemas.openxmlformats.org/drawingml/2006/main" name="LU_PPT-mall_ENG_16-9">
  <a:themeElements>
    <a:clrScheme name="Anpassad 3">
      <a:dk1>
        <a:srgbClr val="9C6114"/>
      </a:dk1>
      <a:lt1>
        <a:sysClr val="window" lastClr="FFFFFF"/>
      </a:lt1>
      <a:dk2>
        <a:srgbClr val="000000"/>
      </a:dk2>
      <a:lt2>
        <a:srgbClr val="000080"/>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181002_Internal report</Template>
  <TotalTime>755</TotalTime>
  <Words>3272</Words>
  <Application>Microsoft Office PowerPoint</Application>
  <PresentationFormat>自定义</PresentationFormat>
  <Paragraphs>516</Paragraphs>
  <Slides>30</Slides>
  <Notes>18</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30</vt:i4>
      </vt:variant>
    </vt:vector>
  </HeadingPairs>
  <TitlesOfParts>
    <vt:vector size="42" baseType="lpstr">
      <vt:lpstr>-apple-system</vt:lpstr>
      <vt:lpstr>Helvetica Light</vt:lpstr>
      <vt:lpstr>Lucida Grande</vt:lpstr>
      <vt:lpstr>Arial</vt:lpstr>
      <vt:lpstr>Calibri</vt:lpstr>
      <vt:lpstr>Cambria Math</vt:lpstr>
      <vt:lpstr>Georgia</vt:lpstr>
      <vt:lpstr>Instrument Sans Medium</vt:lpstr>
      <vt:lpstr>Lora</vt:lpstr>
      <vt:lpstr>Times New Roman</vt:lpstr>
      <vt:lpstr>Wingdings</vt:lpstr>
      <vt:lpstr>LU_PPT-mall_ENG_16-9</vt:lpstr>
      <vt:lpstr>Efficient Mamba-Based Accelerator Architecture for Massive-MIMO Indoor Localization Using the LuViRA Dataset </vt:lpstr>
      <vt:lpstr>Contents </vt:lpstr>
      <vt:lpstr>Background &amp; Task: Massive MIMO</vt:lpstr>
      <vt:lpstr>Background &amp; Task: Massive MIMO</vt:lpstr>
      <vt:lpstr>Background – Previous works</vt:lpstr>
      <vt:lpstr>Background - Why use Mamba</vt:lpstr>
      <vt:lpstr>Background - Why use Mamba</vt:lpstr>
      <vt:lpstr>Background - Why use Mamba</vt:lpstr>
      <vt:lpstr>Background – Previous works</vt:lpstr>
      <vt:lpstr>Architecture</vt:lpstr>
      <vt:lpstr>Architecture</vt:lpstr>
      <vt:lpstr>Architecture </vt:lpstr>
      <vt:lpstr>Contents</vt:lpstr>
      <vt:lpstr>Linear Layers - MAC array design</vt:lpstr>
      <vt:lpstr>Linear Layers - MAC array design</vt:lpstr>
      <vt:lpstr>Trade Off 1: MAC Architecture Selection </vt:lpstr>
      <vt:lpstr>Linear Layers - Control Method</vt:lpstr>
      <vt:lpstr>Trade Off 2 : Reconfigurable vs. Fine-grained pipeline</vt:lpstr>
      <vt:lpstr>Nonlinear layer - RMSNorm</vt:lpstr>
      <vt:lpstr>Nonlinear layer - RMSNorm</vt:lpstr>
      <vt:lpstr>Nonlinear layer - RMSNorm</vt:lpstr>
      <vt:lpstr>Nonlinear layer - Sigmoid</vt:lpstr>
      <vt:lpstr>Nonlinear layer - Sigmoid</vt:lpstr>
      <vt:lpstr>Quantisation: Workflow </vt:lpstr>
      <vt:lpstr>Quantisation: Workflow </vt:lpstr>
      <vt:lpstr>Quantisation: Workflow </vt:lpstr>
      <vt:lpstr>Quantisation: Workflow</vt:lpstr>
      <vt:lpstr>Quantisation: Hardware implemetation</vt:lpstr>
      <vt:lpstr>Quantisation: Hardware implemetation</vt:lpstr>
      <vt:lpstr>PowerPoint 演示文稿</vt:lpstr>
    </vt:vector>
  </TitlesOfParts>
  <Company>Lunds universitet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Report</dc:title>
  <dc:creator>Baktash Behmanesh</dc:creator>
  <cp:lastModifiedBy>张晨曦</cp:lastModifiedBy>
  <cp:revision>903</cp:revision>
  <dcterms:created xsi:type="dcterms:W3CDTF">2018-10-01T08:48:00Z</dcterms:created>
  <dcterms:modified xsi:type="dcterms:W3CDTF">2026-06-01T23:49:48Z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B6F92FCDC9584775B69D219F0CFDFDBC_13</vt:lpwstr>
  </property>
  <property fmtid="{D5CDD505-2E9C-101B-9397-08002B2CF9AE}" pid="3" name="KSOProductBuildVer">
    <vt:lpwstr>2052-12.1.0.26375</vt:lpwstr>
  </property>
</Properties>
</file>