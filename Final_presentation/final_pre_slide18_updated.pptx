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"/>
  </p:notesMasterIdLst>
  <p:sldIdLst>
    <p:sldId id="516" r:id="rId3"/>
    <p:sldId id="532" r:id="rId4"/>
    <p:sldId id="545" r:id="rId5"/>
    <p:sldId id="546" r:id="rId7"/>
    <p:sldId id="551" r:id="rId8"/>
    <p:sldId id="552" r:id="rId9"/>
    <p:sldId id="553" r:id="rId10"/>
    <p:sldId id="554" r:id="rId11"/>
    <p:sldId id="527" r:id="rId12"/>
    <p:sldId id="542" r:id="rId13"/>
    <p:sldId id="543" r:id="rId14"/>
    <p:sldId id="544" r:id="rId15"/>
    <p:sldId id="524" r:id="rId16"/>
    <p:sldId id="526" r:id="rId17"/>
    <p:sldId id="521" r:id="rId18"/>
    <p:sldId id="556" r:id="rId19"/>
    <p:sldId id="536" r:id="rId20"/>
    <p:sldId id="540" r:id="rId21"/>
    <p:sldId id="539" r:id="rId22"/>
    <p:sldId id="541" r:id="rId23"/>
    <p:sldId id="533" r:id="rId24"/>
    <p:sldId id="549" r:id="rId25"/>
  </p:sldIdLst>
  <p:sldSz cx="12171045" cy="6838950"/>
  <p:notesSz cx="6858000" cy="9144000"/>
  <p:custDataLst>
    <p:tags r:id="rId29"/>
  </p:custDataLst>
  <p:defaultTextStyle>
    <a:defPPr>
      <a:defRPr lang="sv-S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" userDrawn="1">
          <p15:clr>
            <a:srgbClr val="A4A3A4"/>
          </p15:clr>
        </p15:guide>
        <p15:guide id="2" orient="horz" pos="4308" userDrawn="1">
          <p15:clr>
            <a:srgbClr val="A4A3A4"/>
          </p15:clr>
        </p15:guide>
        <p15:guide id="3" orient="horz" pos="842" userDrawn="1">
          <p15:clr>
            <a:srgbClr val="A4A3A4"/>
          </p15:clr>
        </p15:guide>
        <p15:guide id="4" orient="horz" pos="1005" userDrawn="1">
          <p15:clr>
            <a:srgbClr val="A4A3A4"/>
          </p15:clr>
        </p15:guide>
        <p15:guide id="5" pos="215" userDrawn="1">
          <p15:clr>
            <a:srgbClr val="A4A3A4"/>
          </p15:clr>
        </p15:guide>
        <p15:guide id="6" pos="7480" userDrawn="1">
          <p15:clr>
            <a:srgbClr val="A4A3A4"/>
          </p15:clr>
        </p15:guide>
        <p15:guide id="7" pos="4481" userDrawn="1">
          <p15:clr>
            <a:srgbClr val="A4A3A4"/>
          </p15:clr>
        </p15:guide>
        <p15:guide id="8" pos="322" userDrawn="1">
          <p15:clr>
            <a:srgbClr val="A4A3A4"/>
          </p15:clr>
        </p15:guide>
        <p15:guide id="9" pos="6984" userDrawn="1">
          <p15:clr>
            <a:srgbClr val="A4A3A4"/>
          </p15:clr>
        </p15:guide>
        <p15:guide id="10" pos="3939" userDrawn="1">
          <p15:clr>
            <a:srgbClr val="A4A3A4"/>
          </p15:clr>
        </p15:guide>
        <p15:guide id="11" pos="2890" userDrawn="1">
          <p15:clr>
            <a:srgbClr val="A4A3A4"/>
          </p15:clr>
        </p15:guide>
        <p15:guide id="12" pos="4752" userDrawn="1">
          <p15:clr>
            <a:srgbClr val="A4A3A4"/>
          </p15:clr>
        </p15:guide>
        <p15:guide id="13" pos="3133" userDrawn="1">
          <p15:clr>
            <a:srgbClr val="A4A3A4"/>
          </p15:clr>
        </p15:guide>
        <p15:guide id="14" pos="37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C6114"/>
    <a:srgbClr val="4F80BD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6" autoAdjust="0"/>
    <p:restoredTop sz="92026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638" y="113"/>
      </p:cViewPr>
      <p:guideLst>
        <p:guide orient="horz" pos="161"/>
        <p:guide orient="horz" pos="4308"/>
        <p:guide orient="horz" pos="842"/>
        <p:guide orient="horz" pos="1005"/>
        <p:guide pos="215"/>
        <p:guide pos="7480"/>
        <p:guide pos="4481"/>
        <p:guide pos="322"/>
        <p:guide pos="6984"/>
        <p:guide pos="3939"/>
        <p:guide pos="2890"/>
        <p:guide pos="4752"/>
        <p:guide pos="3133"/>
        <p:guide pos="37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6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68572-F02D-43CE-BFD7-D0486EEC6E6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42BEA-1C9E-4F69-A4DF-43828D1541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42BEA-1C9E-4F69-A4DF-43828D1541F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/>
          <p:cNvPicPr>
            <a:picLocks noChangeAspect="1"/>
          </p:cNvPicPr>
          <p:nvPr userDrawn="1"/>
        </p:nvPicPr>
        <p:blipFill rotWithShape="1">
          <a:blip r:embed="rId2"/>
          <a:srcRect t="1410" b="15718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5430003" y="1480432"/>
            <a:ext cx="6741360" cy="1298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6842254" y="1518628"/>
            <a:ext cx="4959227" cy="63798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253" y="2423260"/>
            <a:ext cx="5137348" cy="3484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6842254" y="2306806"/>
            <a:ext cx="513734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Bildobjekt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714352" y="1627904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objekt 17"/>
          <p:cNvPicPr>
            <a:picLocks noChangeAspect="1"/>
          </p:cNvPicPr>
          <p:nvPr userDrawn="1"/>
        </p:nvPicPr>
        <p:blipFill rotWithShape="1">
          <a:blip r:embed="rId2"/>
          <a:srcRect t="1410" b="15718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5430003" y="1480432"/>
            <a:ext cx="6741360" cy="258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5844404" y="3489855"/>
            <a:ext cx="6135199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5845019" y="3344378"/>
            <a:ext cx="61344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ktangel 2"/>
          <p:cNvSpPr/>
          <p:nvPr userDrawn="1"/>
        </p:nvSpPr>
        <p:spPr>
          <a:xfrm>
            <a:off x="135397" y="1167690"/>
            <a:ext cx="4257034" cy="469527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-1" fmla="*/ 0 w 4488028"/>
              <a:gd name="connsiteY0-2" fmla="*/ 0 h 2937993"/>
              <a:gd name="connsiteX1-3" fmla="*/ 4488028 w 4488028"/>
              <a:gd name="connsiteY1-4" fmla="*/ 0 h 2937993"/>
              <a:gd name="connsiteX2-5" fmla="*/ 0 w 4488028"/>
              <a:gd name="connsiteY2-6" fmla="*/ 2937993 h 2937993"/>
              <a:gd name="connsiteX3-7" fmla="*/ 0 w 4488028"/>
              <a:gd name="connsiteY3-8" fmla="*/ 0 h 29379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659" tIns="50659" rIns="50659" bIns="50659" numCol="1" spcCol="38100" rtlCol="0" anchor="ctr">
            <a:spAutoFit/>
          </a:bodyPr>
          <a:lstStyle/>
          <a:p>
            <a:pPr marL="0" marR="0" lvl="0" indent="0" algn="ctr" defTabSz="58229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sv-SE" sz="239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5844403" y="1765371"/>
            <a:ext cx="6135199" cy="156475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Title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 for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titles</a:t>
            </a:r>
            <a:endParaRPr lang="sv-SE" dirty="0"/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/>
          <p:cNvPicPr>
            <a:picLocks noChangeAspect="1"/>
          </p:cNvPicPr>
          <p:nvPr userDrawn="1"/>
        </p:nvPicPr>
        <p:blipFill rotWithShape="1">
          <a:blip r:embed="rId2"/>
          <a:srcRect l="6880" t="26162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6735068" y="1480432"/>
            <a:ext cx="5436295" cy="1298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7020374" y="1518628"/>
            <a:ext cx="4959227" cy="637985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7020373" y="2423260"/>
            <a:ext cx="4959228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7020374" y="2306806"/>
            <a:ext cx="495922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ktangel 2"/>
          <p:cNvSpPr/>
          <p:nvPr userDrawn="1"/>
        </p:nvSpPr>
        <p:spPr>
          <a:xfrm>
            <a:off x="135397" y="1167690"/>
            <a:ext cx="4257034" cy="469527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-1" fmla="*/ 0 w 4488028"/>
              <a:gd name="connsiteY0-2" fmla="*/ 0 h 2937993"/>
              <a:gd name="connsiteX1-3" fmla="*/ 4488028 w 4488028"/>
              <a:gd name="connsiteY1-4" fmla="*/ 0 h 2937993"/>
              <a:gd name="connsiteX2-5" fmla="*/ 0 w 4488028"/>
              <a:gd name="connsiteY2-6" fmla="*/ 2937993 h 2937993"/>
              <a:gd name="connsiteX3-7" fmla="*/ 0 w 4488028"/>
              <a:gd name="connsiteY3-8" fmla="*/ 0 h 29379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659" tIns="50659" rIns="50659" bIns="50659" numCol="1" spcCol="38100" rtlCol="0" anchor="ctr">
            <a:spAutoFit/>
          </a:bodyPr>
          <a:lstStyle/>
          <a:p>
            <a:pPr marL="0" marR="0" lvl="0" indent="0" algn="ctr" defTabSz="58229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sv-SE" sz="239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4" name="Bildobjekt 13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0"/>
          <p:cNvPicPr>
            <a:picLocks noChangeAspect="1"/>
          </p:cNvPicPr>
          <p:nvPr userDrawn="1"/>
        </p:nvPicPr>
        <p:blipFill rotWithShape="1">
          <a:blip r:embed="rId2"/>
          <a:srcRect l="6880" t="26162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14" name="Rektangel 2"/>
          <p:cNvSpPr/>
          <p:nvPr userDrawn="1"/>
        </p:nvSpPr>
        <p:spPr>
          <a:xfrm>
            <a:off x="135397" y="1167690"/>
            <a:ext cx="4257034" cy="469527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-1" fmla="*/ 0 w 4488028"/>
              <a:gd name="connsiteY0-2" fmla="*/ 0 h 2937993"/>
              <a:gd name="connsiteX1-3" fmla="*/ 4488028 w 4488028"/>
              <a:gd name="connsiteY1-4" fmla="*/ 0 h 2937993"/>
              <a:gd name="connsiteX2-5" fmla="*/ 0 w 4488028"/>
              <a:gd name="connsiteY2-6" fmla="*/ 2937993 h 2937993"/>
              <a:gd name="connsiteX3-7" fmla="*/ 0 w 4488028"/>
              <a:gd name="connsiteY3-8" fmla="*/ 0 h 29379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659" tIns="50659" rIns="50659" bIns="50659" numCol="1" spcCol="38100" rtlCol="0" anchor="ctr">
            <a:spAutoFit/>
          </a:bodyPr>
          <a:lstStyle/>
          <a:p>
            <a:pPr marL="0" marR="0" lvl="0" indent="0" algn="ctr" defTabSz="58229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sv-SE" sz="239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" name="Rektangel 2"/>
          <p:cNvSpPr/>
          <p:nvPr userDrawn="1"/>
        </p:nvSpPr>
        <p:spPr>
          <a:xfrm>
            <a:off x="5430003" y="1480432"/>
            <a:ext cx="6741360" cy="258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5844404" y="3489855"/>
            <a:ext cx="6135199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5845019" y="3344378"/>
            <a:ext cx="61344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5844403" y="1765371"/>
            <a:ext cx="6135199" cy="156475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Title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 for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titles</a:t>
            </a:r>
            <a:endParaRPr lang="sv-SE" dirty="0"/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0"/>
          <p:cNvPicPr>
            <a:picLocks noChangeAspect="1"/>
          </p:cNvPicPr>
          <p:nvPr userDrawn="1"/>
        </p:nvPicPr>
        <p:blipFill rotWithShape="1">
          <a:blip r:embed="rId2"/>
          <a:srcRect l="10261" t="19608" b="8271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6735068" y="1480432"/>
            <a:ext cx="5436295" cy="1298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7020374" y="1518628"/>
            <a:ext cx="4959227" cy="637985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7020373" y="2423260"/>
            <a:ext cx="4959228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7020374" y="2306806"/>
            <a:ext cx="495922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4" name="Bildobjekt 13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/>
          <p:cNvPicPr>
            <a:picLocks noChangeAspect="1"/>
          </p:cNvPicPr>
          <p:nvPr userDrawn="1"/>
        </p:nvPicPr>
        <p:blipFill rotWithShape="1">
          <a:blip r:embed="rId2"/>
          <a:srcRect l="10261" t="19608" b="8271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5430003" y="1480432"/>
            <a:ext cx="6741360" cy="258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5844404" y="3489855"/>
            <a:ext cx="6135199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5845019" y="3344378"/>
            <a:ext cx="61344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5844403" y="1765371"/>
            <a:ext cx="6135199" cy="156475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Title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 for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titles</a:t>
            </a:r>
            <a:endParaRPr lang="sv-SE" dirty="0"/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 descr="huset-rosa_16-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" y="-1"/>
            <a:ext cx="12180984" cy="6838951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Bildobjekt 14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 descr="huset-rosa_16-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Bildobjekt 14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510746" y="256556"/>
            <a:ext cx="11162270" cy="674320"/>
          </a:xfrm>
        </p:spPr>
        <p:txBody>
          <a:bodyPr/>
          <a:lstStyle/>
          <a:p>
            <a:r>
              <a:rPr lang="en-GB" noProof="0" dirty="0"/>
              <a:t>Header</a:t>
            </a:r>
            <a:endParaRPr lang="en-GB" noProof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510746" y="1070919"/>
            <a:ext cx="11162270" cy="5008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t" anchorCtr="0" compatLnSpc="1"/>
          <a:lstStyle>
            <a:lvl1pPr>
              <a:defRPr/>
            </a:lvl1pPr>
          </a:lstStyle>
          <a:p>
            <a:pPr lvl="0"/>
            <a:r>
              <a:rPr lang="en-GB" noProof="0" dirty="0"/>
              <a:t>Add text</a:t>
            </a:r>
            <a:endParaRPr lang="en-GB" noProof="0" dirty="0"/>
          </a:p>
          <a:p>
            <a:pPr lvl="1"/>
            <a:r>
              <a:rPr lang="en-GB" noProof="0" dirty="0"/>
              <a:t>Level two</a:t>
            </a:r>
            <a:endParaRPr lang="en-GB" noProof="0" dirty="0"/>
          </a:p>
          <a:p>
            <a:pPr lvl="2"/>
            <a:r>
              <a:rPr lang="en-GB" noProof="0" dirty="0"/>
              <a:t>Level three</a:t>
            </a:r>
            <a:endParaRPr lang="en-GB" noProof="0" dirty="0"/>
          </a:p>
          <a:p>
            <a:pPr lvl="3"/>
            <a:r>
              <a:rPr lang="en-GB" noProof="0" dirty="0"/>
              <a:t>Level four</a:t>
            </a:r>
            <a:endParaRPr lang="en-GB" noProof="0" dirty="0"/>
          </a:p>
          <a:p>
            <a:pPr lvl="0"/>
            <a:endParaRPr lang="en-GB" noProof="0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10746" y="6357296"/>
            <a:ext cx="2743200" cy="365125"/>
          </a:xfrm>
          <a:prstGeom prst="rect">
            <a:avLst/>
          </a:prstGeo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Header</a:t>
            </a:r>
            <a:endParaRPr lang="en-GB" noProof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518984" y="1079157"/>
            <a:ext cx="11158868" cy="49921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t" anchorCtr="0" compatLnSpc="1"/>
          <a:lstStyle/>
          <a:p>
            <a:pPr lvl="0"/>
            <a:r>
              <a:rPr lang="en-GB" noProof="0" dirty="0"/>
              <a:t>Add text</a:t>
            </a:r>
            <a:endParaRPr lang="en-GB" noProof="0" dirty="0"/>
          </a:p>
          <a:p>
            <a:pPr lvl="1"/>
            <a:r>
              <a:rPr lang="en-GB" noProof="0" dirty="0"/>
              <a:t>Level two</a:t>
            </a:r>
            <a:endParaRPr lang="en-GB" noProof="0" dirty="0"/>
          </a:p>
          <a:p>
            <a:pPr lvl="2"/>
            <a:r>
              <a:rPr lang="en-GB" noProof="0" dirty="0"/>
              <a:t>Level three</a:t>
            </a:r>
            <a:endParaRPr lang="en-GB" noProof="0" dirty="0"/>
          </a:p>
          <a:p>
            <a:pPr lvl="3"/>
            <a:r>
              <a:rPr lang="en-GB" noProof="0" dirty="0"/>
              <a:t>Level four</a:t>
            </a:r>
            <a:endParaRPr lang="en-GB" noProof="0" dirty="0"/>
          </a:p>
          <a:p>
            <a:pPr lvl="0"/>
            <a:endParaRPr lang="en-GB" noProof="0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18984" y="6375463"/>
            <a:ext cx="2743200" cy="365125"/>
          </a:xfrm>
          <a:prstGeom prst="rect">
            <a:avLst/>
          </a:prstGeo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 userDrawn="1"/>
        </p:nvSpPr>
        <p:spPr>
          <a:xfrm>
            <a:off x="197709" y="381001"/>
            <a:ext cx="11771440" cy="6357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5" name="Bildobjekt 4" descr="LundUniversity_C2line RGB 150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89450" y="1112256"/>
            <a:ext cx="3207776" cy="42852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  <a:endParaRPr lang="en-GB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889126" y="1848243"/>
            <a:ext cx="10259772" cy="3562332"/>
          </a:xfrm>
        </p:spPr>
        <p:txBody>
          <a:bodyPr/>
          <a:lstStyle>
            <a:lvl1pPr>
              <a:spcAft>
                <a:spcPts val="0"/>
              </a:spcAft>
              <a:defRPr sz="2195"/>
            </a:lvl1pPr>
            <a:lvl2pPr>
              <a:spcAft>
                <a:spcPts val="0"/>
              </a:spcAft>
              <a:buClr>
                <a:schemeClr val="tx2"/>
              </a:buClr>
              <a:defRPr sz="2195"/>
            </a:lvl2pPr>
            <a:lvl3pPr>
              <a:spcAft>
                <a:spcPts val="0"/>
              </a:spcAft>
              <a:buClr>
                <a:schemeClr val="tx2"/>
              </a:buClr>
              <a:defRPr/>
            </a:lvl3pPr>
            <a:lvl4pPr>
              <a:spcAft>
                <a:spcPts val="0"/>
              </a:spcAft>
              <a:buClr>
                <a:schemeClr val="tx2"/>
              </a:buClr>
              <a:defRPr/>
            </a:lvl4pPr>
          </a:lstStyle>
          <a:p>
            <a:pPr lvl="0"/>
            <a:r>
              <a:rPr lang="en-GB" noProof="0"/>
              <a:t>Add text</a:t>
            </a:r>
            <a:endParaRPr lang="en-GB" noProof="0"/>
          </a:p>
          <a:p>
            <a:pPr lvl="1"/>
            <a:r>
              <a:rPr lang="en-GB" noProof="0"/>
              <a:t>Level two</a:t>
            </a:r>
            <a:endParaRPr lang="en-GB" noProof="0"/>
          </a:p>
          <a:p>
            <a:pPr lvl="2"/>
            <a:r>
              <a:rPr lang="en-GB" noProof="0"/>
              <a:t>Level three</a:t>
            </a:r>
            <a:endParaRPr lang="en-GB" noProof="0"/>
          </a:p>
          <a:p>
            <a:pPr lvl="3"/>
            <a:r>
              <a:rPr lang="en-GB" noProof="0"/>
              <a:t>Level four</a:t>
            </a:r>
            <a:endParaRPr lang="en-GB" noProof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1007743" y="1499035"/>
            <a:ext cx="101496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ctangle 2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459626"/>
            <a:ext cx="710534" cy="303143"/>
          </a:xfrm>
          <a:prstGeom prst="rect">
            <a:avLst/>
          </a:prstGeom>
        </p:spPr>
        <p:txBody>
          <a:bodyPr vert="horz" wrap="square" lIns="90516" tIns="45258" rIns="90516" bIns="45258" numCol="1" anchor="t" anchorCtr="0" compatLnSpc="1"/>
          <a:lstStyle>
            <a:lvl1pPr>
              <a:defRPr sz="1595" b="1">
                <a:ea typeface="MS PGothic" panose="020B0600070205080204" pitchFamily="34" charset="-128"/>
              </a:defRPr>
            </a:lvl1pPr>
          </a:lstStyle>
          <a:p>
            <a:fld id="{B3606B9E-5A98-41E4-AEFB-F9B2EA2CEE49}" type="slidenum">
              <a:rPr lang="ko-KR" altLang="en-US" smtClean="0"/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8552" y="531918"/>
            <a:ext cx="10953940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8552" y="1519767"/>
            <a:ext cx="10953940" cy="1469108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1846" y="1887044"/>
            <a:ext cx="874794" cy="734554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79220" y="1950367"/>
            <a:ext cx="9178996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8552" y="3140851"/>
            <a:ext cx="10953940" cy="1469108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1846" y="3508128"/>
            <a:ext cx="874794" cy="734554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79220" y="3571452"/>
            <a:ext cx="9178996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8552" y="4761936"/>
            <a:ext cx="10953940" cy="1469108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1846" y="5129213"/>
            <a:ext cx="874794" cy="734554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79220" y="5192536"/>
            <a:ext cx="9178996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8.png"/><Relationship Id="rId23" Type="http://schemas.openxmlformats.org/officeDocument/2006/relationships/image" Target="../media/image13.pn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000" y="-72000"/>
            <a:ext cx="12310364" cy="6983998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8984" y="256555"/>
            <a:ext cx="11158868" cy="6660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b" anchorCtr="0" compatLnSpc="1"/>
          <a:lstStyle/>
          <a:p>
            <a:pPr lvl="0"/>
            <a:r>
              <a:rPr lang="en-GB" noProof="0" dirty="0"/>
              <a:t>Header</a:t>
            </a:r>
            <a:endParaRPr lang="en-GB" noProof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8984" y="1071108"/>
            <a:ext cx="11158868" cy="4952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t" anchorCtr="0" compatLnSpc="1"/>
          <a:lstStyle/>
          <a:p>
            <a:pPr lvl="0"/>
            <a:r>
              <a:rPr lang="en-GB" noProof="0" dirty="0"/>
              <a:t>Add text</a:t>
            </a:r>
            <a:endParaRPr lang="en-GB" noProof="0" dirty="0"/>
          </a:p>
          <a:p>
            <a:pPr lvl="1"/>
            <a:r>
              <a:rPr lang="en-GB" noProof="0" dirty="0"/>
              <a:t>Level two</a:t>
            </a:r>
            <a:endParaRPr lang="en-GB" noProof="0" dirty="0"/>
          </a:p>
          <a:p>
            <a:pPr lvl="2"/>
            <a:r>
              <a:rPr lang="en-GB" noProof="0" dirty="0"/>
              <a:t>Level three</a:t>
            </a:r>
            <a:endParaRPr lang="en-GB" noProof="0" dirty="0"/>
          </a:p>
          <a:p>
            <a:pPr lvl="3"/>
            <a:r>
              <a:rPr lang="en-GB" noProof="0" dirty="0"/>
              <a:t>Level four</a:t>
            </a:r>
            <a:endParaRPr lang="en-GB" noProof="0" dirty="0"/>
          </a:p>
        </p:txBody>
      </p:sp>
      <p:cxnSp>
        <p:nvCxnSpPr>
          <p:cNvPr id="8" name="Rak 7"/>
          <p:cNvCxnSpPr/>
          <p:nvPr/>
        </p:nvCxnSpPr>
        <p:spPr bwMode="auto">
          <a:xfrm>
            <a:off x="518984" y="996873"/>
            <a:ext cx="1115886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C611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Bildobjekt 10" descr="LundUniversity_C2line RGB 15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264900" y="6089544"/>
            <a:ext cx="527996" cy="705345"/>
          </a:xfrm>
          <a:prstGeom prst="rect">
            <a:avLst/>
          </a:prstGeom>
        </p:spPr>
      </p:pic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18984" y="6375463"/>
            <a:ext cx="2743200" cy="365125"/>
          </a:xfrm>
          <a:prstGeom prst="rect">
            <a:avLst/>
          </a:prstGeo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/>
          <a:ea typeface="+mj-ea"/>
          <a:cs typeface="+mj-cs"/>
        </a:defRPr>
      </a:lvl1pPr>
    </p:titleStyle>
    <p:bodyStyle>
      <a:lvl1pPr marL="230505" indent="-230505" algn="l" defTabSz="457200" rtl="0" eaLnBrk="1" latinLnBrk="0" hangingPunct="1">
        <a:spcBef>
          <a:spcPct val="20000"/>
        </a:spcBef>
        <a:buClr>
          <a:schemeClr val="tx2"/>
        </a:buClr>
        <a:buFont typeface="Arial" panose="020B0604020202020204"/>
        <a:buChar char="•"/>
        <a:defRPr sz="2200" kern="1200" baseline="0">
          <a:solidFill>
            <a:schemeClr val="tx2"/>
          </a:solidFill>
          <a:latin typeface="Arial" panose="020B0604020202020204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9C6114"/>
        </a:buClr>
        <a:buFont typeface="Arial" panose="020B0604020202020204"/>
        <a:buChar char="–"/>
        <a:defRPr sz="2200" kern="1200">
          <a:solidFill>
            <a:schemeClr val="tx2"/>
          </a:solidFill>
          <a:latin typeface="Arial" panose="020B0604020202020204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9C6114"/>
        </a:buClr>
        <a:buFont typeface="Lucida Grande"/>
        <a:buChar char="»"/>
        <a:defRPr sz="2000" kern="1200">
          <a:solidFill>
            <a:schemeClr val="tx2"/>
          </a:solidFill>
          <a:latin typeface="Arial" panose="020B0604020202020204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9C6114"/>
        </a:buClr>
        <a:buFont typeface="Arial" panose="020B0604020202020204"/>
        <a:buChar char="–"/>
        <a:defRPr sz="2000" kern="1200">
          <a:solidFill>
            <a:schemeClr val="tx2"/>
          </a:solidFill>
          <a:latin typeface="Arial" panose="020B0604020202020204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51.png"/><Relationship Id="rId3" Type="http://schemas.openxmlformats.org/officeDocument/2006/relationships/tags" Target="../tags/tag15.xml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3.xml"/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tags" Target="../tags/tag2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image" Target="../media/image57.svg"/><Relationship Id="rId1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/>
              <a:t>Efficient Mamba-Based Accelerator Architecture for Massive-MIMO Indoor Localization Using the LuViRA Dataset </a:t>
            </a:r>
            <a:endParaRPr lang="en-US" altLang="zh-CN" sz="2800" dirty="0"/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CHENXI ZHANG       Shengjie Chen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56985"/>
            <a:ext cx="2743200" cy="365125"/>
          </a:xfrm>
        </p:spPr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8552" y="401743"/>
            <a:ext cx="10953940" cy="607907"/>
          </a:xfrm>
        </p:spPr>
        <p:txBody>
          <a:bodyPr>
            <a:noAutofit/>
          </a:bodyPr>
          <a:lstStyle/>
          <a:p>
            <a:r>
              <a:rPr lang="en-US" altLang="zh-CN" b="1"/>
              <a:t>Contents</a:t>
            </a:r>
            <a:endParaRPr lang="en-US" altLang="zh-CN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755650" y="1439545"/>
            <a:ext cx="10805160" cy="493014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charset="0"/>
            </a:pPr>
            <a:r>
              <a:rPr lang="en-US" altLang="zh-CN" sz="2400" b="1"/>
              <a:t>1. Architechture</a:t>
            </a:r>
            <a:endParaRPr lang="en-US" altLang="zh-CN" sz="2400" b="1"/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Board-level deployment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 and fine-grained parallelism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en-US" altLang="zh-CN" sz="2400" b="1"/>
              <a:t>2. Linear Layers</a:t>
            </a:r>
            <a:endParaRPr lang="en-US" altLang="zh-CN" sz="2400" b="1"/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Reuse of in-proj, dt-proj and out-proj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 banking and memory access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en-US" altLang="zh-CN" sz="2400" b="1"/>
              <a:t>3. Non-linear Layers</a:t>
            </a:r>
            <a:endParaRPr lang="en-US" altLang="zh-CN" sz="2400" b="1"/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RMSNorm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Sigmoid</a:t>
            </a:r>
            <a:endParaRPr lang="en-US" altLang="zh-CN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en-US" altLang="zh-CN" sz="2400" b="1"/>
              <a:t>3. Quantisation</a:t>
            </a:r>
            <a:endParaRPr lang="en-US" altLang="zh-CN" sz="2400" b="1"/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implementation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buSzTx/>
              <a:buFont typeface="Wingdings" panose="05000000000000000000" charset="0"/>
            </a:pPr>
            <a:r>
              <a:rPr lang="en-US" altLang="zh-CN" sz="2400" b="1">
                <a:sym typeface="+mn-ea"/>
              </a:rPr>
              <a:t>4. Results</a:t>
            </a:r>
            <a:endParaRPr lang="en-US" altLang="zh-CN" sz="2400" b="1"/>
          </a:p>
          <a:p>
            <a:pPr lvl="0" algn="l">
              <a:buSzTx/>
              <a:buFont typeface="Wingdings" panose="05000000000000000000" charset="0"/>
            </a:pPr>
            <a:endParaRPr lang="en-US" altLang="zh-CN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Architecture</a:t>
            </a:r>
            <a:endParaRPr lang="en-US" dirty="0"/>
          </a:p>
        </p:txBody>
      </p:sp>
      <p:pic>
        <p:nvPicPr>
          <p:cNvPr id="3" name="图片 2" descr="board_level(a)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1975" y="1573530"/>
            <a:ext cx="8843645" cy="3853815"/>
          </a:xfrm>
          <a:prstGeom prst="rect">
            <a:avLst/>
          </a:prstGeom>
        </p:spPr>
      </p:pic>
      <p:pic>
        <p:nvPicPr>
          <p:cNvPr id="4" name="图片 3" descr="board_level(b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925" y="1573530"/>
            <a:ext cx="6489065" cy="394906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7592695" y="1388745"/>
            <a:ext cx="3141345" cy="413385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Architecture </a:t>
            </a:r>
            <a:endParaRPr lang="en-US" dirty="0"/>
          </a:p>
        </p:txBody>
      </p:sp>
      <p:pic>
        <p:nvPicPr>
          <p:cNvPr id="6" name="图片 5" descr="board_level(b)_nofram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710" y="1404620"/>
            <a:ext cx="6971030" cy="4057015"/>
          </a:xfrm>
          <a:prstGeom prst="rect">
            <a:avLst/>
          </a:prstGeom>
        </p:spPr>
      </p:pic>
      <p:pic>
        <p:nvPicPr>
          <p:cNvPr id="3" name="图片 2" descr="board_level(c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1565" y="1854200"/>
            <a:ext cx="4729480" cy="313055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2818765" y="3199765"/>
            <a:ext cx="4510405" cy="1027430"/>
          </a:xfrm>
          <a:prstGeom prst="round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systolic_pr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805" y="2164715"/>
            <a:ext cx="4112260" cy="29076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Layers - MAC array design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17195" y="1370330"/>
            <a:ext cx="39471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Method 1: 16 x 16 Systolic Array </a:t>
            </a:r>
            <a:endParaRPr lang="en-US" altLang="zh-CN"/>
          </a:p>
          <a:p>
            <a:r>
              <a:rPr lang="en-US" altLang="zh-CN" b="1">
                <a:solidFill>
                  <a:srgbClr val="C00000"/>
                </a:solidFill>
              </a:rPr>
              <a:t>fit for Matrix, bad for Matrix-Vector</a:t>
            </a:r>
            <a:endParaRPr lang="en-US" altLang="zh-CN" b="1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0540" y="1073150"/>
            <a:ext cx="6571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2"/>
                </a:solidFill>
              </a:rPr>
              <a:t>Goal: (256,256) * (256,1) MVM - Total MACs=256</a:t>
            </a:r>
            <a:r>
              <a:rPr lang="en-US" altLang="en-US" b="1">
                <a:solidFill>
                  <a:schemeClr val="tx2"/>
                </a:solidFill>
              </a:rPr>
              <a:t>×</a:t>
            </a:r>
            <a:r>
              <a:rPr lang="en-US" altLang="zh-CN" b="1">
                <a:solidFill>
                  <a:schemeClr val="tx2"/>
                </a:solidFill>
              </a:rPr>
              <a:t>256=65536</a:t>
            </a:r>
            <a:endParaRPr lang="en-US" altLang="zh-CN" b="1">
              <a:solidFill>
                <a:schemeClr val="tx2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7195" y="5382260"/>
            <a:ext cx="35521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Min. latency In theory: </a:t>
            </a:r>
            <a:r>
              <a:rPr lang="en-US" altLang="zh-CN" b="1">
                <a:sym typeface="+mn-ea"/>
              </a:rPr>
              <a:t>256 ccs</a:t>
            </a: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Bandwidth: </a:t>
            </a:r>
            <a:r>
              <a:rPr lang="en-US" altLang="zh-CN" b="1">
                <a:sym typeface="+mn-ea"/>
              </a:rPr>
              <a:t>256 w/cycle</a:t>
            </a:r>
            <a:endParaRPr lang="en-US" altLang="zh-CN" b="1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(stuck when run implementation)   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453255" y="1366520"/>
            <a:ext cx="3025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Method 2: 64 x 1 MV Unit</a:t>
            </a:r>
            <a:endParaRPr lang="en-US" altLang="zh-CN" b="1"/>
          </a:p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fit for Matrix-Vector</a:t>
            </a:r>
            <a:endParaRPr lang="en-US" altLang="zh-CN" b="1">
              <a:solidFill>
                <a:srgbClr val="C00000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364355" y="5367655"/>
            <a:ext cx="4190365" cy="985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Min. latency In theory: </a:t>
            </a:r>
            <a:r>
              <a:rPr lang="en-US" altLang="zh-CN" b="1">
                <a:sym typeface="+mn-ea"/>
              </a:rPr>
              <a:t>1024</a:t>
            </a:r>
            <a:r>
              <a:rPr lang="en-US" altLang="zh-CN" b="1">
                <a:sym typeface="+mn-ea"/>
              </a:rPr>
              <a:t> ccs</a:t>
            </a: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Bandwidth: </a:t>
            </a:r>
            <a:r>
              <a:rPr lang="en-US" altLang="zh-CN" b="1">
                <a:sym typeface="+mn-ea"/>
              </a:rPr>
              <a:t>64 w/cycle</a:t>
            </a:r>
            <a:endParaRPr lang="en-US" altLang="zh-CN" b="1">
              <a:solidFill>
                <a:srgbClr val="C00000"/>
              </a:solidFill>
              <a:sym typeface="+mn-ea"/>
            </a:endParaRPr>
          </a:p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(works well for mvm, limited Reusability )</a:t>
            </a:r>
            <a:endParaRPr lang="en-US" altLang="zh-CN" b="1">
              <a:solidFill>
                <a:srgbClr val="C00000"/>
              </a:solidFill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207510" y="1478915"/>
            <a:ext cx="0" cy="477456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702040" y="1443990"/>
            <a:ext cx="0" cy="486283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849360" y="1398905"/>
            <a:ext cx="3025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Method 3:</a:t>
            </a:r>
            <a:r>
              <a:rPr lang="en-US" altLang="zh-CN"/>
              <a:t> </a:t>
            </a:r>
            <a:r>
              <a:rPr lang="en-US" altLang="zh-CN" b="1"/>
              <a:t>4 x 4 x 4 pipeline</a:t>
            </a:r>
            <a:endParaRPr lang="en-US" altLang="zh-CN" b="1"/>
          </a:p>
          <a:p>
            <a:pPr algn="l">
              <a:buClrTx/>
              <a:buSzTx/>
              <a:buFontTx/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compromise solution</a:t>
            </a:r>
            <a:endParaRPr lang="en-US" altLang="zh-CN" b="1">
              <a:solidFill>
                <a:srgbClr val="C0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r="52546"/>
          <a:stretch>
            <a:fillRect/>
          </a:stretch>
        </p:blipFill>
        <p:spPr>
          <a:xfrm>
            <a:off x="9110980" y="2192020"/>
            <a:ext cx="2363470" cy="12763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l="52114"/>
          <a:stretch>
            <a:fillRect/>
          </a:stretch>
        </p:blipFill>
        <p:spPr>
          <a:xfrm>
            <a:off x="9110980" y="3543300"/>
            <a:ext cx="2362835" cy="126428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25755" y="6306820"/>
            <a:ext cx="105644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K. B. Theobald et al., "Landing CG on EARTH: A Case Study of Fine-Grained Multithreading on an Evolutionary Path," SC '00: Proceedings of the 2000 ACM/IEEE Conference on Supercomputing, Dallas, TX, USA, 2000, pp. 4-4, doi: 10.1109/SC.2000.10011.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711565" y="5229225"/>
            <a:ext cx="3530600" cy="985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Min. latency In theory: </a:t>
            </a:r>
            <a:r>
              <a:rPr lang="en-US" altLang="zh-CN" b="1">
                <a:sym typeface="+mn-ea"/>
              </a:rPr>
              <a:t>1024</a:t>
            </a:r>
            <a:r>
              <a:rPr lang="en-US" altLang="zh-CN" b="1">
                <a:sym typeface="+mn-ea"/>
              </a:rPr>
              <a:t> ccs</a:t>
            </a: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Bandwidth: </a:t>
            </a:r>
            <a:r>
              <a:rPr lang="en-US" altLang="zh-CN" b="1">
                <a:sym typeface="+mn-ea"/>
              </a:rPr>
              <a:t>64 w/cycle</a:t>
            </a:r>
            <a:endParaRPr lang="en-US" altLang="zh-CN" b="1">
              <a:solidFill>
                <a:srgbClr val="C00000"/>
              </a:solidFill>
              <a:sym typeface="+mn-ea"/>
            </a:endParaRPr>
          </a:p>
          <a:p>
            <a:endParaRPr lang="en-US" altLang="zh-CN" b="1">
              <a:solidFill>
                <a:srgbClr val="C00000"/>
              </a:solidFill>
              <a:sym typeface="+mn-ea"/>
            </a:endParaRPr>
          </a:p>
        </p:txBody>
      </p:sp>
      <p:pic>
        <p:nvPicPr>
          <p:cNvPr id="18" name="图片 17" descr="gemv_pe_array_pr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2130" y="1975485"/>
            <a:ext cx="4242435" cy="3427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Linear Layers - MAC array design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10540" y="1122680"/>
            <a:ext cx="445579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Method 3</a:t>
            </a:r>
            <a:r>
              <a:rPr lang="en-US" altLang="zh-CN"/>
              <a:t>: small parallel array (4*4) + pipeline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567180" y="1543050"/>
            <a:ext cx="617855" cy="5683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638425" y="1543050"/>
            <a:ext cx="617855" cy="5683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43020" y="1543050"/>
            <a:ext cx="617855" cy="5683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47615" y="1543050"/>
            <a:ext cx="617855" cy="5683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308610" y="2438400"/>
          <a:ext cx="5895975" cy="3126740"/>
        </p:xfrm>
        <a:graphic>
          <a:graphicData uri="http://schemas.openxmlformats.org/drawingml/2006/table">
            <a:tbl>
              <a:tblPr/>
              <a:tblGrid>
                <a:gridCol w="779780"/>
                <a:gridCol w="1042670"/>
                <a:gridCol w="1179195"/>
                <a:gridCol w="1298575"/>
                <a:gridCol w="1595755"/>
              </a:tblGrid>
              <a:tr h="244475"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ARRAY1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ARRAY2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ARRAY3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ARRAY4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44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cycle1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cycle2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B2+B1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44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cycle3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B9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B6+B5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B3+B2+B1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44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cycle4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B13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B10+B9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B7+B6+B5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B4+B3+B2+B1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44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cycle5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B17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B14+B13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B11+B10+B9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B8+B7+B6+B5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44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cycle6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B15+B14+B13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B12+B11+B10+B9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44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cycle7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B16+B15+B14+B13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44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44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78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cycle19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...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B64+B63+B62+B61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圆角矩形 11"/>
          <p:cNvSpPr/>
          <p:nvPr/>
        </p:nvSpPr>
        <p:spPr>
          <a:xfrm>
            <a:off x="308610" y="5147945"/>
            <a:ext cx="5895975" cy="417195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69240" y="5721985"/>
            <a:ext cx="5679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at cycle 19 first 4 rows of (256,256) is completed!</a:t>
            </a:r>
            <a:endParaRPr lang="en-US" altLang="zh-CN"/>
          </a:p>
          <a:p>
            <a:r>
              <a:rPr lang="en-US" altLang="zh-CN">
                <a:sym typeface="+mn-ea"/>
              </a:rPr>
              <a:t>at cycle 22 first tile compete, generating first 4 output! </a:t>
            </a:r>
            <a:endParaRPr lang="en-US" altLang="zh-CN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948680" y="3545840"/>
            <a:ext cx="4743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948680" y="3799840"/>
            <a:ext cx="4743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6068695" y="4033520"/>
            <a:ext cx="448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6204585" y="4307840"/>
            <a:ext cx="3340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6204585" y="4921885"/>
            <a:ext cx="334010" cy="337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6538595" y="3344545"/>
            <a:ext cx="1581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reduction unit</a:t>
            </a:r>
            <a:endParaRPr lang="en-US" altLang="zh-CN" b="1"/>
          </a:p>
        </p:txBody>
      </p:sp>
      <p:sp>
        <p:nvSpPr>
          <p:cNvPr id="73" name="文本框 72"/>
          <p:cNvSpPr txBox="1"/>
          <p:nvPr/>
        </p:nvSpPr>
        <p:spPr>
          <a:xfrm>
            <a:off x="6757670" y="4701540"/>
            <a:ext cx="1362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cost 3 cycles</a:t>
            </a:r>
            <a:endParaRPr lang="en-US" altLang="zh-CN"/>
          </a:p>
        </p:txBody>
      </p:sp>
      <p:sp>
        <p:nvSpPr>
          <p:cNvPr id="74" name="文本框 73"/>
          <p:cNvSpPr txBox="1"/>
          <p:nvPr/>
        </p:nvSpPr>
        <p:spPr>
          <a:xfrm>
            <a:off x="6638925" y="5147945"/>
            <a:ext cx="1189990" cy="1145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cycle19</a:t>
            </a:r>
            <a:endParaRPr lang="en-US" altLang="zh-CN"/>
          </a:p>
          <a:p>
            <a:r>
              <a:rPr lang="en-US" altLang="zh-CN">
                <a:sym typeface="+mn-ea"/>
              </a:rPr>
              <a:t>cycle</a:t>
            </a:r>
            <a:r>
              <a:rPr lang="en-US" altLang="zh-CN"/>
              <a:t>20</a:t>
            </a:r>
            <a:endParaRPr lang="en-US" altLang="zh-CN"/>
          </a:p>
          <a:p>
            <a:r>
              <a:rPr lang="en-US" altLang="zh-CN">
                <a:sym typeface="+mn-ea"/>
              </a:rPr>
              <a:t>cycle21</a:t>
            </a:r>
            <a:endParaRPr lang="en-US" altLang="zh-CN"/>
          </a:p>
          <a:p>
            <a:r>
              <a:rPr lang="en-US" altLang="zh-CN">
                <a:sym typeface="+mn-ea"/>
              </a:rPr>
              <a:t>cycle</a:t>
            </a:r>
            <a:r>
              <a:rPr lang="en-US" altLang="zh-CN"/>
              <a:t>22</a:t>
            </a:r>
            <a:endParaRPr lang="en-US" altLang="zh-CN"/>
          </a:p>
        </p:txBody>
      </p:sp>
      <p:sp>
        <p:nvSpPr>
          <p:cNvPr id="76" name="圆角矩形 75"/>
          <p:cNvSpPr/>
          <p:nvPr/>
        </p:nvSpPr>
        <p:spPr>
          <a:xfrm>
            <a:off x="6595745" y="6039485"/>
            <a:ext cx="975995" cy="32766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7983220" y="5259070"/>
            <a:ext cx="3689985" cy="1551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Min. latency In theory: </a:t>
            </a:r>
            <a:r>
              <a:rPr lang="en-US" altLang="zh-CN" b="1">
                <a:sym typeface="+mn-ea"/>
              </a:rPr>
              <a:t>1024 ccs</a:t>
            </a:r>
            <a:endParaRPr lang="en-US" altLang="zh-CN">
              <a:sym typeface="+mn-ea"/>
            </a:endParaRPr>
          </a:p>
          <a:p>
            <a:r>
              <a:rPr lang="en-US" altLang="zh-CN" b="1">
                <a:sym typeface="+mn-ea"/>
              </a:rPr>
              <a:t>(3ccs filling pipeline + 3ccs reduction)</a:t>
            </a:r>
            <a:endParaRPr lang="en-US" altLang="zh-CN" b="1">
              <a:sym typeface="+mn-ea"/>
            </a:endParaRPr>
          </a:p>
          <a:p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In total: 64*16+3+3=</a:t>
            </a:r>
            <a:r>
              <a:rPr lang="en-US" altLang="zh-CN" b="1">
                <a:sym typeface="+mn-ea"/>
              </a:rPr>
              <a:t>1030 ccs</a:t>
            </a:r>
            <a:endParaRPr lang="en-US" altLang="zh-CN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Bandwidth: </a:t>
            </a:r>
            <a:r>
              <a:rPr lang="en-US" altLang="zh-CN" b="1">
                <a:sym typeface="+mn-ea"/>
              </a:rPr>
              <a:t>64 w/cycle</a:t>
            </a:r>
            <a:endParaRPr lang="en-US" altLang="zh-CN" b="1"/>
          </a:p>
        </p:txBody>
      </p:sp>
      <p:sp>
        <p:nvSpPr>
          <p:cNvPr id="80" name="文本框 79"/>
          <p:cNvSpPr txBox="1"/>
          <p:nvPr/>
        </p:nvSpPr>
        <p:spPr>
          <a:xfrm>
            <a:off x="96520" y="2153920"/>
            <a:ext cx="1313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B: 4*4 block</a:t>
            </a:r>
            <a:endParaRPr lang="en-US" altLang="zh-CN"/>
          </a:p>
        </p:txBody>
      </p:sp>
      <p:cxnSp>
        <p:nvCxnSpPr>
          <p:cNvPr id="6" name="直接连接符 5"/>
          <p:cNvCxnSpPr>
            <a:stCxn id="4" idx="1"/>
            <a:endCxn id="4" idx="3"/>
          </p:cNvCxnSpPr>
          <p:nvPr/>
        </p:nvCxnSpPr>
        <p:spPr>
          <a:xfrm>
            <a:off x="1567180" y="1827530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567180" y="1967865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567180" y="1673860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4" idx="0"/>
            <a:endCxn id="4" idx="2"/>
          </p:cNvCxnSpPr>
          <p:nvPr/>
        </p:nvCxnSpPr>
        <p:spPr>
          <a:xfrm>
            <a:off x="1876425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18665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726565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638425" y="1827530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638425" y="1967865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638425" y="1673860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947670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089910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797810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843020" y="1827530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843020" y="1967865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843020" y="1673860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152265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94505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002405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5047615" y="1827530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5047615" y="1967865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5047615" y="1673860"/>
            <a:ext cx="617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356860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499100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5207000" y="1543050"/>
            <a:ext cx="0" cy="568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3712845"/>
            <a:ext cx="1313815" cy="106680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580" y="1445260"/>
            <a:ext cx="3615055" cy="362458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8394065" y="1076960"/>
            <a:ext cx="3544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Weight Matrix</a:t>
            </a:r>
            <a:endParaRPr lang="en-US" altLang="zh-CN"/>
          </a:p>
        </p:txBody>
      </p:sp>
      <p:sp>
        <p:nvSpPr>
          <p:cNvPr id="45" name="矩形 44"/>
          <p:cNvSpPr/>
          <p:nvPr/>
        </p:nvSpPr>
        <p:spPr>
          <a:xfrm>
            <a:off x="8394065" y="1510665"/>
            <a:ext cx="182880" cy="173355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083945" y="2673985"/>
            <a:ext cx="223520" cy="244475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9090025" y="1510665"/>
            <a:ext cx="182880" cy="173355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083945" y="2918460"/>
            <a:ext cx="223520" cy="244475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8576945" y="1510665"/>
            <a:ext cx="182880" cy="17335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2125345" y="2918460"/>
            <a:ext cx="223520" cy="244475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2455545" y="2918460"/>
            <a:ext cx="223520" cy="2444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083945" y="2673985"/>
            <a:ext cx="223520" cy="2444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083945" y="3162935"/>
            <a:ext cx="223520" cy="244475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9801860" y="1510665"/>
            <a:ext cx="182880" cy="173355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2125345" y="3162935"/>
            <a:ext cx="223520" cy="244475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2455545" y="3162935"/>
            <a:ext cx="223520" cy="2444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083945" y="2918460"/>
            <a:ext cx="223520" cy="2444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9272905" y="1510665"/>
            <a:ext cx="182880" cy="17335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3308985" y="3162935"/>
            <a:ext cx="223520" cy="244475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759825" y="1510665"/>
            <a:ext cx="163830" cy="17335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2112645" y="2918460"/>
            <a:ext cx="565785" cy="244475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3634105" y="3162935"/>
            <a:ext cx="565785" cy="244475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1083945" y="3407410"/>
            <a:ext cx="346710" cy="244475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10487025" y="1510665"/>
            <a:ext cx="182880" cy="173355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2125345" y="3407410"/>
            <a:ext cx="329565" cy="244475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9984740" y="1510665"/>
            <a:ext cx="167640" cy="17335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083945" y="3162935"/>
            <a:ext cx="223520" cy="2444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2564765" y="3407410"/>
            <a:ext cx="237490" cy="2444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3308985" y="3407410"/>
            <a:ext cx="223520" cy="244475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455785" y="1510665"/>
            <a:ext cx="182880" cy="17335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3634105" y="3407410"/>
            <a:ext cx="565785" cy="244475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2125345" y="3162935"/>
            <a:ext cx="565785" cy="244475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4601845" y="3407410"/>
            <a:ext cx="223520" cy="244475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8930640" y="1510665"/>
            <a:ext cx="159385" cy="1733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4933315" y="3407410"/>
            <a:ext cx="883285" cy="244475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3316605" y="3162935"/>
            <a:ext cx="883285" cy="244475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6638290" y="2590165"/>
            <a:ext cx="617855" cy="568325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cxnSp>
        <p:nvCxnSpPr>
          <p:cNvPr id="88" name="直接连接符 87"/>
          <p:cNvCxnSpPr/>
          <p:nvPr/>
        </p:nvCxnSpPr>
        <p:spPr>
          <a:xfrm>
            <a:off x="6638290" y="2874645"/>
            <a:ext cx="617855" cy="0"/>
          </a:xfrm>
          <a:prstGeom prst="line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6638290" y="3014980"/>
            <a:ext cx="617855" cy="0"/>
          </a:xfrm>
          <a:prstGeom prst="line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6638290" y="2720975"/>
            <a:ext cx="617855" cy="0"/>
          </a:xfrm>
          <a:prstGeom prst="line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6947535" y="2590165"/>
            <a:ext cx="0" cy="568325"/>
          </a:xfrm>
          <a:prstGeom prst="line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7089775" y="2590165"/>
            <a:ext cx="0" cy="568325"/>
          </a:xfrm>
          <a:prstGeom prst="line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6797675" y="2590165"/>
            <a:ext cx="0" cy="568325"/>
          </a:xfrm>
          <a:prstGeom prst="line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7757795" y="2585720"/>
            <a:ext cx="200660" cy="572770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cxnSp>
        <p:nvCxnSpPr>
          <p:cNvPr id="95" name="直接连接符 94"/>
          <p:cNvCxnSpPr>
            <a:endCxn id="94" idx="3"/>
          </p:cNvCxnSpPr>
          <p:nvPr/>
        </p:nvCxnSpPr>
        <p:spPr>
          <a:xfrm flipV="1">
            <a:off x="7757795" y="2872105"/>
            <a:ext cx="200660" cy="2540"/>
          </a:xfrm>
          <a:prstGeom prst="line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7757795" y="3014980"/>
            <a:ext cx="200660" cy="0"/>
          </a:xfrm>
          <a:prstGeom prst="line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7757795" y="2720975"/>
            <a:ext cx="200660" cy="0"/>
          </a:xfrm>
          <a:prstGeom prst="line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燕尾形箭头 100"/>
          <p:cNvSpPr/>
          <p:nvPr/>
        </p:nvSpPr>
        <p:spPr>
          <a:xfrm>
            <a:off x="7323455" y="2842895"/>
            <a:ext cx="315595" cy="75565"/>
          </a:xfrm>
          <a:prstGeom prst="notchedRightArrow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9642475" y="1510665"/>
            <a:ext cx="159385" cy="1733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10152380" y="1510665"/>
            <a:ext cx="182880" cy="17335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10327640" y="1510665"/>
            <a:ext cx="159385" cy="1733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11193145" y="1510665"/>
            <a:ext cx="182880" cy="173355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8394065" y="1684020"/>
            <a:ext cx="182880" cy="173355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9098280" y="1689735"/>
            <a:ext cx="180340" cy="173355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9801860" y="1684020"/>
            <a:ext cx="182880" cy="173355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10669905" y="1510665"/>
            <a:ext cx="182880" cy="17335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0" name="矩形 109"/>
          <p:cNvSpPr/>
          <p:nvPr/>
        </p:nvSpPr>
        <p:spPr>
          <a:xfrm>
            <a:off x="11376025" y="1510665"/>
            <a:ext cx="182880" cy="17335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1" name="矩形 110"/>
          <p:cNvSpPr/>
          <p:nvPr/>
        </p:nvSpPr>
        <p:spPr>
          <a:xfrm>
            <a:off x="10852785" y="1510665"/>
            <a:ext cx="163830" cy="17335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2" name="矩形 111"/>
          <p:cNvSpPr/>
          <p:nvPr/>
        </p:nvSpPr>
        <p:spPr>
          <a:xfrm>
            <a:off x="11558905" y="1510665"/>
            <a:ext cx="163830" cy="17335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8578215" y="1684020"/>
            <a:ext cx="182880" cy="17335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>
            <a:off x="8761095" y="1684020"/>
            <a:ext cx="163830" cy="17335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5" name="矩形 114"/>
          <p:cNvSpPr/>
          <p:nvPr/>
        </p:nvSpPr>
        <p:spPr>
          <a:xfrm>
            <a:off x="9272905" y="1689735"/>
            <a:ext cx="178435" cy="17335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6" name="矩形 115"/>
          <p:cNvSpPr/>
          <p:nvPr/>
        </p:nvSpPr>
        <p:spPr>
          <a:xfrm>
            <a:off x="11016615" y="1510665"/>
            <a:ext cx="159385" cy="1733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11722735" y="1510665"/>
            <a:ext cx="159385" cy="1733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5887085" y="1510665"/>
            <a:ext cx="25069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tx2"/>
                </a:solidFill>
                <a:sym typeface="+mn-ea"/>
              </a:rPr>
              <a:t>Goal: (256,256) * (256,1) MVM</a:t>
            </a:r>
            <a:endParaRPr lang="en-US" altLang="zh-CN" sz="1400" b="1">
              <a:solidFill>
                <a:schemeClr val="tx2"/>
              </a:solidFill>
              <a:sym typeface="+mn-ea"/>
            </a:endParaRPr>
          </a:p>
          <a:p>
            <a:r>
              <a:rPr lang="en-US" altLang="zh-CN" sz="1400" b="1">
                <a:solidFill>
                  <a:schemeClr val="tx2"/>
                </a:solidFill>
                <a:sym typeface="+mn-ea"/>
              </a:rPr>
              <a:t>Result: (256,1) Vector</a:t>
            </a:r>
            <a:endParaRPr lang="zh-CN" altLang="en-US" sz="1400" b="1">
              <a:solidFill>
                <a:schemeClr val="tx2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5" grpId="0" bldLvl="0" animBg="1"/>
      <p:bldP spid="46" grpId="1" animBg="1"/>
      <p:bldP spid="45" grpId="1" animBg="1"/>
      <p:bldP spid="48" grpId="0" bldLvl="0" animBg="1"/>
      <p:bldP spid="47" grpId="0" bldLvl="0" animBg="1"/>
      <p:bldP spid="48" grpId="1" animBg="1"/>
      <p:bldP spid="47" grpId="1" animBg="1"/>
      <p:bldP spid="50" grpId="0" bldLvl="0" animBg="1"/>
      <p:bldP spid="49" grpId="0" bldLvl="0" animBg="1"/>
      <p:bldP spid="50" grpId="1" animBg="1"/>
      <p:bldP spid="49" grpId="1" animBg="1"/>
      <p:bldP spid="52" grpId="0" bldLvl="0" animBg="1"/>
      <p:bldP spid="51" grpId="0" bldLvl="0" animBg="1"/>
      <p:bldP spid="52" grpId="1" animBg="1"/>
      <p:bldP spid="51" grpId="1" animBg="1"/>
      <p:bldP spid="53" grpId="0" bldLvl="0" animBg="1"/>
      <p:bldP spid="54" grpId="0" bldLvl="0" animBg="1"/>
      <p:bldP spid="53" grpId="1" animBg="1"/>
      <p:bldP spid="54" grpId="1" animBg="1"/>
      <p:bldP spid="55" grpId="0" bldLvl="0" animBg="1"/>
      <p:bldP spid="58" grpId="0" bldLvl="0" animBg="1"/>
      <p:bldP spid="55" grpId="1" animBg="1"/>
      <p:bldP spid="58" grpId="1" animBg="1"/>
      <p:bldP spid="56" grpId="0" bldLvl="0" animBg="1"/>
      <p:bldP spid="57" grpId="0" bldLvl="0" animBg="1"/>
      <p:bldP spid="56" grpId="1" animBg="1"/>
      <p:bldP spid="57" grpId="1" animBg="1"/>
      <p:bldP spid="60" grpId="0" bldLvl="0" animBg="1"/>
      <p:bldP spid="59" grpId="0" bldLvl="0" animBg="1"/>
      <p:bldP spid="60" grpId="1" animBg="1"/>
      <p:bldP spid="59" grpId="1" animBg="1"/>
      <p:bldP spid="62" grpId="0" bldLvl="0" animBg="1"/>
      <p:bldP spid="61" grpId="0" bldLvl="0" animBg="1"/>
      <p:bldP spid="62" grpId="1" animBg="1"/>
      <p:bldP spid="61" grpId="1" animBg="1"/>
      <p:bldP spid="64" grpId="0" bldLvl="0" animBg="1"/>
      <p:bldP spid="63" grpId="0" bldLvl="0" animBg="1"/>
      <p:bldP spid="64" grpId="1" animBg="1"/>
      <p:bldP spid="63" grpId="1" animBg="1"/>
      <p:bldP spid="66" grpId="0" bldLvl="0" animBg="1"/>
      <p:bldP spid="65" grpId="0" bldLvl="0" animBg="1"/>
      <p:bldP spid="66" grpId="1" animBg="1"/>
      <p:bldP spid="65" grpId="1" animBg="1"/>
      <p:bldP spid="68" grpId="0" bldLvl="0" animBg="1"/>
      <p:bldP spid="67" grpId="0" bldLvl="0" animBg="1"/>
      <p:bldP spid="68" grpId="1" animBg="1"/>
      <p:bldP spid="67" grpId="1" animBg="1"/>
      <p:bldP spid="70" grpId="0" bldLvl="0" animBg="1"/>
      <p:bldP spid="69" grpId="0" bldLvl="0" animBg="1"/>
      <p:bldP spid="70" grpId="1" animBg="1"/>
      <p:bldP spid="69" grpId="1" animBg="1"/>
      <p:bldP spid="75" grpId="0" bldLvl="0" animBg="1"/>
      <p:bldP spid="71" grpId="0" bldLvl="0" animBg="1"/>
      <p:bldP spid="75" grpId="1" animBg="1"/>
      <p:bldP spid="71" grpId="1" animBg="1"/>
      <p:bldP spid="84" grpId="0" bldLvl="0" animBg="1"/>
      <p:bldP spid="83" grpId="0" bldLvl="0" animBg="1"/>
      <p:bldP spid="84" grpId="1" animBg="1"/>
      <p:bldP spid="83" grpId="1" animBg="1"/>
      <p:bldP spid="86" grpId="0" bldLvl="0" animBg="1"/>
      <p:bldP spid="85" grpId="0" bldLvl="0" animBg="1"/>
      <p:bldP spid="86" grpId="1" animBg="1"/>
      <p:bldP spid="85" grpId="1" animBg="1"/>
      <p:bldP spid="102" grpId="0" bldLvl="0" animBg="1"/>
      <p:bldP spid="117" grpId="0" bldLvl="0" animBg="1"/>
      <p:bldP spid="104" grpId="0" bldLvl="0" animBg="1"/>
      <p:bldP spid="116" grpId="0" bldLvl="0" animBg="1"/>
      <p:bldP spid="112" grpId="0" bldLvl="0" animBg="1"/>
      <p:bldP spid="105" grpId="0" bldLvl="0" animBg="1"/>
      <p:bldP spid="103" grpId="0" bldLvl="0" animBg="1"/>
      <p:bldP spid="109" grpId="0" bldLvl="0" animBg="1"/>
      <p:bldP spid="111" grpId="0" bldLvl="0" animBg="1"/>
      <p:bldP spid="106" grpId="0" bldLvl="0" animBg="1"/>
      <p:bldP spid="114" grpId="0" bldLvl="0" animBg="1"/>
      <p:bldP spid="113" grpId="0" bldLvl="0" animBg="1"/>
      <p:bldP spid="107" grpId="0" bldLvl="0" animBg="1"/>
      <p:bldP spid="115" grpId="0" bldLvl="0" animBg="1"/>
      <p:bldP spid="108" grpId="0" bldLvl="0" animBg="1"/>
      <p:bldP spid="110" grpId="0" bldLvl="0" animBg="1"/>
      <p:bldP spid="12" grpId="0" bldLvl="0" animBg="1"/>
      <p:bldP spid="102" grpId="1" animBg="1"/>
      <p:bldP spid="117" grpId="1" animBg="1"/>
      <p:bldP spid="104" grpId="1" animBg="1"/>
      <p:bldP spid="116" grpId="1" animBg="1"/>
      <p:bldP spid="112" grpId="1" animBg="1"/>
      <p:bldP spid="105" grpId="1" animBg="1"/>
      <p:bldP spid="103" grpId="1" animBg="1"/>
      <p:bldP spid="109" grpId="1" animBg="1"/>
      <p:bldP spid="111" grpId="1" animBg="1"/>
      <p:bldP spid="106" grpId="1" animBg="1"/>
      <p:bldP spid="114" grpId="1" animBg="1"/>
      <p:bldP spid="113" grpId="1" animBg="1"/>
      <p:bldP spid="107" grpId="1" animBg="1"/>
      <p:bldP spid="115" grpId="1" animBg="1"/>
      <p:bldP spid="108" grpId="1" animBg="1"/>
      <p:bldP spid="110" grpId="1" animBg="1"/>
      <p:bldP spid="12" grpId="1" animBg="1"/>
      <p:bldP spid="87" grpId="0" bldLvl="0" animBg="1"/>
      <p:bldP spid="94" grpId="0" bldLvl="0" animBg="1"/>
      <p:bldP spid="101" grpId="0" bldLvl="0" animBg="1"/>
      <p:bldP spid="74" grpId="0"/>
      <p:bldP spid="87" grpId="1" animBg="1"/>
      <p:bldP spid="94" grpId="1" animBg="1"/>
      <p:bldP spid="101" grpId="1" animBg="1"/>
      <p:bldP spid="74" grpId="1"/>
      <p:bldP spid="76" grpId="0" bldLvl="0" animBg="1"/>
      <p:bldP spid="13" grpId="0"/>
      <p:bldP spid="76" grpId="1" animBg="1"/>
      <p:bldP spid="13" grpId="1"/>
      <p:bldP spid="79" grpId="0"/>
      <p:bldP spid="7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en-US" altLang="zh-CN"/>
              <a:t>Trade Off 1: MAC Architecture Selection 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1912620" y="1602740"/>
          <a:ext cx="7900670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675"/>
                <a:gridCol w="1945005"/>
                <a:gridCol w="2141220"/>
                <a:gridCol w="209677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16*16, Systolic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64*1, MV Unit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4*4*4, pipeline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DSPs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256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BW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(Weights/cycle)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256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Clock Cycles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(256,256) MVM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256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1024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1030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Mem. access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in oder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</a:rPr>
                        <a:t>in oder</a:t>
                      </a:r>
                      <a:endParaRPr lang="en-US" altLang="zh-CN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rgbClr val="C00000"/>
                          </a:solidFill>
                        </a:rPr>
                        <a:t>interleaving</a:t>
                      </a:r>
                      <a:endParaRPr lang="en-US" altLang="zh-CN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49300" y="4606290"/>
            <a:ext cx="108121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choose the 4</a:t>
            </a:r>
            <a:r>
              <a:rPr lang="en-US" altLang="en-US"/>
              <a:t>×</a:t>
            </a:r>
            <a:r>
              <a:rPr lang="en-US" altLang="zh-CN"/>
              <a:t>4</a:t>
            </a:r>
            <a:r>
              <a:rPr lang="en-US" altLang="en-US"/>
              <a:t>×</a:t>
            </a:r>
            <a:r>
              <a:rPr lang="en-US" altLang="zh-CN"/>
              <a:t>4 pipelined array because :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achieves the </a:t>
            </a:r>
            <a:r>
              <a:rPr lang="en-US" altLang="zh-CN" b="1">
                <a:solidFill>
                  <a:srgbClr val="C00000"/>
                </a:solidFill>
              </a:rPr>
              <a:t>same 1024-cycle latency</a:t>
            </a:r>
            <a:r>
              <a:rPr lang="en-US" altLang="zh-CN"/>
              <a:t> and 64 weights/cycle bandwidth as the 64</a:t>
            </a:r>
            <a:r>
              <a:rPr lang="en-US" altLang="en-US"/>
              <a:t>×</a:t>
            </a:r>
            <a:r>
              <a:rPr lang="en-US" altLang="zh-CN"/>
              <a:t>1 GEMV design, while providing much </a:t>
            </a:r>
            <a:r>
              <a:rPr lang="en-US" altLang="zh-CN" b="1">
                <a:solidFill>
                  <a:srgbClr val="C00000"/>
                </a:solidFill>
              </a:rPr>
              <a:t>higher reusability</a:t>
            </a:r>
            <a:r>
              <a:rPr lang="en-US" altLang="zh-CN"/>
              <a:t> across GEMV/GEMM/EW kernels 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better timing/routing scalability than a monolithic 16</a:t>
            </a:r>
            <a:r>
              <a:rPr lang="en-US" altLang="en-US"/>
              <a:t>×</a:t>
            </a:r>
            <a:r>
              <a:rPr lang="en-US" altLang="zh-CN"/>
              <a:t>16 systolic array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C00000"/>
                </a:solidFill>
              </a:rPr>
              <a:t>Pre-distribute the weight data according to access pattern.</a:t>
            </a:r>
            <a:endParaRPr lang="en-US" altLang="zh-CN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Linear Layers - Control Method</a:t>
            </a:r>
            <a:endParaRPr lang="en-US" dirty="0"/>
          </a:p>
        </p:txBody>
      </p:sp>
      <p:pic>
        <p:nvPicPr>
          <p:cNvPr id="3" name="图片 2" descr="board_level(d)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995" y="1985010"/>
            <a:ext cx="11651615" cy="29743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57170" y="5260975"/>
            <a:ext cx="3625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dt_proj :</a:t>
            </a:r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 b="1" i="1">
                <a:sym typeface="+mn-ea"/>
              </a:rPr>
              <a:t>λ</a:t>
            </a:r>
            <a:r>
              <a:rPr lang="en-US" altLang="zh-CN" b="1" i="1">
                <a:sym typeface="+mn-ea"/>
              </a:rPr>
              <a:t>t = Sigmoid(W</a:t>
            </a:r>
            <a:r>
              <a:rPr lang="en-US" altLang="zh-CN" b="1" i="1">
                <a:sym typeface="+mn-ea"/>
              </a:rPr>
              <a:t>dt · u</a:t>
            </a:r>
            <a:r>
              <a:rPr lang="en-US" altLang="zh-CN" b="1" i="1">
                <a:sym typeface="+mn-ea"/>
              </a:rPr>
              <a:t>t + b)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262495" y="5824855"/>
            <a:ext cx="3305175" cy="759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ym typeface="+mn-ea"/>
              </a:rPr>
              <a:t>state update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pPr lvl="1"/>
            <a:r>
              <a:rPr lang="en-US" altLang="zh-CN" b="1" i="1">
                <a:sym typeface="+mn-ea"/>
              </a:rPr>
              <a:t>st = λt  </a:t>
            </a:r>
            <a:r>
              <a:rPr lang="en-US" altLang="zh-CN" b="1">
                <a:sym typeface="+mn-ea"/>
              </a:rPr>
              <a:t>⊙ </a:t>
            </a:r>
            <a:r>
              <a:rPr lang="en-US" altLang="zh-CN" b="1" i="1">
                <a:sym typeface="+mn-ea"/>
              </a:rPr>
              <a:t>st−1 + (1 − λt)  </a:t>
            </a:r>
            <a:r>
              <a:rPr lang="en-US" altLang="zh-CN" b="1">
                <a:sym typeface="+mn-ea"/>
              </a:rPr>
              <a:t>⊙ </a:t>
            </a:r>
            <a:r>
              <a:rPr lang="en-US" altLang="zh-CN" b="1" i="1">
                <a:sym typeface="+mn-ea"/>
              </a:rPr>
              <a:t>ut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025380" y="1576070"/>
            <a:ext cx="19672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output gating</a:t>
            </a:r>
            <a:r>
              <a:rPr lang="zh-CN" altLang="en-US" b="1">
                <a:sym typeface="+mn-ea"/>
              </a:rPr>
              <a:t>：</a:t>
            </a:r>
            <a:endParaRPr lang="zh-CN" altLang="en-US" b="1">
              <a:sym typeface="+mn-ea"/>
            </a:endParaRPr>
          </a:p>
          <a:p>
            <a:pPr lvl="1"/>
            <a:r>
              <a:rPr lang="en-US" altLang="zh-CN" b="1" i="1">
                <a:sym typeface="+mn-ea"/>
              </a:rPr>
              <a:t>yt = st  </a:t>
            </a:r>
            <a:r>
              <a:rPr lang="en-US" altLang="zh-CN" b="1">
                <a:sym typeface="+mn-ea"/>
              </a:rPr>
              <a:t>⊙ </a:t>
            </a:r>
            <a:r>
              <a:rPr lang="en-US" altLang="zh-CN" b="1" i="1">
                <a:sym typeface="+mn-ea"/>
              </a:rPr>
              <a:t>gt</a:t>
            </a:r>
            <a:endParaRPr lang="zh-CN" altLang="en-US"/>
          </a:p>
        </p:txBody>
      </p:sp>
      <p:sp>
        <p:nvSpPr>
          <p:cNvPr id="8" name="左大括号 7"/>
          <p:cNvSpPr/>
          <p:nvPr/>
        </p:nvSpPr>
        <p:spPr>
          <a:xfrm rot="16200000">
            <a:off x="4323715" y="2328545"/>
            <a:ext cx="264160" cy="531685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9" name="左大括号 8"/>
          <p:cNvSpPr/>
          <p:nvPr/>
        </p:nvSpPr>
        <p:spPr>
          <a:xfrm rot="16200000">
            <a:off x="8412480" y="4094480"/>
            <a:ext cx="354965" cy="265557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0" name="左大括号 9"/>
          <p:cNvSpPr/>
          <p:nvPr/>
        </p:nvSpPr>
        <p:spPr>
          <a:xfrm rot="5400000">
            <a:off x="10822940" y="1315720"/>
            <a:ext cx="264160" cy="207518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10540" y="1153795"/>
            <a:ext cx="3000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Take SSM for example:</a:t>
            </a:r>
            <a:endParaRPr lang="en-US" altLang="zh-CN" b="1"/>
          </a:p>
        </p:txBody>
      </p:sp>
      <p:sp>
        <p:nvSpPr>
          <p:cNvPr id="12" name="椭圆 11"/>
          <p:cNvSpPr/>
          <p:nvPr/>
        </p:nvSpPr>
        <p:spPr>
          <a:xfrm>
            <a:off x="5511165" y="2779395"/>
            <a:ext cx="619760" cy="1422400"/>
          </a:xfrm>
          <a:prstGeom prst="ellips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046085" y="2708275"/>
            <a:ext cx="619760" cy="1422400"/>
          </a:xfrm>
          <a:prstGeom prst="ellips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0850245" y="2708275"/>
            <a:ext cx="619760" cy="1422400"/>
          </a:xfrm>
          <a:prstGeom prst="ellips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  <p:bldP spid="8" grpId="1" animBg="1"/>
      <p:bldP spid="5" grpId="1"/>
      <p:bldP spid="9" grpId="0" animBg="1"/>
      <p:bldP spid="6" grpId="0"/>
      <p:bldP spid="9" grpId="1" animBg="1"/>
      <p:bldP spid="6" grpId="1"/>
      <p:bldP spid="10" grpId="0" animBg="1"/>
      <p:bldP spid="7" grpId="0"/>
      <p:bldP spid="10" grpId="1" animBg="1"/>
      <p:bldP spid="7" grpId="1"/>
      <p:bldP spid="14" grpId="0" animBg="1"/>
      <p:bldP spid="13" grpId="0" animBg="1"/>
      <p:bldP spid="12" grpId="0" animBg="1"/>
      <p:bldP spid="14" grpId="1" animBg="1"/>
      <p:bldP spid="13" grpId="1" animBg="1"/>
      <p:bldP spid="1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pipeline_schem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005" y="1220470"/>
            <a:ext cx="7909560" cy="34277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0540" y="256540"/>
            <a:ext cx="11385550" cy="674370"/>
          </a:xfrm>
        </p:spPr>
        <p:txBody>
          <a:bodyPr/>
          <a:lstStyle/>
          <a:p>
            <a:r>
              <a:rPr lang="en-US" altLang="zh-CN">
                <a:sym typeface="+mn-ea"/>
              </a:rPr>
              <a:t>Trade Off 2 : Reconfigurable vs. Fine-grained pipeline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21005" y="4805680"/>
            <a:ext cx="2562860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mode    Calculation</a:t>
            </a:r>
            <a:endParaRPr lang="en-US" altLang="zh-CN" sz="1600" b="1"/>
          </a:p>
          <a:p>
            <a:r>
              <a:rPr lang="en-US" altLang="zh-CN" sz="1400"/>
              <a:t>00             MAC (A*B+acc_in)</a:t>
            </a:r>
            <a:endParaRPr lang="en-US" altLang="zh-CN" sz="1400"/>
          </a:p>
          <a:p>
            <a:r>
              <a:rPr lang="en-US" altLang="zh-CN" sz="1400"/>
              <a:t>01             MUL (A*B)</a:t>
            </a:r>
            <a:endParaRPr lang="en-US" altLang="zh-CN" sz="1400"/>
          </a:p>
          <a:p>
            <a:r>
              <a:rPr lang="en-US" altLang="zh-CN" sz="1400"/>
              <a:t>10             ADD  (A+B)</a:t>
            </a:r>
            <a:endParaRPr lang="en-US" altLang="zh-CN" sz="1400"/>
          </a:p>
        </p:txBody>
      </p:sp>
      <p:sp>
        <p:nvSpPr>
          <p:cNvPr id="10" name="文本框 9"/>
          <p:cNvSpPr txBox="1"/>
          <p:nvPr/>
        </p:nvSpPr>
        <p:spPr>
          <a:xfrm>
            <a:off x="8446135" y="1431925"/>
            <a:ext cx="30378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Case A: wait for all MAC tiles, then run Sigmoid/EW</a:t>
            </a:r>
            <a:endParaRPr lang="en-US" altLang="zh-CN">
              <a:sym typeface="+mn-ea"/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T_A = 29N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en-US" altLang="zh-CN">
                <a:sym typeface="+mn-ea"/>
              </a:rPr>
              <a:t>Case B: stream each tile to Sigmoid/EW as soon as MAC finishes</a:t>
            </a:r>
            <a:endParaRPr lang="en-US" altLang="zh-CN"/>
          </a:p>
          <a:p>
            <a:r>
              <a:rPr lang="en-US" altLang="zh-CN" b="1">
                <a:solidFill>
                  <a:srgbClr val="FF0000"/>
                </a:solidFill>
              </a:rPr>
              <a:t>T_B = 22N + 7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15680" y="3962400"/>
            <a:ext cx="24669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Latency saving</a:t>
            </a:r>
            <a:endParaRPr lang="en-US" altLang="zh-CN" b="1">
              <a:solidFill>
                <a:srgbClr val="C00000"/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For N = 64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T_A = 1856 cycles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T_B = 1415 cycles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Saving = 441 cycles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C00000"/>
                </a:solidFill>
                <a:sym typeface="+mn-ea"/>
              </a:rPr>
              <a:t>Saving ratio ≈ 23.8%</a:t>
            </a:r>
            <a:endParaRPr lang="en-US" altLang="zh-CN" b="1">
              <a:solidFill>
                <a:srgbClr val="C00000"/>
              </a:solidFill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C00000"/>
                </a:solidFill>
              </a:rPr>
              <a:t>Add 12 DSPs</a:t>
            </a:r>
            <a:endParaRPr lang="en-US" altLang="zh-CN" b="1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1005" y="6289675"/>
            <a:ext cx="9772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R. Wei et al., "LightMamba: Efficient Mamba Acceleration on FPGA with Quantization and Hardware Co-design," 2025 Design, Automation &amp; Test in Europe Conference (DATE), Lyon, France, 2025, pp. 1-7, doi: 10.23919/DATE64628.2025.10993079.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28620" y="4805680"/>
            <a:ext cx="5401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 i="1">
                <a:solidFill>
                  <a:srgbClr val="C00000"/>
                </a:solidFill>
              </a:rPr>
              <a:t>use 64 DSPs</a:t>
            </a:r>
            <a:endParaRPr lang="en-US" altLang="zh-CN" b="1" i="1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 i="1">
                <a:solidFill>
                  <a:srgbClr val="C00000"/>
                </a:solidFill>
              </a:rPr>
              <a:t>wait for all MACs (64 tiles) to finish and then goes to next layer. </a:t>
            </a:r>
            <a:endParaRPr lang="en-US" altLang="zh-CN" b="1" i="1">
              <a:solidFill>
                <a:srgbClr val="C00000"/>
              </a:solidFill>
            </a:endParaRPr>
          </a:p>
          <a:p>
            <a:endParaRPr lang="en-US" altLang="zh-CN" b="1" i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Nonlinear layer - RMSNorm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67690" y="1184275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RMSNorm: y_i = x_i /  </a:t>
            </a:r>
            <a:r>
              <a:rPr lang="en-US" altLang="zh-CN" b="1">
                <a:solidFill>
                  <a:srgbClr val="C00000"/>
                </a:solidFill>
              </a:rPr>
              <a:t>RMS(x)</a:t>
            </a:r>
            <a:r>
              <a:rPr lang="en-US" altLang="zh-CN"/>
              <a:t> * gamma_i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759200" y="192659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weight</a:t>
            </a:r>
            <a:endParaRPr lang="en-US" altLang="zh-CN" b="1"/>
          </a:p>
        </p:txBody>
      </p:sp>
      <p:sp>
        <p:nvSpPr>
          <p:cNvPr id="7" name="上箭头 6"/>
          <p:cNvSpPr/>
          <p:nvPr/>
        </p:nvSpPr>
        <p:spPr>
          <a:xfrm>
            <a:off x="3028950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497455" y="1184275"/>
            <a:ext cx="170180" cy="36830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>
            <a:off x="3991610" y="161099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69235" y="1931670"/>
            <a:ext cx="989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Iterative</a:t>
            </a:r>
            <a:endParaRPr lang="en-US" altLang="zh-CN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4" name="上箭头 3"/>
          <p:cNvSpPr/>
          <p:nvPr/>
        </p:nvSpPr>
        <p:spPr>
          <a:xfrm>
            <a:off x="2497455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57935" y="1931670"/>
            <a:ext cx="1511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Trial-quotient</a:t>
            </a:r>
            <a:endParaRPr lang="en-US" altLang="zh-CN" b="1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510540" y="2872105"/>
            <a:ext cx="55759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Division</a:t>
            </a:r>
            <a:r>
              <a:rPr lang="zh-CN" altLang="en-US"/>
              <a:t>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Goal: replace division with one </a:t>
            </a:r>
            <a:r>
              <a:rPr lang="en-US" altLang="zh-CN" b="1">
                <a:solidFill>
                  <a:srgbClr val="C00000"/>
                </a:solidFill>
              </a:rPr>
              <a:t>reciprocal value</a:t>
            </a:r>
            <a:r>
              <a:rPr lang="en-US" altLang="zh-CN"/>
              <a:t>,  recip_q30 = round(</a:t>
            </a:r>
            <a:r>
              <a:rPr lang="en-US" altLang="zh-CN" b="1">
                <a:solidFill>
                  <a:srgbClr val="C00000"/>
                </a:solidFill>
              </a:rPr>
              <a:t>2^30</a:t>
            </a:r>
            <a:r>
              <a:rPr lang="en-US" altLang="zh-CN"/>
              <a:t> / rms_q88)</a:t>
            </a:r>
            <a:endParaRPr lang="en-US" altLang="zh-CN"/>
          </a:p>
          <a:p>
            <a:pPr lvl="1" indent="0">
              <a:buFont typeface="Arial" panose="020B0604020202020204" pitchFamily="34" charset="0"/>
              <a:buNone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2^30 is the scaling factor for the fixed-point reciprocal. recip_q30 stores 1 / rms_q88 with </a:t>
            </a:r>
            <a:r>
              <a:rPr lang="en-US" altLang="zh-CN" b="1">
                <a:solidFill>
                  <a:srgbClr val="C00000"/>
                </a:solidFill>
              </a:rPr>
              <a:t>30 fractional bits.</a:t>
            </a: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More fractional bits give </a:t>
            </a:r>
            <a:r>
              <a:rPr lang="en-US" altLang="zh-CN" b="1">
                <a:solidFill>
                  <a:srgbClr val="C00000"/>
                </a:solidFill>
              </a:rPr>
              <a:t>higher reciprocal precision</a:t>
            </a:r>
            <a:r>
              <a:rPr lang="en-US" altLang="zh-CN"/>
              <a:t>, reducing RMSNorm output error.</a:t>
            </a:r>
            <a:endParaRPr lang="en-US" altLang="zh-CN"/>
          </a:p>
        </p:txBody>
      </p:sp>
      <p:pic>
        <p:nvPicPr>
          <p:cNvPr id="14" name="图片 13" descr="trial_quotient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3230" y="1024255"/>
            <a:ext cx="4306570" cy="56819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Nonlinear layer - RMSNorm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67690" y="1184275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RMSNorm: y_i = x_i /  </a:t>
            </a:r>
            <a:r>
              <a:rPr lang="en-US" altLang="zh-CN" b="1">
                <a:solidFill>
                  <a:srgbClr val="C00000"/>
                </a:solidFill>
              </a:rPr>
              <a:t>RMS(x)</a:t>
            </a:r>
            <a:r>
              <a:rPr lang="en-US" altLang="zh-CN"/>
              <a:t> * gamma_i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759200" y="192659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weight</a:t>
            </a:r>
            <a:endParaRPr lang="en-US" altLang="zh-CN" b="1"/>
          </a:p>
        </p:txBody>
      </p:sp>
      <p:sp>
        <p:nvSpPr>
          <p:cNvPr id="7" name="上箭头 6"/>
          <p:cNvSpPr/>
          <p:nvPr/>
        </p:nvSpPr>
        <p:spPr>
          <a:xfrm>
            <a:off x="3028950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497455" y="1184275"/>
            <a:ext cx="170180" cy="36830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>
            <a:off x="3991610" y="161099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69235" y="1931670"/>
            <a:ext cx="989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Iterative</a:t>
            </a:r>
            <a:endParaRPr lang="en-US" altLang="zh-CN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4" name="上箭头 3"/>
          <p:cNvSpPr/>
          <p:nvPr/>
        </p:nvSpPr>
        <p:spPr>
          <a:xfrm>
            <a:off x="2497455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57935" y="1931670"/>
            <a:ext cx="1511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Trial-quotient</a:t>
            </a:r>
            <a:endParaRPr lang="en-US" altLang="zh-CN" b="1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510540" y="2668905"/>
            <a:ext cx="5575935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RMS Approximation</a:t>
            </a:r>
            <a:r>
              <a:rPr lang="zh-CN" altLang="en-US"/>
              <a:t>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 Goal: compute RMS without floating-point sqrt: </a:t>
            </a:r>
            <a:r>
              <a:rPr lang="en-US" altLang="zh-CN" b="1">
                <a:solidFill>
                  <a:srgbClr val="C00000"/>
                </a:solidFill>
              </a:rPr>
              <a:t>rms_q88 = isqrt(mean_sq_q16 + eps)</a:t>
            </a: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root: current </a:t>
            </a:r>
            <a:r>
              <a:rPr lang="en-US" altLang="zh-CN" b="1">
                <a:solidFill>
                  <a:srgbClr val="C00000"/>
                </a:solidFill>
              </a:rPr>
              <a:t>partial square-root result</a:t>
            </a:r>
            <a:r>
              <a:rPr lang="en-US" altLang="zh-CN"/>
              <a:t>; one new bit is decided each cycle.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remainder: the </a:t>
            </a:r>
            <a:r>
              <a:rPr lang="en-US" altLang="zh-CN" b="1">
                <a:solidFill>
                  <a:srgbClr val="C00000"/>
                </a:solidFill>
              </a:rPr>
              <a:t>remaining part of the input</a:t>
            </a:r>
            <a:r>
              <a:rPr lang="en-US" altLang="zh-CN"/>
              <a:t> that has not been explained by the current root.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trial value:  a test value used to check </a:t>
            </a:r>
            <a:r>
              <a:rPr lang="en-US" altLang="zh-CN" b="1">
                <a:solidFill>
                  <a:srgbClr val="C00000"/>
                </a:solidFill>
              </a:rPr>
              <a:t>whether the next root bit can be set to 1.</a:t>
            </a:r>
            <a:endParaRPr lang="en-US" altLang="zh-CN" b="1">
              <a:solidFill>
                <a:srgbClr val="C00000"/>
              </a:solidFill>
            </a:endParaRPr>
          </a:p>
          <a:p>
            <a:pPr lvl="2" indent="0">
              <a:buFont typeface="Arial" panose="020B0604020202020204" pitchFamily="34" charset="0"/>
              <a:buNone/>
            </a:pPr>
            <a:r>
              <a:rPr lang="en-US" altLang="zh-CN" sz="1600" b="1" i="1">
                <a:solidFill>
                  <a:schemeClr val="tx2"/>
                </a:solidFill>
              </a:rPr>
              <a:t>root_shift = {isqrt_root, 1'b0};</a:t>
            </a:r>
            <a:endParaRPr lang="en-US" altLang="zh-CN" sz="1600" b="1" i="1">
              <a:solidFill>
                <a:schemeClr val="tx2"/>
              </a:solidFill>
            </a:endParaRPr>
          </a:p>
          <a:p>
            <a:pPr lvl="2" indent="0">
              <a:buFont typeface="Arial" panose="020B0604020202020204" pitchFamily="34" charset="0"/>
              <a:buNone/>
            </a:pPr>
            <a:r>
              <a:rPr lang="en-US" altLang="zh-CN" sz="1600" b="1" i="1">
                <a:solidFill>
                  <a:schemeClr val="tx2"/>
                </a:solidFill>
              </a:rPr>
              <a:t>trial      = {32'd0, root_shift, 1'b1};</a:t>
            </a:r>
            <a:endParaRPr lang="en-US" altLang="zh-CN" sz="1600" b="1" i="1">
              <a:solidFill>
                <a:schemeClr val="tx2"/>
              </a:solidFill>
            </a:endParaRPr>
          </a:p>
        </p:txBody>
      </p:sp>
      <p:pic>
        <p:nvPicPr>
          <p:cNvPr id="10" name="图片 9" descr="rms_approximation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4535" y="1071880"/>
            <a:ext cx="3488690" cy="56553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Nonlinear layer - RMSNorm</a:t>
            </a:r>
            <a:endParaRPr lang="zh-CN" altLang="en-US"/>
          </a:p>
        </p:txBody>
      </p:sp>
      <p:pic>
        <p:nvPicPr>
          <p:cNvPr id="13" name="图片 12" descr="rmsnorm_float_vs_h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540" y="1337310"/>
            <a:ext cx="7978140" cy="44964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430260" y="2774315"/>
            <a:ext cx="3422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max abs. error= 0.015625</a:t>
            </a:r>
            <a:endParaRPr lang="en-US" altLang="zh-CN" b="1"/>
          </a:p>
          <a:p>
            <a:r>
              <a:rPr lang="en-US" altLang="zh-CN" b="1"/>
              <a:t>mean</a:t>
            </a:r>
            <a:r>
              <a:rPr lang="en-US" altLang="zh-CN" b="1">
                <a:sym typeface="+mn-ea"/>
              </a:rPr>
              <a:t> abs. </a:t>
            </a:r>
            <a:r>
              <a:rPr lang="en-US" altLang="zh-CN" b="1"/>
              <a:t>error = 0.004211</a:t>
            </a:r>
            <a:endParaRPr lang="en-US" altLang="zh-CN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Nonlinear layer - Sigmoid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4919345"/>
            <a:ext cx="1676400" cy="657225"/>
          </a:xfrm>
          <a:prstGeom prst="rect">
            <a:avLst/>
          </a:prstGeom>
        </p:spPr>
      </p:pic>
      <p:sp>
        <p:nvSpPr>
          <p:cNvPr id="16" name="右箭头 15"/>
          <p:cNvSpPr/>
          <p:nvPr/>
        </p:nvSpPr>
        <p:spPr>
          <a:xfrm>
            <a:off x="2258060" y="5123815"/>
            <a:ext cx="31496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711450" y="5044440"/>
            <a:ext cx="1913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clamp x to [-4, +4)</a:t>
            </a:r>
            <a:endParaRPr lang="en-US" altLang="zh-CN"/>
          </a:p>
        </p:txBody>
      </p:sp>
      <p:sp>
        <p:nvSpPr>
          <p:cNvPr id="18" name="右箭头 17"/>
          <p:cNvSpPr/>
          <p:nvPr/>
        </p:nvSpPr>
        <p:spPr>
          <a:xfrm>
            <a:off x="543560" y="5655945"/>
            <a:ext cx="31496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0" y="5576570"/>
            <a:ext cx="2495550" cy="361950"/>
          </a:xfrm>
          <a:prstGeom prst="rect">
            <a:avLst/>
          </a:prstGeom>
        </p:spPr>
      </p:pic>
      <p:sp>
        <p:nvSpPr>
          <p:cNvPr id="20" name="右箭头 19"/>
          <p:cNvSpPr/>
          <p:nvPr/>
        </p:nvSpPr>
        <p:spPr>
          <a:xfrm>
            <a:off x="3679190" y="5655945"/>
            <a:ext cx="31496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154805" y="5576570"/>
            <a:ext cx="3253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LUT: 2048 sigmoid outputs</a:t>
            </a:r>
            <a:endParaRPr lang="en-US" altLang="zh-CN" b="1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" y="1200150"/>
            <a:ext cx="6667500" cy="32004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r="41234"/>
          <a:stretch>
            <a:fillRect/>
          </a:stretch>
        </p:blipFill>
        <p:spPr>
          <a:xfrm>
            <a:off x="7485380" y="1085850"/>
            <a:ext cx="3961130" cy="500634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4472305" y="3284855"/>
            <a:ext cx="795020" cy="238760"/>
          </a:xfrm>
          <a:prstGeom prst="round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Nonlinear layer - Sigmoid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90" y="1318895"/>
            <a:ext cx="6732905" cy="3848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295" y="1376045"/>
            <a:ext cx="4572000" cy="4457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64590" y="5367020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error &lt; 0.02%</a:t>
            </a:r>
            <a:endParaRPr lang="en-US" altLang="zh-CN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Quantisation: Workflow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12745" y="4578350"/>
            <a:ext cx="20548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/>
              <a:t>Metrics - MAE </a:t>
            </a:r>
            <a:r>
              <a:rPr lang="zh-CN" altLang="en-US" b="1"/>
              <a:t>：</a:t>
            </a:r>
            <a:endParaRPr lang="en-US" altLang="zh-CN" b="1"/>
          </a:p>
          <a:p>
            <a:pPr lvl="0"/>
            <a:r>
              <a:rPr lang="en-US" altLang="zh-CN"/>
              <a:t>cpp vs float         </a:t>
            </a:r>
            <a:r>
              <a:rPr lang="en-US" altLang="zh-CN" b="1">
                <a:solidFill>
                  <a:srgbClr val="C00000"/>
                </a:solidFill>
              </a:rPr>
              <a:t>quantisation loss </a:t>
            </a:r>
            <a:r>
              <a:rPr lang="en-US" altLang="zh-CN"/>
              <a:t>            </a:t>
            </a:r>
            <a:endParaRPr lang="en-US" altLang="zh-CN"/>
          </a:p>
          <a:p>
            <a:pPr lvl="0"/>
            <a:r>
              <a:rPr lang="en-US" altLang="zh-CN"/>
              <a:t>hw vs cpp   </a:t>
            </a:r>
            <a:endParaRPr lang="en-US" altLang="zh-CN"/>
          </a:p>
          <a:p>
            <a:pPr lvl="0"/>
            <a:r>
              <a:rPr lang="en-US" altLang="zh-CN" b="1">
                <a:solidFill>
                  <a:srgbClr val="C00000"/>
                </a:solidFill>
              </a:rPr>
              <a:t>hardware mapping error</a:t>
            </a:r>
            <a:endParaRPr lang="en-US" altLang="zh-CN" b="1">
              <a:solidFill>
                <a:srgbClr val="C00000"/>
              </a:solidFill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5106035" y="1847215"/>
          <a:ext cx="6903720" cy="2188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905"/>
                <a:gridCol w="655320"/>
                <a:gridCol w="3219450"/>
                <a:gridCol w="1376045"/>
              </a:tblGrid>
              <a:tr h="363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altLang="zh-CN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altLang="zh-CN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overrides</a:t>
                      </a:r>
                      <a:endParaRPr lang="en-US" altLang="zh-CN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mean_err (m)</a:t>
                      </a:r>
                      <a:endParaRPr lang="zh-CN" altLang="en-US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21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golden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</a:rPr>
                        <a:t>0.13695</a:t>
                      </a:r>
                      <a:endParaRPr lang="en-US" altLang="zh-CN" sz="1600" b="1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all_int16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ssm_state=int16, gate=int16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</a:rPr>
                        <a:t>0.13520</a:t>
                      </a:r>
                      <a:endParaRPr lang="en-US" altLang="zh-CN" sz="1600" b="1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41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mixed_candidate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dt_proj=int8, ssm_state=int8, gate=int8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</a:rPr>
                        <a:t>0.13519</a:t>
                      </a:r>
                      <a:endParaRPr lang="en-US" altLang="zh-CN" sz="1600" b="1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62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inproj_i8_on_i16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in_proj=int8, ssm_state=int16, gate=int16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0.76520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outproj_i8_on_i16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out_proj=int8, ssm_state=int16, gate=int16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0.24352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016500" y="1189990"/>
            <a:ext cx="4057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Layer-wise Precision Sweep</a:t>
            </a:r>
            <a:endParaRPr lang="en-US" altLang="zh-CN" sz="2000" b="1"/>
          </a:p>
        </p:txBody>
      </p:sp>
      <p:sp>
        <p:nvSpPr>
          <p:cNvPr id="9" name="文本框 8"/>
          <p:cNvSpPr txBox="1"/>
          <p:nvPr/>
        </p:nvSpPr>
        <p:spPr>
          <a:xfrm>
            <a:off x="5106035" y="4229100"/>
            <a:ext cx="6781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int16 quantisation is safe.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dt_proj, ssm_state, and gate</a:t>
            </a:r>
            <a:r>
              <a:rPr lang="en-US" altLang="zh-CN"/>
              <a:t> can be reduced to </a:t>
            </a:r>
            <a:r>
              <a:rPr lang="en-US" altLang="zh-CN" b="1">
                <a:solidFill>
                  <a:srgbClr val="C00000"/>
                </a:solidFill>
              </a:rPr>
              <a:t>int8</a:t>
            </a:r>
            <a:r>
              <a:rPr lang="en-US" altLang="zh-CN"/>
              <a:t> with negligible accuracy loss.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in_proj and out_proj are precision-sensitive </a:t>
            </a:r>
            <a:r>
              <a:rPr lang="en-US" altLang="zh-CN"/>
              <a:t>and should remain at higher precision.</a:t>
            </a:r>
            <a:endParaRPr lang="en-US" altLang="zh-CN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4972685" y="1083945"/>
            <a:ext cx="20955" cy="542163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图片 16" descr="float_cpp_rtl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94330" y="1083945"/>
            <a:ext cx="2000885" cy="3341370"/>
          </a:xfrm>
          <a:prstGeom prst="rect">
            <a:avLst/>
          </a:prstGeom>
        </p:spPr>
      </p:pic>
      <p:pic>
        <p:nvPicPr>
          <p:cNvPr id="2" name="图片 1" descr="quantization_flow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130" y="1083945"/>
            <a:ext cx="249555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MAMBA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540" y="1596390"/>
            <a:ext cx="5079365" cy="478282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Quantisation: Workflow 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10540" y="1064260"/>
            <a:ext cx="4845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Analyse per-layer quantisation error</a:t>
            </a:r>
            <a:endParaRPr lang="en-US" altLang="zh-CN" sz="2000" b="1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013450" y="1372870"/>
          <a:ext cx="5593080" cy="1108710"/>
        </p:xfrm>
        <a:graphic>
          <a:graphicData uri="http://schemas.openxmlformats.org/drawingml/2006/table">
            <a:tbl>
              <a:tblPr/>
              <a:tblGrid>
                <a:gridCol w="1158240"/>
                <a:gridCol w="1806575"/>
                <a:gridCol w="2628265"/>
              </a:tblGrid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Evaluation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HW vs. float MAE</a:t>
                      </a:r>
                      <a:endParaRPr lang="en-US" altLang="zh-CN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Mean localization error (m)</a:t>
                      </a:r>
                      <a:endParaRPr lang="en-US" altLang="zh-CN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  <a:sym typeface="+mn-ea"/>
                        </a:rPr>
                        <a:t>unified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0.17987</a:t>
                      </a:r>
                      <a:endParaRPr lang="en-US" altLang="zh-CN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0.35543</a:t>
                      </a:r>
                      <a:endParaRPr lang="en-US" altLang="zh-CN" sz="1400" b="1" dirty="0">
                        <a:solidFill>
                          <a:srgbClr val="FF0000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  <a:sym typeface="+mn-ea"/>
                        </a:rPr>
                        <a:t>golden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-</a:t>
                      </a:r>
                      <a:endParaRPr lang="en-US" altLang="zh-CN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0.13695</a:t>
                      </a:r>
                      <a:endParaRPr lang="en-US" altLang="zh-CN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732145" y="2649220"/>
                <a:ext cx="6878955" cy="3150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>
                  <a:buFont typeface="Wingdings" panose="05000000000000000000" charset="0"/>
                  <a:buNone/>
                </a:pPr>
                <a:r>
                  <a:rPr lang="en-US" altLang="zh-CN" b="1"/>
                  <a:t>Initial Quantization Strategy:</a:t>
                </a:r>
                <a:endParaRPr lang="en-US" altLang="zh-CN" b="1"/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 b="1"/>
                  <a:t>Scale</a:t>
                </a:r>
                <a:endParaRPr lang="en-US" altLang="zh-CN" b="1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/>
                  <a:t>Main datapath uses signed Q8.8 with a </a:t>
                </a:r>
                <a:r>
                  <a:rPr lang="en-US" altLang="zh-CN" b="1">
                    <a:solidFill>
                      <a:srgbClr val="FF0000"/>
                    </a:solidFill>
                  </a:rPr>
                  <a:t>fixed scale</a:t>
                </a:r>
                <a:r>
                  <a:rPr lang="en-US" altLang="zh-CN"/>
                  <a:t> 1/256</a:t>
                </a:r>
                <a:endParaRPr lang="en-US" altLang="zh-CN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/>
                  <a:t>Sigmoid-related: Q0.16, scale 1/65536</a:t>
                </a:r>
                <a:endParaRPr lang="en-US" altLang="zh-CN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/>
                  <a:t>RMSNorm reciprocal: Q30, scale 1/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30</m:t>
                        </m:r>
                      </m:sup>
                    </m:sSup>
                  </m:oMath>
                </a14:m>
                <a:endParaRPr lang="en-US" altLang="zh-CN"/>
              </a:p>
              <a:p>
                <a:pPr marL="285750" lvl="0" indent="-285750">
                  <a:buFont typeface="Wingdings" panose="05000000000000000000" charset="0"/>
                  <a:buChar char="Ø"/>
                </a:pPr>
                <a:r>
                  <a:rPr lang="en-US" altLang="zh-CN" b="1"/>
                  <a:t>Rounding</a:t>
                </a:r>
                <a:endParaRPr lang="en-US" altLang="zh-CN" b="1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/>
                  <a:t>MAC / Q-format conversions: </a:t>
                </a:r>
                <a:r>
                  <a:rPr lang="en-US" altLang="zh-CN" b="1">
                    <a:solidFill>
                      <a:srgbClr val="FF0000"/>
                    </a:solidFill>
                  </a:rPr>
                  <a:t>round-to-nearest-even (RNE).</a:t>
                </a:r>
                <a:endParaRPr lang="en-US" altLang="zh-CN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/>
                  <a:t>Sigmoid LUT / </a:t>
                </a:r>
                <a:r>
                  <a:rPr lang="en-US" altLang="zh-CN">
                    <a:sym typeface="+mn-ea"/>
                  </a:rPr>
                  <a:t>RMSNorm reciprocal</a:t>
                </a:r>
                <a:r>
                  <a:rPr lang="en-US" altLang="zh-CN"/>
                  <a:t>:</a:t>
                </a:r>
                <a:r>
                  <a:rPr lang="en-US" altLang="zh-CN"/>
                  <a:t> </a:t>
                </a:r>
                <a:r>
                  <a:rPr lang="en-US" altLang="zh-CN" b="1">
                    <a:solidFill>
                      <a:srgbClr val="FF0000"/>
                    </a:solidFill>
                  </a:rPr>
                  <a:t>nearest rounding.</a:t>
                </a:r>
                <a:endParaRPr lang="en-US" altLang="zh-CN" b="1"/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 b="1"/>
                  <a:t>Saturation</a:t>
                </a:r>
                <a:endParaRPr lang="en-US" altLang="zh-CN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/>
                  <a:t>Q8.8: clamp to [-32768,32767]</a:t>
                </a:r>
                <a:endParaRPr lang="en-US" altLang="zh-CN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/>
                  <a:t>Q0.16: clamp to [0,65535].</a:t>
                </a:r>
                <a:endParaRPr lang="en-US" altLang="zh-CN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145" y="2649220"/>
                <a:ext cx="6878955" cy="315023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9344660" y="1004570"/>
            <a:ext cx="1831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 b="1">
                <a:solidFill>
                  <a:srgbClr val="FF0000"/>
                </a:solidFill>
              </a:rPr>
              <a:t>Mismatch!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Quantisation: Workflow 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10540" y="1064260"/>
            <a:ext cx="4845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Analyse per-layer quantisation error</a:t>
            </a:r>
            <a:endParaRPr lang="en-US" altLang="zh-CN" sz="2000" b="1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13450" y="1169670"/>
          <a:ext cx="4970145" cy="4346448"/>
        </p:xfrm>
        <a:graphic>
          <a:graphicData uri="http://schemas.openxmlformats.org/drawingml/2006/table">
            <a:tbl>
              <a:tblPr/>
              <a:tblGrid>
                <a:gridCol w="1329690"/>
                <a:gridCol w="1614170"/>
                <a:gridCol w="2026285"/>
              </a:tblGrid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Stage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Fixed scale MAE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Dynamic Scale MAE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norm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0.004498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0.004498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inproj_u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0.010917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0.010917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inproj_z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0.011069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0.011069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silu_u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0.006183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0.006183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silu_gate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0.005931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0.005931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dtproj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0.010139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0.010139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dt_sigmoid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0.002118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0.002118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selective_scan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0.127090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0.085484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ewm_gating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0.033001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0.029827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outproj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0.032225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0.031243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block_output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0.032426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0.031332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899785" y="5553710"/>
            <a:ext cx="5481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Fixed scale:</a:t>
            </a:r>
            <a:r>
              <a:rPr lang="en-US" altLang="zh-CN"/>
              <a:t> for Q8.8, every value uses the </a:t>
            </a:r>
            <a:r>
              <a:rPr lang="en-US" altLang="zh-CN" b="1">
                <a:solidFill>
                  <a:srgbClr val="C00000"/>
                </a:solidFill>
              </a:rPr>
              <a:t>same scale</a:t>
            </a:r>
            <a:r>
              <a:rPr lang="en-US" altLang="zh-CN"/>
              <a:t> 1/256, so real value = int16 / 256.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Dynamic scale:</a:t>
            </a:r>
            <a:r>
              <a:rPr lang="en-US" altLang="zh-CN"/>
              <a:t> scale is computed from the </a:t>
            </a:r>
            <a:r>
              <a:rPr lang="en-US" altLang="zh-CN" b="1">
                <a:solidFill>
                  <a:srgbClr val="C00000"/>
                </a:solidFill>
              </a:rPr>
              <a:t>channel range</a:t>
            </a:r>
            <a:r>
              <a:rPr lang="en-US" altLang="zh-CN"/>
              <a:t>, so real value = int16 × scale.</a:t>
            </a:r>
            <a:endParaRPr lang="en-US" altLang="zh-CN"/>
          </a:p>
        </p:txBody>
      </p:sp>
      <p:pic>
        <p:nvPicPr>
          <p:cNvPr id="2" name="图片 1" descr="MAMBAFlow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0540" y="1596390"/>
            <a:ext cx="5079365" cy="47828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Quantisation: Workflow</a:t>
            </a:r>
            <a:endParaRPr lang="en-US" altLang="en-US"/>
          </a:p>
        </p:txBody>
      </p:sp>
      <p:sp>
        <p:nvSpPr>
          <p:cNvPr id="39" name="文本框 38"/>
          <p:cNvSpPr txBox="1"/>
          <p:nvPr>
            <p:custDataLst>
              <p:tags r:id="rId2"/>
            </p:custDataLst>
          </p:nvPr>
        </p:nvSpPr>
        <p:spPr>
          <a:xfrm>
            <a:off x="510256" y="1280000"/>
            <a:ext cx="6223635" cy="260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algn="ctr"/>
            <a:r>
              <a:rPr lang="en-US" sz="1700" typeface="Times New Roman" b="1">
                <a:solidFill>
                  <a:srgbClr val="000000"/>
                </a:solidFill>
              </a:rPr>
              <a:t>Table 4.8: Final layer-wise quantization strategy.</a:t>
            </a:r>
            <a:endParaRPr lang="en-US"/>
          </a:p>
        </p:txBody>
      </p:sp>
      <p:graphicFrame>
        <p:nvGraphicFramePr>
          <p:cNvPr id="6" name="表格 3"/>
          <p:cNvGraphicFramePr/>
          <p:nvPr>
            <p:custDataLst>
              <p:tags r:id="rId3"/>
            </p:custDataLst>
          </p:nvPr>
        </p:nvGraphicFramePr>
        <p:xfrm>
          <a:off x="510256" y="1580000"/>
          <a:ext cx="6223635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000"/>
                <a:gridCol w="800000"/>
                <a:gridCol w="760000"/>
                <a:gridCol w="1200000"/>
                <a:gridCol w="1583635"/>
              </a:tblGrid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200" typeface="Times New Roman" b="1">
                          <a:solidFill>
                            <a:srgbClr val="000000"/>
                          </a:solidFill>
                        </a:rPr>
                        <a:t>Stage</a:t>
                      </a:r>
                      <a:endParaRPr lang="en-US" sz="120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7F7F7F"/>
                      </a:solidFill>
                    </a:lnT>
                    <a:lnB w="12700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200" typeface="Times New Roman" b="1">
                          <a:solidFill>
                            <a:srgbClr val="000000"/>
                          </a:solidFill>
                        </a:rPr>
                        <a:t>Scale</a:t>
                      </a:r>
                      <a:endParaRPr lang="en-US" sz="120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7F7F7F"/>
                      </a:solidFill>
                    </a:lnT>
                    <a:lnB w="12700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200" typeface="Times New Roman" b="1">
                          <a:solidFill>
                            <a:srgbClr val="000000"/>
                          </a:solidFill>
                        </a:rPr>
                        <a:t>Q format</a:t>
                      </a:r>
                      <a:endParaRPr lang="en-US" sz="120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7F7F7F"/>
                      </a:solidFill>
                    </a:lnT>
                    <a:lnB w="12700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200" typeface="Times New Roman" b="1">
                          <a:solidFill>
                            <a:srgbClr val="000000"/>
                          </a:solidFill>
                        </a:rPr>
                        <a:t>Rounding</a:t>
                      </a:r>
                      <a:endParaRPr lang="en-US" sz="120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7F7F7F"/>
                      </a:solidFill>
                    </a:lnT>
                    <a:lnB w="12700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200" typeface="Times New Roman" b="1">
                          <a:solidFill>
                            <a:srgbClr val="000000"/>
                          </a:solidFill>
                        </a:rPr>
                        <a:t>Saturation</a:t>
                      </a:r>
                      <a:endParaRPr lang="en-US" sz="120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7F7F7F"/>
                      </a:solidFill>
                    </a:lnT>
                    <a:lnB w="12700">
                      <a:solidFill>
                        <a:srgbClr val="7F7F7F"/>
                      </a:solidFill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 b="1">
                          <a:solidFill>
                            <a:srgbClr val="000000"/>
                          </a:solidFill>
                        </a:rPr>
                        <a:t>RMSNorm output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1/256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Q8.8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RNE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[-32768, 32767]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 b="1">
                          <a:solidFill>
                            <a:srgbClr val="000000"/>
                          </a:solidFill>
                        </a:rPr>
                        <a:t>RMSNorm reciprocal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1/2^30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Q30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NR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[-32768, 32767]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in_proj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1/256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Q8.8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RNE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[-32768, 32767]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dt_proj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1/256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Q8.8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RNE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[-32768, 32767]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out_proj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1/256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Q8.8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RNE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[-32768, 32767]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gate_y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1/256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Q8.8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RNE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[-32768, 32767]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Sigmoid LUT output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1/65536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Q0.16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NR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[0, 65535]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SiLU sigmoid path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1/65536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Q0.16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NR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[0, 65535]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dt_lambda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1/65536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Q0.16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NR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[0, 65535]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 b="1">
                          <a:solidFill>
                            <a:srgbClr val="000000"/>
                          </a:solidFill>
                        </a:rPr>
                        <a:t>Selective-scan lambda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1/32768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Q1.15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No rounding, Shift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[0, 1]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00000"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 b="1">
                          <a:solidFill>
                            <a:srgbClr val="000000"/>
                          </a:solidFill>
                        </a:rPr>
                        <a:t>Selective-scan state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Dynamic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Q8.8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RNE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 anchor="mid"/>
                    <a:lstStyle/>
                    <a:p>
                      <a:pPr algn="l"/>
                      <a:r>
                        <a:rPr lang="en-US" sz="1150" typeface="Times New Roman">
                          <a:solidFill>
                            <a:srgbClr val="000000"/>
                          </a:solidFill>
                        </a:rPr>
                        <a:t>[-32768, 32767]</a:t>
                      </a:r>
                      <a:endParaRPr lang="en-US" sz="1150"/>
                    </a:p>
                  </a:txBody>
                  <a:tcPr marL="30000" marR="30000" marT="10000" marB="1000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062470" y="1614805"/>
            <a:ext cx="48825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</a:rPr>
              <a:t>Rounding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rgbClr val="C00000"/>
                </a:solidFill>
              </a:rPr>
              <a:t>Main rule: round-to-nearest-even.</a:t>
            </a:r>
            <a:endParaRPr lang="en-US" altLang="zh-CN" b="1" i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Used after MAC, Q-format conversion, state update, and scale multiplication.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Reduces long-term bias</a:t>
            </a:r>
            <a:r>
              <a:rPr lang="en-US" altLang="zh-CN">
                <a:solidFill>
                  <a:schemeClr val="tx1"/>
                </a:solidFill>
              </a:rPr>
              <a:t> compared with truncation.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 b="1">
                <a:solidFill>
                  <a:schemeClr val="tx1"/>
                </a:solidFill>
              </a:rPr>
              <a:t>Saturation / Clamp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Final Q8.8 values are </a:t>
            </a:r>
            <a:r>
              <a:rPr lang="en-US" altLang="zh-CN" b="1">
                <a:solidFill>
                  <a:srgbClr val="C00000"/>
                </a:solidFill>
              </a:rPr>
              <a:t>clamped to signed int16:</a:t>
            </a:r>
            <a:endParaRPr lang="en-US" altLang="zh-CN" b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[-32768, 32767]  -&gt;  about [-128, 127.996]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Prevents overflow and wrong sign</a:t>
            </a:r>
            <a:r>
              <a:rPr lang="en-US" altLang="zh-CN">
                <a:solidFill>
                  <a:schemeClr val="tx1"/>
                </a:solidFill>
              </a:rPr>
              <a:t> after multiplication, accumulation, or residual add.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0540" y="1583690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" typeface="Times New Roman">
                <a:solidFill>
                  <a:srgbClr val="000000"/>
                </a:solidFill>
              </a:rPr>
              <a:t/>
            </a:r>
            <a:endParaRPr lang="en-US"/>
          </a:p>
        </p:txBody>
      </p:sp>
      <p:sp>
        <p:nvSpPr>
          <p:cNvPr id="10" name="文本框 9"/>
          <p:cNvSpPr txBox="1"/>
          <p:nvPr/>
        </p:nvSpPr>
        <p:spPr>
          <a:xfrm>
            <a:off x="173355" y="5504815"/>
            <a:ext cx="75171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2"/>
                </a:solidFill>
              </a:rPr>
              <a:t>in selective scan we need to calculate 1-lamda</a:t>
            </a:r>
            <a:endParaRPr lang="en-US" altLang="zh-CN">
              <a:solidFill>
                <a:schemeClr val="tx2"/>
              </a:solidFill>
            </a:endParaRPr>
          </a:p>
          <a:p>
            <a:r>
              <a:rPr lang="en-US" altLang="zh-CN">
                <a:solidFill>
                  <a:schemeClr val="tx2"/>
                </a:solidFill>
              </a:rPr>
              <a:t>s_new = lambda * s_prev +</a:t>
            </a:r>
            <a:r>
              <a:rPr lang="en-US" altLang="zh-CN">
                <a:solidFill>
                  <a:srgbClr val="C00000"/>
                </a:solidFill>
              </a:rPr>
              <a:t> </a:t>
            </a:r>
            <a:r>
              <a:rPr lang="en-US" altLang="zh-CN" b="1">
                <a:solidFill>
                  <a:srgbClr val="C00000"/>
                </a:solidFill>
              </a:rPr>
              <a:t>(1 - lambda)</a:t>
            </a:r>
            <a:r>
              <a:rPr lang="en-US" altLang="zh-CN">
                <a:solidFill>
                  <a:schemeClr val="tx2"/>
                </a:solidFill>
              </a:rPr>
              <a:t> * u</a:t>
            </a:r>
            <a:endParaRPr lang="en-US" altLang="zh-CN">
              <a:solidFill>
                <a:schemeClr val="tx2"/>
              </a:solidFill>
            </a:endParaRPr>
          </a:p>
          <a:p>
            <a:r>
              <a:rPr lang="en-US" altLang="zh-CN">
                <a:solidFill>
                  <a:schemeClr val="tx2"/>
                </a:solidFill>
              </a:rPr>
              <a:t>Q1.15:   s_new = ((lam_q15 * s_prev) + ((32768 - lam_q15) * u_scaled)) &gt;&gt; 15</a:t>
            </a:r>
            <a:endParaRPr lang="en-US" altLang="zh-CN">
              <a:solidFill>
                <a:schemeClr val="tx2"/>
              </a:solidFill>
            </a:endParaRPr>
          </a:p>
          <a:p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6788150" y="4989830"/>
            <a:ext cx="5382895" cy="47625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b="1">
                <a:sym typeface="+mn-ea"/>
              </a:rPr>
              <a:t>Final quantisation evaluation (34,505 samples)</a:t>
            </a:r>
            <a:endParaRPr lang="en-US" altLang="zh-CN" sz="2000" b="1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89775" y="5455285"/>
            <a:ext cx="50660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hw vs float	mae = 0.02081</a:t>
            </a:r>
            <a:endParaRPr lang="en-US" altLang="zh-CN" b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Mean error = 0.14103m  (float=0.13695m)</a:t>
            </a:r>
            <a:endParaRPr lang="en-US" altLang="zh-CN" b="1">
              <a:solidFill>
                <a:srgbClr val="C00000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Quantisation: Hardware implemetation</a:t>
            </a:r>
            <a:endParaRPr lang="en-US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0540" y="1108710"/>
            <a:ext cx="7907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A</a:t>
            </a:r>
            <a:r>
              <a:rPr lang="en-US" altLang="zh-CN" sz="2000" b="1">
                <a:solidFill>
                  <a:srgbClr val="C00000"/>
                </a:solidFill>
              </a:rPr>
              <a:t> Configurable</a:t>
            </a:r>
            <a:r>
              <a:rPr lang="en-US" altLang="zh-CN" sz="2000" b="1"/>
              <a:t> Quantisation Module - </a:t>
            </a:r>
            <a:r>
              <a:rPr lang="en-US" altLang="zh-CN" sz="2000" b="1" i="1">
                <a:solidFill>
                  <a:schemeClr val="tx2"/>
                </a:solidFill>
              </a:rPr>
              <a:t>requant_round_sat_engine</a:t>
            </a:r>
            <a:endParaRPr lang="en-US" altLang="zh-CN" sz="2000" b="1" i="1">
              <a:solidFill>
                <a:schemeClr val="tx2"/>
              </a:solidFill>
            </a:endParaRPr>
          </a:p>
        </p:txBody>
      </p:sp>
      <p:pic>
        <p:nvPicPr>
          <p:cNvPr id="12" name="图片 11" descr="fixed_point_vector_la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364"/>
          <a:stretch>
            <a:fillRect/>
          </a:stretch>
        </p:blipFill>
        <p:spPr>
          <a:xfrm>
            <a:off x="586105" y="1507490"/>
            <a:ext cx="10686415" cy="34715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10540" y="5158105"/>
            <a:ext cx="87953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 USE_SCALE selects fixed identity scale or external per-lane scale.</a:t>
            </a:r>
            <a:endParaRPr lang="en-US" altLang="zh-CN"/>
          </a:p>
          <a:p>
            <a:r>
              <a:rPr lang="en-US" altLang="zh-CN"/>
              <a:t>• ROUND_MODE selects truncation or round-to-nearest-even.</a:t>
            </a:r>
            <a:endParaRPr lang="en-US" altLang="zh-CN"/>
          </a:p>
          <a:p>
            <a:r>
              <a:rPr lang="en-US" altLang="zh-CN"/>
              <a:t>• SAT_MODE selects wrap cast or clamp to the target output range.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ing_pong_scale_alignmen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9482"/>
          <a:stretch>
            <a:fillRect/>
          </a:stretch>
        </p:blipFill>
        <p:spPr>
          <a:xfrm>
            <a:off x="1866900" y="1377950"/>
            <a:ext cx="7976235" cy="41313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/>
              <a:t>Quantisation: Hardware implemetation</a:t>
            </a:r>
            <a:endParaRPr lang="en-US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426" y="6357296"/>
            <a:ext cx="2743200" cy="365125"/>
          </a:xfr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0540" y="1108710"/>
            <a:ext cx="4034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Dynamic scale for selective scan</a:t>
            </a:r>
            <a:endParaRPr lang="en-US" altLang="zh-CN" sz="2000" b="1" i="1">
              <a:solidFill>
                <a:schemeClr val="tx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8050" y="5640070"/>
            <a:ext cx="98939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While </a:t>
            </a:r>
            <a:r>
              <a:rPr lang="en-US" altLang="zh-CN" b="1">
                <a:solidFill>
                  <a:srgbClr val="C00000"/>
                </a:solidFill>
              </a:rPr>
              <a:t>one bank</a:t>
            </a:r>
            <a:r>
              <a:rPr lang="en-US" altLang="zh-CN"/>
              <a:t> feeds ew_update_vec4, </a:t>
            </a:r>
            <a:r>
              <a:rPr lang="en-US" altLang="zh-CN" b="1">
                <a:solidFill>
                  <a:srgbClr val="C00000"/>
                </a:solidFill>
              </a:rPr>
              <a:t>the other bank</a:t>
            </a:r>
            <a:r>
              <a:rPr lang="en-US" altLang="zh-CN"/>
              <a:t> can prepare the next toke, keeps </a:t>
            </a:r>
            <a:r>
              <a:rPr lang="en-US" altLang="zh-CN" b="1">
                <a:solidFill>
                  <a:srgbClr val="C00000"/>
                </a:solidFill>
              </a:rPr>
              <a:t>data and scale values aligned</a:t>
            </a:r>
            <a:r>
              <a:rPr lang="en-US" altLang="zh-CN"/>
              <a:t> before the state update.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Scale generator</a:t>
            </a:r>
            <a:r>
              <a:rPr lang="en-US" altLang="zh-CN"/>
              <a:t> computes per-lane u_to_state and state_to_q88 scales from u_act.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4"/>
          <p:cNvSpPr/>
          <p:nvPr/>
        </p:nvSpPr>
        <p:spPr>
          <a:xfrm>
            <a:off x="6571848" y="2684704"/>
            <a:ext cx="5045321" cy="3237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735983" y="3608288"/>
            <a:ext cx="4717052" cy="349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Text 0"/>
          <p:cNvSpPr/>
          <p:nvPr/>
        </p:nvSpPr>
        <p:spPr>
          <a:xfrm>
            <a:off x="553572" y="227965"/>
            <a:ext cx="11124692" cy="63830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190" dirty="0">
                <a:solidFill>
                  <a:srgbClr val="8A5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</a:t>
            </a:r>
            <a:endParaRPr lang="en-US" sz="4190" dirty="0"/>
          </a:p>
        </p:txBody>
      </p:sp>
      <p:sp>
        <p:nvSpPr>
          <p:cNvPr id="4" name="Shape 2"/>
          <p:cNvSpPr/>
          <p:nvPr/>
        </p:nvSpPr>
        <p:spPr>
          <a:xfrm>
            <a:off x="553572" y="1139825"/>
            <a:ext cx="5699125" cy="141338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7707" y="1249248"/>
            <a:ext cx="5370855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595" dirty="0"/>
          </a:p>
        </p:txBody>
      </p:sp>
      <p:sp>
        <p:nvSpPr>
          <p:cNvPr id="6" name="Shape 4"/>
          <p:cNvSpPr/>
          <p:nvPr/>
        </p:nvSpPr>
        <p:spPr>
          <a:xfrm>
            <a:off x="3833495" y="1759585"/>
            <a:ext cx="2254885" cy="300990"/>
          </a:xfrm>
          <a:prstGeom prst="rect">
            <a:avLst/>
          </a:prstGeom>
          <a:solidFill>
            <a:srgbClr val="FDECEA"/>
          </a:solidFill>
          <a:ln w="12700">
            <a:solidFill>
              <a:srgbClr val="F5C2C7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5"/>
          <p:cNvSpPr/>
          <p:nvPr/>
        </p:nvSpPr>
        <p:spPr>
          <a:xfrm>
            <a:off x="3728720" y="1795145"/>
            <a:ext cx="2463800" cy="2279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95" b="1" dirty="0">
                <a:solidFill>
                  <a:srgbClr val="B0002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Freq. using 100 MHz on Board</a:t>
            </a:r>
            <a:endParaRPr lang="en-US" sz="1395" dirty="0"/>
          </a:p>
        </p:txBody>
      </p:sp>
      <p:sp>
        <p:nvSpPr>
          <p:cNvPr id="8" name="Text 6"/>
          <p:cNvSpPr/>
          <p:nvPr/>
        </p:nvSpPr>
        <p:spPr>
          <a:xfrm>
            <a:off x="717707" y="1622806"/>
            <a:ext cx="5370855" cy="79331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Timing closed @ 100 MHz</a:t>
            </a:r>
            <a:endParaRPr lang="en-US" sz="1795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Low utilization</a:t>
            </a:r>
            <a:endParaRPr lang="en-US" sz="1795" dirty="0"/>
          </a:p>
        </p:txBody>
      </p:sp>
      <p:sp>
        <p:nvSpPr>
          <p:cNvPr id="9" name="Shape 7"/>
          <p:cNvSpPr/>
          <p:nvPr/>
        </p:nvSpPr>
        <p:spPr>
          <a:xfrm>
            <a:off x="6571848" y="1139825"/>
            <a:ext cx="5045321" cy="141338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35983" y="1249248"/>
            <a:ext cx="4717052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Power (On-chip)</a:t>
            </a:r>
            <a:endParaRPr lang="en-US" sz="1595" dirty="0"/>
          </a:p>
        </p:txBody>
      </p:sp>
      <p:sp>
        <p:nvSpPr>
          <p:cNvPr id="11" name="Shape 9"/>
          <p:cNvSpPr/>
          <p:nvPr/>
        </p:nvSpPr>
        <p:spPr>
          <a:xfrm>
            <a:off x="6735983" y="1559281"/>
            <a:ext cx="1462927" cy="7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45406" y="1623111"/>
            <a:ext cx="1244081" cy="1823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Power</a:t>
            </a:r>
            <a:endParaRPr lang="en-US" sz="1195" dirty="0"/>
          </a:p>
        </p:txBody>
      </p:sp>
      <p:sp>
        <p:nvSpPr>
          <p:cNvPr id="13" name="Text 11"/>
          <p:cNvSpPr/>
          <p:nvPr/>
        </p:nvSpPr>
        <p:spPr>
          <a:xfrm>
            <a:off x="6845406" y="1823720"/>
            <a:ext cx="1244081" cy="291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4.292 W</a:t>
            </a:r>
            <a:endParaRPr lang="en-US" sz="1995" dirty="0"/>
          </a:p>
        </p:txBody>
      </p:sp>
      <p:sp>
        <p:nvSpPr>
          <p:cNvPr id="14" name="Text 12"/>
          <p:cNvSpPr/>
          <p:nvPr/>
        </p:nvSpPr>
        <p:spPr>
          <a:xfrm>
            <a:off x="6845406" y="2124634"/>
            <a:ext cx="1244081" cy="1458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On-chip</a:t>
            </a:r>
            <a:endParaRPr lang="en-US" sz="1195" dirty="0"/>
          </a:p>
        </p:txBody>
      </p:sp>
      <p:sp>
        <p:nvSpPr>
          <p:cNvPr id="15" name="Shape 13"/>
          <p:cNvSpPr/>
          <p:nvPr/>
        </p:nvSpPr>
        <p:spPr>
          <a:xfrm>
            <a:off x="8363044" y="1559281"/>
            <a:ext cx="1462927" cy="7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2468" y="1623111"/>
            <a:ext cx="1244081" cy="1823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Dynamic</a:t>
            </a:r>
            <a:endParaRPr lang="en-US" sz="1195" dirty="0"/>
          </a:p>
        </p:txBody>
      </p:sp>
      <p:sp>
        <p:nvSpPr>
          <p:cNvPr id="17" name="Text 15"/>
          <p:cNvSpPr/>
          <p:nvPr/>
        </p:nvSpPr>
        <p:spPr>
          <a:xfrm>
            <a:off x="8472468" y="1823720"/>
            <a:ext cx="1244081" cy="291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3.562 W</a:t>
            </a:r>
            <a:endParaRPr lang="en-US" sz="1995" dirty="0"/>
          </a:p>
        </p:txBody>
      </p:sp>
      <p:sp>
        <p:nvSpPr>
          <p:cNvPr id="18" name="Text 16"/>
          <p:cNvSpPr/>
          <p:nvPr/>
        </p:nvSpPr>
        <p:spPr>
          <a:xfrm>
            <a:off x="8472468" y="2124634"/>
            <a:ext cx="1244081" cy="1458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83%</a:t>
            </a:r>
            <a:endParaRPr lang="en-US" sz="1195" dirty="0"/>
          </a:p>
        </p:txBody>
      </p:sp>
      <p:sp>
        <p:nvSpPr>
          <p:cNvPr id="19" name="Shape 17"/>
          <p:cNvSpPr/>
          <p:nvPr/>
        </p:nvSpPr>
        <p:spPr>
          <a:xfrm>
            <a:off x="9990107" y="1559281"/>
            <a:ext cx="1462927" cy="7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99530" y="1623111"/>
            <a:ext cx="1244081" cy="1823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Static</a:t>
            </a:r>
            <a:endParaRPr lang="en-US" sz="1195" dirty="0"/>
          </a:p>
        </p:txBody>
      </p:sp>
      <p:sp>
        <p:nvSpPr>
          <p:cNvPr id="21" name="Text 19"/>
          <p:cNvSpPr/>
          <p:nvPr/>
        </p:nvSpPr>
        <p:spPr>
          <a:xfrm>
            <a:off x="10099530" y="1823720"/>
            <a:ext cx="1244081" cy="291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0.729 W</a:t>
            </a:r>
            <a:endParaRPr lang="en-US" sz="1995" dirty="0"/>
          </a:p>
        </p:txBody>
      </p:sp>
      <p:sp>
        <p:nvSpPr>
          <p:cNvPr id="22" name="Text 20"/>
          <p:cNvSpPr/>
          <p:nvPr/>
        </p:nvSpPr>
        <p:spPr>
          <a:xfrm>
            <a:off x="10099530" y="2124634"/>
            <a:ext cx="1244081" cy="1458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17%</a:t>
            </a:r>
            <a:endParaRPr lang="en-US" sz="1195" dirty="0"/>
          </a:p>
        </p:txBody>
      </p:sp>
      <p:sp>
        <p:nvSpPr>
          <p:cNvPr id="23" name="Text 21"/>
          <p:cNvSpPr/>
          <p:nvPr/>
        </p:nvSpPr>
        <p:spPr>
          <a:xfrm>
            <a:off x="6735983" y="2361717"/>
            <a:ext cx="4717052" cy="1641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Key driver: </a:t>
            </a:r>
            <a:r>
              <a:rPr lang="en-US" altLang="zh-CN" sz="11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PS</a:t>
            </a:r>
            <a:r>
              <a:rPr lang="en-US" sz="11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= 2.622 W (74% of Dynamic)</a:t>
            </a:r>
            <a:endParaRPr lang="en-US" sz="1195" dirty="0"/>
          </a:p>
        </p:txBody>
      </p:sp>
      <p:sp>
        <p:nvSpPr>
          <p:cNvPr id="24" name="Shape 22"/>
          <p:cNvSpPr/>
          <p:nvPr/>
        </p:nvSpPr>
        <p:spPr>
          <a:xfrm>
            <a:off x="553720" y="2684780"/>
            <a:ext cx="5699125" cy="3228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7707" y="2794127"/>
            <a:ext cx="5370855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Resource utilization (Post-synth @ 100 MHz)</a:t>
            </a:r>
            <a:endParaRPr lang="en-US" sz="1595" dirty="0"/>
          </a:p>
        </p:txBody>
      </p:sp>
      <p:sp>
        <p:nvSpPr>
          <p:cNvPr id="26" name="Shape 24"/>
          <p:cNvSpPr/>
          <p:nvPr/>
        </p:nvSpPr>
        <p:spPr>
          <a:xfrm>
            <a:off x="717707" y="3259176"/>
            <a:ext cx="5370855" cy="407297"/>
          </a:xfrm>
          <a:prstGeom prst="rect">
            <a:avLst/>
          </a:prstGeom>
          <a:solidFill>
            <a:srgbClr val="F7F1E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655" y="3332124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Resource</a:t>
            </a:r>
            <a:endParaRPr lang="en-US" sz="1295" dirty="0"/>
          </a:p>
        </p:txBody>
      </p:sp>
      <p:sp>
        <p:nvSpPr>
          <p:cNvPr id="28" name="Text 26"/>
          <p:cNvSpPr/>
          <p:nvPr/>
        </p:nvSpPr>
        <p:spPr>
          <a:xfrm>
            <a:off x="3020067" y="3332124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Used</a:t>
            </a:r>
            <a:endParaRPr lang="en-US" sz="1295" dirty="0"/>
          </a:p>
        </p:txBody>
      </p:sp>
      <p:sp>
        <p:nvSpPr>
          <p:cNvPr id="29" name="Text 27"/>
          <p:cNvSpPr/>
          <p:nvPr/>
        </p:nvSpPr>
        <p:spPr>
          <a:xfrm>
            <a:off x="4033436" y="3332124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Available</a:t>
            </a:r>
            <a:endParaRPr lang="en-US" sz="1295" dirty="0"/>
          </a:p>
        </p:txBody>
      </p:sp>
      <p:sp>
        <p:nvSpPr>
          <p:cNvPr id="30" name="Text 28"/>
          <p:cNvSpPr/>
          <p:nvPr/>
        </p:nvSpPr>
        <p:spPr>
          <a:xfrm>
            <a:off x="5249478" y="3332124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Util.</a:t>
            </a:r>
            <a:endParaRPr lang="en-US" sz="1295" dirty="0"/>
          </a:p>
        </p:txBody>
      </p:sp>
      <p:sp>
        <p:nvSpPr>
          <p:cNvPr id="31" name="Shape 29"/>
          <p:cNvSpPr/>
          <p:nvPr/>
        </p:nvSpPr>
        <p:spPr>
          <a:xfrm>
            <a:off x="717707" y="3666473"/>
            <a:ext cx="5370855" cy="407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655" y="3739422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LUT</a:t>
            </a:r>
            <a:endParaRPr lang="en-US" sz="1295" dirty="0"/>
          </a:p>
        </p:txBody>
      </p:sp>
      <p:sp>
        <p:nvSpPr>
          <p:cNvPr id="33" name="Text 31"/>
          <p:cNvSpPr/>
          <p:nvPr/>
        </p:nvSpPr>
        <p:spPr>
          <a:xfrm>
            <a:off x="3020067" y="3739422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60868</a:t>
            </a:r>
            <a:endParaRPr lang="en-US" sz="1295" dirty="0"/>
          </a:p>
        </p:txBody>
      </p:sp>
      <p:sp>
        <p:nvSpPr>
          <p:cNvPr id="34" name="Text 32"/>
          <p:cNvSpPr/>
          <p:nvPr/>
        </p:nvSpPr>
        <p:spPr>
          <a:xfrm>
            <a:off x="4033436" y="3739422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274080</a:t>
            </a:r>
            <a:endParaRPr lang="en-US" sz="1295" dirty="0"/>
          </a:p>
        </p:txBody>
      </p:sp>
      <p:sp>
        <p:nvSpPr>
          <p:cNvPr id="35" name="Text 33"/>
          <p:cNvSpPr/>
          <p:nvPr/>
        </p:nvSpPr>
        <p:spPr>
          <a:xfrm>
            <a:off x="5249478" y="3739422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22.21%</a:t>
            </a:r>
            <a:endParaRPr lang="en-US" sz="1295" dirty="0"/>
          </a:p>
        </p:txBody>
      </p:sp>
      <p:sp>
        <p:nvSpPr>
          <p:cNvPr id="36" name="Shape 34"/>
          <p:cNvSpPr/>
          <p:nvPr/>
        </p:nvSpPr>
        <p:spPr>
          <a:xfrm>
            <a:off x="717707" y="4073771"/>
            <a:ext cx="5370855" cy="407297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655" y="4146719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FF</a:t>
            </a:r>
            <a:endParaRPr lang="en-US" sz="1295" dirty="0"/>
          </a:p>
        </p:txBody>
      </p:sp>
      <p:sp>
        <p:nvSpPr>
          <p:cNvPr id="38" name="Text 36"/>
          <p:cNvSpPr/>
          <p:nvPr/>
        </p:nvSpPr>
        <p:spPr>
          <a:xfrm>
            <a:off x="3020067" y="4146719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77345</a:t>
            </a:r>
            <a:endParaRPr lang="en-US" sz="1295" dirty="0"/>
          </a:p>
        </p:txBody>
      </p:sp>
      <p:sp>
        <p:nvSpPr>
          <p:cNvPr id="39" name="Text 37"/>
          <p:cNvSpPr/>
          <p:nvPr/>
        </p:nvSpPr>
        <p:spPr>
          <a:xfrm>
            <a:off x="4033436" y="4146719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548160</a:t>
            </a:r>
            <a:endParaRPr lang="en-US" sz="1295" dirty="0"/>
          </a:p>
        </p:txBody>
      </p:sp>
      <p:sp>
        <p:nvSpPr>
          <p:cNvPr id="40" name="Text 38"/>
          <p:cNvSpPr/>
          <p:nvPr/>
        </p:nvSpPr>
        <p:spPr>
          <a:xfrm>
            <a:off x="5249478" y="4146719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14.11%</a:t>
            </a:r>
            <a:endParaRPr lang="en-US" sz="1295" dirty="0"/>
          </a:p>
        </p:txBody>
      </p:sp>
      <p:sp>
        <p:nvSpPr>
          <p:cNvPr id="41" name="Shape 39"/>
          <p:cNvSpPr/>
          <p:nvPr/>
        </p:nvSpPr>
        <p:spPr>
          <a:xfrm>
            <a:off x="717707" y="4481068"/>
            <a:ext cx="5370855" cy="407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655" y="4554017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BRAM (Tiles)</a:t>
            </a:r>
            <a:endParaRPr lang="en-US" sz="1295" dirty="0"/>
          </a:p>
        </p:txBody>
      </p:sp>
      <p:sp>
        <p:nvSpPr>
          <p:cNvPr id="43" name="Text 41"/>
          <p:cNvSpPr/>
          <p:nvPr/>
        </p:nvSpPr>
        <p:spPr>
          <a:xfrm>
            <a:off x="3020067" y="4554017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279</a:t>
            </a:r>
            <a:endParaRPr lang="en-US" sz="1295" dirty="0"/>
          </a:p>
        </p:txBody>
      </p:sp>
      <p:sp>
        <p:nvSpPr>
          <p:cNvPr id="44" name="Text 42"/>
          <p:cNvSpPr/>
          <p:nvPr/>
        </p:nvSpPr>
        <p:spPr>
          <a:xfrm>
            <a:off x="4033436" y="4554017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912</a:t>
            </a:r>
            <a:endParaRPr lang="en-US" sz="1295" dirty="0"/>
          </a:p>
        </p:txBody>
      </p:sp>
      <p:sp>
        <p:nvSpPr>
          <p:cNvPr id="45" name="Text 43"/>
          <p:cNvSpPr/>
          <p:nvPr/>
        </p:nvSpPr>
        <p:spPr>
          <a:xfrm>
            <a:off x="5249478" y="4554017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30.59%</a:t>
            </a:r>
            <a:endParaRPr lang="en-US" sz="1295" dirty="0"/>
          </a:p>
        </p:txBody>
      </p:sp>
      <p:sp>
        <p:nvSpPr>
          <p:cNvPr id="46" name="Shape 44"/>
          <p:cNvSpPr/>
          <p:nvPr/>
        </p:nvSpPr>
        <p:spPr>
          <a:xfrm>
            <a:off x="717707" y="4888365"/>
            <a:ext cx="5370855" cy="407297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0655" y="4961314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DSP</a:t>
            </a:r>
            <a:endParaRPr lang="en-US" sz="1295" dirty="0"/>
          </a:p>
        </p:txBody>
      </p:sp>
      <p:sp>
        <p:nvSpPr>
          <p:cNvPr id="48" name="Text 46"/>
          <p:cNvSpPr/>
          <p:nvPr/>
        </p:nvSpPr>
        <p:spPr>
          <a:xfrm>
            <a:off x="3020067" y="4961314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496</a:t>
            </a:r>
            <a:endParaRPr lang="en-US" sz="1295" dirty="0">
              <a:solidFill>
                <a:srgbClr val="2B2B2B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033436" y="4961314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2520</a:t>
            </a:r>
            <a:endParaRPr lang="en-US" sz="1295" dirty="0"/>
          </a:p>
        </p:txBody>
      </p:sp>
      <p:sp>
        <p:nvSpPr>
          <p:cNvPr id="50" name="Text 48"/>
          <p:cNvSpPr/>
          <p:nvPr/>
        </p:nvSpPr>
        <p:spPr>
          <a:xfrm>
            <a:off x="5249478" y="4961314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19.68%</a:t>
            </a:r>
            <a:endParaRPr lang="en-US" sz="1295" b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17707" y="5295663"/>
            <a:ext cx="5370855" cy="407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0655" y="5368612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I/O (Bonded IOB)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020067" y="5368612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033436" y="5368612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328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249478" y="5368612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735983" y="2794127"/>
            <a:ext cx="4717052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Latency(per block)</a:t>
            </a:r>
            <a:endParaRPr lang="en-US" sz="1595" dirty="0"/>
          </a:p>
        </p:txBody>
      </p:sp>
      <p:sp>
        <p:nvSpPr>
          <p:cNvPr id="58" name="Shape 56"/>
          <p:cNvSpPr/>
          <p:nvPr/>
        </p:nvSpPr>
        <p:spPr>
          <a:xfrm>
            <a:off x="6735983" y="3259176"/>
            <a:ext cx="4717052" cy="349113"/>
          </a:xfrm>
          <a:prstGeom prst="rect">
            <a:avLst/>
          </a:prstGeom>
          <a:solidFill>
            <a:srgbClr val="F7F1E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43341" y="3332124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Clcck Cycles</a:t>
            </a:r>
            <a:endParaRPr lang="en-US" sz="1295" dirty="0"/>
          </a:p>
        </p:txBody>
      </p:sp>
      <p:sp>
        <p:nvSpPr>
          <p:cNvPr id="61" name="Text 59"/>
          <p:cNvSpPr/>
          <p:nvPr/>
        </p:nvSpPr>
        <p:spPr>
          <a:xfrm>
            <a:off x="9953633" y="3332124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Share</a:t>
            </a:r>
            <a:endParaRPr lang="en-US" sz="1295" dirty="0"/>
          </a:p>
        </p:txBody>
      </p:sp>
      <p:sp>
        <p:nvSpPr>
          <p:cNvPr id="63" name="Text 61"/>
          <p:cNvSpPr/>
          <p:nvPr/>
        </p:nvSpPr>
        <p:spPr>
          <a:xfrm>
            <a:off x="6808931" y="3681237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RMSNorm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643341" y="3681237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134cc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9953633" y="3681237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2.5%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" name="Shape 60"/>
          <p:cNvSpPr/>
          <p:nvPr/>
        </p:nvSpPr>
        <p:spPr>
          <a:xfrm>
            <a:off x="6735981" y="4301201"/>
            <a:ext cx="4717052" cy="349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4" name="Shape 64"/>
          <p:cNvSpPr/>
          <p:nvPr/>
        </p:nvSpPr>
        <p:spPr>
          <a:xfrm>
            <a:off x="6735979" y="4645001"/>
            <a:ext cx="4717052" cy="349113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5" name="Shape 60"/>
          <p:cNvSpPr/>
          <p:nvPr/>
        </p:nvSpPr>
        <p:spPr>
          <a:xfrm>
            <a:off x="6735983" y="4990530"/>
            <a:ext cx="4717052" cy="349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6" name="Shape 64"/>
          <p:cNvSpPr/>
          <p:nvPr/>
        </p:nvSpPr>
        <p:spPr>
          <a:xfrm>
            <a:off x="6735983" y="5340916"/>
            <a:ext cx="4717052" cy="349113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9" name="Text 57"/>
          <p:cNvSpPr/>
          <p:nvPr/>
        </p:nvSpPr>
        <p:spPr>
          <a:xfrm>
            <a:off x="6808931" y="3332124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Category</a:t>
            </a:r>
            <a:endParaRPr lang="en-US" sz="1295" dirty="0"/>
          </a:p>
        </p:txBody>
      </p:sp>
      <p:sp>
        <p:nvSpPr>
          <p:cNvPr id="66" name="Shape 64"/>
          <p:cNvSpPr/>
          <p:nvPr/>
        </p:nvSpPr>
        <p:spPr>
          <a:xfrm>
            <a:off x="6735983" y="3957400"/>
            <a:ext cx="4717052" cy="349113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7" name="Text 65"/>
          <p:cNvSpPr/>
          <p:nvPr/>
        </p:nvSpPr>
        <p:spPr>
          <a:xfrm>
            <a:off x="6808931" y="4030348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In_projection</a:t>
            </a:r>
            <a:endParaRPr lang="en-US" sz="1295" b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643341" y="4030348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2305cc</a:t>
            </a:r>
            <a:endParaRPr lang="en-US" sz="1295" dirty="0"/>
          </a:p>
        </p:txBody>
      </p:sp>
      <p:sp>
        <p:nvSpPr>
          <p:cNvPr id="69" name="Text 67"/>
          <p:cNvSpPr/>
          <p:nvPr/>
        </p:nvSpPr>
        <p:spPr>
          <a:xfrm>
            <a:off x="9953633" y="4030348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47.25%</a:t>
            </a:r>
            <a:endParaRPr lang="en-US" sz="1295" b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6808930" y="4717954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ssm</a:t>
            </a:r>
            <a:endParaRPr lang="en-US" sz="1295" b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8643340" y="4717954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1828 cc</a:t>
            </a:r>
            <a:endParaRPr lang="en-US" sz="1295" dirty="0"/>
          </a:p>
        </p:txBody>
      </p:sp>
      <p:sp>
        <p:nvSpPr>
          <p:cNvPr id="73" name="Text 71"/>
          <p:cNvSpPr/>
          <p:nvPr/>
        </p:nvSpPr>
        <p:spPr>
          <a:xfrm>
            <a:off x="9953632" y="4717954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34.48%</a:t>
            </a:r>
            <a:endParaRPr lang="en-US" sz="1295" b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808930" y="5067066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out_projection</a:t>
            </a:r>
            <a:endParaRPr lang="en-US" sz="1295" dirty="0"/>
          </a:p>
        </p:txBody>
      </p:sp>
      <p:sp>
        <p:nvSpPr>
          <p:cNvPr id="76" name="Text 74"/>
          <p:cNvSpPr/>
          <p:nvPr/>
        </p:nvSpPr>
        <p:spPr>
          <a:xfrm>
            <a:off x="8643340" y="5067066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833 cc</a:t>
            </a:r>
            <a:endParaRPr lang="en-US" sz="1295" dirty="0"/>
          </a:p>
        </p:txBody>
      </p:sp>
      <p:sp>
        <p:nvSpPr>
          <p:cNvPr id="77" name="Text 75"/>
          <p:cNvSpPr/>
          <p:nvPr/>
        </p:nvSpPr>
        <p:spPr>
          <a:xfrm>
            <a:off x="9953632" y="5067066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15.71%</a:t>
            </a:r>
            <a:endParaRPr lang="en-US" sz="1295" dirty="0"/>
          </a:p>
        </p:txBody>
      </p:sp>
      <p:sp>
        <p:nvSpPr>
          <p:cNvPr id="79" name="Text 77"/>
          <p:cNvSpPr/>
          <p:nvPr/>
        </p:nvSpPr>
        <p:spPr>
          <a:xfrm>
            <a:off x="6808930" y="5416178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1295" dirty="0"/>
          </a:p>
        </p:txBody>
      </p:sp>
      <p:sp>
        <p:nvSpPr>
          <p:cNvPr id="80" name="Text 78"/>
          <p:cNvSpPr/>
          <p:nvPr/>
        </p:nvSpPr>
        <p:spPr>
          <a:xfrm>
            <a:off x="8643340" y="5416178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5301cc</a:t>
            </a:r>
            <a:endParaRPr lang="en-US" sz="1295" dirty="0"/>
          </a:p>
        </p:txBody>
      </p:sp>
      <p:sp>
        <p:nvSpPr>
          <p:cNvPr id="81" name="Text 79"/>
          <p:cNvSpPr/>
          <p:nvPr/>
        </p:nvSpPr>
        <p:spPr>
          <a:xfrm>
            <a:off x="9953632" y="5416178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295" dirty="0"/>
          </a:p>
        </p:txBody>
      </p:sp>
      <p:sp>
        <p:nvSpPr>
          <p:cNvPr id="3" name="文本框 2"/>
          <p:cNvSpPr txBox="1"/>
          <p:nvPr/>
        </p:nvSpPr>
        <p:spPr>
          <a:xfrm>
            <a:off x="3084195" y="1101090"/>
            <a:ext cx="3168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 :             100</a:t>
            </a:r>
            <a:r>
              <a:rPr lang="en-US" altLang="zh-CN" sz="1400" b="1" i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frames per sec</a:t>
            </a:r>
            <a:endParaRPr lang="en-US" altLang="zh-CN" sz="1400" b="1" i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altLang="zh-CN" sz="1400" b="1" i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Achieved(100MHz):   471 frames per sec</a:t>
            </a:r>
            <a:endParaRPr lang="en-US" sz="1400" b="1" i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8" name="Text 69"/>
          <p:cNvSpPr/>
          <p:nvPr/>
        </p:nvSpPr>
        <p:spPr>
          <a:xfrm>
            <a:off x="6814716" y="4364056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Ping-pong buffer</a:t>
            </a:r>
            <a:endParaRPr lang="en-US" sz="1295" dirty="0"/>
          </a:p>
        </p:txBody>
      </p:sp>
      <p:sp>
        <p:nvSpPr>
          <p:cNvPr id="89" name="Text 70"/>
          <p:cNvSpPr/>
          <p:nvPr/>
        </p:nvSpPr>
        <p:spPr>
          <a:xfrm>
            <a:off x="8649126" y="4364056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199 cc</a:t>
            </a:r>
            <a:endParaRPr lang="en-US" sz="1295" dirty="0"/>
          </a:p>
        </p:txBody>
      </p:sp>
      <p:sp>
        <p:nvSpPr>
          <p:cNvPr id="90" name="Text 71"/>
          <p:cNvSpPr/>
          <p:nvPr/>
        </p:nvSpPr>
        <p:spPr>
          <a:xfrm>
            <a:off x="9959418" y="4364056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3.75%</a:t>
            </a:r>
            <a:endParaRPr lang="en-US" sz="129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63" grpId="0"/>
      <p:bldP spid="63" grpId="1"/>
      <p:bldP spid="64" grpId="0"/>
      <p:bldP spid="64" grpId="1"/>
      <p:bldP spid="65" grpId="0"/>
      <p:bldP spid="65" grpId="1"/>
      <p:bldP spid="3" grpId="0"/>
      <p:bldP spid="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572" y="227965"/>
            <a:ext cx="11124692" cy="63830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190" dirty="0">
                <a:solidFill>
                  <a:srgbClr val="8A5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Next step optimazation for the paper</a:t>
            </a:r>
            <a:endParaRPr lang="en-US" sz="4190" dirty="0"/>
          </a:p>
        </p:txBody>
      </p:sp>
      <p:sp>
        <p:nvSpPr>
          <p:cNvPr id="3" name="文本框 2"/>
          <p:cNvSpPr txBox="1"/>
          <p:nvPr/>
        </p:nvSpPr>
        <p:spPr>
          <a:xfrm>
            <a:off x="875030" y="1327150"/>
            <a:ext cx="105181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Refine pipeline granularity</a:t>
            </a:r>
            <a:endParaRPr lang="en-US" altLang="zh-CN" b="1"/>
          </a:p>
          <a:p>
            <a:r>
              <a:rPr lang="en-US" altLang="zh-CN"/>
              <a:t>Current design mainly uses </a:t>
            </a:r>
            <a:r>
              <a:rPr lang="en-US" altLang="zh-CN" b="1">
                <a:solidFill>
                  <a:srgbClr val="FF0000"/>
                </a:solidFill>
              </a:rPr>
              <a:t>module-level reuse scheduling</a:t>
            </a:r>
            <a:r>
              <a:rPr lang="en-US" altLang="zh-CN"/>
              <a:t> to reduce hardware cost.</a:t>
            </a:r>
            <a:endParaRPr lang="en-US" altLang="zh-CN"/>
          </a:p>
          <a:p>
            <a:r>
              <a:rPr lang="en-US" altLang="zh-CN"/>
              <a:t>Next step is to split critical compute paths into </a:t>
            </a:r>
            <a:r>
              <a:rPr lang="en-US" altLang="zh-CN" b="1">
                <a:solidFill>
                  <a:srgbClr val="FF0000"/>
                </a:solidFill>
              </a:rPr>
              <a:t>finer pipeline stages.</a:t>
            </a:r>
            <a:endParaRPr lang="en-US" altLang="zh-CN"/>
          </a:p>
          <a:p>
            <a:r>
              <a:rPr lang="en-US" altLang="zh-CN"/>
              <a:t>Compare current reuse-based architecture with fine-grained pipelined architecture.</a:t>
            </a:r>
            <a:endParaRPr lang="en-US" altLang="zh-CN"/>
          </a:p>
          <a:p>
            <a:r>
              <a:rPr lang="en-US" altLang="zh-CN"/>
              <a:t>Goal: shorten combinational delay, improve timing closure, and </a:t>
            </a:r>
            <a:r>
              <a:rPr lang="en-US" altLang="zh-CN" b="1">
                <a:solidFill>
                  <a:srgbClr val="FF0000"/>
                </a:solidFill>
              </a:rPr>
              <a:t>further increase maximum clock frequency.</a:t>
            </a:r>
            <a:endParaRPr lang="en-US" altLang="zh-CN" b="1">
              <a:solidFill>
                <a:srgbClr val="FF0000"/>
              </a:solidFill>
            </a:endParaRPr>
          </a:p>
          <a:p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Add output heading</a:t>
            </a:r>
            <a:endParaRPr lang="en-US" altLang="zh-CN"/>
          </a:p>
          <a:p>
            <a:r>
              <a:rPr lang="en-US" altLang="zh-CN"/>
              <a:t>Add a dedicated output head after the final feature stage.</a:t>
            </a:r>
            <a:endParaRPr lang="en-US" altLang="zh-CN"/>
          </a:p>
          <a:p>
            <a:r>
              <a:rPr lang="en-US" altLang="zh-CN" b="1">
                <a:solidFill>
                  <a:srgbClr val="FF0000"/>
                </a:solidFill>
              </a:rPr>
              <a:t>Directly generate target lacation from hardware output.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en-US" altLang="zh-CN"/>
              <a:t>Avoid extra software-side output post-processing.</a:t>
            </a:r>
            <a:endParaRPr lang="en-US" altLang="zh-CN"/>
          </a:p>
          <a:p>
            <a:r>
              <a:rPr lang="en-US" altLang="zh-CN"/>
              <a:t>Make the accelerator output more </a:t>
            </a:r>
            <a:r>
              <a:rPr lang="en-US" altLang="zh-CN" b="1">
                <a:solidFill>
                  <a:srgbClr val="FF0000"/>
                </a:solidFill>
              </a:rPr>
              <a:t>application-ready</a:t>
            </a:r>
            <a:r>
              <a:rPr lang="en-US" altLang="zh-CN"/>
              <a:t> for engineering deployment.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4473b828724a65fb090fa1836cb64d31dad0ac"/>
  <p:tag name="KSO_WM_NEWLAYOUT_ID" val="slide_a81418525f254632"/>
</p:tagLst>
</file>

<file path=ppt/tags/tag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4473b828724a65fb090fa1836cb64d31dad0ac"/>
  <p:tag name="KSO_WM_NEWLAYOUT_ID" val="slide_a81418525f254632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a81418525f254632"/>
</p:tagLst>
</file>

<file path=ppt/tags/tag14.xml><?xml version="1.0" encoding="utf-8"?>
<p:tagLst xmlns:p="http://schemas.openxmlformats.org/presentationml/2006/main">
  <p:tag name="TABLE_ENDDRAG_ORIGIN_RECT" val="464*246"/>
  <p:tag name="TABLE_ENDDRAG_RECT" val="25*214*464*246"/>
</p:tagLst>
</file>

<file path=ppt/tags/tag15.xml><?xml version="1.0" encoding="utf-8"?>
<p:tagLst xmlns:p="http://schemas.openxmlformats.org/presentationml/2006/main">
  <p:tag name="TABLE_ENDDRAG_ORIGIN_RECT" val="367*328"/>
  <p:tag name="TABLE_ENDDRAG_RECT" val="485*113*367*328"/>
</p:tagLst>
</file>

<file path=ppt/tags/tag16.xml><?xml version="1.0" encoding="utf-8"?>
<p:tagLst xmlns:p="http://schemas.openxmlformats.org/presentationml/2006/main">
  <p:tag name="TABLE_ENDDRAG_ORIGIN_RECT" val="367*328"/>
  <p:tag name="TABLE_ENDDRAG_RECT" val="485*113*367*328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33_1*a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5033_1*f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SUBTYPE" val="a"/>
  <p:tag name="KSO_WM_UNIT_NOCLEAR" val="0"/>
  <p:tag name="KSO_WM_UNIT_TYPE" val="f"/>
  <p:tag name="KSO_WM_UNIT_INDEX" val="1"/>
  <p:tag name="KSO_WM_UNIT_TEXT_TYPE" val="1"/>
  <p:tag name="KSO_WM_UNIT_TEXT_LAYER_COUNT" val="1"/>
  <p:tag name="KSO_WM_UNIT_VALUE" val="50"/>
  <p:tag name="KSO_WM_UNIT_PRESET_TEXT" val="单击此处输入正文，文字是您思想的提炼，为了最终演示发布的良好效果，请言简的阐述观点。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TABLE_ENDDRAG_ORIGIN_RECT" val="604*288"/>
  <p:tag name="TABLE_ENDDRAG_RECT" val="81*165*604*288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5033_1*f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SUBTYPE" val="a"/>
  <p:tag name="KSO_WM_UNIT_NOCLEAR" val="0"/>
  <p:tag name="KSO_WM_UNIT_TYPE" val="f"/>
  <p:tag name="KSO_WM_UNIT_INDEX" val="1"/>
  <p:tag name="KSO_WM_UNIT_TEXT_TYPE" val="1"/>
  <p:tag name="KSO_WM_UNIT_TEXT_LAYER_COUNT" val="1"/>
  <p:tag name="KSO_WM_UNIT_VALUE" val="50"/>
  <p:tag name="KSO_WM_UNIT_PRESET_TEXT" val="单击此处输入正文，文字是您思想的提炼，为了最终演示发布的良好效果，请言简的阐述观点。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SLIDE_ID" val="custom2023503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33"/>
  <p:tag name="KSO_WM_SLIDE_TYPE" val="text"/>
  <p:tag name="KSO_WM_SLIDE_SUBTYPE" val="picTxt"/>
  <p:tag name="KSO_WM_SLIDE_SIZE" val="408.225*360.15"/>
  <p:tag name="KSO_WM_SLIDE_POSITION" val="504.075*131.75"/>
  <p:tag name="KSO_WM_SLIDE_LAYOUT" val="a_f_β_l"/>
  <p:tag name="KSO_WM_SLIDE_LAYOUT_CNT" val="1_1_1_1"/>
  <p:tag name="KSO_WM_SPECIAL_SOURCE" val="bdnull"/>
  <p:tag name="KSO_WM_DIAGRAM_GROUP_CODE" val="l1-1"/>
  <p:tag name="KSO_WM_SLIDE_DIAGTYPE" val="l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33_1*a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SLIDE_ID" val="custom2023503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33"/>
  <p:tag name="KSO_WM_SLIDE_TYPE" val="text"/>
  <p:tag name="KSO_WM_SLIDE_SUBTYPE" val="picTxt"/>
  <p:tag name="KSO_WM_SLIDE_SIZE" val="408.225*360.15"/>
  <p:tag name="KSO_WM_SLIDE_POSITION" val="504.075*131.75"/>
  <p:tag name="KSO_WM_SLIDE_LAYOUT" val="a_f_β_l"/>
  <p:tag name="KSO_WM_SLIDE_LAYOUT_CNT" val="1_1_1_1"/>
  <p:tag name="KSO_WM_SPECIAL_SOURCE" val="bdnull"/>
  <p:tag name="KSO_WM_DIAGRAM_GROUP_CODE" val="l1-1"/>
  <p:tag name="KSO_WM_SLIDE_DIAGTYPE" val="l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33_1*a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SLIDE_ID" val="custom2023503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33"/>
  <p:tag name="KSO_WM_SLIDE_TYPE" val="text"/>
  <p:tag name="KSO_WM_SLIDE_SUBTYPE" val="picTxt"/>
  <p:tag name="KSO_WM_SLIDE_SIZE" val="408.225*360.15"/>
  <p:tag name="KSO_WM_SLIDE_POSITION" val="504.075*131.75"/>
  <p:tag name="KSO_WM_SLIDE_LAYOUT" val="a_f_β_l"/>
  <p:tag name="KSO_WM_SLIDE_LAYOUT_CNT" val="1_1_1_1"/>
  <p:tag name="KSO_WM_SPECIAL_SOURCE" val="bdnull"/>
  <p:tag name="KSO_WM_DIAGRAM_GROUP_CODE" val="l1-1"/>
  <p:tag name="KSO_WM_SLIDE_DIAGTYPE" val="l"/>
</p:tagLst>
</file>

<file path=ppt/tags/tag26.xml><?xml version="1.0" encoding="utf-8"?>
<p:tagLst xmlns:p="http://schemas.openxmlformats.org/presentationml/2006/main">
  <p:tag name="RESOURCE_RECORD_KEY" val="{&quot;29&quot;:[50053024]}"/>
</p:tagLst>
</file>

<file path=ppt/theme/theme1.xml><?xml version="1.0" encoding="utf-8"?>
<a:theme xmlns:a="http://schemas.openxmlformats.org/drawingml/2006/main" name="LU_PPT-mall_ENG_16-9">
  <a:themeElements>
    <a:clrScheme name="Anpassad 3">
      <a:dk1>
        <a:srgbClr val="9C6114"/>
      </a:dk1>
      <a:lt1>
        <a:sysClr val="window" lastClr="FFFFFF"/>
      </a:lt1>
      <a:dk2>
        <a:srgbClr val="000000"/>
      </a:dk2>
      <a:lt2>
        <a:srgbClr val="00008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181002_Internal report</Template>
  <TotalTime>0</TotalTime>
  <Words>8875</Words>
  <Application>WPS 演示</Application>
  <PresentationFormat>自定义</PresentationFormat>
  <Paragraphs>729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Arial</vt:lpstr>
      <vt:lpstr>Lucida Grande</vt:lpstr>
      <vt:lpstr>Times New Roman</vt:lpstr>
      <vt:lpstr>Helvetica Light</vt:lpstr>
      <vt:lpstr>MS PGothic</vt:lpstr>
      <vt:lpstr>Wingdings</vt:lpstr>
      <vt:lpstr>Calibri</vt:lpstr>
      <vt:lpstr>微软雅黑</vt:lpstr>
      <vt:lpstr>Arial Unicode MS</vt:lpstr>
      <vt:lpstr>等线</vt:lpstr>
      <vt:lpstr>Times New Roman</vt:lpstr>
      <vt:lpstr>Georgia</vt:lpstr>
      <vt:lpstr>Georgia</vt:lpstr>
      <vt:lpstr>Georgia</vt:lpstr>
      <vt:lpstr>Calibri</vt:lpstr>
      <vt:lpstr>Calibri</vt:lpstr>
      <vt:lpstr>Malgun Gothic</vt:lpstr>
      <vt:lpstr>Helvetica Light</vt:lpstr>
      <vt:lpstr>Helvetica LT Pro</vt:lpstr>
      <vt:lpstr>Cambria Math</vt:lpstr>
      <vt:lpstr>LU_PPT-mall_ENG_16-9</vt:lpstr>
      <vt:lpstr>Efficient Mamba-Based Accelerator Architecture for Massive-MIMO Indoor Localization Using the LuViRA Dataset </vt:lpstr>
      <vt:lpstr>Contents</vt:lpstr>
      <vt:lpstr>Architecture - Board-level deployment</vt:lpstr>
      <vt:lpstr>Architecture - Pipeline and fine-grained parallelism</vt:lpstr>
      <vt:lpstr>Mamba SSM Design - MAC array design</vt:lpstr>
      <vt:lpstr>Mamba SSM Design - MAC array design</vt:lpstr>
      <vt:lpstr>Trade Off 1: MAC Architecture Selection </vt:lpstr>
      <vt:lpstr>Mamba SSM Design - Architecture</vt:lpstr>
      <vt:lpstr>Trade Off : Reconfigurable vs. Fine-grained pipeline</vt:lpstr>
      <vt:lpstr>Nonlinear layer - RMSNorm</vt:lpstr>
      <vt:lpstr>Nonlinear layer - RMSNorm</vt:lpstr>
      <vt:lpstr>Nonlinear layer - RMSNorm</vt:lpstr>
      <vt:lpstr>Nonlinear layer - Sigmoid</vt:lpstr>
      <vt:lpstr>Nonlinear layer - Sigmoid</vt:lpstr>
      <vt:lpstr>Quantisation: Workflow </vt:lpstr>
      <vt:lpstr>Quantisation: Workflow </vt:lpstr>
      <vt:lpstr>Quantisation: Workflow </vt:lpstr>
      <vt:lpstr>Quantisation: Workflow</vt:lpstr>
      <vt:lpstr>Quantisation: Hardware implemetation</vt:lpstr>
      <vt:lpstr>Quantisation: Hardware implemetation</vt:lpstr>
      <vt:lpstr>PowerPoint 演示文稿</vt:lpstr>
      <vt:lpstr>PowerPoint 演示文稿</vt:lpstr>
    </vt:vector>
  </TitlesOfParts>
  <Company>Lunds universitet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Baktash Behmanesh</dc:creator>
  <cp:lastModifiedBy>CSJ</cp:lastModifiedBy>
  <cp:revision>883</cp:revision>
  <dcterms:created xsi:type="dcterms:W3CDTF">2018-10-01T08:48:00Z</dcterms:created>
  <dcterms:modified xsi:type="dcterms:W3CDTF">2026-05-31T12:46:27Z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B6F92FCDC9584775B69D219F0CFDFDBC_13</vt:lpwstr>
  </property>
  <property fmtid="{D5CDD505-2E9C-101B-9397-08002B2CF9AE}" pid="3" name="KSOProductBuildVer">
    <vt:lpwstr>2052-12.1.0.26375</vt:lpwstr>
  </property>
</Properties>
</file>